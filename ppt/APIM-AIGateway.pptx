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98" r:id="rId5"/>
  </p:sldMasterIdLst>
  <p:notesMasterIdLst>
    <p:notesMasterId r:id="rId34"/>
  </p:notesMasterIdLst>
  <p:handoutMasterIdLst>
    <p:handoutMasterId r:id="rId35"/>
  </p:handoutMasterIdLst>
  <p:sldIdLst>
    <p:sldId id="2147469555" r:id="rId6"/>
    <p:sldId id="348" r:id="rId7"/>
    <p:sldId id="2147482890" r:id="rId8"/>
    <p:sldId id="2147327202" r:id="rId9"/>
    <p:sldId id="2147327208" r:id="rId10"/>
    <p:sldId id="2147327205" r:id="rId11"/>
    <p:sldId id="2134804496" r:id="rId12"/>
    <p:sldId id="2480" r:id="rId13"/>
    <p:sldId id="2147482891" r:id="rId14"/>
    <p:sldId id="290" r:id="rId15"/>
    <p:sldId id="291" r:id="rId16"/>
    <p:sldId id="292" r:id="rId17"/>
    <p:sldId id="2134804479" r:id="rId18"/>
    <p:sldId id="2134804433" r:id="rId19"/>
    <p:sldId id="1854" r:id="rId20"/>
    <p:sldId id="1855" r:id="rId21"/>
    <p:sldId id="1856" r:id="rId22"/>
    <p:sldId id="2147482892" r:id="rId23"/>
    <p:sldId id="2147482867" r:id="rId24"/>
    <p:sldId id="2147482869" r:id="rId25"/>
    <p:sldId id="2147482870" r:id="rId26"/>
    <p:sldId id="2147482871" r:id="rId27"/>
    <p:sldId id="2147482872" r:id="rId28"/>
    <p:sldId id="2147482873" r:id="rId29"/>
    <p:sldId id="2147482874" r:id="rId30"/>
    <p:sldId id="2147482877" r:id="rId31"/>
    <p:sldId id="2147479563" r:id="rId32"/>
    <p:sldId id="2147482893"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69C8EDC-7C15-44ED-9938-6F6F159B9E3C}">
          <p14:sldIdLst>
            <p14:sldId id="2147469555"/>
            <p14:sldId id="348"/>
            <p14:sldId id="2147482890"/>
          </p14:sldIdLst>
        </p14:section>
        <p14:section name="Azure API Management in a nutshell" id="{1F16F73C-E4C1-4AC3-869F-5ACF373B306B}">
          <p14:sldIdLst>
            <p14:sldId id="2147327202"/>
            <p14:sldId id="2147327208"/>
            <p14:sldId id="2147327205"/>
          </p14:sldIdLst>
        </p14:section>
        <p14:section name="Design" id="{03D3BF92-1647-45D3-9A27-20AA7B651008}">
          <p14:sldIdLst>
            <p14:sldId id="2134804496"/>
            <p14:sldId id="2480"/>
            <p14:sldId id="2147482891"/>
          </p14:sldIdLst>
        </p14:section>
        <p14:section name="Develop" id="{105AA20B-02AF-B14B-BC51-EA9D4D635561}">
          <p14:sldIdLst>
            <p14:sldId id="290"/>
            <p14:sldId id="291"/>
            <p14:sldId id="292"/>
            <p14:sldId id="2134804479"/>
            <p14:sldId id="2134804433"/>
            <p14:sldId id="1854"/>
            <p14:sldId id="1855"/>
            <p14:sldId id="1856"/>
            <p14:sldId id="2147482892"/>
          </p14:sldIdLst>
        </p14:section>
        <p14:section name="Why an AI Gateway?" id="{8B52A183-17B9-4DF7-92B9-137C530E06D7}">
          <p14:sldIdLst>
            <p14:sldId id="2147482867"/>
            <p14:sldId id="2147482869"/>
            <p14:sldId id="2147482870"/>
            <p14:sldId id="2147482871"/>
            <p14:sldId id="2147482872"/>
            <p14:sldId id="2147482873"/>
            <p14:sldId id="2147482874"/>
            <p14:sldId id="2147482877"/>
            <p14:sldId id="2147479563"/>
            <p14:sldId id="2147482893"/>
          </p14:sldIdLst>
        </p14:section>
        <p14:section name="Integration with Microsoft Foundry" id="{5A9EFEB5-A383-488B-9B04-282600FA2E0E}">
          <p14:sldIdLst/>
        </p14:section>
        <p14:section name="AI Policies on APIM" id="{B71332FD-90D8-4C9B-8CE6-7B4C3941F9A5}">
          <p14:sldIdLst/>
        </p14:section>
        <p14:section name="MCP with APIM" id="{C823F880-12CC-4D06-A375-C9EEFFF1C2DF}">
          <p14:sldIdLst/>
        </p14:section>
        <p14:section name="Agents with APIM" id="{B082FA09-B9EF-4C5D-9A65-3F12303F7EFB}">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2C4843-3111-BCC2-3189-CD5B962936D3}" name="Vladimir Vinogradsky" initials="VV" userId="S::vlvinogr@microsoft.com::9b87dcaf-3d45-459f-bace-b1672a913b8f" providerId="AD"/>
  <p188:author id="{2CE7D261-9D68-9464-D7C1-94AA5ABF025C}" name="Elizabeth Barnitt" initials="EB" userId="S::elbarnit@microsoft.com::f75e90cb-6e5a-4116-b60e-141b3531e9c8" providerId="AD"/>
  <p188:author id="{74438782-6DF3-B130-033B-9474BEC50E78}" name="Mike Budzynski" initials="MB" userId="S::mibudz@microsoft.com::e04c395d-e432-489b-83f2-74cd13aa5044" providerId="AD"/>
  <p188:author id="{F65C62C1-A3B9-8C21-8B2D-932B24BB48B7}" name="Miao Jiang" initials="MJ" userId="S::mijiang@microsoft.com::fe8c53ae-f05b-45cf-913c-9892e079763f"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99" d="100"/>
          <a:sy n="99" d="100"/>
        </p:scale>
        <p:origin x="192"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D413F3-FA14-7445-B7D9-A6CBD42ACD09}" type="doc">
      <dgm:prSet loTypeId="urn:microsoft.com/office/officeart/2005/8/layout/cycle2" loCatId="" qsTypeId="urn:microsoft.com/office/officeart/2005/8/quickstyle/simple5" qsCatId="simple" csTypeId="urn:microsoft.com/office/officeart/2005/8/colors/accent0_2" csCatId="mainScheme" phldr="1"/>
      <dgm:spPr/>
      <dgm:t>
        <a:bodyPr/>
        <a:lstStyle/>
        <a:p>
          <a:endParaRPr lang="en-US"/>
        </a:p>
      </dgm:t>
    </dgm:pt>
    <dgm:pt modelId="{E4903043-FD5C-7942-BD18-DCD42BB1E13D}">
      <dgm:prSet phldrT="[Text]" phldr="0"/>
      <dgm:spPr/>
      <dgm:t>
        <a:bodyPr/>
        <a:lstStyle/>
        <a:p>
          <a:r>
            <a:rPr lang="en-US"/>
            <a:t>Design</a:t>
          </a:r>
        </a:p>
      </dgm:t>
    </dgm:pt>
    <dgm:pt modelId="{28900878-8900-424F-A657-AF126094B260}" type="parTrans" cxnId="{76F0BBB1-69FC-B64A-8E10-59DCECAA1DEC}">
      <dgm:prSet/>
      <dgm:spPr/>
      <dgm:t>
        <a:bodyPr/>
        <a:lstStyle/>
        <a:p>
          <a:endParaRPr lang="en-US"/>
        </a:p>
      </dgm:t>
    </dgm:pt>
    <dgm:pt modelId="{AD0C933F-E00D-034B-870E-4B8578CCA9E9}" type="sibTrans" cxnId="{76F0BBB1-69FC-B64A-8E10-59DCECAA1DEC}">
      <dgm:prSet/>
      <dgm:spPr/>
      <dgm:t>
        <a:bodyPr/>
        <a:lstStyle/>
        <a:p>
          <a:endParaRPr lang="en-US"/>
        </a:p>
      </dgm:t>
    </dgm:pt>
    <dgm:pt modelId="{269D97C6-37DB-E743-AEC5-67222F56DA6F}">
      <dgm:prSet phldrT="[Text]" phldr="0"/>
      <dgm:spPr/>
      <dgm:t>
        <a:bodyPr/>
        <a:lstStyle/>
        <a:p>
          <a:r>
            <a:rPr lang="en-US"/>
            <a:t>Develop</a:t>
          </a:r>
        </a:p>
      </dgm:t>
    </dgm:pt>
    <dgm:pt modelId="{4A68EA06-E7D7-4B4F-9353-AEA574D34D47}" type="parTrans" cxnId="{AF9EE600-A715-074C-A2BA-8556EDE4D5CE}">
      <dgm:prSet/>
      <dgm:spPr/>
      <dgm:t>
        <a:bodyPr/>
        <a:lstStyle/>
        <a:p>
          <a:endParaRPr lang="en-US"/>
        </a:p>
      </dgm:t>
    </dgm:pt>
    <dgm:pt modelId="{AFE0F459-0160-8541-9826-CD4938BF3C06}" type="sibTrans" cxnId="{AF9EE600-A715-074C-A2BA-8556EDE4D5CE}">
      <dgm:prSet/>
      <dgm:spPr/>
      <dgm:t>
        <a:bodyPr/>
        <a:lstStyle/>
        <a:p>
          <a:endParaRPr lang="en-US"/>
        </a:p>
      </dgm:t>
    </dgm:pt>
    <dgm:pt modelId="{BB58995D-B3F3-0742-984D-F4754A065EB8}">
      <dgm:prSet phldrT="[Text]" phldr="0"/>
      <dgm:spPr>
        <a:effectLst>
          <a:outerShdw blurRad="44450" dist="13970" dir="5400000" algn="ctr" rotWithShape="0">
            <a:srgbClr val="000000">
              <a:alpha val="45000"/>
            </a:srgbClr>
          </a:outerShdw>
        </a:effectLst>
      </dgm:spPr>
      <dgm:t>
        <a:bodyPr/>
        <a:lstStyle/>
        <a:p>
          <a:r>
            <a:rPr lang="en-US" b="0"/>
            <a:t>Secure</a:t>
          </a:r>
        </a:p>
      </dgm:t>
    </dgm:pt>
    <dgm:pt modelId="{16632CD7-C197-D04C-A73A-052727DB502B}" type="parTrans" cxnId="{5EBC421F-BF4D-364A-83E9-36A1F467BCA0}">
      <dgm:prSet/>
      <dgm:spPr/>
      <dgm:t>
        <a:bodyPr/>
        <a:lstStyle/>
        <a:p>
          <a:endParaRPr lang="en-US"/>
        </a:p>
      </dgm:t>
    </dgm:pt>
    <dgm:pt modelId="{784B3DFF-38D4-8A45-9589-B36BBAB6A0B6}" type="sibTrans" cxnId="{5EBC421F-BF4D-364A-83E9-36A1F467BCA0}">
      <dgm:prSet/>
      <dgm:spPr/>
      <dgm:t>
        <a:bodyPr/>
        <a:lstStyle/>
        <a:p>
          <a:endParaRPr lang="en-US"/>
        </a:p>
      </dgm:t>
    </dgm:pt>
    <dgm:pt modelId="{5BFE83E2-1190-F049-9AFF-C20D923A74F3}">
      <dgm:prSet phldrT="[Text]" phldr="0"/>
      <dgm:spPr/>
      <dgm:t>
        <a:bodyPr/>
        <a:lstStyle/>
        <a:p>
          <a:r>
            <a:rPr lang="en-US"/>
            <a:t>Scale</a:t>
          </a:r>
        </a:p>
      </dgm:t>
    </dgm:pt>
    <dgm:pt modelId="{A6F1716C-DF5F-CA43-A6B3-406474A56382}" type="parTrans" cxnId="{DD0E92C1-07AB-494E-9013-17A639C4F8E3}">
      <dgm:prSet/>
      <dgm:spPr/>
      <dgm:t>
        <a:bodyPr/>
        <a:lstStyle/>
        <a:p>
          <a:endParaRPr lang="en-US"/>
        </a:p>
      </dgm:t>
    </dgm:pt>
    <dgm:pt modelId="{FE192398-35EA-4242-8A98-2C6EA8FD47F5}" type="sibTrans" cxnId="{DD0E92C1-07AB-494E-9013-17A639C4F8E3}">
      <dgm:prSet/>
      <dgm:spPr/>
      <dgm:t>
        <a:bodyPr/>
        <a:lstStyle/>
        <a:p>
          <a:endParaRPr lang="en-US"/>
        </a:p>
      </dgm:t>
    </dgm:pt>
    <dgm:pt modelId="{92EDE149-EF97-164B-9FB2-D049F28CF1F4}">
      <dgm:prSet phldrT="[Text]" phldr="0"/>
      <dgm:spPr/>
      <dgm:t>
        <a:bodyPr/>
        <a:lstStyle/>
        <a:p>
          <a:r>
            <a:rPr lang="en-US"/>
            <a:t>Monitor</a:t>
          </a:r>
        </a:p>
      </dgm:t>
    </dgm:pt>
    <dgm:pt modelId="{2829B8DE-E7B6-FD48-8A86-3D02FD5AB4C8}" type="parTrans" cxnId="{90ED4724-AD84-984D-987F-ED14ECE6F58D}">
      <dgm:prSet/>
      <dgm:spPr/>
      <dgm:t>
        <a:bodyPr/>
        <a:lstStyle/>
        <a:p>
          <a:endParaRPr lang="en-US"/>
        </a:p>
      </dgm:t>
    </dgm:pt>
    <dgm:pt modelId="{591D0299-0CF7-B34C-93F5-B65292048D04}" type="sibTrans" cxnId="{90ED4724-AD84-984D-987F-ED14ECE6F58D}">
      <dgm:prSet/>
      <dgm:spPr/>
      <dgm:t>
        <a:bodyPr/>
        <a:lstStyle/>
        <a:p>
          <a:endParaRPr lang="en-US"/>
        </a:p>
      </dgm:t>
    </dgm:pt>
    <dgm:pt modelId="{4317B258-FF06-FC48-AA1E-CB61D38C526A}">
      <dgm:prSet phldrT="[Text]" phldr="0"/>
      <dgm:spPr/>
      <dgm:t>
        <a:bodyPr/>
        <a:lstStyle/>
        <a:p>
          <a:r>
            <a:rPr lang="en-US"/>
            <a:t>Publish</a:t>
          </a:r>
        </a:p>
      </dgm:t>
    </dgm:pt>
    <dgm:pt modelId="{B8FDDCF3-B287-B240-A7C3-E61BC67EF10D}" type="parTrans" cxnId="{65F4F1FF-8288-2B4A-94D7-3B8763FBA4F6}">
      <dgm:prSet/>
      <dgm:spPr/>
      <dgm:t>
        <a:bodyPr/>
        <a:lstStyle/>
        <a:p>
          <a:endParaRPr lang="en-US"/>
        </a:p>
      </dgm:t>
    </dgm:pt>
    <dgm:pt modelId="{C8F533B8-FBD8-6445-A798-4086065CE71D}" type="sibTrans" cxnId="{65F4F1FF-8288-2B4A-94D7-3B8763FBA4F6}">
      <dgm:prSet/>
      <dgm:spPr/>
      <dgm:t>
        <a:bodyPr/>
        <a:lstStyle/>
        <a:p>
          <a:endParaRPr lang="en-US"/>
        </a:p>
      </dgm:t>
    </dgm:pt>
    <dgm:pt modelId="{5A28655B-49CC-3042-B9E8-9DEBC6E24B85}">
      <dgm:prSet phldrT="[Text]" phldr="0"/>
      <dgm:spPr/>
      <dgm:t>
        <a:bodyPr/>
        <a:lstStyle/>
        <a:p>
          <a:r>
            <a:rPr lang="en-US"/>
            <a:t>Analyze</a:t>
          </a:r>
        </a:p>
      </dgm:t>
    </dgm:pt>
    <dgm:pt modelId="{959C6482-85CB-0441-8DA5-813EF0ADA1E2}" type="parTrans" cxnId="{AA299FC2-6532-6442-ADCC-AF37F5D58CA6}">
      <dgm:prSet/>
      <dgm:spPr/>
      <dgm:t>
        <a:bodyPr/>
        <a:lstStyle/>
        <a:p>
          <a:endParaRPr lang="en-US"/>
        </a:p>
      </dgm:t>
    </dgm:pt>
    <dgm:pt modelId="{6377665C-8799-AD42-9272-86E4B9068D5F}" type="sibTrans" cxnId="{AA299FC2-6532-6442-ADCC-AF37F5D58CA6}">
      <dgm:prSet/>
      <dgm:spPr/>
      <dgm:t>
        <a:bodyPr/>
        <a:lstStyle/>
        <a:p>
          <a:endParaRPr lang="en-US"/>
        </a:p>
      </dgm:t>
    </dgm:pt>
    <dgm:pt modelId="{BD12E81A-B00D-7948-A4A5-EB2130F57026}" type="pres">
      <dgm:prSet presAssocID="{43D413F3-FA14-7445-B7D9-A6CBD42ACD09}" presName="cycle" presStyleCnt="0">
        <dgm:presLayoutVars>
          <dgm:dir/>
          <dgm:resizeHandles val="exact"/>
        </dgm:presLayoutVars>
      </dgm:prSet>
      <dgm:spPr/>
    </dgm:pt>
    <dgm:pt modelId="{D9B875B0-3EEA-044D-901A-B2E99208DCAE}" type="pres">
      <dgm:prSet presAssocID="{E4903043-FD5C-7942-BD18-DCD42BB1E13D}" presName="node" presStyleLbl="node1" presStyleIdx="0" presStyleCnt="7">
        <dgm:presLayoutVars>
          <dgm:bulletEnabled val="1"/>
        </dgm:presLayoutVars>
      </dgm:prSet>
      <dgm:spPr/>
    </dgm:pt>
    <dgm:pt modelId="{703F4FA9-1831-BB43-9E78-AE391EBF83D6}" type="pres">
      <dgm:prSet presAssocID="{AD0C933F-E00D-034B-870E-4B8578CCA9E9}" presName="sibTrans" presStyleLbl="sibTrans2D1" presStyleIdx="0" presStyleCnt="7"/>
      <dgm:spPr/>
    </dgm:pt>
    <dgm:pt modelId="{776CE2DD-EF2B-B146-B8AD-C276E928E523}" type="pres">
      <dgm:prSet presAssocID="{AD0C933F-E00D-034B-870E-4B8578CCA9E9}" presName="connectorText" presStyleLbl="sibTrans2D1" presStyleIdx="0" presStyleCnt="7"/>
      <dgm:spPr/>
    </dgm:pt>
    <dgm:pt modelId="{52A189B5-F9D5-D34B-8921-F98F1DE0D591}" type="pres">
      <dgm:prSet presAssocID="{269D97C6-37DB-E743-AEC5-67222F56DA6F}" presName="node" presStyleLbl="node1" presStyleIdx="1" presStyleCnt="7">
        <dgm:presLayoutVars>
          <dgm:bulletEnabled val="1"/>
        </dgm:presLayoutVars>
      </dgm:prSet>
      <dgm:spPr/>
    </dgm:pt>
    <dgm:pt modelId="{3F086CCC-A774-3243-98F7-4206CB11AA3F}" type="pres">
      <dgm:prSet presAssocID="{AFE0F459-0160-8541-9826-CD4938BF3C06}" presName="sibTrans" presStyleLbl="sibTrans2D1" presStyleIdx="1" presStyleCnt="7"/>
      <dgm:spPr/>
    </dgm:pt>
    <dgm:pt modelId="{6DFF4EEE-9B5C-C44A-AB59-BF484F1E71E4}" type="pres">
      <dgm:prSet presAssocID="{AFE0F459-0160-8541-9826-CD4938BF3C06}" presName="connectorText" presStyleLbl="sibTrans2D1" presStyleIdx="1" presStyleCnt="7"/>
      <dgm:spPr/>
    </dgm:pt>
    <dgm:pt modelId="{124E0E15-CE54-0C49-8C8A-9050076D9F4A}" type="pres">
      <dgm:prSet presAssocID="{BB58995D-B3F3-0742-984D-F4754A065EB8}" presName="node" presStyleLbl="node1" presStyleIdx="2" presStyleCnt="7">
        <dgm:presLayoutVars>
          <dgm:bulletEnabled val="1"/>
        </dgm:presLayoutVars>
      </dgm:prSet>
      <dgm:spPr/>
    </dgm:pt>
    <dgm:pt modelId="{521D8DDE-FA04-4A4C-ABA9-D415C4FE1FF1}" type="pres">
      <dgm:prSet presAssocID="{784B3DFF-38D4-8A45-9589-B36BBAB6A0B6}" presName="sibTrans" presStyleLbl="sibTrans2D1" presStyleIdx="2" presStyleCnt="7"/>
      <dgm:spPr/>
    </dgm:pt>
    <dgm:pt modelId="{96591223-F79D-524F-AF1B-A2034F3C028E}" type="pres">
      <dgm:prSet presAssocID="{784B3DFF-38D4-8A45-9589-B36BBAB6A0B6}" presName="connectorText" presStyleLbl="sibTrans2D1" presStyleIdx="2" presStyleCnt="7"/>
      <dgm:spPr/>
    </dgm:pt>
    <dgm:pt modelId="{94FC068B-05EE-5B4E-8B66-986407738A14}" type="pres">
      <dgm:prSet presAssocID="{4317B258-FF06-FC48-AA1E-CB61D38C526A}" presName="node" presStyleLbl="node1" presStyleIdx="3" presStyleCnt="7">
        <dgm:presLayoutVars>
          <dgm:bulletEnabled val="1"/>
        </dgm:presLayoutVars>
      </dgm:prSet>
      <dgm:spPr/>
    </dgm:pt>
    <dgm:pt modelId="{4138DF81-E147-F749-9669-26B37051B401}" type="pres">
      <dgm:prSet presAssocID="{C8F533B8-FBD8-6445-A798-4086065CE71D}" presName="sibTrans" presStyleLbl="sibTrans2D1" presStyleIdx="3" presStyleCnt="7"/>
      <dgm:spPr/>
    </dgm:pt>
    <dgm:pt modelId="{5222C465-F331-4E4F-84A0-2109CE3D206D}" type="pres">
      <dgm:prSet presAssocID="{C8F533B8-FBD8-6445-A798-4086065CE71D}" presName="connectorText" presStyleLbl="sibTrans2D1" presStyleIdx="3" presStyleCnt="7"/>
      <dgm:spPr/>
    </dgm:pt>
    <dgm:pt modelId="{7CE7888D-8481-6047-AAE3-811AFE4EB70D}" type="pres">
      <dgm:prSet presAssocID="{5BFE83E2-1190-F049-9AFF-C20D923A74F3}" presName="node" presStyleLbl="node1" presStyleIdx="4" presStyleCnt="7">
        <dgm:presLayoutVars>
          <dgm:bulletEnabled val="1"/>
        </dgm:presLayoutVars>
      </dgm:prSet>
      <dgm:spPr/>
    </dgm:pt>
    <dgm:pt modelId="{78312B22-9F25-F34C-A235-DE87C0A9CC42}" type="pres">
      <dgm:prSet presAssocID="{FE192398-35EA-4242-8A98-2C6EA8FD47F5}" presName="sibTrans" presStyleLbl="sibTrans2D1" presStyleIdx="4" presStyleCnt="7"/>
      <dgm:spPr/>
    </dgm:pt>
    <dgm:pt modelId="{A51F6C09-A66B-7047-B25B-4DA8448C82D1}" type="pres">
      <dgm:prSet presAssocID="{FE192398-35EA-4242-8A98-2C6EA8FD47F5}" presName="connectorText" presStyleLbl="sibTrans2D1" presStyleIdx="4" presStyleCnt="7"/>
      <dgm:spPr/>
    </dgm:pt>
    <dgm:pt modelId="{3E29A836-BC0C-4945-87F4-82A7F32DFEE1}" type="pres">
      <dgm:prSet presAssocID="{92EDE149-EF97-164B-9FB2-D049F28CF1F4}" presName="node" presStyleLbl="node1" presStyleIdx="5" presStyleCnt="7">
        <dgm:presLayoutVars>
          <dgm:bulletEnabled val="1"/>
        </dgm:presLayoutVars>
      </dgm:prSet>
      <dgm:spPr/>
    </dgm:pt>
    <dgm:pt modelId="{223DE3BA-F1FF-8842-846C-C2EFDA764BCA}" type="pres">
      <dgm:prSet presAssocID="{591D0299-0CF7-B34C-93F5-B65292048D04}" presName="sibTrans" presStyleLbl="sibTrans2D1" presStyleIdx="5" presStyleCnt="7"/>
      <dgm:spPr/>
    </dgm:pt>
    <dgm:pt modelId="{304BFB20-E88F-A844-85DA-1436DF70EDB5}" type="pres">
      <dgm:prSet presAssocID="{591D0299-0CF7-B34C-93F5-B65292048D04}" presName="connectorText" presStyleLbl="sibTrans2D1" presStyleIdx="5" presStyleCnt="7"/>
      <dgm:spPr/>
    </dgm:pt>
    <dgm:pt modelId="{A70D1FE3-0878-534E-BB1B-CAEC19A6999E}" type="pres">
      <dgm:prSet presAssocID="{5A28655B-49CC-3042-B9E8-9DEBC6E24B85}" presName="node" presStyleLbl="node1" presStyleIdx="6" presStyleCnt="7">
        <dgm:presLayoutVars>
          <dgm:bulletEnabled val="1"/>
        </dgm:presLayoutVars>
      </dgm:prSet>
      <dgm:spPr/>
    </dgm:pt>
    <dgm:pt modelId="{4BD32C19-732F-5942-9E30-2B7CD2E45B3E}" type="pres">
      <dgm:prSet presAssocID="{6377665C-8799-AD42-9272-86E4B9068D5F}" presName="sibTrans" presStyleLbl="sibTrans2D1" presStyleIdx="6" presStyleCnt="7"/>
      <dgm:spPr/>
    </dgm:pt>
    <dgm:pt modelId="{A595C460-635C-7042-BE32-ACC6668A7CD1}" type="pres">
      <dgm:prSet presAssocID="{6377665C-8799-AD42-9272-86E4B9068D5F}" presName="connectorText" presStyleLbl="sibTrans2D1" presStyleIdx="6" presStyleCnt="7"/>
      <dgm:spPr/>
    </dgm:pt>
  </dgm:ptLst>
  <dgm:cxnLst>
    <dgm:cxn modelId="{AF9EE600-A715-074C-A2BA-8556EDE4D5CE}" srcId="{43D413F3-FA14-7445-B7D9-A6CBD42ACD09}" destId="{269D97C6-37DB-E743-AEC5-67222F56DA6F}" srcOrd="1" destOrd="0" parTransId="{4A68EA06-E7D7-4B4F-9353-AEA574D34D47}" sibTransId="{AFE0F459-0160-8541-9826-CD4938BF3C06}"/>
    <dgm:cxn modelId="{0FD72308-526F-F547-89A9-EBE70B69313B}" type="presOf" srcId="{AFE0F459-0160-8541-9826-CD4938BF3C06}" destId="{3F086CCC-A774-3243-98F7-4206CB11AA3F}" srcOrd="0" destOrd="0" presId="urn:microsoft.com/office/officeart/2005/8/layout/cycle2"/>
    <dgm:cxn modelId="{5522F812-9C83-5847-9218-BDB970ABA003}" type="presOf" srcId="{6377665C-8799-AD42-9272-86E4B9068D5F}" destId="{4BD32C19-732F-5942-9E30-2B7CD2E45B3E}" srcOrd="0" destOrd="0" presId="urn:microsoft.com/office/officeart/2005/8/layout/cycle2"/>
    <dgm:cxn modelId="{9EAAD619-4CD9-8348-840F-F7F8D8F6A018}" type="presOf" srcId="{784B3DFF-38D4-8A45-9589-B36BBAB6A0B6}" destId="{521D8DDE-FA04-4A4C-ABA9-D415C4FE1FF1}" srcOrd="0" destOrd="0" presId="urn:microsoft.com/office/officeart/2005/8/layout/cycle2"/>
    <dgm:cxn modelId="{5EBC421F-BF4D-364A-83E9-36A1F467BCA0}" srcId="{43D413F3-FA14-7445-B7D9-A6CBD42ACD09}" destId="{BB58995D-B3F3-0742-984D-F4754A065EB8}" srcOrd="2" destOrd="0" parTransId="{16632CD7-C197-D04C-A73A-052727DB502B}" sibTransId="{784B3DFF-38D4-8A45-9589-B36BBAB6A0B6}"/>
    <dgm:cxn modelId="{90ED4724-AD84-984D-987F-ED14ECE6F58D}" srcId="{43D413F3-FA14-7445-B7D9-A6CBD42ACD09}" destId="{92EDE149-EF97-164B-9FB2-D049F28CF1F4}" srcOrd="5" destOrd="0" parTransId="{2829B8DE-E7B6-FD48-8A86-3D02FD5AB4C8}" sibTransId="{591D0299-0CF7-B34C-93F5-B65292048D04}"/>
    <dgm:cxn modelId="{7DC97525-34B0-6F42-8A9F-F492CA465885}" type="presOf" srcId="{784B3DFF-38D4-8A45-9589-B36BBAB6A0B6}" destId="{96591223-F79D-524F-AF1B-A2034F3C028E}" srcOrd="1" destOrd="0" presId="urn:microsoft.com/office/officeart/2005/8/layout/cycle2"/>
    <dgm:cxn modelId="{3E24CD47-5C57-7B44-B7D9-79FB4CC332E4}" type="presOf" srcId="{6377665C-8799-AD42-9272-86E4B9068D5F}" destId="{A595C460-635C-7042-BE32-ACC6668A7CD1}" srcOrd="1" destOrd="0" presId="urn:microsoft.com/office/officeart/2005/8/layout/cycle2"/>
    <dgm:cxn modelId="{91A27948-994A-B644-85F1-81C5DAA52648}" type="presOf" srcId="{AD0C933F-E00D-034B-870E-4B8578CCA9E9}" destId="{703F4FA9-1831-BB43-9E78-AE391EBF83D6}" srcOrd="0" destOrd="0" presId="urn:microsoft.com/office/officeart/2005/8/layout/cycle2"/>
    <dgm:cxn modelId="{DD6DF25D-29EC-4D49-A7C5-8D311FC7A84A}" type="presOf" srcId="{269D97C6-37DB-E743-AEC5-67222F56DA6F}" destId="{52A189B5-F9D5-D34B-8921-F98F1DE0D591}" srcOrd="0" destOrd="0" presId="urn:microsoft.com/office/officeart/2005/8/layout/cycle2"/>
    <dgm:cxn modelId="{ED6F0569-0EBE-BB4E-9D5C-D891FEE1EE5A}" type="presOf" srcId="{591D0299-0CF7-B34C-93F5-B65292048D04}" destId="{304BFB20-E88F-A844-85DA-1436DF70EDB5}" srcOrd="1" destOrd="0" presId="urn:microsoft.com/office/officeart/2005/8/layout/cycle2"/>
    <dgm:cxn modelId="{6E17CC7E-944F-8840-8800-DFA6A8C98CE0}" type="presOf" srcId="{92EDE149-EF97-164B-9FB2-D049F28CF1F4}" destId="{3E29A836-BC0C-4945-87F4-82A7F32DFEE1}" srcOrd="0" destOrd="0" presId="urn:microsoft.com/office/officeart/2005/8/layout/cycle2"/>
    <dgm:cxn modelId="{7EC6D57F-410B-C443-B15C-C1DC04F20CFD}" type="presOf" srcId="{4317B258-FF06-FC48-AA1E-CB61D38C526A}" destId="{94FC068B-05EE-5B4E-8B66-986407738A14}" srcOrd="0" destOrd="0" presId="urn:microsoft.com/office/officeart/2005/8/layout/cycle2"/>
    <dgm:cxn modelId="{367D0180-F8E8-7F46-9805-38DFB71A9F8D}" type="presOf" srcId="{AD0C933F-E00D-034B-870E-4B8578CCA9E9}" destId="{776CE2DD-EF2B-B146-B8AD-C276E928E523}" srcOrd="1" destOrd="0" presId="urn:microsoft.com/office/officeart/2005/8/layout/cycle2"/>
    <dgm:cxn modelId="{A10BED91-B80C-4E41-A42D-D78C4FB4CEBF}" type="presOf" srcId="{5BFE83E2-1190-F049-9AFF-C20D923A74F3}" destId="{7CE7888D-8481-6047-AAE3-811AFE4EB70D}" srcOrd="0" destOrd="0" presId="urn:microsoft.com/office/officeart/2005/8/layout/cycle2"/>
    <dgm:cxn modelId="{0CBFC593-6C6B-324F-A094-33BC7C636EB6}" type="presOf" srcId="{C8F533B8-FBD8-6445-A798-4086065CE71D}" destId="{4138DF81-E147-F749-9669-26B37051B401}" srcOrd="0" destOrd="0" presId="urn:microsoft.com/office/officeart/2005/8/layout/cycle2"/>
    <dgm:cxn modelId="{4A61A5A5-1170-DF4D-8108-871BD269D816}" type="presOf" srcId="{5A28655B-49CC-3042-B9E8-9DEBC6E24B85}" destId="{A70D1FE3-0878-534E-BB1B-CAEC19A6999E}" srcOrd="0" destOrd="0" presId="urn:microsoft.com/office/officeart/2005/8/layout/cycle2"/>
    <dgm:cxn modelId="{35F24CA7-83D4-EA45-83D9-3764DB892F3F}" type="presOf" srcId="{591D0299-0CF7-B34C-93F5-B65292048D04}" destId="{223DE3BA-F1FF-8842-846C-C2EFDA764BCA}" srcOrd="0" destOrd="0" presId="urn:microsoft.com/office/officeart/2005/8/layout/cycle2"/>
    <dgm:cxn modelId="{7FA3EAA8-4C8E-FE47-8C05-C92C6B84C690}" type="presOf" srcId="{C8F533B8-FBD8-6445-A798-4086065CE71D}" destId="{5222C465-F331-4E4F-84A0-2109CE3D206D}" srcOrd="1" destOrd="0" presId="urn:microsoft.com/office/officeart/2005/8/layout/cycle2"/>
    <dgm:cxn modelId="{ABFDC3AD-801E-FD41-BA1E-507D0F3510E5}" type="presOf" srcId="{FE192398-35EA-4242-8A98-2C6EA8FD47F5}" destId="{A51F6C09-A66B-7047-B25B-4DA8448C82D1}" srcOrd="1" destOrd="0" presId="urn:microsoft.com/office/officeart/2005/8/layout/cycle2"/>
    <dgm:cxn modelId="{76F0BBB1-69FC-B64A-8E10-59DCECAA1DEC}" srcId="{43D413F3-FA14-7445-B7D9-A6CBD42ACD09}" destId="{E4903043-FD5C-7942-BD18-DCD42BB1E13D}" srcOrd="0" destOrd="0" parTransId="{28900878-8900-424F-A657-AF126094B260}" sibTransId="{AD0C933F-E00D-034B-870E-4B8578CCA9E9}"/>
    <dgm:cxn modelId="{57FDEFB6-F03A-1245-866A-2BA8E68B17A1}" type="presOf" srcId="{FE192398-35EA-4242-8A98-2C6EA8FD47F5}" destId="{78312B22-9F25-F34C-A235-DE87C0A9CC42}" srcOrd="0" destOrd="0" presId="urn:microsoft.com/office/officeart/2005/8/layout/cycle2"/>
    <dgm:cxn modelId="{DD0E92C1-07AB-494E-9013-17A639C4F8E3}" srcId="{43D413F3-FA14-7445-B7D9-A6CBD42ACD09}" destId="{5BFE83E2-1190-F049-9AFF-C20D923A74F3}" srcOrd="4" destOrd="0" parTransId="{A6F1716C-DF5F-CA43-A6B3-406474A56382}" sibTransId="{FE192398-35EA-4242-8A98-2C6EA8FD47F5}"/>
    <dgm:cxn modelId="{AA299FC2-6532-6442-ADCC-AF37F5D58CA6}" srcId="{43D413F3-FA14-7445-B7D9-A6CBD42ACD09}" destId="{5A28655B-49CC-3042-B9E8-9DEBC6E24B85}" srcOrd="6" destOrd="0" parTransId="{959C6482-85CB-0441-8DA5-813EF0ADA1E2}" sibTransId="{6377665C-8799-AD42-9272-86E4B9068D5F}"/>
    <dgm:cxn modelId="{819717D7-26B9-D549-9799-DC1EDF926E3D}" type="presOf" srcId="{BB58995D-B3F3-0742-984D-F4754A065EB8}" destId="{124E0E15-CE54-0C49-8C8A-9050076D9F4A}" srcOrd="0" destOrd="0" presId="urn:microsoft.com/office/officeart/2005/8/layout/cycle2"/>
    <dgm:cxn modelId="{A262CBE4-E411-DB4B-8AEA-DD4644FA8658}" type="presOf" srcId="{E4903043-FD5C-7942-BD18-DCD42BB1E13D}" destId="{D9B875B0-3EEA-044D-901A-B2E99208DCAE}" srcOrd="0" destOrd="0" presId="urn:microsoft.com/office/officeart/2005/8/layout/cycle2"/>
    <dgm:cxn modelId="{19F852F7-C348-E748-A253-57C9D76781A9}" type="presOf" srcId="{AFE0F459-0160-8541-9826-CD4938BF3C06}" destId="{6DFF4EEE-9B5C-C44A-AB59-BF484F1E71E4}" srcOrd="1" destOrd="0" presId="urn:microsoft.com/office/officeart/2005/8/layout/cycle2"/>
    <dgm:cxn modelId="{4D1EB8FB-F2EF-714F-82AF-F1CDD50FC152}" type="presOf" srcId="{43D413F3-FA14-7445-B7D9-A6CBD42ACD09}" destId="{BD12E81A-B00D-7948-A4A5-EB2130F57026}" srcOrd="0" destOrd="0" presId="urn:microsoft.com/office/officeart/2005/8/layout/cycle2"/>
    <dgm:cxn modelId="{65F4F1FF-8288-2B4A-94D7-3B8763FBA4F6}" srcId="{43D413F3-FA14-7445-B7D9-A6CBD42ACD09}" destId="{4317B258-FF06-FC48-AA1E-CB61D38C526A}" srcOrd="3" destOrd="0" parTransId="{B8FDDCF3-B287-B240-A7C3-E61BC67EF10D}" sibTransId="{C8F533B8-FBD8-6445-A798-4086065CE71D}"/>
    <dgm:cxn modelId="{9B7A29B4-A124-F04D-A733-D905D3865B70}" type="presParOf" srcId="{BD12E81A-B00D-7948-A4A5-EB2130F57026}" destId="{D9B875B0-3EEA-044D-901A-B2E99208DCAE}" srcOrd="0" destOrd="0" presId="urn:microsoft.com/office/officeart/2005/8/layout/cycle2"/>
    <dgm:cxn modelId="{2E548A68-CE18-CE40-ABCF-91BDA5D505C0}" type="presParOf" srcId="{BD12E81A-B00D-7948-A4A5-EB2130F57026}" destId="{703F4FA9-1831-BB43-9E78-AE391EBF83D6}" srcOrd="1" destOrd="0" presId="urn:microsoft.com/office/officeart/2005/8/layout/cycle2"/>
    <dgm:cxn modelId="{EA7D4D92-0E1D-894E-84C8-176D20ED628C}" type="presParOf" srcId="{703F4FA9-1831-BB43-9E78-AE391EBF83D6}" destId="{776CE2DD-EF2B-B146-B8AD-C276E928E523}" srcOrd="0" destOrd="0" presId="urn:microsoft.com/office/officeart/2005/8/layout/cycle2"/>
    <dgm:cxn modelId="{24802E54-4C1C-B84C-8045-8198504BB858}" type="presParOf" srcId="{BD12E81A-B00D-7948-A4A5-EB2130F57026}" destId="{52A189B5-F9D5-D34B-8921-F98F1DE0D591}" srcOrd="2" destOrd="0" presId="urn:microsoft.com/office/officeart/2005/8/layout/cycle2"/>
    <dgm:cxn modelId="{6981ADE1-3610-E946-B3A2-18486ED9DDC4}" type="presParOf" srcId="{BD12E81A-B00D-7948-A4A5-EB2130F57026}" destId="{3F086CCC-A774-3243-98F7-4206CB11AA3F}" srcOrd="3" destOrd="0" presId="urn:microsoft.com/office/officeart/2005/8/layout/cycle2"/>
    <dgm:cxn modelId="{786EFF19-33EE-8548-B846-A2079434C00E}" type="presParOf" srcId="{3F086CCC-A774-3243-98F7-4206CB11AA3F}" destId="{6DFF4EEE-9B5C-C44A-AB59-BF484F1E71E4}" srcOrd="0" destOrd="0" presId="urn:microsoft.com/office/officeart/2005/8/layout/cycle2"/>
    <dgm:cxn modelId="{76AE4516-7C72-F340-BFA1-445A815F1570}" type="presParOf" srcId="{BD12E81A-B00D-7948-A4A5-EB2130F57026}" destId="{124E0E15-CE54-0C49-8C8A-9050076D9F4A}" srcOrd="4" destOrd="0" presId="urn:microsoft.com/office/officeart/2005/8/layout/cycle2"/>
    <dgm:cxn modelId="{82DBF83A-B3C9-E041-9647-BCD5E1D35A8A}" type="presParOf" srcId="{BD12E81A-B00D-7948-A4A5-EB2130F57026}" destId="{521D8DDE-FA04-4A4C-ABA9-D415C4FE1FF1}" srcOrd="5" destOrd="0" presId="urn:microsoft.com/office/officeart/2005/8/layout/cycle2"/>
    <dgm:cxn modelId="{BE83F03E-5248-4D45-ACA1-2319B3EA0F57}" type="presParOf" srcId="{521D8DDE-FA04-4A4C-ABA9-D415C4FE1FF1}" destId="{96591223-F79D-524F-AF1B-A2034F3C028E}" srcOrd="0" destOrd="0" presId="urn:microsoft.com/office/officeart/2005/8/layout/cycle2"/>
    <dgm:cxn modelId="{3E49DE5D-A735-984E-8924-298FF31E2D89}" type="presParOf" srcId="{BD12E81A-B00D-7948-A4A5-EB2130F57026}" destId="{94FC068B-05EE-5B4E-8B66-986407738A14}" srcOrd="6" destOrd="0" presId="urn:microsoft.com/office/officeart/2005/8/layout/cycle2"/>
    <dgm:cxn modelId="{1657C579-3D4F-9A41-A401-DCACE7BFFB1F}" type="presParOf" srcId="{BD12E81A-B00D-7948-A4A5-EB2130F57026}" destId="{4138DF81-E147-F749-9669-26B37051B401}" srcOrd="7" destOrd="0" presId="urn:microsoft.com/office/officeart/2005/8/layout/cycle2"/>
    <dgm:cxn modelId="{01136BE9-6CAE-254C-AF8A-7EEFFFD1CA7F}" type="presParOf" srcId="{4138DF81-E147-F749-9669-26B37051B401}" destId="{5222C465-F331-4E4F-84A0-2109CE3D206D}" srcOrd="0" destOrd="0" presId="urn:microsoft.com/office/officeart/2005/8/layout/cycle2"/>
    <dgm:cxn modelId="{467A180A-2DC2-4A48-B162-4F1DF5A9582C}" type="presParOf" srcId="{BD12E81A-B00D-7948-A4A5-EB2130F57026}" destId="{7CE7888D-8481-6047-AAE3-811AFE4EB70D}" srcOrd="8" destOrd="0" presId="urn:microsoft.com/office/officeart/2005/8/layout/cycle2"/>
    <dgm:cxn modelId="{AF5E3EC2-B910-FB49-A55E-A3B977236F97}" type="presParOf" srcId="{BD12E81A-B00D-7948-A4A5-EB2130F57026}" destId="{78312B22-9F25-F34C-A235-DE87C0A9CC42}" srcOrd="9" destOrd="0" presId="urn:microsoft.com/office/officeart/2005/8/layout/cycle2"/>
    <dgm:cxn modelId="{90C3C281-A418-4747-BA73-40F71BE6B8F7}" type="presParOf" srcId="{78312B22-9F25-F34C-A235-DE87C0A9CC42}" destId="{A51F6C09-A66B-7047-B25B-4DA8448C82D1}" srcOrd="0" destOrd="0" presId="urn:microsoft.com/office/officeart/2005/8/layout/cycle2"/>
    <dgm:cxn modelId="{DD8E92BA-076D-8048-941B-6FFF9D5D64EC}" type="presParOf" srcId="{BD12E81A-B00D-7948-A4A5-EB2130F57026}" destId="{3E29A836-BC0C-4945-87F4-82A7F32DFEE1}" srcOrd="10" destOrd="0" presId="urn:microsoft.com/office/officeart/2005/8/layout/cycle2"/>
    <dgm:cxn modelId="{A37FB0B4-54D0-C241-9807-1B2B44118CAB}" type="presParOf" srcId="{BD12E81A-B00D-7948-A4A5-EB2130F57026}" destId="{223DE3BA-F1FF-8842-846C-C2EFDA764BCA}" srcOrd="11" destOrd="0" presId="urn:microsoft.com/office/officeart/2005/8/layout/cycle2"/>
    <dgm:cxn modelId="{4AE6E4AE-4001-5345-99D6-6E3A9CD89461}" type="presParOf" srcId="{223DE3BA-F1FF-8842-846C-C2EFDA764BCA}" destId="{304BFB20-E88F-A844-85DA-1436DF70EDB5}" srcOrd="0" destOrd="0" presId="urn:microsoft.com/office/officeart/2005/8/layout/cycle2"/>
    <dgm:cxn modelId="{18D91CA4-6DCB-8141-B0DA-46C50B498777}" type="presParOf" srcId="{BD12E81A-B00D-7948-A4A5-EB2130F57026}" destId="{A70D1FE3-0878-534E-BB1B-CAEC19A6999E}" srcOrd="12" destOrd="0" presId="urn:microsoft.com/office/officeart/2005/8/layout/cycle2"/>
    <dgm:cxn modelId="{1C7D1A3E-6B31-FD40-A369-42CB36035CED}" type="presParOf" srcId="{BD12E81A-B00D-7948-A4A5-EB2130F57026}" destId="{4BD32C19-732F-5942-9E30-2B7CD2E45B3E}" srcOrd="13" destOrd="0" presId="urn:microsoft.com/office/officeart/2005/8/layout/cycle2"/>
    <dgm:cxn modelId="{3C8592AF-EC60-DB41-8C48-EEF0571FC1F0}" type="presParOf" srcId="{4BD32C19-732F-5942-9E30-2B7CD2E45B3E}" destId="{A595C460-635C-7042-BE32-ACC6668A7CD1}"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B875B0-3EEA-044D-901A-B2E99208DCAE}">
      <dsp:nvSpPr>
        <dsp:cNvPr id="0" name=""/>
        <dsp:cNvSpPr/>
      </dsp:nvSpPr>
      <dsp:spPr>
        <a:xfrm>
          <a:off x="1657796" y="42737"/>
          <a:ext cx="982087" cy="982087"/>
        </a:xfrm>
        <a:prstGeom prst="ellips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Design</a:t>
          </a:r>
        </a:p>
      </dsp:txBody>
      <dsp:txXfrm>
        <a:off x="1801619" y="186560"/>
        <a:ext cx="694441" cy="694441"/>
      </dsp:txXfrm>
    </dsp:sp>
    <dsp:sp modelId="{703F4FA9-1831-BB43-9E78-AE391EBF83D6}">
      <dsp:nvSpPr>
        <dsp:cNvPr id="0" name=""/>
        <dsp:cNvSpPr/>
      </dsp:nvSpPr>
      <dsp:spPr>
        <a:xfrm rot="1542857">
          <a:off x="2675936" y="684731"/>
          <a:ext cx="260982" cy="331454"/>
        </a:xfrm>
        <a:prstGeom prst="rightArrow">
          <a:avLst>
            <a:gd name="adj1" fmla="val 60000"/>
            <a:gd name="adj2" fmla="val 50000"/>
          </a:avLst>
        </a:prstGeom>
        <a:solidFill>
          <a:schemeClr val="dk2">
            <a:tint val="60000"/>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2679813" y="734037"/>
        <a:ext cx="182687" cy="198872"/>
      </dsp:txXfrm>
    </dsp:sp>
    <dsp:sp modelId="{52A189B5-F9D5-D34B-8921-F98F1DE0D591}">
      <dsp:nvSpPr>
        <dsp:cNvPr id="0" name=""/>
        <dsp:cNvSpPr/>
      </dsp:nvSpPr>
      <dsp:spPr>
        <a:xfrm>
          <a:off x="2986280" y="682502"/>
          <a:ext cx="982087" cy="982087"/>
        </a:xfrm>
        <a:prstGeom prst="ellips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Develop</a:t>
          </a:r>
        </a:p>
      </dsp:txBody>
      <dsp:txXfrm>
        <a:off x="3130103" y="826325"/>
        <a:ext cx="694441" cy="694441"/>
      </dsp:txXfrm>
    </dsp:sp>
    <dsp:sp modelId="{3F086CCC-A774-3243-98F7-4206CB11AA3F}">
      <dsp:nvSpPr>
        <dsp:cNvPr id="0" name=""/>
        <dsp:cNvSpPr/>
      </dsp:nvSpPr>
      <dsp:spPr>
        <a:xfrm rot="4628571">
          <a:off x="3509244" y="1719386"/>
          <a:ext cx="260982" cy="331454"/>
        </a:xfrm>
        <a:prstGeom prst="rightArrow">
          <a:avLst>
            <a:gd name="adj1" fmla="val 60000"/>
            <a:gd name="adj2" fmla="val 50000"/>
          </a:avLst>
        </a:prstGeom>
        <a:solidFill>
          <a:schemeClr val="dk2">
            <a:tint val="60000"/>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539680" y="1747511"/>
        <a:ext cx="182687" cy="198872"/>
      </dsp:txXfrm>
    </dsp:sp>
    <dsp:sp modelId="{124E0E15-CE54-0C49-8C8A-9050076D9F4A}">
      <dsp:nvSpPr>
        <dsp:cNvPr id="0" name=""/>
        <dsp:cNvSpPr/>
      </dsp:nvSpPr>
      <dsp:spPr>
        <a:xfrm>
          <a:off x="3314389" y="2120039"/>
          <a:ext cx="982087" cy="982087"/>
        </a:xfrm>
        <a:prstGeom prst="ellips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a:t>Secure</a:t>
          </a:r>
        </a:p>
      </dsp:txBody>
      <dsp:txXfrm>
        <a:off x="3458212" y="2263862"/>
        <a:ext cx="694441" cy="694441"/>
      </dsp:txXfrm>
    </dsp:sp>
    <dsp:sp modelId="{521D8DDE-FA04-4A4C-ABA9-D415C4FE1FF1}">
      <dsp:nvSpPr>
        <dsp:cNvPr id="0" name=""/>
        <dsp:cNvSpPr/>
      </dsp:nvSpPr>
      <dsp:spPr>
        <a:xfrm rot="7714286">
          <a:off x="3219877" y="3015988"/>
          <a:ext cx="260982" cy="331454"/>
        </a:xfrm>
        <a:prstGeom prst="rightArrow">
          <a:avLst>
            <a:gd name="adj1" fmla="val 60000"/>
            <a:gd name="adj2" fmla="val 50000"/>
          </a:avLst>
        </a:prstGeom>
        <a:solidFill>
          <a:schemeClr val="dk2">
            <a:tint val="60000"/>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3283433" y="3051672"/>
        <a:ext cx="182687" cy="198872"/>
      </dsp:txXfrm>
    </dsp:sp>
    <dsp:sp modelId="{94FC068B-05EE-5B4E-8B66-986407738A14}">
      <dsp:nvSpPr>
        <dsp:cNvPr id="0" name=""/>
        <dsp:cNvSpPr/>
      </dsp:nvSpPr>
      <dsp:spPr>
        <a:xfrm>
          <a:off x="2395049" y="3272855"/>
          <a:ext cx="982087" cy="982087"/>
        </a:xfrm>
        <a:prstGeom prst="ellips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Publish</a:t>
          </a:r>
        </a:p>
      </dsp:txBody>
      <dsp:txXfrm>
        <a:off x="2538872" y="3416678"/>
        <a:ext cx="694441" cy="694441"/>
      </dsp:txXfrm>
    </dsp:sp>
    <dsp:sp modelId="{4138DF81-E147-F749-9669-26B37051B401}">
      <dsp:nvSpPr>
        <dsp:cNvPr id="0" name=""/>
        <dsp:cNvSpPr/>
      </dsp:nvSpPr>
      <dsp:spPr>
        <a:xfrm rot="10800000">
          <a:off x="2025735" y="3598171"/>
          <a:ext cx="260982" cy="331454"/>
        </a:xfrm>
        <a:prstGeom prst="rightArrow">
          <a:avLst>
            <a:gd name="adj1" fmla="val 60000"/>
            <a:gd name="adj2" fmla="val 50000"/>
          </a:avLst>
        </a:prstGeom>
        <a:solidFill>
          <a:schemeClr val="dk2">
            <a:tint val="60000"/>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2104030" y="3664462"/>
        <a:ext cx="182687" cy="198872"/>
      </dsp:txXfrm>
    </dsp:sp>
    <dsp:sp modelId="{7CE7888D-8481-6047-AAE3-811AFE4EB70D}">
      <dsp:nvSpPr>
        <dsp:cNvPr id="0" name=""/>
        <dsp:cNvSpPr/>
      </dsp:nvSpPr>
      <dsp:spPr>
        <a:xfrm>
          <a:off x="920543" y="3272855"/>
          <a:ext cx="982087" cy="982087"/>
        </a:xfrm>
        <a:prstGeom prst="ellips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Scale</a:t>
          </a:r>
        </a:p>
      </dsp:txBody>
      <dsp:txXfrm>
        <a:off x="1064366" y="3416678"/>
        <a:ext cx="694441" cy="694441"/>
      </dsp:txXfrm>
    </dsp:sp>
    <dsp:sp modelId="{78312B22-9F25-F34C-A235-DE87C0A9CC42}">
      <dsp:nvSpPr>
        <dsp:cNvPr id="0" name=""/>
        <dsp:cNvSpPr/>
      </dsp:nvSpPr>
      <dsp:spPr>
        <a:xfrm rot="13885714">
          <a:off x="826030" y="3027538"/>
          <a:ext cx="260982" cy="331454"/>
        </a:xfrm>
        <a:prstGeom prst="rightArrow">
          <a:avLst>
            <a:gd name="adj1" fmla="val 60000"/>
            <a:gd name="adj2" fmla="val 50000"/>
          </a:avLst>
        </a:prstGeom>
        <a:solidFill>
          <a:schemeClr val="dk2">
            <a:tint val="60000"/>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889586" y="3124436"/>
        <a:ext cx="182687" cy="198872"/>
      </dsp:txXfrm>
    </dsp:sp>
    <dsp:sp modelId="{3E29A836-BC0C-4945-87F4-82A7F32DFEE1}">
      <dsp:nvSpPr>
        <dsp:cNvPr id="0" name=""/>
        <dsp:cNvSpPr/>
      </dsp:nvSpPr>
      <dsp:spPr>
        <a:xfrm>
          <a:off x="1203" y="2120039"/>
          <a:ext cx="982087" cy="982087"/>
        </a:xfrm>
        <a:prstGeom prst="ellips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Monitor</a:t>
          </a:r>
        </a:p>
      </dsp:txBody>
      <dsp:txXfrm>
        <a:off x="145026" y="2263862"/>
        <a:ext cx="694441" cy="694441"/>
      </dsp:txXfrm>
    </dsp:sp>
    <dsp:sp modelId="{223DE3BA-F1FF-8842-846C-C2EFDA764BCA}">
      <dsp:nvSpPr>
        <dsp:cNvPr id="0" name=""/>
        <dsp:cNvSpPr/>
      </dsp:nvSpPr>
      <dsp:spPr>
        <a:xfrm rot="16971429">
          <a:off x="524166" y="1733788"/>
          <a:ext cx="260982" cy="331454"/>
        </a:xfrm>
        <a:prstGeom prst="rightArrow">
          <a:avLst>
            <a:gd name="adj1" fmla="val 60000"/>
            <a:gd name="adj2" fmla="val 50000"/>
          </a:avLst>
        </a:prstGeom>
        <a:solidFill>
          <a:schemeClr val="dk2">
            <a:tint val="60000"/>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554602" y="1838245"/>
        <a:ext cx="182687" cy="198872"/>
      </dsp:txXfrm>
    </dsp:sp>
    <dsp:sp modelId="{A70D1FE3-0878-534E-BB1B-CAEC19A6999E}">
      <dsp:nvSpPr>
        <dsp:cNvPr id="0" name=""/>
        <dsp:cNvSpPr/>
      </dsp:nvSpPr>
      <dsp:spPr>
        <a:xfrm>
          <a:off x="329311" y="682502"/>
          <a:ext cx="982087" cy="982087"/>
        </a:xfrm>
        <a:prstGeom prst="ellipse">
          <a:avLst/>
        </a:prstGeom>
        <a:solidFill>
          <a:schemeClr val="lt1">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Analyze</a:t>
          </a:r>
        </a:p>
      </dsp:txBody>
      <dsp:txXfrm>
        <a:off x="473134" y="826325"/>
        <a:ext cx="694441" cy="694441"/>
      </dsp:txXfrm>
    </dsp:sp>
    <dsp:sp modelId="{4BD32C19-732F-5942-9E30-2B7CD2E45B3E}">
      <dsp:nvSpPr>
        <dsp:cNvPr id="0" name=""/>
        <dsp:cNvSpPr/>
      </dsp:nvSpPr>
      <dsp:spPr>
        <a:xfrm rot="20057143">
          <a:off x="1347451" y="691140"/>
          <a:ext cx="260982" cy="331454"/>
        </a:xfrm>
        <a:prstGeom prst="rightArrow">
          <a:avLst>
            <a:gd name="adj1" fmla="val 60000"/>
            <a:gd name="adj2" fmla="val 50000"/>
          </a:avLst>
        </a:prstGeom>
        <a:solidFill>
          <a:schemeClr val="dk2">
            <a:tint val="60000"/>
            <a:hueOff val="0"/>
            <a:satOff val="0"/>
            <a:lumOff val="0"/>
            <a:alphaOff val="0"/>
          </a:schemeClr>
        </a:solidFill>
        <a:ln>
          <a:noFill/>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351328" y="774416"/>
        <a:ext cx="182687" cy="198872"/>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30D5DF-ACB9-5A38-0380-0071EFABC7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8D878028-2200-3C2C-08DE-31483B799C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A58D7E-A60F-4115-927D-3D4D13184A0C}" type="datetimeFigureOut">
              <a:rPr lang="en-GB" smtClean="0"/>
              <a:t>11/06/2026</a:t>
            </a:fld>
            <a:endParaRPr lang="en-GB"/>
          </a:p>
        </p:txBody>
      </p:sp>
      <p:sp>
        <p:nvSpPr>
          <p:cNvPr id="4" name="Footer Placeholder 3">
            <a:extLst>
              <a:ext uri="{FF2B5EF4-FFF2-40B4-BE49-F238E27FC236}">
                <a16:creationId xmlns:a16="http://schemas.microsoft.com/office/drawing/2014/main" id="{76DA016A-87EB-EC9F-586D-FF43A645CDF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8ECA9CFC-6F05-4CF4-826B-1C1B0FAA3D9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7E9469-F63D-4F96-903B-56320E68BF22}" type="slidenum">
              <a:rPr lang="en-GB" smtClean="0"/>
              <a:t>‹#›</a:t>
            </a:fld>
            <a:endParaRPr lang="en-GB"/>
          </a:p>
        </p:txBody>
      </p:sp>
    </p:spTree>
    <p:extLst>
      <p:ext uri="{BB962C8B-B14F-4D97-AF65-F5344CB8AC3E}">
        <p14:creationId xmlns:p14="http://schemas.microsoft.com/office/powerpoint/2010/main" val="23002952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FCC710-4D26-4D43-B368-14F3B60EA067}" type="datetimeFigureOut">
              <a:rPr lang="en-GB" smtClean="0"/>
              <a:t>11/06/2026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047352-A389-4470-96DC-959BCCC7C416}" type="slidenum">
              <a:rPr lang="en-GB" smtClean="0"/>
              <a:t>‹#›</a:t>
            </a:fld>
            <a:endParaRPr lang="en-GB"/>
          </a:p>
        </p:txBody>
      </p:sp>
    </p:spTree>
    <p:extLst>
      <p:ext uri="{BB962C8B-B14F-4D97-AF65-F5344CB8AC3E}">
        <p14:creationId xmlns:p14="http://schemas.microsoft.com/office/powerpoint/2010/main" val="1940135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9BAF29-56BF-47AE-80F7-BFFC694FDB8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07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Image Placeholder 2"/>
          <p:cNvSpPr>
            <a:spLocks noGrp="1" noRot="1" noChangeAspect="1"/>
          </p:cNvSpPr>
          <p:nvPr>
            <p:ph type="sldImg"/>
          </p:nvPr>
        </p:nvSpPr>
        <p:spPr>
          <a:xfrm>
            <a:off x="384175" y="484188"/>
            <a:ext cx="6096000" cy="3429000"/>
          </a:xfrm>
        </p:spPr>
      </p:sp>
      <p:sp>
        <p:nvSpPr>
          <p:cNvPr id="5" name="Notes Placeholder 4"/>
          <p:cNvSpPr>
            <a:spLocks noGrp="1"/>
          </p:cNvSpPr>
          <p:nvPr>
            <p:ph type="body" idx="1"/>
          </p:nvPr>
        </p:nvSpPr>
        <p:spPr/>
        <p:txBody>
          <a:bodyPr/>
          <a:lstStyle/>
          <a:p>
            <a:endParaRPr lang="en-US"/>
          </a:p>
        </p:txBody>
      </p:sp>
      <p:sp>
        <p:nvSpPr>
          <p:cNvPr id="6" name="Slide Number Placeholder 3"/>
          <p:cNvSpPr>
            <a:spLocks noGrp="1"/>
          </p:cNvSpPr>
          <p:nvPr>
            <p:ph type="sldNum" sz="quarter" idx="5"/>
          </p:nvPr>
        </p:nvSpPr>
        <p:spPr>
          <a:xfrm>
            <a:off x="3884613" y="8685213"/>
            <a:ext cx="2971800" cy="457200"/>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75416BA-65F7-274A-AD61-D0FA78F3AA6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40562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6/11/26 12:51 PM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312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5E847A55-1ACE-D148-B58E-EFEEAFDE7AB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6544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4787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CFD2F54-B10C-0D43-B190-2C5FD6298D5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6285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0E5389CB-DC45-B040-AD21-0EE88AF2B02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4481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D695A-F213-4E83-A419-47D49C7FEE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9604B-4F5E-F722-9421-E3F8619BCD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16CB1-F2FF-710A-129D-6DF065739A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2BA023-70A2-72D4-C395-96F4D7DD131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0E5389CB-DC45-B040-AD21-0EE88AF2B02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9049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4D80EB3E-5A84-6942-8D29-EE544E5A09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7676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B4681AB-E118-3749-991C-F0DC17BE3A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1358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644CF7B-68E9-C94C-B8BB-6E6B14511C7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1295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0E5389CB-DC45-B040-AD21-0EE88AF2B02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2372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B4681AB-E118-3749-991C-F0DC17BE3A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5375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B4681AB-E118-3749-991C-F0DC17BE3A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3988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B4681AB-E118-3749-991C-F0DC17BE3A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71768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047352-A389-4470-96DC-959BCCC7C416}" type="slidenum">
              <a:rPr lang="en-GB" smtClean="0"/>
              <a:t>18</a:t>
            </a:fld>
            <a:endParaRPr lang="en-GB"/>
          </a:p>
        </p:txBody>
      </p:sp>
    </p:spTree>
    <p:extLst>
      <p:ext uri="{BB962C8B-B14F-4D97-AF65-F5344CB8AC3E}">
        <p14:creationId xmlns:p14="http://schemas.microsoft.com/office/powerpoint/2010/main" val="4257294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B5DD3-A1D1-93D4-384C-AD1885591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7F270-54A3-BA4F-5E54-9F0ED67D46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5B18F-64D7-4C8B-C5A3-FF0AA2D403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1E8DF4-E9F3-39F6-90B6-A82CEA48D462}"/>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9BAF29-56BF-47AE-80F7-BFFC694FDB8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08687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D75BB-D751-5393-90AF-D8E1DBC7B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9EBF69-6DE1-1AFD-A82D-73466D130A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3BED7-0B52-9A12-C7D2-5641325941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FAE2A4-1B32-853B-4553-6E94824D10D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9BAF29-56BF-47AE-80F7-BFFC694FDB8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1294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6760E-8528-D775-E0F1-F8816F1CE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C6D41-F773-69C4-1030-F3DF91D287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F0792B-BAE1-D68B-9FF6-8915B4C6A9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4732F6-CA12-9D72-D4AB-831ECC96F3F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9BAF29-56BF-47AE-80F7-BFFC694FDB8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85511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0929F-8680-67C9-F93C-2EDA831A9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BDD9D-0CD5-0667-5A17-BC8F79E35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29953-826D-B15E-E037-7E4EFB1A1E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168F0D-A961-89A8-359C-590DF9F4C8C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9BAF29-56BF-47AE-80F7-BFFC694FDB8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76459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E96D8-DFE2-7DC3-7A82-51205A0B0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D3960-D5BE-988B-117A-343AA640C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5E9A5-C464-FA3F-C699-7410C22B9A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5E4518-DEE9-CBA6-0B5F-08750F9657E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9BAF29-56BF-47AE-80F7-BFFC694FDB8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884848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022D-044F-AAB8-9F94-B963342FB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EDA14-B013-F72E-E63D-3ECB5BCFE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ABAC3-35F7-CB25-2549-FC29E1A9A2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A8B6F6-E3D7-EA59-7697-5830CF75EE8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9BAF29-56BF-47AE-80F7-BFFC694FDB8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3806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15161-0B27-1C10-811A-302854434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A1D5C-4847-2265-376D-095FDC2B4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6ABF4B-FCBC-4E4B-3DFC-0F0AEFBA6B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AB140A-FD1B-9955-056D-CB68D835F79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9BAF29-56BF-47AE-80F7-BFFC694FDB8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3169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4DDF-9741-FFAD-13C3-35856E031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9245DB-8CBF-8653-4C71-684B9D4C36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AA2148-9C4F-3C67-0CC5-177D3A145842}"/>
              </a:ext>
            </a:extLst>
          </p:cNvPr>
          <p:cNvSpPr>
            <a:spLocks noGrp="1"/>
          </p:cNvSpPr>
          <p:nvPr>
            <p:ph type="body" idx="1"/>
          </p:nvPr>
        </p:nvSpPr>
        <p:spPr/>
        <p:txBody>
          <a:bodyPr/>
          <a:lstStyle/>
          <a:p>
            <a:endParaRPr lang="en-US"/>
          </a:p>
        </p:txBody>
      </p:sp>
      <p:sp>
        <p:nvSpPr>
          <p:cNvPr id="5" name="Footer Placeholder 4">
            <a:extLst>
              <a:ext uri="{FF2B5EF4-FFF2-40B4-BE49-F238E27FC236}">
                <a16:creationId xmlns:a16="http://schemas.microsoft.com/office/drawing/2014/main" id="{40BC416D-97DA-1EBC-A3E0-A5D800D27FF7}"/>
              </a:ext>
            </a:extLst>
          </p:cNvPr>
          <p:cNvSpPr>
            <a:spLocks noGrp="1"/>
          </p:cNvSpPr>
          <p:nvPr>
            <p:ph type="ftr" sz="quarter" idx="11"/>
          </p:nvPr>
        </p:nvSpPr>
        <p:spPr/>
        <p:txBody>
          <a:bodyPr/>
          <a:lstStyle/>
          <a:p>
            <a:pPr marL="604133" marR="0" lvl="0" indent="0" algn="l" defTabSz="966294"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Variable Display" pitchFamily="2"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7" name="Slide Number Placeholder 6">
            <a:extLst>
              <a:ext uri="{FF2B5EF4-FFF2-40B4-BE49-F238E27FC236}">
                <a16:creationId xmlns:a16="http://schemas.microsoft.com/office/drawing/2014/main" id="{85A84BE4-B64A-4A2F-D8B5-DFF730989E7A}"/>
              </a:ext>
            </a:extLst>
          </p:cNvPr>
          <p:cNvSpPr>
            <a:spLocks noGrp="1"/>
          </p:cNvSpPr>
          <p:nvPr>
            <p:ph type="sldNum" sz="quarter" idx="13"/>
          </p:nvPr>
        </p:nvSpPr>
        <p:spPr/>
        <p:txBody>
          <a:bodyPr/>
          <a:lstStyle/>
          <a:p>
            <a:pPr marL="0" marR="0" lvl="0" indent="0" algn="r" defTabSz="96657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a:ln>
                  <a:noFill/>
                </a:ln>
                <a:solidFill>
                  <a:prstClr val="black"/>
                </a:solidFill>
                <a:effectLst/>
                <a:uLnTx/>
                <a:uFillTx/>
                <a:latin typeface="Segoe UI Variable Display" pitchFamily="2" charset="0"/>
                <a:ea typeface="+mn-ea"/>
                <a:cs typeface="+mn-cs"/>
              </a:rPr>
              <a:pPr marL="0" marR="0" lvl="0" indent="0" algn="r" defTabSz="966577"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Segoe UI Variable Display" pitchFamily="2" charset="0"/>
              <a:ea typeface="+mn-ea"/>
              <a:cs typeface="+mn-cs"/>
            </a:endParaRPr>
          </a:p>
        </p:txBody>
      </p:sp>
    </p:spTree>
    <p:extLst>
      <p:ext uri="{BB962C8B-B14F-4D97-AF65-F5344CB8AC3E}">
        <p14:creationId xmlns:p14="http://schemas.microsoft.com/office/powerpoint/2010/main" val="7471484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047352-A389-4470-96DC-959BCCC7C416}" type="slidenum">
              <a:rPr lang="en-GB" smtClean="0"/>
              <a:t>28</a:t>
            </a:fld>
            <a:endParaRPr lang="en-GB"/>
          </a:p>
        </p:txBody>
      </p:sp>
    </p:spTree>
    <p:extLst>
      <p:ext uri="{BB962C8B-B14F-4D97-AF65-F5344CB8AC3E}">
        <p14:creationId xmlns:p14="http://schemas.microsoft.com/office/powerpoint/2010/main" val="2342195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microsoft.com/en-us/legal/intellectualproperty/Permissions/default.aspx"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hyperlink" Target="http://www.microsoft.com/en-us/legal/intellectualproperty/Permissions/default.aspx"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51F42C4-9288-4E7B-BFD0-B7F380805E4F}" type="datetimeFigureOut">
              <a:rPr lang="en-US" smtClean="0"/>
              <a:t>6/11/26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3311579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1F42C4-9288-4E7B-BFD0-B7F380805E4F}" type="datetimeFigureOut">
              <a:rPr lang="en-US" smtClean="0"/>
              <a:t>6/11/26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117424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1F42C4-9288-4E7B-BFD0-B7F380805E4F}" type="datetimeFigureOut">
              <a:rPr lang="en-US" smtClean="0"/>
              <a:t>6/11/26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1359925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51F42C4-9288-4E7B-BFD0-B7F380805E4F}" type="datetimeFigureOut">
              <a:rPr lang="en-US" smtClean="0"/>
              <a:t>6/11/26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1569165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51F42C4-9288-4E7B-BFD0-B7F380805E4F}" type="datetimeFigureOut">
              <a:rPr lang="en-US" smtClean="0"/>
              <a:t>6/11/26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3209297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51F42C4-9288-4E7B-BFD0-B7F380805E4F}" type="datetimeFigureOut">
              <a:rPr lang="en-US" smtClean="0"/>
              <a:t>6/11/26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1882900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1F42C4-9288-4E7B-BFD0-B7F380805E4F}" type="datetimeFigureOut">
              <a:rPr lang="en-US" smtClean="0"/>
              <a:t>6/11/26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395034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1F42C4-9288-4E7B-BFD0-B7F380805E4F}" type="datetimeFigureOut">
              <a:rPr lang="en-US" smtClean="0"/>
              <a:t>6/11/26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3963998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1F42C4-9288-4E7B-BFD0-B7F380805E4F}" type="datetimeFigureOut">
              <a:rPr lang="en-US" smtClean="0"/>
              <a:t>6/11/26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893412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1F42C4-9288-4E7B-BFD0-B7F380805E4F}" type="datetimeFigureOut">
              <a:rPr lang="en-US" smtClean="0"/>
              <a:t>6/11/26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2382248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1F42C4-9288-4E7B-BFD0-B7F380805E4F}" type="datetimeFigureOut">
              <a:rPr lang="en-US" smtClean="0"/>
              <a:t>6/11/26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947CDC-84C2-44AF-9F60-0FAAD3ABD882}" type="slidenum">
              <a:rPr lang="en-US" smtClean="0"/>
              <a:t>‹#›</a:t>
            </a:fld>
            <a:endParaRPr lang="en-US"/>
          </a:p>
        </p:txBody>
      </p:sp>
    </p:spTree>
    <p:extLst>
      <p:ext uri="{BB962C8B-B14F-4D97-AF65-F5344CB8AC3E}">
        <p14:creationId xmlns:p14="http://schemas.microsoft.com/office/powerpoint/2010/main" val="1496317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ULA">
    <p:bg>
      <p:bgPr>
        <a:solidFill>
          <a:schemeClr val="bg1"/>
        </a:solidFill>
        <a:effectLst/>
      </p:bgPr>
    </p:bg>
    <p:spTree>
      <p:nvGrpSpPr>
        <p:cNvPr id="1" name=""/>
        <p:cNvGrpSpPr/>
        <p:nvPr/>
      </p:nvGrpSpPr>
      <p:grpSpPr>
        <a:xfrm>
          <a:off x="0" y="0"/>
          <a:ext cx="0" cy="0"/>
          <a:chOff x="0" y="0"/>
          <a:chExt cx="0" cy="0"/>
        </a:xfrm>
      </p:grpSpPr>
      <p:sp>
        <p:nvSpPr>
          <p:cNvPr id="9" name="TextBox 8"/>
          <p:cNvSpPr txBox="1"/>
          <p:nvPr userDrawn="1"/>
        </p:nvSpPr>
        <p:spPr>
          <a:xfrm>
            <a:off x="304800" y="3450535"/>
            <a:ext cx="11684000" cy="3064563"/>
          </a:xfrm>
          <a:prstGeom prst="rect">
            <a:avLst/>
          </a:prstGeom>
          <a:noFill/>
          <a:ln>
            <a:noFill/>
          </a:ln>
        </p:spPr>
        <p:txBody>
          <a:bodyPr vert="horz" wrap="square" lIns="243777" tIns="182833" rIns="121890" bIns="60944" rtlCol="0" anchor="t" anchorCtr="0">
            <a:noAutofit/>
          </a:bodyPr>
          <a:lstStyle/>
          <a:p>
            <a:pPr defTabSz="609430">
              <a:lnSpc>
                <a:spcPct val="90000"/>
              </a:lnSpc>
              <a:spcAft>
                <a:spcPts val="800"/>
              </a:spcAft>
              <a:defRPr/>
            </a:pPr>
            <a:r>
              <a:rPr lang="en-US" sz="1200">
                <a:solidFill>
                  <a:srgbClr val="000000">
                    <a:alpha val="87000"/>
                  </a:srgbClr>
                </a:solidFill>
                <a:cs typeface="Segoe UI" panose="020B0502040204020203" pitchFamily="34" charset="0"/>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pPr defTabSz="609430">
              <a:lnSpc>
                <a:spcPct val="90000"/>
              </a:lnSpc>
              <a:spcAft>
                <a:spcPts val="800"/>
              </a:spcAft>
              <a:defRPr/>
            </a:pPr>
            <a:r>
              <a:rPr lang="en-US" sz="1200">
                <a:solidFill>
                  <a:srgbClr val="000000">
                    <a:alpha val="87000"/>
                  </a:srgbClr>
                </a:solidFill>
                <a:cs typeface="Segoe UI" panose="020B0502040204020203" pitchFamily="34" charset="0"/>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defTabSz="609430">
              <a:lnSpc>
                <a:spcPct val="90000"/>
              </a:lnSpc>
              <a:spcAft>
                <a:spcPts val="400"/>
              </a:spcAft>
              <a:defRPr/>
            </a:pPr>
            <a:r>
              <a:rPr lang="en-US" sz="1200">
                <a:solidFill>
                  <a:srgbClr val="000000">
                    <a:alpha val="87000"/>
                  </a:srgbClr>
                </a:solidFill>
                <a:cs typeface="Segoe UI" panose="020B0502040204020203" pitchFamily="34" charset="0"/>
              </a:rPr>
              <a:t>For more information, see Use of Microsoft Copyrighted Content at</a:t>
            </a:r>
          </a:p>
          <a:p>
            <a:pPr algn="ctr" defTabSz="609430">
              <a:lnSpc>
                <a:spcPct val="90000"/>
              </a:lnSpc>
              <a:spcAft>
                <a:spcPts val="800"/>
              </a:spcAft>
              <a:defRPr/>
            </a:pPr>
            <a:r>
              <a:rPr lang="en-US" sz="1200" u="sng">
                <a:solidFill>
                  <a:prstClr val="black"/>
                </a:solidFill>
                <a:cs typeface="Segoe UI" panose="020B0502040204020203" pitchFamily="34" charset="0"/>
                <a:hlinkClick r:id="rId2" tooltip="http://www.microsoft.com/en-us/legal/intellectualproperty/Permissions/default.aspx"/>
              </a:rPr>
              <a:t>http://www.microsoft.com/en-us/legal/intellectualproperty/Permissions/default.aspx</a:t>
            </a:r>
            <a:endParaRPr lang="en-US" sz="1200">
              <a:solidFill>
                <a:prstClr val="black"/>
              </a:solidFill>
              <a:cs typeface="Segoe UI" panose="020B0502040204020203" pitchFamily="34" charset="0"/>
            </a:endParaRPr>
          </a:p>
          <a:p>
            <a:pPr defTabSz="609430">
              <a:lnSpc>
                <a:spcPct val="90000"/>
              </a:lnSpc>
              <a:spcAft>
                <a:spcPts val="800"/>
              </a:spcAft>
              <a:defRPr/>
            </a:pPr>
            <a:r>
              <a:rPr lang="en-IN" sz="1200">
                <a:solidFill>
                  <a:srgbClr val="000000">
                    <a:alpha val="87000"/>
                  </a:srgbClr>
                </a:solidFill>
                <a:cs typeface="Segoe UI" panose="020B0502040204020203" pitchFamily="34" charset="0"/>
              </a:rPr>
              <a:t>DirectX, Hyper-V, Internet Explorer, Microsoft, Outlook, OneDrive, SQL Server, Windows, Microsoft Azure, Windows PowerShell, Windows Server, Windows Vista, and Zune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a:p>
            <a:pPr defTabSz="609430">
              <a:lnSpc>
                <a:spcPct val="90000"/>
              </a:lnSpc>
              <a:spcAft>
                <a:spcPts val="800"/>
              </a:spcAft>
              <a:defRPr/>
            </a:pPr>
            <a:endParaRPr lang="en-US" sz="1400">
              <a:solidFill>
                <a:srgbClr val="000000">
                  <a:alpha val="87000"/>
                </a:srgbClr>
              </a:solidFill>
              <a:cs typeface="Segoe UI" panose="020B0502040204020203" pitchFamily="34" charset="0"/>
            </a:endParaRPr>
          </a:p>
        </p:txBody>
      </p:sp>
      <p:sp>
        <p:nvSpPr>
          <p:cNvPr id="11" name="TextBox 10"/>
          <p:cNvSpPr txBox="1"/>
          <p:nvPr userDrawn="1"/>
        </p:nvSpPr>
        <p:spPr>
          <a:xfrm>
            <a:off x="310777" y="227810"/>
            <a:ext cx="3149600" cy="406400"/>
          </a:xfrm>
          <a:prstGeom prst="rect">
            <a:avLst/>
          </a:prstGeom>
          <a:noFill/>
          <a:ln>
            <a:noFill/>
          </a:ln>
        </p:spPr>
        <p:txBody>
          <a:bodyPr vert="horz" wrap="none" lIns="243777" tIns="182833" rIns="121890" bIns="60944" rtlCol="0" anchor="ctr" anchorCtr="0">
            <a:noAutofit/>
          </a:bodyPr>
          <a:lstStyle/>
          <a:p>
            <a:pPr defTabSz="609430">
              <a:defRPr/>
            </a:pPr>
            <a:r>
              <a:rPr lang="en-US" sz="1500" b="1">
                <a:solidFill>
                  <a:srgbClr val="000000"/>
                </a:solidFill>
                <a:cs typeface="Segoe UI" panose="020B0502040204020203" pitchFamily="34" charset="0"/>
              </a:rPr>
              <a:t>Conditions and Terms of Use</a:t>
            </a:r>
            <a:endParaRPr lang="en-US" sz="1500">
              <a:solidFill>
                <a:srgbClr val="000000"/>
              </a:solidFill>
              <a:cs typeface="Segoe UI" panose="020B0502040204020203" pitchFamily="34" charset="0"/>
            </a:endParaRPr>
          </a:p>
        </p:txBody>
      </p:sp>
      <p:sp>
        <p:nvSpPr>
          <p:cNvPr id="13" name="TextBox 12"/>
          <p:cNvSpPr txBox="1"/>
          <p:nvPr userDrawn="1"/>
        </p:nvSpPr>
        <p:spPr>
          <a:xfrm>
            <a:off x="307789" y="2916586"/>
            <a:ext cx="3149600" cy="370545"/>
          </a:xfrm>
          <a:prstGeom prst="rect">
            <a:avLst/>
          </a:prstGeom>
          <a:noFill/>
          <a:ln>
            <a:noFill/>
          </a:ln>
        </p:spPr>
        <p:txBody>
          <a:bodyPr vert="horz" wrap="none" lIns="243777" tIns="182833" rIns="121890" bIns="60944" rtlCol="0" anchor="ctr" anchorCtr="0">
            <a:noAutofit/>
          </a:bodyPr>
          <a:lstStyle/>
          <a:p>
            <a:pPr defTabSz="609430">
              <a:defRPr/>
            </a:pPr>
            <a:r>
              <a:rPr lang="en-US" sz="1500" b="1">
                <a:solidFill>
                  <a:srgbClr val="000000"/>
                </a:solidFill>
                <a:cs typeface="Segoe UI" panose="020B0502040204020203" pitchFamily="34" charset="0"/>
              </a:rPr>
              <a:t>Copyright and Trademarks</a:t>
            </a:r>
          </a:p>
        </p:txBody>
      </p:sp>
      <p:sp>
        <p:nvSpPr>
          <p:cNvPr id="14" name="TextBox 13"/>
          <p:cNvSpPr txBox="1"/>
          <p:nvPr userDrawn="1"/>
        </p:nvSpPr>
        <p:spPr>
          <a:xfrm>
            <a:off x="304800" y="502354"/>
            <a:ext cx="3149600" cy="406400"/>
          </a:xfrm>
          <a:prstGeom prst="rect">
            <a:avLst/>
          </a:prstGeom>
          <a:noFill/>
          <a:ln>
            <a:noFill/>
          </a:ln>
        </p:spPr>
        <p:txBody>
          <a:bodyPr vert="horz" wrap="none" lIns="243777" tIns="182833" rIns="121890" bIns="60944" rtlCol="0" anchor="ctr" anchorCtr="0">
            <a:noAutofit/>
          </a:bodyPr>
          <a:lstStyle/>
          <a:p>
            <a:pPr defTabSz="609430">
              <a:defRPr/>
            </a:pPr>
            <a:r>
              <a:rPr lang="en-US" sz="1100">
                <a:solidFill>
                  <a:srgbClr val="277EB5"/>
                </a:solidFill>
                <a:cs typeface="Segoe UI" panose="020B0502040204020203" pitchFamily="34" charset="0"/>
              </a:rPr>
              <a:t>Microsoft Confidential</a:t>
            </a:r>
          </a:p>
        </p:txBody>
      </p:sp>
      <p:sp>
        <p:nvSpPr>
          <p:cNvPr id="15" name="TextBox 14"/>
          <p:cNvSpPr txBox="1"/>
          <p:nvPr userDrawn="1"/>
        </p:nvSpPr>
        <p:spPr>
          <a:xfrm>
            <a:off x="304800" y="3161913"/>
            <a:ext cx="3149600" cy="406400"/>
          </a:xfrm>
          <a:prstGeom prst="rect">
            <a:avLst/>
          </a:prstGeom>
          <a:noFill/>
          <a:ln>
            <a:noFill/>
          </a:ln>
        </p:spPr>
        <p:txBody>
          <a:bodyPr vert="horz" wrap="none" lIns="243777" tIns="182833" rIns="121890" bIns="60944" rtlCol="0" anchor="ctr" anchorCtr="0">
            <a:noAutofit/>
          </a:bodyPr>
          <a:lstStyle/>
          <a:p>
            <a:pPr defTabSz="609430">
              <a:defRPr/>
            </a:pPr>
            <a:r>
              <a:rPr lang="en-US" sz="1100">
                <a:solidFill>
                  <a:srgbClr val="277EB5"/>
                </a:solidFill>
                <a:cs typeface="Segoe UI" panose="020B0502040204020203" pitchFamily="34" charset="0"/>
              </a:rPr>
              <a:t>© 2023 Microsoft Corporation. All rights reserved.</a:t>
            </a:r>
          </a:p>
        </p:txBody>
      </p:sp>
      <p:sp>
        <p:nvSpPr>
          <p:cNvPr id="16" name="TextBox 15"/>
          <p:cNvSpPr txBox="1"/>
          <p:nvPr userDrawn="1"/>
        </p:nvSpPr>
        <p:spPr>
          <a:xfrm>
            <a:off x="304800" y="737760"/>
            <a:ext cx="11684000" cy="2438400"/>
          </a:xfrm>
          <a:prstGeom prst="rect">
            <a:avLst/>
          </a:prstGeom>
          <a:noFill/>
          <a:ln>
            <a:noFill/>
          </a:ln>
        </p:spPr>
        <p:txBody>
          <a:bodyPr vert="horz" wrap="square" lIns="243777" tIns="182833" rIns="121890" bIns="60944" rtlCol="0" anchor="t" anchorCtr="0">
            <a:normAutofit/>
          </a:bodyPr>
          <a:lstStyle/>
          <a:p>
            <a:pPr defTabSz="609430">
              <a:spcAft>
                <a:spcPts val="800"/>
              </a:spcAft>
              <a:defRPr/>
            </a:pPr>
            <a:r>
              <a:rPr lang="en-US" sz="1200">
                <a:solidFill>
                  <a:srgbClr val="000000">
                    <a:alpha val="87000"/>
                  </a:srgbClr>
                </a:solidFill>
                <a:cs typeface="Segoe UI" panose="020B0502040204020203" pitchFamily="34" charset="0"/>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pPr defTabSz="609430">
              <a:spcAft>
                <a:spcPts val="800"/>
              </a:spcAft>
              <a:defRPr/>
            </a:pPr>
            <a:r>
              <a:rPr lang="en-US" sz="1200">
                <a:solidFill>
                  <a:srgbClr val="000000">
                    <a:alpha val="87000"/>
                  </a:srgbClr>
                </a:solidFill>
                <a:cs typeface="Segoe UI" panose="020B0502040204020203" pitchFamily="34" charset="0"/>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pPr defTabSz="609430">
              <a:spcAft>
                <a:spcPts val="800"/>
              </a:spcAft>
              <a:defRPr/>
            </a:pPr>
            <a:r>
              <a:rPr lang="en-US" sz="1200">
                <a:solidFill>
                  <a:srgbClr val="000000">
                    <a:alpha val="87000"/>
                  </a:srgbClr>
                </a:solidFill>
                <a:cs typeface="Segoe UI" panose="020B0502040204020203" pitchFamily="34" charset="0"/>
              </a:rPr>
              <a:t>Training package content, including URLs and other Internet Web 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a:t>
            </a:r>
          </a:p>
          <a:p>
            <a:pPr defTabSz="609430">
              <a:spcAft>
                <a:spcPts val="800"/>
              </a:spcAft>
              <a:defRPr/>
            </a:pPr>
            <a:endParaRPr lang="en-US" sz="1400">
              <a:solidFill>
                <a:srgbClr val="000000">
                  <a:alpha val="87000"/>
                </a:srgbClr>
              </a:solidFill>
              <a:cs typeface="Segoe UI" panose="020B0502040204020203" pitchFamily="34" charset="0"/>
            </a:endParaRPr>
          </a:p>
        </p:txBody>
      </p:sp>
    </p:spTree>
    <p:extLst>
      <p:ext uri="{BB962C8B-B14F-4D97-AF65-F5344CB8AC3E}">
        <p14:creationId xmlns:p14="http://schemas.microsoft.com/office/powerpoint/2010/main" val="1285027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47958005"/>
      </p:ext>
    </p:extLst>
  </p:cSld>
  <p:clrMapOvr>
    <a:masterClrMapping/>
  </p:clrMapOvr>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15738471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596885581"/>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mp; half-pag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90" y="1731186"/>
            <a:ext cx="4898137" cy="1239122"/>
          </a:xfrm>
        </p:spPr>
        <p:txBody>
          <a:bodyPr wrap="square">
            <a:spAutoFit/>
          </a:bodyPr>
          <a:lstStyle>
            <a:lvl1pPr marL="0" indent="0">
              <a:lnSpc>
                <a:spcPct val="110000"/>
              </a:lnSpc>
              <a:spcBef>
                <a:spcPts val="1200"/>
              </a:spcBef>
              <a:buNone/>
              <a:defRPr sz="1800">
                <a:latin typeface="+mn-lt"/>
              </a:defRPr>
            </a:lvl1pPr>
            <a:lvl2pPr marL="228600" indent="0">
              <a:buNone/>
              <a:defRPr sz="1600"/>
            </a:lvl2pPr>
            <a:lvl3pPr marL="457200" indent="0">
              <a:buNone/>
              <a:defRPr sz="1200"/>
            </a:lvl3pPr>
            <a:lvl4pPr marL="685800" indent="0">
              <a:buNone/>
              <a:defRPr sz="1100"/>
            </a:lvl4pPr>
            <a:lvl5pPr marL="914400" indent="0">
              <a:buNone/>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C4B7896-F978-4D6E-861E-D10AD51486D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43605403"/>
      </p:ext>
    </p:extLst>
  </p:cSld>
  <p:clrMapOvr>
    <a:masterClrMapping/>
  </p:clrMapOvr>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35704716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57524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fr-FR"/>
              <a:t>Modifiez le style du titre</a:t>
            </a:r>
            <a:endParaRPr lang="en-US"/>
          </a:p>
        </p:txBody>
      </p:sp>
    </p:spTree>
    <p:extLst>
      <p:ext uri="{BB962C8B-B14F-4D97-AF65-F5344CB8AC3E}">
        <p14:creationId xmlns:p14="http://schemas.microsoft.com/office/powerpoint/2010/main" val="1727947126"/>
      </p:ext>
    </p:extLst>
  </p:cSld>
  <p:clrMapOvr>
    <a:masterClrMapping/>
  </p:clrMapOvr>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itre et conten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defRPr>
            </a:lvl1pPr>
          </a:lstStyle>
          <a:p>
            <a:r>
              <a:rPr lang="fr-FR"/>
              <a:t>Modifiez le style du titre</a:t>
            </a:r>
            <a:endParaRPr lang="en-US"/>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8744067"/>
      </p:ext>
    </p:extLst>
  </p:cSld>
  <p:clrMapOvr>
    <a:masterClrMapping/>
  </p:clrMapOvr>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square photo">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10" name="Picture 9" descr="Software developer on computer in conference room">
            <a:extLst>
              <a:ext uri="{FF2B5EF4-FFF2-40B4-BE49-F238E27FC236}">
                <a16:creationId xmlns:a16="http://schemas.microsoft.com/office/drawing/2014/main" id="{7534CB70-C800-4951-9D0D-B89D17FCA1D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5333488" y="0"/>
            <a:ext cx="6858512" cy="6858000"/>
          </a:xfrm>
          <a:prstGeom prst="rect">
            <a:avLst/>
          </a:prstGeom>
        </p:spPr>
      </p:pic>
    </p:spTree>
    <p:extLst>
      <p:ext uri="{BB962C8B-B14F-4D97-AF65-F5344CB8AC3E}">
        <p14:creationId xmlns:p14="http://schemas.microsoft.com/office/powerpoint/2010/main" val="30654097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EULA">
    <p:bg>
      <p:bgPr>
        <a:solidFill>
          <a:schemeClr val="bg1"/>
        </a:solidFill>
        <a:effectLst/>
      </p:bgPr>
    </p:bg>
    <p:spTree>
      <p:nvGrpSpPr>
        <p:cNvPr id="1" name=""/>
        <p:cNvGrpSpPr/>
        <p:nvPr/>
      </p:nvGrpSpPr>
      <p:grpSpPr>
        <a:xfrm>
          <a:off x="0" y="0"/>
          <a:ext cx="0" cy="0"/>
          <a:chOff x="0" y="0"/>
          <a:chExt cx="0" cy="0"/>
        </a:xfrm>
      </p:grpSpPr>
      <p:sp>
        <p:nvSpPr>
          <p:cNvPr id="9" name="TextBox 8"/>
          <p:cNvSpPr txBox="1"/>
          <p:nvPr userDrawn="1"/>
        </p:nvSpPr>
        <p:spPr>
          <a:xfrm>
            <a:off x="304800" y="3450535"/>
            <a:ext cx="11684000" cy="3064563"/>
          </a:xfrm>
          <a:prstGeom prst="rect">
            <a:avLst/>
          </a:prstGeom>
          <a:noFill/>
          <a:ln>
            <a:noFill/>
          </a:ln>
        </p:spPr>
        <p:txBody>
          <a:bodyPr vert="horz" wrap="square" lIns="243777" tIns="182833" rIns="121890" bIns="60944" rtlCol="0" anchor="t" anchorCtr="0">
            <a:noAutofit/>
          </a:bodyPr>
          <a:lstStyle/>
          <a:p>
            <a:pPr defTabSz="609430">
              <a:lnSpc>
                <a:spcPct val="90000"/>
              </a:lnSpc>
              <a:spcAft>
                <a:spcPts val="800"/>
              </a:spcAft>
              <a:defRPr/>
            </a:pPr>
            <a:r>
              <a:rPr lang="en-US" sz="1200">
                <a:solidFill>
                  <a:srgbClr val="000000">
                    <a:alpha val="87000"/>
                  </a:srgbClr>
                </a:solidFill>
                <a:cs typeface="Segoe UI" panose="020B0502040204020203" pitchFamily="34" charset="0"/>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pPr defTabSz="609430">
              <a:lnSpc>
                <a:spcPct val="90000"/>
              </a:lnSpc>
              <a:spcAft>
                <a:spcPts val="800"/>
              </a:spcAft>
              <a:defRPr/>
            </a:pPr>
            <a:r>
              <a:rPr lang="en-US" sz="1200">
                <a:solidFill>
                  <a:srgbClr val="000000">
                    <a:alpha val="87000"/>
                  </a:srgbClr>
                </a:solidFill>
                <a:cs typeface="Segoe UI" panose="020B0502040204020203" pitchFamily="34" charset="0"/>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defTabSz="609430">
              <a:lnSpc>
                <a:spcPct val="90000"/>
              </a:lnSpc>
              <a:spcAft>
                <a:spcPts val="400"/>
              </a:spcAft>
              <a:defRPr/>
            </a:pPr>
            <a:r>
              <a:rPr lang="en-US" sz="1200">
                <a:solidFill>
                  <a:srgbClr val="000000">
                    <a:alpha val="87000"/>
                  </a:srgbClr>
                </a:solidFill>
                <a:cs typeface="Segoe UI" panose="020B0502040204020203" pitchFamily="34" charset="0"/>
              </a:rPr>
              <a:t>For more information, see Use of Microsoft Copyrighted Content at</a:t>
            </a:r>
          </a:p>
          <a:p>
            <a:pPr algn="ctr" defTabSz="609430">
              <a:lnSpc>
                <a:spcPct val="90000"/>
              </a:lnSpc>
              <a:spcAft>
                <a:spcPts val="800"/>
              </a:spcAft>
              <a:defRPr/>
            </a:pPr>
            <a:r>
              <a:rPr lang="en-US" sz="1200" u="sng">
                <a:solidFill>
                  <a:prstClr val="black"/>
                </a:solidFill>
                <a:cs typeface="Segoe UI" panose="020B0502040204020203" pitchFamily="34" charset="0"/>
                <a:hlinkClick r:id="rId2" tooltip="http://www.microsoft.com/en-us/legal/intellectualproperty/Permissions/default.aspx"/>
              </a:rPr>
              <a:t>http://www.microsoft.com/en-us/legal/intellectualproperty/Permissions/default.aspx</a:t>
            </a:r>
            <a:endParaRPr lang="en-US" sz="1200">
              <a:solidFill>
                <a:prstClr val="black"/>
              </a:solidFill>
              <a:cs typeface="Segoe UI" panose="020B0502040204020203" pitchFamily="34" charset="0"/>
            </a:endParaRPr>
          </a:p>
          <a:p>
            <a:pPr defTabSz="609430">
              <a:lnSpc>
                <a:spcPct val="90000"/>
              </a:lnSpc>
              <a:spcAft>
                <a:spcPts val="800"/>
              </a:spcAft>
              <a:defRPr/>
            </a:pPr>
            <a:r>
              <a:rPr lang="en-IN" sz="1200">
                <a:solidFill>
                  <a:srgbClr val="000000">
                    <a:alpha val="87000"/>
                  </a:srgbClr>
                </a:solidFill>
                <a:cs typeface="Segoe UI" panose="020B0502040204020203" pitchFamily="34" charset="0"/>
              </a:rPr>
              <a:t>DirectX, Hyper-V, Internet Explorer, Microsoft, Outlook, OneDrive, SQL Server, Windows, Microsoft Azure, Windows PowerShell, Windows Server, Windows Vista, and Zune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a:p>
            <a:pPr defTabSz="609430">
              <a:lnSpc>
                <a:spcPct val="90000"/>
              </a:lnSpc>
              <a:spcAft>
                <a:spcPts val="800"/>
              </a:spcAft>
              <a:defRPr/>
            </a:pPr>
            <a:endParaRPr lang="en-US" sz="1400">
              <a:solidFill>
                <a:srgbClr val="000000">
                  <a:alpha val="87000"/>
                </a:srgbClr>
              </a:solidFill>
              <a:cs typeface="Segoe UI" panose="020B0502040204020203" pitchFamily="34" charset="0"/>
            </a:endParaRPr>
          </a:p>
        </p:txBody>
      </p:sp>
      <p:sp>
        <p:nvSpPr>
          <p:cNvPr id="11" name="TextBox 10"/>
          <p:cNvSpPr txBox="1"/>
          <p:nvPr userDrawn="1"/>
        </p:nvSpPr>
        <p:spPr>
          <a:xfrm>
            <a:off x="310777" y="227810"/>
            <a:ext cx="3149600" cy="406400"/>
          </a:xfrm>
          <a:prstGeom prst="rect">
            <a:avLst/>
          </a:prstGeom>
          <a:noFill/>
          <a:ln>
            <a:noFill/>
          </a:ln>
        </p:spPr>
        <p:txBody>
          <a:bodyPr vert="horz" wrap="none" lIns="243777" tIns="182833" rIns="121890" bIns="60944" rtlCol="0" anchor="ctr" anchorCtr="0">
            <a:noAutofit/>
          </a:bodyPr>
          <a:lstStyle/>
          <a:p>
            <a:pPr defTabSz="609430">
              <a:defRPr/>
            </a:pPr>
            <a:r>
              <a:rPr lang="en-US" sz="1500" b="1">
                <a:solidFill>
                  <a:srgbClr val="000000"/>
                </a:solidFill>
                <a:cs typeface="Segoe UI" panose="020B0502040204020203" pitchFamily="34" charset="0"/>
              </a:rPr>
              <a:t>Conditions and Terms of Use</a:t>
            </a:r>
            <a:endParaRPr lang="en-US" sz="1500">
              <a:solidFill>
                <a:srgbClr val="000000"/>
              </a:solidFill>
              <a:cs typeface="Segoe UI" panose="020B0502040204020203" pitchFamily="34" charset="0"/>
            </a:endParaRPr>
          </a:p>
        </p:txBody>
      </p:sp>
      <p:sp>
        <p:nvSpPr>
          <p:cNvPr id="13" name="TextBox 12"/>
          <p:cNvSpPr txBox="1"/>
          <p:nvPr userDrawn="1"/>
        </p:nvSpPr>
        <p:spPr>
          <a:xfrm>
            <a:off x="307789" y="2916586"/>
            <a:ext cx="3149600" cy="370545"/>
          </a:xfrm>
          <a:prstGeom prst="rect">
            <a:avLst/>
          </a:prstGeom>
          <a:noFill/>
          <a:ln>
            <a:noFill/>
          </a:ln>
        </p:spPr>
        <p:txBody>
          <a:bodyPr vert="horz" wrap="none" lIns="243777" tIns="182833" rIns="121890" bIns="60944" rtlCol="0" anchor="ctr" anchorCtr="0">
            <a:noAutofit/>
          </a:bodyPr>
          <a:lstStyle/>
          <a:p>
            <a:pPr defTabSz="609430">
              <a:defRPr/>
            </a:pPr>
            <a:r>
              <a:rPr lang="en-US" sz="1500" b="1">
                <a:solidFill>
                  <a:srgbClr val="000000"/>
                </a:solidFill>
                <a:cs typeface="Segoe UI" panose="020B0502040204020203" pitchFamily="34" charset="0"/>
              </a:rPr>
              <a:t>Copyright and Trademarks</a:t>
            </a:r>
          </a:p>
        </p:txBody>
      </p:sp>
      <p:sp>
        <p:nvSpPr>
          <p:cNvPr id="14" name="TextBox 13"/>
          <p:cNvSpPr txBox="1"/>
          <p:nvPr userDrawn="1"/>
        </p:nvSpPr>
        <p:spPr>
          <a:xfrm>
            <a:off x="304800" y="502354"/>
            <a:ext cx="3149600" cy="406400"/>
          </a:xfrm>
          <a:prstGeom prst="rect">
            <a:avLst/>
          </a:prstGeom>
          <a:noFill/>
          <a:ln>
            <a:noFill/>
          </a:ln>
        </p:spPr>
        <p:txBody>
          <a:bodyPr vert="horz" wrap="none" lIns="243777" tIns="182833" rIns="121890" bIns="60944" rtlCol="0" anchor="ctr" anchorCtr="0">
            <a:noAutofit/>
          </a:bodyPr>
          <a:lstStyle/>
          <a:p>
            <a:pPr defTabSz="609430">
              <a:defRPr/>
            </a:pPr>
            <a:r>
              <a:rPr lang="en-US" sz="1100">
                <a:solidFill>
                  <a:srgbClr val="277EB5"/>
                </a:solidFill>
                <a:cs typeface="Segoe UI" panose="020B0502040204020203" pitchFamily="34" charset="0"/>
              </a:rPr>
              <a:t>Microsoft Confidential</a:t>
            </a:r>
          </a:p>
        </p:txBody>
      </p:sp>
      <p:sp>
        <p:nvSpPr>
          <p:cNvPr id="15" name="TextBox 14"/>
          <p:cNvSpPr txBox="1"/>
          <p:nvPr userDrawn="1"/>
        </p:nvSpPr>
        <p:spPr>
          <a:xfrm>
            <a:off x="304800" y="3161913"/>
            <a:ext cx="3149600" cy="406400"/>
          </a:xfrm>
          <a:prstGeom prst="rect">
            <a:avLst/>
          </a:prstGeom>
          <a:noFill/>
          <a:ln>
            <a:noFill/>
          </a:ln>
        </p:spPr>
        <p:txBody>
          <a:bodyPr vert="horz" wrap="none" lIns="243777" tIns="182833" rIns="121890" bIns="60944" rtlCol="0" anchor="ctr" anchorCtr="0">
            <a:noAutofit/>
          </a:bodyPr>
          <a:lstStyle/>
          <a:p>
            <a:pPr defTabSz="609430">
              <a:defRPr/>
            </a:pPr>
            <a:r>
              <a:rPr lang="en-US" sz="1100">
                <a:solidFill>
                  <a:srgbClr val="277EB5"/>
                </a:solidFill>
                <a:cs typeface="Segoe UI" panose="020B0502040204020203" pitchFamily="34" charset="0"/>
              </a:rPr>
              <a:t>© 2023 Microsoft Corporation. All rights reserved.</a:t>
            </a:r>
          </a:p>
        </p:txBody>
      </p:sp>
      <p:sp>
        <p:nvSpPr>
          <p:cNvPr id="16" name="TextBox 15"/>
          <p:cNvSpPr txBox="1"/>
          <p:nvPr userDrawn="1"/>
        </p:nvSpPr>
        <p:spPr>
          <a:xfrm>
            <a:off x="304800" y="737760"/>
            <a:ext cx="11684000" cy="2438400"/>
          </a:xfrm>
          <a:prstGeom prst="rect">
            <a:avLst/>
          </a:prstGeom>
          <a:noFill/>
          <a:ln>
            <a:noFill/>
          </a:ln>
        </p:spPr>
        <p:txBody>
          <a:bodyPr vert="horz" wrap="square" lIns="243777" tIns="182833" rIns="121890" bIns="60944" rtlCol="0" anchor="t" anchorCtr="0">
            <a:normAutofit/>
          </a:bodyPr>
          <a:lstStyle/>
          <a:p>
            <a:pPr defTabSz="609430">
              <a:spcAft>
                <a:spcPts val="800"/>
              </a:spcAft>
              <a:defRPr/>
            </a:pPr>
            <a:r>
              <a:rPr lang="en-US" sz="1200">
                <a:solidFill>
                  <a:srgbClr val="000000">
                    <a:alpha val="87000"/>
                  </a:srgbClr>
                </a:solidFill>
                <a:cs typeface="Segoe UI" panose="020B0502040204020203" pitchFamily="34" charset="0"/>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pPr defTabSz="609430">
              <a:spcAft>
                <a:spcPts val="800"/>
              </a:spcAft>
              <a:defRPr/>
            </a:pPr>
            <a:r>
              <a:rPr lang="en-US" sz="1200">
                <a:solidFill>
                  <a:srgbClr val="000000">
                    <a:alpha val="87000"/>
                  </a:srgbClr>
                </a:solidFill>
                <a:cs typeface="Segoe UI" panose="020B0502040204020203" pitchFamily="34" charset="0"/>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pPr defTabSz="609430">
              <a:spcAft>
                <a:spcPts val="800"/>
              </a:spcAft>
              <a:defRPr/>
            </a:pPr>
            <a:r>
              <a:rPr lang="en-US" sz="1200">
                <a:solidFill>
                  <a:srgbClr val="000000">
                    <a:alpha val="87000"/>
                  </a:srgbClr>
                </a:solidFill>
                <a:cs typeface="Segoe UI" panose="020B0502040204020203" pitchFamily="34" charset="0"/>
              </a:rPr>
              <a:t>Training package content, including URLs and other Internet Web 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a:t>
            </a:r>
          </a:p>
          <a:p>
            <a:pPr defTabSz="609430">
              <a:spcAft>
                <a:spcPts val="800"/>
              </a:spcAft>
              <a:defRPr/>
            </a:pPr>
            <a:endParaRPr lang="en-US" sz="1400">
              <a:solidFill>
                <a:srgbClr val="000000">
                  <a:alpha val="87000"/>
                </a:srgbClr>
              </a:solidFill>
              <a:cs typeface="Segoe UI" panose="020B0502040204020203" pitchFamily="34" charset="0"/>
            </a:endParaRPr>
          </a:p>
        </p:txBody>
      </p:sp>
    </p:spTree>
    <p:extLst>
      <p:ext uri="{BB962C8B-B14F-4D97-AF65-F5344CB8AC3E}">
        <p14:creationId xmlns:p14="http://schemas.microsoft.com/office/powerpoint/2010/main" val="26143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2635903"/>
      </p:ext>
    </p:extLst>
  </p:cSld>
  <p:clrMapOvr>
    <a:masterClrMapping/>
  </p:clrMapOvr>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29579800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amp; half-pag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90" y="1731186"/>
            <a:ext cx="4898137" cy="1239122"/>
          </a:xfrm>
        </p:spPr>
        <p:txBody>
          <a:bodyPr wrap="square">
            <a:spAutoFit/>
          </a:bodyPr>
          <a:lstStyle>
            <a:lvl1pPr marL="0" indent="0">
              <a:lnSpc>
                <a:spcPct val="110000"/>
              </a:lnSpc>
              <a:spcBef>
                <a:spcPts val="1200"/>
              </a:spcBef>
              <a:buNone/>
              <a:defRPr sz="1800">
                <a:latin typeface="+mn-lt"/>
              </a:defRPr>
            </a:lvl1pPr>
            <a:lvl2pPr marL="228600" indent="0">
              <a:buNone/>
              <a:defRPr sz="1600"/>
            </a:lvl2pPr>
            <a:lvl3pPr marL="457200" indent="0">
              <a:buNone/>
              <a:defRPr sz="1200"/>
            </a:lvl3pPr>
            <a:lvl4pPr marL="685800" indent="0">
              <a:buNone/>
              <a:defRPr sz="1100"/>
            </a:lvl4pPr>
            <a:lvl5pPr marL="914400" indent="0">
              <a:buNone/>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C4B7896-F978-4D6E-861E-D10AD51486D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610164"/>
      </p:ext>
    </p:extLst>
  </p:cSld>
  <p:clrMapOvr>
    <a:masterClrMapping/>
  </p:clrMapOvr>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4"/>
            <a:ext cx="11306469"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78232"/>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186763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632740107"/>
      </p:ext>
    </p:extLst>
  </p:cSld>
  <p:clrMapOvr>
    <a:masterClrMapping/>
  </p:clrMapOvr>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rgbClr val="50E6FF"/>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pic>
        <p:nvPicPr>
          <p:cNvPr id="3" name="Picture 2" descr="A meeting in a conference room.">
            <a:extLst>
              <a:ext uri="{FF2B5EF4-FFF2-40B4-BE49-F238E27FC236}">
                <a16:creationId xmlns:a16="http://schemas.microsoft.com/office/drawing/2014/main" id="{1C493F8D-AB10-4958-85D1-CC12E3C2F13E}"/>
              </a:ext>
            </a:extLst>
          </p:cNvPr>
          <p:cNvPicPr>
            <a:picLocks noChangeAspect="1"/>
          </p:cNvPicPr>
          <p:nvPr/>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15939837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p:nvPicPr>
        <p:blipFill>
          <a:blip r:embed="rId2"/>
          <a:stretch>
            <a:fillRect/>
          </a:stretch>
        </p:blipFill>
        <p:spPr bwMode="black">
          <a:xfrm>
            <a:off x="584200" y="585788"/>
            <a:ext cx="1366440" cy="292608"/>
          </a:xfrm>
          <a:prstGeom prst="rect">
            <a:avLst/>
          </a:prstGeom>
        </p:spPr>
      </p:pic>
      <p:pic>
        <p:nvPicPr>
          <p:cNvPr id="3" name="Picture 2" descr="A meeting in a conference room.">
            <a:extLst>
              <a:ext uri="{FF2B5EF4-FFF2-40B4-BE49-F238E27FC236}">
                <a16:creationId xmlns:a16="http://schemas.microsoft.com/office/drawing/2014/main" id="{73BBB57F-0AE7-43B4-A8A4-8A3F02549FB7}"/>
              </a:ext>
            </a:extLst>
          </p:cNvPr>
          <p:cNvPicPr>
            <a:picLocks noChangeAspect="1"/>
          </p:cNvPicPr>
          <p:nvPr/>
        </p:nvPicPr>
        <p:blipFill rotWithShape="1">
          <a:blip r:embed="rId3"/>
          <a:srcRect l="32559" r="10791"/>
          <a:stretch/>
        </p:blipFill>
        <p:spPr bwMode="ltGray">
          <a:xfrm>
            <a:off x="5334000" y="0"/>
            <a:ext cx="6858000" cy="6858000"/>
          </a:xfrm>
          <a:prstGeom prst="rect">
            <a:avLst/>
          </a:prstGeom>
        </p:spPr>
      </p:pic>
    </p:spTree>
    <p:extLst>
      <p:ext uri="{BB962C8B-B14F-4D97-AF65-F5344CB8AC3E}">
        <p14:creationId xmlns:p14="http://schemas.microsoft.com/office/powerpoint/2010/main" val="22962003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69886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515409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a:stretch>
            <a:fillRect/>
          </a:stretch>
        </p:blipFill>
        <p:spPr bwMode="black">
          <a:xfrm>
            <a:off x="584200" y="585788"/>
            <a:ext cx="1366440" cy="292608"/>
          </a:xfrm>
          <a:prstGeom prst="rect">
            <a:avLst/>
          </a:prstGeom>
        </p:spPr>
      </p:pic>
      <p:pic>
        <p:nvPicPr>
          <p:cNvPr id="2" name="Picture 1">
            <a:extLst>
              <a:ext uri="{FF2B5EF4-FFF2-40B4-BE49-F238E27FC236}">
                <a16:creationId xmlns:a16="http://schemas.microsoft.com/office/drawing/2014/main" id="{1654700F-6162-FD47-8789-523DABBDA713}"/>
              </a:ext>
            </a:extLst>
          </p:cNvPr>
          <p:cNvPicPr>
            <a:picLocks noChangeAspect="1"/>
          </p:cNvPicPr>
          <p:nvPr userDrawn="1"/>
        </p:nvPicPr>
        <p:blipFill>
          <a:blip r:embed="rId3"/>
          <a:stretch>
            <a:fillRect/>
          </a:stretch>
        </p:blipFill>
        <p:spPr>
          <a:xfrm>
            <a:off x="561647" y="4496108"/>
            <a:ext cx="260070" cy="220717"/>
          </a:xfrm>
          <a:prstGeom prst="rect">
            <a:avLst/>
          </a:prstGeom>
        </p:spPr>
      </p:pic>
      <p:pic>
        <p:nvPicPr>
          <p:cNvPr id="3" name="Picture 2">
            <a:extLst>
              <a:ext uri="{FF2B5EF4-FFF2-40B4-BE49-F238E27FC236}">
                <a16:creationId xmlns:a16="http://schemas.microsoft.com/office/drawing/2014/main" id="{6ECE84DE-3B78-3948-9502-5C2B019CA93D}"/>
              </a:ext>
            </a:extLst>
          </p:cNvPr>
          <p:cNvPicPr>
            <a:picLocks noChangeAspect="1"/>
          </p:cNvPicPr>
          <p:nvPr userDrawn="1"/>
        </p:nvPicPr>
        <p:blipFill>
          <a:blip r:embed="rId4"/>
          <a:stretch>
            <a:fillRect/>
          </a:stretch>
        </p:blipFill>
        <p:spPr>
          <a:xfrm>
            <a:off x="479192" y="4738937"/>
            <a:ext cx="424980" cy="424980"/>
          </a:xfrm>
          <a:prstGeom prst="rect">
            <a:avLst/>
          </a:prstGeom>
        </p:spPr>
      </p:pic>
      <p:sp>
        <p:nvSpPr>
          <p:cNvPr id="10" name="Text Placeholder 4">
            <a:extLst>
              <a:ext uri="{FF2B5EF4-FFF2-40B4-BE49-F238E27FC236}">
                <a16:creationId xmlns:a16="http://schemas.microsoft.com/office/drawing/2014/main" id="{7EC8871B-2ED4-2649-80D7-3646028FA121}"/>
              </a:ext>
            </a:extLst>
          </p:cNvPr>
          <p:cNvSpPr>
            <a:spLocks noGrp="1"/>
          </p:cNvSpPr>
          <p:nvPr>
            <p:ph type="body" sz="quarter" idx="13" hasCustomPrompt="1"/>
          </p:nvPr>
        </p:nvSpPr>
        <p:spPr>
          <a:xfrm>
            <a:off x="904172" y="4493687"/>
            <a:ext cx="2834640" cy="223138"/>
          </a:xfrm>
          <a:noFill/>
        </p:spPr>
        <p:txBody>
          <a:bodyPr wrap="square" lIns="0" tIns="0" rIns="0" bIns="0">
            <a:spAutoFit/>
          </a:bodyPr>
          <a:lstStyle>
            <a:lvl1pPr marL="0" indent="0">
              <a:spcBef>
                <a:spcPts val="0"/>
              </a:spcBef>
              <a:buNone/>
              <a:defRPr sz="1450" spc="0" baseline="0">
                <a:solidFill>
                  <a:schemeClr val="tx1"/>
                </a:solidFill>
                <a:latin typeface="+mn-lt"/>
                <a:cs typeface="Segoe UI" panose="020B0502040204020203" pitchFamily="34" charset="0"/>
              </a:defRPr>
            </a:lvl1pPr>
          </a:lstStyle>
          <a:p>
            <a:pPr lvl="0"/>
            <a:r>
              <a:rPr lang="en-US"/>
              <a:t>Speaker LinkedIn alias</a:t>
            </a:r>
          </a:p>
        </p:txBody>
      </p:sp>
      <p:sp>
        <p:nvSpPr>
          <p:cNvPr id="11" name="Text Placeholder 4">
            <a:extLst>
              <a:ext uri="{FF2B5EF4-FFF2-40B4-BE49-F238E27FC236}">
                <a16:creationId xmlns:a16="http://schemas.microsoft.com/office/drawing/2014/main" id="{284233AA-BBB1-E146-8A72-1A90B6894762}"/>
              </a:ext>
            </a:extLst>
          </p:cNvPr>
          <p:cNvSpPr>
            <a:spLocks noGrp="1"/>
          </p:cNvSpPr>
          <p:nvPr>
            <p:ph type="body" sz="quarter" idx="14" hasCustomPrompt="1"/>
          </p:nvPr>
        </p:nvSpPr>
        <p:spPr>
          <a:xfrm>
            <a:off x="904172" y="4839858"/>
            <a:ext cx="2834640" cy="223138"/>
          </a:xfrm>
          <a:noFill/>
        </p:spPr>
        <p:txBody>
          <a:bodyPr wrap="square" lIns="0" tIns="0" rIns="0" bIns="0">
            <a:spAutoFit/>
          </a:bodyPr>
          <a:lstStyle>
            <a:lvl1pPr marL="0" indent="0">
              <a:spcBef>
                <a:spcPts val="0"/>
              </a:spcBef>
              <a:buNone/>
              <a:defRPr sz="1450" spc="0" baseline="0">
                <a:solidFill>
                  <a:schemeClr val="tx1"/>
                </a:solidFill>
                <a:latin typeface="+mn-lt"/>
                <a:cs typeface="Segoe UI" panose="020B0502040204020203" pitchFamily="34" charset="0"/>
              </a:defRPr>
            </a:lvl1pPr>
          </a:lstStyle>
          <a:p>
            <a:pPr lvl="0"/>
            <a:r>
              <a:rPr lang="en-US"/>
              <a:t>Speaker Twitter handle</a:t>
            </a:r>
          </a:p>
        </p:txBody>
      </p:sp>
    </p:spTree>
    <p:extLst>
      <p:ext uri="{BB962C8B-B14F-4D97-AF65-F5344CB8AC3E}">
        <p14:creationId xmlns:p14="http://schemas.microsoft.com/office/powerpoint/2010/main" val="26022047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2291397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449427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1602710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36988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344347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0957969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51204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134261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198709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33503103"/>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3624473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6424349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6011341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525440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6599399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4497110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1339590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354523" y="2309812"/>
            <a:ext cx="7254865" cy="3959226"/>
          </a:xfrm>
        </p:spPr>
        <p:txBody>
          <a:bodyPr anchor="t"/>
          <a:lstStyle>
            <a:lvl1pPr marL="0" indent="0">
              <a:spcAft>
                <a:spcPts val="800"/>
              </a:spcAft>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09043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B5FBAF-D5DB-4D1E-9D76-AE83D1B7417A}"/>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4938876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7144826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7178176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9222302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329822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5672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06826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solidFill>
                  <a:schemeClr val="tx1"/>
                </a:solidFill>
                <a:latin typeface="Consolas" panose="020B0609020204030204" pitchFamily="49" charset="0"/>
                <a:cs typeface="Consolas" panose="020B0609020204030204" pitchFamily="49" charset="0"/>
              </a:defRPr>
            </a:lvl1pPr>
            <a:lvl2pPr marL="346553" indent="0">
              <a:buNone/>
              <a:defRPr sz="2400">
                <a:solidFill>
                  <a:schemeClr val="tx1"/>
                </a:solidFill>
                <a:latin typeface="Consolas" panose="020B0609020204030204" pitchFamily="49" charset="0"/>
                <a:cs typeface="Consolas" panose="020B0609020204030204" pitchFamily="49" charset="0"/>
              </a:defRPr>
            </a:lvl2pPr>
            <a:lvl3pPr marL="584607" indent="0">
              <a:buNone/>
              <a:defRPr sz="2000">
                <a:solidFill>
                  <a:schemeClr val="tx1"/>
                </a:solidFill>
                <a:latin typeface="Consolas" panose="020B0609020204030204" pitchFamily="49" charset="0"/>
                <a:cs typeface="Consolas" panose="020B0609020204030204" pitchFamily="49" charset="0"/>
              </a:defRPr>
            </a:lvl3pPr>
            <a:lvl4pPr marL="814563" indent="0">
              <a:buNone/>
              <a:defRPr sz="1800">
                <a:solidFill>
                  <a:schemeClr val="tx1"/>
                </a:solidFill>
                <a:latin typeface="Consolas" panose="020B0609020204030204" pitchFamily="49" charset="0"/>
                <a:cs typeface="Consolas" panose="020B0609020204030204" pitchFamily="49" charset="0"/>
              </a:defRPr>
            </a:lvl4pPr>
            <a:lvl5pPr marL="1050997" indent="0">
              <a:buNone/>
              <a:defRPr sz="18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627898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0801170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06561741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A7271-BEA6-264E-BECE-8A0E35B245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E8AC0B-4313-A247-B56F-620D86ADB8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9B6785-E220-944F-9198-EA07DE498596}"/>
              </a:ext>
            </a:extLst>
          </p:cNvPr>
          <p:cNvSpPr>
            <a:spLocks noGrp="1"/>
          </p:cNvSpPr>
          <p:nvPr>
            <p:ph type="dt" sz="half" idx="10"/>
          </p:nvPr>
        </p:nvSpPr>
        <p:spPr/>
        <p:txBody>
          <a:bodyPr/>
          <a:lstStyle/>
          <a:p>
            <a:fld id="{ABCDD90C-169D-9B46-831B-98BD1E5CE253}" type="datetimeFigureOut">
              <a:rPr lang="en-US" smtClean="0"/>
              <a:t>6/11/26</a:t>
            </a:fld>
            <a:endParaRPr lang="en-US"/>
          </a:p>
        </p:txBody>
      </p:sp>
      <p:sp>
        <p:nvSpPr>
          <p:cNvPr id="5" name="Footer Placeholder 4">
            <a:extLst>
              <a:ext uri="{FF2B5EF4-FFF2-40B4-BE49-F238E27FC236}">
                <a16:creationId xmlns:a16="http://schemas.microsoft.com/office/drawing/2014/main" id="{4C9040D4-7839-C34C-9D25-450EA60404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7D542-0D8B-8149-8DB4-7C68579AF303}"/>
              </a:ext>
            </a:extLst>
          </p:cNvPr>
          <p:cNvSpPr>
            <a:spLocks noGrp="1"/>
          </p:cNvSpPr>
          <p:nvPr>
            <p:ph type="sldNum" sz="quarter" idx="12"/>
          </p:nvPr>
        </p:nvSpPr>
        <p:spPr/>
        <p:txBody>
          <a:bodyPr/>
          <a:lstStyle/>
          <a:p>
            <a:fld id="{B52E6AC1-D9EE-7D43-A4C0-FF81BA13BCB2}" type="slidenum">
              <a:rPr lang="en-US" smtClean="0"/>
              <a:t>‹#›</a:t>
            </a:fld>
            <a:endParaRPr lang="en-US"/>
          </a:p>
        </p:txBody>
      </p:sp>
    </p:spTree>
    <p:extLst>
      <p:ext uri="{BB962C8B-B14F-4D97-AF65-F5344CB8AC3E}">
        <p14:creationId xmlns:p14="http://schemas.microsoft.com/office/powerpoint/2010/main" val="316219243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2745">
                <a:solidFill>
                  <a:schemeClr val="tx1"/>
                </a:solidFill>
              </a:defRPr>
            </a:lvl1pPr>
          </a:lstStyle>
          <a:p>
            <a:r>
              <a:rPr lang="en-US"/>
              <a:t>Table styling</a:t>
            </a:r>
          </a:p>
        </p:txBody>
      </p:sp>
      <p:sp>
        <p:nvSpPr>
          <p:cNvPr id="4" name="Table Placeholder 3"/>
          <p:cNvSpPr>
            <a:spLocks noGrp="1"/>
          </p:cNvSpPr>
          <p:nvPr>
            <p:ph type="tbl" sz="quarter" idx="10"/>
          </p:nvPr>
        </p:nvSpPr>
        <p:spPr>
          <a:xfrm>
            <a:off x="455995" y="3982785"/>
            <a:ext cx="11306469" cy="430887"/>
          </a:xfrm>
        </p:spPr>
        <p:txBody>
          <a:bodyPr anchor="ctr" anchorCtr="0"/>
          <a:lstStyle>
            <a:lvl1pPr algn="ctr">
              <a:defRPr/>
            </a:lvl1pPr>
          </a:lstStyle>
          <a:p>
            <a:r>
              <a:rPr lang="en-US"/>
              <a:t>Click icon to add table</a:t>
            </a:r>
          </a:p>
        </p:txBody>
      </p:sp>
      <p:sp>
        <p:nvSpPr>
          <p:cNvPr id="6" name="Footer Placeholder 14">
            <a:extLst>
              <a:ext uri="{FF2B5EF4-FFF2-40B4-BE49-F238E27FC236}">
                <a16:creationId xmlns:a16="http://schemas.microsoft.com/office/drawing/2014/main" id="{8FFE576D-7F23-5D49-98BE-F31E6740176A}"/>
              </a:ext>
            </a:extLst>
          </p:cNvPr>
          <p:cNvSpPr>
            <a:spLocks noGrp="1"/>
          </p:cNvSpPr>
          <p:nvPr>
            <p:ph type="ftr" sz="quarter" idx="3"/>
          </p:nvPr>
        </p:nvSpPr>
        <p:spPr>
          <a:xfrm>
            <a:off x="361838" y="6450194"/>
            <a:ext cx="11586711" cy="118296"/>
          </a:xfrm>
          <a:prstGeom prst="rect">
            <a:avLst/>
          </a:prstGeom>
        </p:spPr>
        <p:txBody>
          <a:bodyPr vert="horz" lIns="91440" tIns="45720" rIns="91440" bIns="45720" numCol="2" rtlCol="0" anchor="ctr"/>
          <a:lstStyle>
            <a:lvl1pPr algn="l">
              <a:defRPr sz="686">
                <a:solidFill>
                  <a:schemeClr val="tx1">
                    <a:tint val="75000"/>
                  </a:schemeClr>
                </a:solidFill>
              </a:defRPr>
            </a:lvl1pPr>
          </a:lstStyle>
          <a:p>
            <a:r>
              <a:rPr lang="en-US">
                <a:solidFill>
                  <a:schemeClr val="bg1">
                    <a:lumMod val="65000"/>
                  </a:schemeClr>
                </a:solidFill>
              </a:rPr>
              <a:t>© Microsoft Corporation                                                                                  								                                Azure </a:t>
            </a:r>
          </a:p>
        </p:txBody>
      </p:sp>
    </p:spTree>
    <p:extLst>
      <p:ext uri="{BB962C8B-B14F-4D97-AF65-F5344CB8AC3E}">
        <p14:creationId xmlns:p14="http://schemas.microsoft.com/office/powerpoint/2010/main" val="3200550232"/>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700F965-2E11-B443-A950-D7BA414B5199}"/>
              </a:ext>
            </a:extLst>
          </p:cNvPr>
          <p:cNvSpPr>
            <a:spLocks noGrp="1"/>
          </p:cNvSpPr>
          <p:nvPr>
            <p:ph type="title"/>
          </p:nvPr>
        </p:nvSpPr>
        <p:spPr>
          <a:xfrm>
            <a:off x="588263" y="457199"/>
            <a:ext cx="7508990" cy="1106905"/>
          </a:xfrm>
          <a:prstGeom prst="rect">
            <a:avLst/>
          </a:prstGeom>
        </p:spPr>
        <p:txBody>
          <a:bodyPr/>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42F5D3B7-C6D8-43D0-AD35-74E66B81A6BD}"/>
              </a:ext>
            </a:extLst>
          </p:cNvPr>
          <p:cNvSpPr>
            <a:spLocks noGrp="1"/>
          </p:cNvSpPr>
          <p:nvPr>
            <p:ph sz="quarter" idx="11"/>
          </p:nvPr>
        </p:nvSpPr>
        <p:spPr>
          <a:xfrm>
            <a:off x="586390" y="1760013"/>
            <a:ext cx="11060178" cy="4640788"/>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C7546B96-3F1B-478D-A79C-C86AC6F881CD}"/>
              </a:ext>
            </a:extLst>
          </p:cNvPr>
          <p:cNvSpPr txBox="1"/>
          <p:nvPr userDrawn="1"/>
        </p:nvSpPr>
        <p:spPr>
          <a:xfrm>
            <a:off x="5724447" y="6443760"/>
            <a:ext cx="5922121" cy="523220"/>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lang="en-US" sz="1400" b="0" i="0">
                <a:solidFill>
                  <a:schemeClr val="bg1"/>
                </a:solidFill>
                <a:effectLst/>
                <a:latin typeface="Segoe UI" panose="020B0502040204020203" pitchFamily="34" charset="0"/>
              </a:rPr>
              <a:t>Microsoft proprietary and confidential</a:t>
            </a:r>
          </a:p>
          <a:p>
            <a:pPr algn="r"/>
            <a:endParaRPr lang="en-US" sz="2000" err="1">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061762051"/>
      </p:ext>
    </p:extLst>
  </p:cSld>
  <p:clrMapOvr>
    <a:masterClrMapping/>
  </p:clrMapOvr>
  <p:transition>
    <p:fade/>
  </p:transition>
  <p:extLst>
    <p:ext uri="{DCECCB84-F9BA-43D5-87BE-67443E8EF086}">
      <p15:sldGuideLst xmlns:p15="http://schemas.microsoft.com/office/powerpoint/2012/main">
        <p15:guide id="1" pos="184">
          <p15:clr>
            <a:srgbClr val="CCCCCC"/>
          </p15:clr>
        </p15:guide>
        <p15:guide id="2" pos="7496">
          <p15:clr>
            <a:srgbClr val="CCCCCC"/>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21" Type="http://schemas.openxmlformats.org/officeDocument/2006/relationships/slideLayout" Target="../slideLayouts/slideLayout48.xml"/><Relationship Id="rId34" Type="http://schemas.openxmlformats.org/officeDocument/2006/relationships/slideLayout" Target="../slideLayouts/slideLayout61.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38" Type="http://schemas.openxmlformats.org/officeDocument/2006/relationships/image" Target="../media/image3.emf"/><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slideLayout" Target="../slideLayouts/slideLayout56.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theme" Target="../theme/theme2.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slideLayout" Target="../slideLayouts/slideLayout63.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slideLayout" Target="../slideLayouts/slideLayout58.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slideLayout" Target="../slideLayouts/slideLayout62.xml"/><Relationship Id="rId8" Type="http://schemas.openxmlformats.org/officeDocument/2006/relationships/slideLayout" Target="../slideLayouts/slideLayout35.xml"/><Relationship Id="rId3"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1F42C4-9288-4E7B-BFD0-B7F380805E4F}" type="datetimeFigureOut">
              <a:rPr lang="en-US" smtClean="0"/>
              <a:t>6/11/26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947CDC-84C2-44AF-9F60-0FAAD3ABD882}" type="slidenum">
              <a:rPr lang="en-US" smtClean="0"/>
              <a:t>‹#›</a:t>
            </a:fld>
            <a:endParaRPr lang="en-US"/>
          </a:p>
        </p:txBody>
      </p:sp>
    </p:spTree>
    <p:extLst>
      <p:ext uri="{BB962C8B-B14F-4D97-AF65-F5344CB8AC3E}">
        <p14:creationId xmlns:p14="http://schemas.microsoft.com/office/powerpoint/2010/main" val="21884858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 id="2147483675" r:id="rId14"/>
    <p:sldLayoutId id="2147483676" r:id="rId15"/>
    <p:sldLayoutId id="2147483677" r:id="rId16"/>
    <p:sldLayoutId id="2147483679" r:id="rId17"/>
    <p:sldLayoutId id="2147483680" r:id="rId18"/>
    <p:sldLayoutId id="2147483681" r:id="rId19"/>
    <p:sldLayoutId id="2147483682" r:id="rId20"/>
    <p:sldLayoutId id="2147483695" r:id="rId21"/>
    <p:sldLayoutId id="2147483696" r:id="rId22"/>
    <p:sldLayoutId id="2147483697" r:id="rId23"/>
    <p:sldLayoutId id="2147483698" r:id="rId24"/>
    <p:sldLayoutId id="2147483700" r:id="rId25"/>
    <p:sldLayoutId id="2147483704" r:id="rId26"/>
    <p:sldLayoutId id="2147483705"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38"/>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692780188"/>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 id="2147483816" r:id="rId18"/>
    <p:sldLayoutId id="2147483817" r:id="rId19"/>
    <p:sldLayoutId id="2147483818" r:id="rId20"/>
    <p:sldLayoutId id="2147483819" r:id="rId21"/>
    <p:sldLayoutId id="2147483820" r:id="rId22"/>
    <p:sldLayoutId id="2147483821" r:id="rId23"/>
    <p:sldLayoutId id="2147483822" r:id="rId24"/>
    <p:sldLayoutId id="2147483823" r:id="rId25"/>
    <p:sldLayoutId id="2147483824" r:id="rId26"/>
    <p:sldLayoutId id="2147483825" r:id="rId27"/>
    <p:sldLayoutId id="2147483826" r:id="rId28"/>
    <p:sldLayoutId id="2147483827" r:id="rId29"/>
    <p:sldLayoutId id="2147483828" r:id="rId30"/>
    <p:sldLayoutId id="2147483829" r:id="rId31"/>
    <p:sldLayoutId id="2147483830" r:id="rId32"/>
    <p:sldLayoutId id="2147483831" r:id="rId33"/>
    <p:sldLayoutId id="2147483832" r:id="rId34"/>
    <p:sldLayoutId id="2147483833" r:id="rId35"/>
    <p:sldLayoutId id="2147483834" r:id="rId36"/>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svg"/><Relationship Id="rId18" Type="http://schemas.openxmlformats.org/officeDocument/2006/relationships/image" Target="../media/image28.svg"/><Relationship Id="rId3" Type="http://schemas.openxmlformats.org/officeDocument/2006/relationships/image" Target="../media/image13.png"/><Relationship Id="rId21" Type="http://schemas.openxmlformats.org/officeDocument/2006/relationships/image" Target="../media/image31.svg"/><Relationship Id="rId7" Type="http://schemas.openxmlformats.org/officeDocument/2006/relationships/image" Target="../media/image17.svg"/><Relationship Id="rId12" Type="http://schemas.openxmlformats.org/officeDocument/2006/relationships/image" Target="../media/image22.svg"/><Relationship Id="rId17" Type="http://schemas.openxmlformats.org/officeDocument/2006/relationships/image" Target="../media/image27.svg"/><Relationship Id="rId25" Type="http://schemas.openxmlformats.org/officeDocument/2006/relationships/image" Target="../media/image35.svg"/><Relationship Id="rId2" Type="http://schemas.openxmlformats.org/officeDocument/2006/relationships/notesSlide" Target="../notesSlides/notesSlide4.xml"/><Relationship Id="rId16" Type="http://schemas.openxmlformats.org/officeDocument/2006/relationships/image" Target="../media/image26.svg"/><Relationship Id="rId20" Type="http://schemas.openxmlformats.org/officeDocument/2006/relationships/image" Target="../media/image30.svg"/><Relationship Id="rId1" Type="http://schemas.openxmlformats.org/officeDocument/2006/relationships/slideLayout" Target="../slideLayouts/slideLayout37.xml"/><Relationship Id="rId6" Type="http://schemas.openxmlformats.org/officeDocument/2006/relationships/image" Target="../media/image16.svg"/><Relationship Id="rId11" Type="http://schemas.openxmlformats.org/officeDocument/2006/relationships/image" Target="../media/image21.svg"/><Relationship Id="rId24" Type="http://schemas.openxmlformats.org/officeDocument/2006/relationships/image" Target="../media/image34.svg"/><Relationship Id="rId5" Type="http://schemas.openxmlformats.org/officeDocument/2006/relationships/image" Target="../media/image15.svg"/><Relationship Id="rId15" Type="http://schemas.openxmlformats.org/officeDocument/2006/relationships/image" Target="../media/image25.svg"/><Relationship Id="rId23" Type="http://schemas.openxmlformats.org/officeDocument/2006/relationships/image" Target="../media/image33.svg"/><Relationship Id="rId10" Type="http://schemas.openxmlformats.org/officeDocument/2006/relationships/image" Target="../media/image20.svg"/><Relationship Id="rId19" Type="http://schemas.openxmlformats.org/officeDocument/2006/relationships/image" Target="../media/image29.svg"/><Relationship Id="rId4" Type="http://schemas.openxmlformats.org/officeDocument/2006/relationships/image" Target="../media/image14.svg"/><Relationship Id="rId9" Type="http://schemas.openxmlformats.org/officeDocument/2006/relationships/image" Target="../media/image19.svg"/><Relationship Id="rId14" Type="http://schemas.openxmlformats.org/officeDocument/2006/relationships/image" Target="../media/image24.svg"/><Relationship Id="rId22" Type="http://schemas.openxmlformats.org/officeDocument/2006/relationships/image" Target="../media/image3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10.xml.rels><?xml version="1.0" encoding="UTF-8" standalone="yes"?>
<Relationships xmlns="http://schemas.openxmlformats.org/package/2006/relationships"><Relationship Id="rId3" Type="http://schemas.openxmlformats.org/officeDocument/2006/relationships/hyperlink" Target="https://docs.microsoft.com/en-us/azure/api-management/api-management-policies" TargetMode="External"/><Relationship Id="rId2" Type="http://schemas.openxmlformats.org/officeDocument/2006/relationships/notesSlide" Target="../notesSlides/notesSlide9.xml"/><Relationship Id="rId1" Type="http://schemas.openxmlformats.org/officeDocument/2006/relationships/slideLayout" Target="../slideLayouts/slideLayout34.xml"/><Relationship Id="rId5" Type="http://schemas.openxmlformats.org/officeDocument/2006/relationships/image" Target="../media/image38.gif"/><Relationship Id="rId4" Type="http://schemas.openxmlformats.org/officeDocument/2006/relationships/hyperlink" Target="http://aka.ms/apimpolicyexamples"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38.xml"/><Relationship Id="rId5" Type="http://schemas.openxmlformats.org/officeDocument/2006/relationships/image" Target="../media/image45.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svg"/><Relationship Id="rId7"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svg"/><Relationship Id="rId9" Type="http://schemas.openxmlformats.org/officeDocument/2006/relationships/image" Target="../media/image53.png"/></Relationships>
</file>

<file path=ppt/slides/_rels/slide2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svg"/><Relationship Id="rId7"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16.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56.svg"/><Relationship Id="rId9"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image" Target="../media/image57.svg"/><Relationship Id="rId7" Type="http://schemas.openxmlformats.org/officeDocument/2006/relationships/image" Target="../media/image61.svg"/><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image" Target="../media/image60.svg"/><Relationship Id="rId5" Type="http://schemas.openxmlformats.org/officeDocument/2006/relationships/image" Target="../media/image59.svg"/><Relationship Id="rId4" Type="http://schemas.openxmlformats.org/officeDocument/2006/relationships/image" Target="../media/image58.svg"/></Relationships>
</file>

<file path=ppt/slides/_rels/slide24.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65.png"/><Relationship Id="rId3" Type="http://schemas.openxmlformats.org/officeDocument/2006/relationships/image" Target="../media/image47.svg"/><Relationship Id="rId7" Type="http://schemas.openxmlformats.org/officeDocument/2006/relationships/image" Target="../media/image52.png"/><Relationship Id="rId12"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image" Target="../media/image51.png"/><Relationship Id="rId11" Type="http://schemas.openxmlformats.org/officeDocument/2006/relationships/image" Target="../media/image63.jpeg"/><Relationship Id="rId5" Type="http://schemas.openxmlformats.org/officeDocument/2006/relationships/image" Target="../media/image50.png"/><Relationship Id="rId15" Type="http://schemas.openxmlformats.org/officeDocument/2006/relationships/image" Target="../media/image55.png"/><Relationship Id="rId10" Type="http://schemas.openxmlformats.org/officeDocument/2006/relationships/image" Target="../media/image35.sv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6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968BE9-0C82-C383-99B9-A7CC292BE927}"/>
              </a:ext>
            </a:extLst>
          </p:cNvPr>
          <p:cNvSpPr>
            <a:spLocks noGrp="1"/>
          </p:cNvSpPr>
          <p:nvPr>
            <p:ph type="body" sz="quarter" idx="12"/>
          </p:nvPr>
        </p:nvSpPr>
        <p:spPr>
          <a:xfrm>
            <a:off x="582042" y="3962399"/>
            <a:ext cx="4164583" cy="1089529"/>
          </a:xfrm>
        </p:spPr>
        <p:txBody>
          <a:bodyPr wrap="square">
            <a:noAutofit/>
          </a:bodyPr>
          <a:lstStyle/>
          <a:p>
            <a:pPr>
              <a:spcAft>
                <a:spcPts val="600"/>
              </a:spcAft>
            </a:pPr>
            <a:r>
              <a:rPr lang="en-GB" sz="2800">
                <a:latin typeface="Segoe Semibold"/>
              </a:rPr>
              <a:t>Ramya </a:t>
            </a:r>
            <a:r>
              <a:rPr lang="en-GB" sz="2800" err="1">
                <a:latin typeface="Segoe Semibold"/>
              </a:rPr>
              <a:t>Gangula</a:t>
            </a:r>
            <a:r>
              <a:rPr lang="en-GB" sz="2800">
                <a:latin typeface="Segoe Semibold"/>
              </a:rPr>
              <a:t> - CSA</a:t>
            </a:r>
          </a:p>
          <a:p>
            <a:pPr>
              <a:spcAft>
                <a:spcPts val="600"/>
              </a:spcAft>
            </a:pPr>
            <a:r>
              <a:rPr lang="en-GB" sz="2800">
                <a:latin typeface="Segoe Semibold"/>
              </a:rPr>
              <a:t>Andrew Redman - CSA</a:t>
            </a:r>
          </a:p>
          <a:p>
            <a:pPr>
              <a:spcAft>
                <a:spcPts val="600"/>
              </a:spcAft>
            </a:pPr>
            <a:r>
              <a:rPr lang="en-GB" sz="2800">
                <a:latin typeface="Segoe Semibold"/>
              </a:rPr>
              <a:t>Cenk Caglar – CSA</a:t>
            </a:r>
          </a:p>
          <a:p>
            <a:pPr>
              <a:spcAft>
                <a:spcPts val="600"/>
              </a:spcAft>
            </a:pPr>
            <a:endParaRPr lang="en-GB" sz="2800" noProof="0">
              <a:latin typeface="Segoe Semibold"/>
            </a:endParaRPr>
          </a:p>
        </p:txBody>
      </p:sp>
      <p:pic>
        <p:nvPicPr>
          <p:cNvPr id="9" name="Picture 8">
            <a:extLst>
              <a:ext uri="{FF2B5EF4-FFF2-40B4-BE49-F238E27FC236}">
                <a16:creationId xmlns:a16="http://schemas.microsoft.com/office/drawing/2014/main" id="{15B30D74-38D6-2490-8048-FB4E98A1D871}"/>
              </a:ext>
              <a:ext uri="{C183D7F6-B498-43B3-948B-1728B52AA6E4}">
                <adec:decorative xmlns:adec="http://schemas.microsoft.com/office/drawing/2017/decorative" val="1"/>
              </a:ext>
            </a:extLst>
          </p:cNvPr>
          <p:cNvPicPr>
            <a:picLocks noChangeAspect="1"/>
          </p:cNvPicPr>
          <p:nvPr/>
        </p:nvPicPr>
        <p:blipFill rotWithShape="1">
          <a:blip r:embed="rId3"/>
          <a:srcRect l="5481" r="38204"/>
          <a:stretch/>
        </p:blipFill>
        <p:spPr>
          <a:xfrm>
            <a:off x="5326063" y="10"/>
            <a:ext cx="6865937" cy="6857990"/>
          </a:xfrm>
          <a:prstGeom prst="rect">
            <a:avLst/>
          </a:prstGeom>
          <a:noFill/>
        </p:spPr>
      </p:pic>
      <p:sp>
        <p:nvSpPr>
          <p:cNvPr id="5" name="Title 6">
            <a:extLst>
              <a:ext uri="{FF2B5EF4-FFF2-40B4-BE49-F238E27FC236}">
                <a16:creationId xmlns:a16="http://schemas.microsoft.com/office/drawing/2014/main" id="{070855FA-3DD1-678F-FFDC-A44F1B97F8CA}"/>
              </a:ext>
            </a:extLst>
          </p:cNvPr>
          <p:cNvSpPr>
            <a:spLocks noGrp="1"/>
          </p:cNvSpPr>
          <p:nvPr>
            <p:ph type="title"/>
          </p:nvPr>
        </p:nvSpPr>
        <p:spPr>
          <a:xfrm>
            <a:off x="373487" y="2444008"/>
            <a:ext cx="4543746" cy="1089529"/>
          </a:xfrm>
        </p:spPr>
        <p:txBody>
          <a:bodyPr/>
          <a:lstStyle/>
          <a:p>
            <a:r>
              <a:rPr lang="en-GB" sz="3600" noProof="0">
                <a:latin typeface="Segoe Semibold"/>
              </a:rPr>
              <a:t>APIM AI Gateway Level Up</a:t>
            </a:r>
            <a:endParaRPr lang="en-GB" sz="3600" noProof="0">
              <a:latin typeface="Segoe UI" panose="020B0502040204020203" pitchFamily="34" charset="0"/>
              <a:cs typeface="Segoe UI" panose="020B0502040204020203" pitchFamily="34" charset="0"/>
            </a:endParaRPr>
          </a:p>
        </p:txBody>
      </p:sp>
      <p:sp>
        <p:nvSpPr>
          <p:cNvPr id="2" name="Text Placeholder 2">
            <a:extLst>
              <a:ext uri="{FF2B5EF4-FFF2-40B4-BE49-F238E27FC236}">
                <a16:creationId xmlns:a16="http://schemas.microsoft.com/office/drawing/2014/main" id="{2CE41943-32C5-4170-24D5-A98CF7943051}"/>
              </a:ext>
            </a:extLst>
          </p:cNvPr>
          <p:cNvSpPr txBox="1">
            <a:spLocks/>
          </p:cNvSpPr>
          <p:nvPr/>
        </p:nvSpPr>
        <p:spPr>
          <a:xfrm>
            <a:off x="582042" y="5111691"/>
            <a:ext cx="4164583" cy="1089529"/>
          </a:xfrm>
          <a:prstGeom prst="rect">
            <a:avLst/>
          </a:prstGeom>
          <a:noFill/>
        </p:spPr>
        <p:txBody>
          <a:bodyPr vert="horz" wrap="square" lIns="0" tIns="0" rIns="0" bIns="0" rtlCol="0">
            <a:noAutofit/>
          </a:bodyPr>
          <a:lstStyle>
            <a:lvl1pPr marL="0" indent="0" algn="l" defTabSz="914400" rtl="0" eaLnBrk="1" latinLnBrk="0" hangingPunct="1">
              <a:lnSpc>
                <a:spcPct val="90000"/>
              </a:lnSpc>
              <a:spcBef>
                <a:spcPts val="0"/>
              </a:spcBef>
              <a:buFont typeface="Arial" panose="020B0604020202020204" pitchFamily="34" charset="0"/>
              <a:buNone/>
              <a:defRPr sz="2200" kern="1200" spc="0" baseline="0">
                <a:solidFill>
                  <a:schemeClr val="tx1"/>
                </a:solidFill>
                <a:latin typeface="+mn-lt"/>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endParaRPr lang="en-GB" sz="2000">
              <a:latin typeface="Segoe Semibold"/>
            </a:endParaRPr>
          </a:p>
        </p:txBody>
      </p:sp>
    </p:spTree>
    <p:extLst>
      <p:ext uri="{BB962C8B-B14F-4D97-AF65-F5344CB8AC3E}">
        <p14:creationId xmlns:p14="http://schemas.microsoft.com/office/powerpoint/2010/main" val="3847464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1723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52BB7EF-6EEA-003D-F1AC-54CD86F9EEC7}"/>
              </a:ext>
            </a:extLst>
          </p:cNvPr>
          <p:cNvSpPr>
            <a:spLocks noGrp="1"/>
          </p:cNvSpPr>
          <p:nvPr>
            <p:ph type="title"/>
          </p:nvPr>
        </p:nvSpPr>
        <p:spPr>
          <a:xfrm>
            <a:off x="588263" y="585787"/>
            <a:ext cx="3182027" cy="5320492"/>
          </a:xfrm>
        </p:spPr>
        <p:txBody>
          <a:bodyPr/>
          <a:lstStyle/>
          <a:p>
            <a:r>
              <a:rPr lang="en-CA">
                <a:latin typeface="Segoe Semibold"/>
              </a:rPr>
              <a:t>Agenda</a:t>
            </a:r>
            <a:br>
              <a:rPr lang="en-CA">
                <a:latin typeface="Segoe Semibold"/>
              </a:rPr>
            </a:br>
            <a:br>
              <a:rPr lang="en-CA">
                <a:latin typeface="Segoe Semibold"/>
              </a:rPr>
            </a:br>
            <a:r>
              <a:rPr lang="en-CA">
                <a:latin typeface="Segoe Semibold"/>
              </a:rPr>
              <a:t>Session 1</a:t>
            </a:r>
            <a:br>
              <a:rPr lang="en-CA">
                <a:latin typeface="Segoe Semibold"/>
              </a:rPr>
            </a:br>
            <a:br>
              <a:rPr lang="en-CA" sz="2400">
                <a:solidFill>
                  <a:schemeClr val="bg1"/>
                </a:solidFill>
                <a:latin typeface="Segoe Semibold"/>
              </a:rPr>
            </a:br>
            <a:br>
              <a:rPr lang="en-CA" sz="2400">
                <a:solidFill>
                  <a:schemeClr val="bg1"/>
                </a:solidFill>
                <a:latin typeface="Segoe Semibold"/>
              </a:rPr>
            </a:br>
            <a:endParaRPr lang="en-CA">
              <a:solidFill>
                <a:schemeClr val="bg1"/>
              </a:solidFill>
              <a:latin typeface="Segoe Semibold"/>
            </a:endParaRPr>
          </a:p>
        </p:txBody>
      </p:sp>
      <p:sp>
        <p:nvSpPr>
          <p:cNvPr id="7" name="Text Placeholder 6">
            <a:extLst>
              <a:ext uri="{FF2B5EF4-FFF2-40B4-BE49-F238E27FC236}">
                <a16:creationId xmlns:a16="http://schemas.microsoft.com/office/drawing/2014/main" id="{FC0909D5-2517-AEA6-48FE-94AB0E5CE737}"/>
              </a:ext>
            </a:extLst>
          </p:cNvPr>
          <p:cNvSpPr>
            <a:spLocks noGrp="1"/>
          </p:cNvSpPr>
          <p:nvPr>
            <p:ph type="body" sz="quarter" idx="11"/>
          </p:nvPr>
        </p:nvSpPr>
        <p:spPr>
          <a:xfrm>
            <a:off x="5100000" y="317113"/>
            <a:ext cx="6901500" cy="6076371"/>
          </a:xfrm>
        </p:spPr>
        <p:txBody>
          <a:bodyPr anchor="t"/>
          <a:lstStyle/>
          <a:p>
            <a:pPr marL="0" indent="0">
              <a:lnSpc>
                <a:spcPct val="200000"/>
              </a:lnSpc>
              <a:spcBef>
                <a:spcPts val="200"/>
              </a:spcBef>
              <a:spcAft>
                <a:spcPts val="0"/>
              </a:spcAft>
              <a:buNone/>
            </a:pPr>
            <a:r>
              <a:rPr lang="en-US" sz="2000" b="1">
                <a:solidFill>
                  <a:srgbClr val="009DD9"/>
                </a:solidFill>
                <a:latin typeface="Segoe Semibold" pitchFamily="34" charset="0"/>
                <a:cs typeface="Segoe UI" pitchFamily="34" charset="0"/>
              </a:rPr>
              <a:t>APIM Fundamentals</a:t>
            </a:r>
          </a:p>
          <a:p>
            <a:pPr marL="0" indent="0">
              <a:lnSpc>
                <a:spcPct val="200000"/>
              </a:lnSpc>
              <a:spcBef>
                <a:spcPts val="200"/>
              </a:spcBef>
              <a:spcAft>
                <a:spcPts val="0"/>
              </a:spcAft>
              <a:buNone/>
            </a:pPr>
            <a:r>
              <a:rPr lang="en-US" sz="2000" b="1">
                <a:solidFill>
                  <a:srgbClr val="009DD9"/>
                </a:solidFill>
                <a:latin typeface="Segoe Semibold" pitchFamily="34" charset="0"/>
                <a:cs typeface="Segoe UI" pitchFamily="34" charset="0"/>
              </a:rPr>
              <a:t>Policy Scopes</a:t>
            </a:r>
          </a:p>
          <a:p>
            <a:pPr marL="0" indent="0">
              <a:lnSpc>
                <a:spcPct val="200000"/>
              </a:lnSpc>
              <a:spcBef>
                <a:spcPts val="200"/>
              </a:spcBef>
              <a:spcAft>
                <a:spcPts val="0"/>
              </a:spcAft>
              <a:buNone/>
            </a:pPr>
            <a:r>
              <a:rPr lang="en-US" sz="2000" b="1">
                <a:solidFill>
                  <a:srgbClr val="009DD9"/>
                </a:solidFill>
                <a:latin typeface="Segoe Semibold" pitchFamily="34" charset="0"/>
                <a:cs typeface="Segoe UI" pitchFamily="34" charset="0"/>
              </a:rPr>
              <a:t>Networking &amp; Security</a:t>
            </a:r>
          </a:p>
          <a:p>
            <a:pPr marL="0" indent="0">
              <a:lnSpc>
                <a:spcPct val="200000"/>
              </a:lnSpc>
              <a:spcBef>
                <a:spcPts val="200"/>
              </a:spcBef>
              <a:spcAft>
                <a:spcPts val="0"/>
              </a:spcAft>
              <a:buNone/>
            </a:pPr>
            <a:r>
              <a:rPr lang="en-US" sz="2000" b="1">
                <a:solidFill>
                  <a:srgbClr val="009DD9"/>
                </a:solidFill>
                <a:latin typeface="Segoe Semibold" pitchFamily="34" charset="0"/>
                <a:cs typeface="Segoe UI" pitchFamily="34" charset="0"/>
              </a:rPr>
              <a:t>AI Gateway</a:t>
            </a:r>
          </a:p>
          <a:p>
            <a:pPr marL="0" indent="0">
              <a:lnSpc>
                <a:spcPct val="200000"/>
              </a:lnSpc>
              <a:spcBef>
                <a:spcPts val="200"/>
              </a:spcBef>
              <a:spcAft>
                <a:spcPts val="0"/>
              </a:spcAft>
              <a:buNone/>
            </a:pPr>
            <a:r>
              <a:rPr lang="en-US" sz="2000" b="1">
                <a:solidFill>
                  <a:srgbClr val="009DD9"/>
                </a:solidFill>
                <a:latin typeface="Segoe Semibold" pitchFamily="34" charset="0"/>
                <a:cs typeface="Segoe UI" pitchFamily="34" charset="0"/>
              </a:rPr>
              <a:t>Demo</a:t>
            </a:r>
          </a:p>
        </p:txBody>
      </p:sp>
      <p:sp>
        <p:nvSpPr>
          <p:cNvPr id="10" name="Circle 1"/>
          <p:cNvSpPr/>
          <p:nvPr/>
        </p:nvSpPr>
        <p:spPr>
          <a:xfrm>
            <a:off x="4550000" y="511000"/>
            <a:ext cx="380000" cy="380000"/>
          </a:xfrm>
          <a:prstGeom prst="ellipse">
            <a:avLst/>
          </a:prstGeom>
          <a:solidFill>
            <a:srgbClr val="009DD9"/>
          </a:solidFill>
          <a:ln>
            <a:noFill/>
          </a:ln>
        </p:spPr>
        <p:txBody>
          <a:bodyPr lIns="0" tIns="0" rIns="0" bIns="0" anchor="ctr"/>
          <a:lstStyle/>
          <a:p>
            <a:pPr algn="ctr"/>
            <a:r>
              <a:rPr lang="en-US" sz="1400" b="1">
                <a:solidFill>
                  <a:srgbClr val="FFFFFF"/>
                </a:solidFill>
                <a:latin typeface="Segoe UI" pitchFamily="34" charset="0"/>
              </a:rPr>
              <a:t>1</a:t>
            </a:r>
          </a:p>
        </p:txBody>
      </p:sp>
      <p:sp>
        <p:nvSpPr>
          <p:cNvPr id="11" name="Circle 2"/>
          <p:cNvSpPr/>
          <p:nvPr/>
        </p:nvSpPr>
        <p:spPr>
          <a:xfrm>
            <a:off x="4550000" y="1181000"/>
            <a:ext cx="380000" cy="380000"/>
          </a:xfrm>
          <a:prstGeom prst="ellipse">
            <a:avLst/>
          </a:prstGeom>
          <a:solidFill>
            <a:srgbClr val="009DD9"/>
          </a:solidFill>
          <a:ln>
            <a:noFill/>
          </a:ln>
        </p:spPr>
        <p:txBody>
          <a:bodyPr lIns="0" tIns="0" rIns="0" bIns="0" anchor="ctr"/>
          <a:lstStyle/>
          <a:p>
            <a:pPr algn="ctr"/>
            <a:r>
              <a:rPr lang="en-US" sz="1400" b="1">
                <a:solidFill>
                  <a:srgbClr val="FFFFFF"/>
                </a:solidFill>
                <a:latin typeface="Segoe UI" pitchFamily="34" charset="0"/>
              </a:rPr>
              <a:t>2</a:t>
            </a:r>
          </a:p>
        </p:txBody>
      </p:sp>
      <p:sp>
        <p:nvSpPr>
          <p:cNvPr id="12" name="Circle 3"/>
          <p:cNvSpPr/>
          <p:nvPr/>
        </p:nvSpPr>
        <p:spPr>
          <a:xfrm>
            <a:off x="4550000" y="1851000"/>
            <a:ext cx="380000" cy="380000"/>
          </a:xfrm>
          <a:prstGeom prst="ellipse">
            <a:avLst/>
          </a:prstGeom>
          <a:solidFill>
            <a:srgbClr val="009DD9"/>
          </a:solidFill>
          <a:ln>
            <a:noFill/>
          </a:ln>
        </p:spPr>
        <p:txBody>
          <a:bodyPr lIns="0" tIns="0" rIns="0" bIns="0" anchor="ctr"/>
          <a:lstStyle/>
          <a:p>
            <a:pPr algn="ctr"/>
            <a:r>
              <a:rPr lang="en-US" sz="1400" b="1">
                <a:solidFill>
                  <a:srgbClr val="FFFFFF"/>
                </a:solidFill>
                <a:latin typeface="Segoe UI" pitchFamily="34" charset="0"/>
              </a:rPr>
              <a:t>3</a:t>
            </a:r>
          </a:p>
        </p:txBody>
      </p:sp>
      <p:sp>
        <p:nvSpPr>
          <p:cNvPr id="13" name="Circle 4"/>
          <p:cNvSpPr/>
          <p:nvPr/>
        </p:nvSpPr>
        <p:spPr>
          <a:xfrm>
            <a:off x="4550000" y="2521000"/>
            <a:ext cx="380000" cy="380000"/>
          </a:xfrm>
          <a:prstGeom prst="ellipse">
            <a:avLst/>
          </a:prstGeom>
          <a:solidFill>
            <a:srgbClr val="009DD9"/>
          </a:solidFill>
          <a:ln>
            <a:noFill/>
          </a:ln>
        </p:spPr>
        <p:txBody>
          <a:bodyPr lIns="0" tIns="0" rIns="0" bIns="0" anchor="ctr"/>
          <a:lstStyle/>
          <a:p>
            <a:pPr algn="ctr"/>
            <a:r>
              <a:rPr lang="en-US" sz="1400" b="1">
                <a:solidFill>
                  <a:srgbClr val="FFFFFF"/>
                </a:solidFill>
                <a:latin typeface="Segoe UI" pitchFamily="34" charset="0"/>
              </a:rPr>
              <a:t>4</a:t>
            </a:r>
          </a:p>
        </p:txBody>
      </p:sp>
      <p:sp>
        <p:nvSpPr>
          <p:cNvPr id="14" name="Circle 5"/>
          <p:cNvSpPr/>
          <p:nvPr/>
        </p:nvSpPr>
        <p:spPr>
          <a:xfrm>
            <a:off x="4550000" y="3191000"/>
            <a:ext cx="380000" cy="380000"/>
          </a:xfrm>
          <a:prstGeom prst="ellipse">
            <a:avLst/>
          </a:prstGeom>
          <a:solidFill>
            <a:srgbClr val="009DD9"/>
          </a:solidFill>
          <a:ln>
            <a:noFill/>
          </a:ln>
        </p:spPr>
        <p:txBody>
          <a:bodyPr lIns="0" tIns="0" rIns="0" bIns="0" anchor="ctr"/>
          <a:lstStyle/>
          <a:p>
            <a:pPr algn="ctr"/>
            <a:r>
              <a:rPr lang="en-US" sz="1400" b="1">
                <a:solidFill>
                  <a:srgbClr val="FFFFFF"/>
                </a:solidFill>
                <a:latin typeface="Segoe UI" pitchFamily="34" charset="0"/>
              </a:rPr>
              <a:t>5</a:t>
            </a:r>
          </a:p>
        </p:txBody>
      </p:sp>
    </p:spTree>
    <p:extLst>
      <p:ext uri="{BB962C8B-B14F-4D97-AF65-F5344CB8AC3E}">
        <p14:creationId xmlns:p14="http://schemas.microsoft.com/office/powerpoint/2010/main" val="3884404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itle 89">
            <a:extLst>
              <a:ext uri="{FF2B5EF4-FFF2-40B4-BE49-F238E27FC236}">
                <a16:creationId xmlns:a16="http://schemas.microsoft.com/office/drawing/2014/main" id="{53B32F5E-C3FF-994B-9856-A60B56E84741}"/>
              </a:ext>
            </a:extLst>
          </p:cNvPr>
          <p:cNvSpPr>
            <a:spLocks noGrp="1"/>
          </p:cNvSpPr>
          <p:nvPr>
            <p:ph type="title"/>
          </p:nvPr>
        </p:nvSpPr>
        <p:spPr>
          <a:xfrm>
            <a:off x="586740" y="479629"/>
            <a:ext cx="11018520" cy="553998"/>
          </a:xfrm>
        </p:spPr>
        <p:txBody>
          <a:bodyPr/>
          <a:lstStyle/>
          <a:p>
            <a:r>
              <a:rPr lang="en-US"/>
              <a:t>Azure API Management</a:t>
            </a:r>
          </a:p>
        </p:txBody>
      </p:sp>
      <p:grpSp>
        <p:nvGrpSpPr>
          <p:cNvPr id="9" name="Group 8">
            <a:extLst>
              <a:ext uri="{FF2B5EF4-FFF2-40B4-BE49-F238E27FC236}">
                <a16:creationId xmlns:a16="http://schemas.microsoft.com/office/drawing/2014/main" id="{399A9C60-7FDD-43B1-8519-B0104352B6B4}"/>
              </a:ext>
            </a:extLst>
          </p:cNvPr>
          <p:cNvGrpSpPr/>
          <p:nvPr/>
        </p:nvGrpSpPr>
        <p:grpSpPr>
          <a:xfrm>
            <a:off x="625318" y="1034360"/>
            <a:ext cx="9943468" cy="5183724"/>
            <a:chOff x="625318" y="1034360"/>
            <a:chExt cx="9943468" cy="5183724"/>
          </a:xfrm>
        </p:grpSpPr>
        <p:sp>
          <p:nvSpPr>
            <p:cNvPr id="3" name="Rectangle 2" descr="a 3-apart flow chart showing the relationship between the &quot;app developers&quot; icon and the &quot;developer portal&quot; icon connecting to the &quot;API management plane&quot; and its relationship to the &quot;API providers&quot;. The &quot;API Management plane&quot; links to &quot;gateway&quot; icon, which links to &quot;apps on devices&quot; on one side and the &quot;Backend API's&quot; on the other.">
              <a:extLst>
                <a:ext uri="{FF2B5EF4-FFF2-40B4-BE49-F238E27FC236}">
                  <a16:creationId xmlns:a16="http://schemas.microsoft.com/office/drawing/2014/main" id="{A0261349-0107-344B-B386-B40490D6FE63}"/>
                </a:ext>
              </a:extLst>
            </p:cNvPr>
            <p:cNvSpPr/>
            <p:nvPr/>
          </p:nvSpPr>
          <p:spPr bwMode="auto">
            <a:xfrm rot="16200000">
              <a:off x="3170936" y="1268436"/>
              <a:ext cx="4365174" cy="4463148"/>
            </a:xfrm>
            <a:prstGeom prst="rect">
              <a:avLst/>
            </a:prstGeom>
            <a:solidFill>
              <a:schemeClr val="bg1"/>
            </a:solidFill>
            <a:ln>
              <a:solidFill>
                <a:srgbClr val="0070C0"/>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Light" panose="020B0502040204020203" pitchFamily="34" charset="0"/>
                <a:ea typeface="Segoe UI" pitchFamily="34" charset="0"/>
                <a:cs typeface="Segoe UI Light" panose="020B0502040204020203" pitchFamily="34" charset="0"/>
              </a:endParaRPr>
            </a:p>
          </p:txBody>
        </p:sp>
        <p:sp>
          <p:nvSpPr>
            <p:cNvPr id="103" name="Rectangle 102">
              <a:extLst>
                <a:ext uri="{FF2B5EF4-FFF2-40B4-BE49-F238E27FC236}">
                  <a16:creationId xmlns:a16="http://schemas.microsoft.com/office/drawing/2014/main" id="{35FAE228-F693-D441-BAE5-5077F62AF5B0}"/>
                </a:ext>
                <a:ext uri="{C183D7F6-B498-43B3-948B-1728B52AA6E4}">
                  <adec:decorative xmlns:adec="http://schemas.microsoft.com/office/drawing/2017/decorative" val="1"/>
                </a:ext>
              </a:extLst>
            </p:cNvPr>
            <p:cNvSpPr/>
            <p:nvPr/>
          </p:nvSpPr>
          <p:spPr bwMode="auto">
            <a:xfrm>
              <a:off x="7401943" y="1311156"/>
              <a:ext cx="178435" cy="39504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14" descr="This is a house icon and the word 'developer portal'. It is linked to the left by 'App Developers&quot; and to the right by &quot;API Management plane&quot; icons. ">
              <a:extLst>
                <a:ext uri="{FF2B5EF4-FFF2-40B4-BE49-F238E27FC236}">
                  <a16:creationId xmlns:a16="http://schemas.microsoft.com/office/drawing/2014/main" id="{5489A899-A9BD-C94E-BFC4-D56395FE456F}"/>
                </a:ext>
              </a:extLst>
            </p:cNvPr>
            <p:cNvSpPr>
              <a:spLocks noChangeAspect="1"/>
            </p:cNvSpPr>
            <p:nvPr/>
          </p:nvSpPr>
          <p:spPr bwMode="auto">
            <a:xfrm>
              <a:off x="3461355" y="1712863"/>
              <a:ext cx="1645920" cy="1645920"/>
            </a:xfrm>
            <a:prstGeom prst="rect">
              <a:avLst/>
            </a:prstGeom>
            <a:noFill/>
            <a:ln>
              <a:solidFill>
                <a:srgbClr val="0070C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6" name="TextBox 15">
              <a:extLst>
                <a:ext uri="{FF2B5EF4-FFF2-40B4-BE49-F238E27FC236}">
                  <a16:creationId xmlns:a16="http://schemas.microsoft.com/office/drawing/2014/main" id="{D8685EFB-D2F2-6A4D-B076-A58E22181A4A}"/>
                </a:ext>
              </a:extLst>
            </p:cNvPr>
            <p:cNvSpPr txBox="1"/>
            <p:nvPr/>
          </p:nvSpPr>
          <p:spPr>
            <a:xfrm flipH="1">
              <a:off x="3478980" y="2928799"/>
              <a:ext cx="1645920" cy="440890"/>
            </a:xfrm>
            <a:prstGeom prst="rect">
              <a:avLst/>
            </a:prstGeom>
            <a:noFill/>
            <a:ln>
              <a:noFill/>
            </a:ln>
          </p:spPr>
          <p:txBody>
            <a:bodyPr wrap="squar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0070C0"/>
                  </a:solidFill>
                  <a:effectLst/>
                  <a:uLnTx/>
                  <a:uFillTx/>
                  <a:latin typeface="Segoe UI Light" panose="020B0502040204020203" pitchFamily="34" charset="0"/>
                  <a:ea typeface="+mn-ea"/>
                  <a:cs typeface="Segoe UI Light" panose="020B0502040204020203" pitchFamily="34" charset="0"/>
                </a:rPr>
                <a:t>User plane</a:t>
              </a:r>
            </a:p>
          </p:txBody>
        </p:sp>
        <p:grpSp>
          <p:nvGrpSpPr>
            <p:cNvPr id="21" name="Group 20" descr="Icon of an open door titled &quot;Gateway&quot;. This icon connects on the left to &quot;Apps on Devices&quot; and to the right to &quot;Backend APIs&quot;">
              <a:extLst>
                <a:ext uri="{FF2B5EF4-FFF2-40B4-BE49-F238E27FC236}">
                  <a16:creationId xmlns:a16="http://schemas.microsoft.com/office/drawing/2014/main" id="{EF347B0F-D446-CF48-9979-322BAD976E83}"/>
                </a:ext>
              </a:extLst>
            </p:cNvPr>
            <p:cNvGrpSpPr>
              <a:grpSpLocks noChangeAspect="1"/>
            </p:cNvGrpSpPr>
            <p:nvPr/>
          </p:nvGrpSpPr>
          <p:grpSpPr>
            <a:xfrm>
              <a:off x="5446079" y="3671310"/>
              <a:ext cx="1645922" cy="1645920"/>
              <a:chOff x="1429847" y="4901582"/>
              <a:chExt cx="1097281" cy="1097280"/>
            </a:xfrm>
          </p:grpSpPr>
          <p:sp>
            <p:nvSpPr>
              <p:cNvPr id="12" name="Rectangle 11">
                <a:extLst>
                  <a:ext uri="{FF2B5EF4-FFF2-40B4-BE49-F238E27FC236}">
                    <a16:creationId xmlns:a16="http://schemas.microsoft.com/office/drawing/2014/main" id="{0799B4FF-402C-7145-8F21-902C6C2A3171}"/>
                  </a:ext>
                </a:extLst>
              </p:cNvPr>
              <p:cNvSpPr/>
              <p:nvPr/>
            </p:nvSpPr>
            <p:spPr bwMode="auto">
              <a:xfrm>
                <a:off x="1429848" y="4901582"/>
                <a:ext cx="1097280" cy="1097280"/>
              </a:xfrm>
              <a:prstGeom prst="rect">
                <a:avLst/>
              </a:prstGeom>
              <a:noFill/>
              <a:ln>
                <a:solidFill>
                  <a:srgbClr val="0070C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6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4" name="TextBox 13">
                <a:extLst>
                  <a:ext uri="{FF2B5EF4-FFF2-40B4-BE49-F238E27FC236}">
                    <a16:creationId xmlns:a16="http://schemas.microsoft.com/office/drawing/2014/main" id="{7ADA43D5-93B7-F64F-85E0-896AD47681BD}"/>
                  </a:ext>
                </a:extLst>
              </p:cNvPr>
              <p:cNvSpPr txBox="1"/>
              <p:nvPr/>
            </p:nvSpPr>
            <p:spPr>
              <a:xfrm flipH="1">
                <a:off x="1429847" y="5706254"/>
                <a:ext cx="1097280" cy="292608"/>
              </a:xfrm>
              <a:prstGeom prst="rect">
                <a:avLst/>
              </a:prstGeom>
              <a:noFill/>
              <a:ln>
                <a:noFill/>
              </a:ln>
            </p:spPr>
            <p:txBody>
              <a:bodyPr wrap="squar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0070C0"/>
                    </a:solidFill>
                    <a:effectLst/>
                    <a:uLnTx/>
                    <a:uFillTx/>
                    <a:latin typeface="Segoe UI Light" panose="020B0502040204020203" pitchFamily="34" charset="0"/>
                    <a:ea typeface="+mn-ea"/>
                    <a:cs typeface="Segoe UI Light" panose="020B0502040204020203" pitchFamily="34" charset="0"/>
                  </a:rPr>
                  <a:t>Data plane</a:t>
                </a:r>
              </a:p>
            </p:txBody>
          </p:sp>
        </p:grpSp>
        <p:grpSp>
          <p:nvGrpSpPr>
            <p:cNvPr id="28" name="Group 27" descr="Icon of tools labeled &quot;API Management Plane&quot;. This icon links on the left to the &quot;developer portal&quot; and on the right to the &quot;API providers&quot;">
              <a:extLst>
                <a:ext uri="{FF2B5EF4-FFF2-40B4-BE49-F238E27FC236}">
                  <a16:creationId xmlns:a16="http://schemas.microsoft.com/office/drawing/2014/main" id="{A30CDA6F-9678-0744-A9A7-87AC4C530A95}"/>
                </a:ext>
              </a:extLst>
            </p:cNvPr>
            <p:cNvGrpSpPr/>
            <p:nvPr/>
          </p:nvGrpSpPr>
          <p:grpSpPr>
            <a:xfrm>
              <a:off x="5431903" y="1636709"/>
              <a:ext cx="1645920" cy="1718288"/>
              <a:chOff x="8532222" y="1202305"/>
              <a:chExt cx="1645920" cy="1718288"/>
            </a:xfrm>
          </p:grpSpPr>
          <p:sp>
            <p:nvSpPr>
              <p:cNvPr id="22" name="Oval 21">
                <a:extLst>
                  <a:ext uri="{FF2B5EF4-FFF2-40B4-BE49-F238E27FC236}">
                    <a16:creationId xmlns:a16="http://schemas.microsoft.com/office/drawing/2014/main" id="{C1E280E8-2BF6-9E40-BB8F-23C8B9052289}"/>
                  </a:ext>
                </a:extLst>
              </p:cNvPr>
              <p:cNvSpPr/>
              <p:nvPr/>
            </p:nvSpPr>
            <p:spPr bwMode="auto">
              <a:xfrm>
                <a:off x="8806543" y="1539949"/>
                <a:ext cx="1097280" cy="1097280"/>
              </a:xfrm>
              <a:prstGeom prst="ellipse">
                <a:avLst/>
              </a:prstGeom>
              <a:noFill/>
              <a:ln>
                <a:solidFill>
                  <a:srgbClr val="0070C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3" name="DeveloperTools_EC7A" title="Icon of a wrench and a screwdriver">
                <a:extLst>
                  <a:ext uri="{FF2B5EF4-FFF2-40B4-BE49-F238E27FC236}">
                    <a16:creationId xmlns:a16="http://schemas.microsoft.com/office/drawing/2014/main" id="{4EB282A5-9165-A340-BD45-656D7B883382}"/>
                  </a:ext>
                </a:extLst>
              </p:cNvPr>
              <p:cNvSpPr>
                <a:spLocks noChangeAspect="1" noEditPoints="1"/>
              </p:cNvSpPr>
              <p:nvPr/>
            </p:nvSpPr>
            <p:spPr bwMode="auto">
              <a:xfrm>
                <a:off x="9239117" y="1746441"/>
                <a:ext cx="232131" cy="365760"/>
              </a:xfrm>
              <a:custGeom>
                <a:avLst/>
                <a:gdLst>
                  <a:gd name="T0" fmla="*/ 765 w 2384"/>
                  <a:gd name="T1" fmla="*/ 958 h 3756"/>
                  <a:gd name="T2" fmla="*/ 765 w 2384"/>
                  <a:gd name="T3" fmla="*/ 3500 h 3756"/>
                  <a:gd name="T4" fmla="*/ 509 w 2384"/>
                  <a:gd name="T5" fmla="*/ 3756 h 3756"/>
                  <a:gd name="T6" fmla="*/ 509 w 2384"/>
                  <a:gd name="T7" fmla="*/ 3756 h 3756"/>
                  <a:gd name="T8" fmla="*/ 253 w 2384"/>
                  <a:gd name="T9" fmla="*/ 3500 h 3756"/>
                  <a:gd name="T10" fmla="*/ 253 w 2384"/>
                  <a:gd name="T11" fmla="*/ 958 h 3756"/>
                  <a:gd name="T12" fmla="*/ 0 w 2384"/>
                  <a:gd name="T13" fmla="*/ 518 h 3756"/>
                  <a:gd name="T14" fmla="*/ 509 w 2384"/>
                  <a:gd name="T15" fmla="*/ 9 h 3756"/>
                  <a:gd name="T16" fmla="*/ 1018 w 2384"/>
                  <a:gd name="T17" fmla="*/ 518 h 3756"/>
                  <a:gd name="T18" fmla="*/ 765 w 2384"/>
                  <a:gd name="T19" fmla="*/ 958 h 3756"/>
                  <a:gd name="T20" fmla="*/ 1503 w 2384"/>
                  <a:gd name="T21" fmla="*/ 2012 h 3756"/>
                  <a:gd name="T22" fmla="*/ 1503 w 2384"/>
                  <a:gd name="T23" fmla="*/ 3500 h 3756"/>
                  <a:gd name="T24" fmla="*/ 1759 w 2384"/>
                  <a:gd name="T25" fmla="*/ 3756 h 3756"/>
                  <a:gd name="T26" fmla="*/ 1759 w 2384"/>
                  <a:gd name="T27" fmla="*/ 3756 h 3756"/>
                  <a:gd name="T28" fmla="*/ 2015 w 2384"/>
                  <a:gd name="T29" fmla="*/ 3500 h 3756"/>
                  <a:gd name="T30" fmla="*/ 2015 w 2384"/>
                  <a:gd name="T31" fmla="*/ 2012 h 3756"/>
                  <a:gd name="T32" fmla="*/ 509 w 2384"/>
                  <a:gd name="T33" fmla="*/ 0 h 3756"/>
                  <a:gd name="T34" fmla="*/ 509 w 2384"/>
                  <a:gd name="T35" fmla="*/ 509 h 3756"/>
                  <a:gd name="T36" fmla="*/ 1134 w 2384"/>
                  <a:gd name="T37" fmla="*/ 2012 h 3756"/>
                  <a:gd name="T38" fmla="*/ 2384 w 2384"/>
                  <a:gd name="T39" fmla="*/ 2012 h 3756"/>
                  <a:gd name="T40" fmla="*/ 1759 w 2384"/>
                  <a:gd name="T41" fmla="*/ 2012 h 3756"/>
                  <a:gd name="T42" fmla="*/ 1759 w 2384"/>
                  <a:gd name="T43" fmla="*/ 711 h 3756"/>
                  <a:gd name="T44" fmla="*/ 2015 w 2384"/>
                  <a:gd name="T45" fmla="*/ 9 h 3756"/>
                  <a:gd name="T46" fmla="*/ 1503 w 2384"/>
                  <a:gd name="T47" fmla="*/ 9 h 3756"/>
                  <a:gd name="T48" fmla="*/ 1503 w 2384"/>
                  <a:gd name="T49" fmla="*/ 510 h 3756"/>
                  <a:gd name="T50" fmla="*/ 1759 w 2384"/>
                  <a:gd name="T51" fmla="*/ 756 h 3756"/>
                  <a:gd name="T52" fmla="*/ 2015 w 2384"/>
                  <a:gd name="T53" fmla="*/ 510 h 3756"/>
                  <a:gd name="T54" fmla="*/ 2015 w 2384"/>
                  <a:gd name="T55" fmla="*/ 9 h 3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84" h="3756">
                    <a:moveTo>
                      <a:pt x="765" y="958"/>
                    </a:moveTo>
                    <a:cubicBezTo>
                      <a:pt x="765" y="3500"/>
                      <a:pt x="765" y="3500"/>
                      <a:pt x="765" y="3500"/>
                    </a:cubicBezTo>
                    <a:cubicBezTo>
                      <a:pt x="765" y="3641"/>
                      <a:pt x="650" y="3756"/>
                      <a:pt x="509" y="3756"/>
                    </a:cubicBezTo>
                    <a:cubicBezTo>
                      <a:pt x="509" y="3756"/>
                      <a:pt x="509" y="3756"/>
                      <a:pt x="509" y="3756"/>
                    </a:cubicBezTo>
                    <a:cubicBezTo>
                      <a:pt x="368" y="3756"/>
                      <a:pt x="253" y="3641"/>
                      <a:pt x="253" y="3500"/>
                    </a:cubicBezTo>
                    <a:cubicBezTo>
                      <a:pt x="253" y="958"/>
                      <a:pt x="253" y="958"/>
                      <a:pt x="253" y="958"/>
                    </a:cubicBezTo>
                    <a:cubicBezTo>
                      <a:pt x="102" y="869"/>
                      <a:pt x="0" y="706"/>
                      <a:pt x="0" y="518"/>
                    </a:cubicBezTo>
                    <a:cubicBezTo>
                      <a:pt x="0" y="237"/>
                      <a:pt x="228" y="9"/>
                      <a:pt x="509" y="9"/>
                    </a:cubicBezTo>
                    <a:cubicBezTo>
                      <a:pt x="790" y="9"/>
                      <a:pt x="1018" y="237"/>
                      <a:pt x="1018" y="518"/>
                    </a:cubicBezTo>
                    <a:cubicBezTo>
                      <a:pt x="1018" y="706"/>
                      <a:pt x="916" y="869"/>
                      <a:pt x="765" y="958"/>
                    </a:cubicBezTo>
                    <a:close/>
                    <a:moveTo>
                      <a:pt x="1503" y="2012"/>
                    </a:moveTo>
                    <a:cubicBezTo>
                      <a:pt x="1503" y="3500"/>
                      <a:pt x="1503" y="3500"/>
                      <a:pt x="1503" y="3500"/>
                    </a:cubicBezTo>
                    <a:cubicBezTo>
                      <a:pt x="1503" y="3641"/>
                      <a:pt x="1618" y="3756"/>
                      <a:pt x="1759" y="3756"/>
                    </a:cubicBezTo>
                    <a:cubicBezTo>
                      <a:pt x="1759" y="3756"/>
                      <a:pt x="1759" y="3756"/>
                      <a:pt x="1759" y="3756"/>
                    </a:cubicBezTo>
                    <a:cubicBezTo>
                      <a:pt x="1900" y="3756"/>
                      <a:pt x="2015" y="3641"/>
                      <a:pt x="2015" y="3500"/>
                    </a:cubicBezTo>
                    <a:cubicBezTo>
                      <a:pt x="2015" y="2012"/>
                      <a:pt x="2015" y="2012"/>
                      <a:pt x="2015" y="2012"/>
                    </a:cubicBezTo>
                    <a:moveTo>
                      <a:pt x="509" y="0"/>
                    </a:moveTo>
                    <a:cubicBezTo>
                      <a:pt x="509" y="509"/>
                      <a:pt x="509" y="509"/>
                      <a:pt x="509" y="509"/>
                    </a:cubicBezTo>
                    <a:moveTo>
                      <a:pt x="1134" y="2012"/>
                    </a:moveTo>
                    <a:cubicBezTo>
                      <a:pt x="2384" y="2012"/>
                      <a:pt x="2384" y="2012"/>
                      <a:pt x="2384" y="2012"/>
                    </a:cubicBezTo>
                    <a:moveTo>
                      <a:pt x="1759" y="2012"/>
                    </a:moveTo>
                    <a:cubicBezTo>
                      <a:pt x="1759" y="711"/>
                      <a:pt x="1759" y="711"/>
                      <a:pt x="1759" y="711"/>
                    </a:cubicBezTo>
                    <a:moveTo>
                      <a:pt x="2015" y="9"/>
                    </a:moveTo>
                    <a:cubicBezTo>
                      <a:pt x="1503" y="9"/>
                      <a:pt x="1503" y="9"/>
                      <a:pt x="1503" y="9"/>
                    </a:cubicBezTo>
                    <a:cubicBezTo>
                      <a:pt x="1503" y="510"/>
                      <a:pt x="1503" y="510"/>
                      <a:pt x="1503" y="510"/>
                    </a:cubicBezTo>
                    <a:cubicBezTo>
                      <a:pt x="1759" y="756"/>
                      <a:pt x="1759" y="756"/>
                      <a:pt x="1759" y="756"/>
                    </a:cubicBezTo>
                    <a:cubicBezTo>
                      <a:pt x="2015" y="510"/>
                      <a:pt x="2015" y="510"/>
                      <a:pt x="2015" y="510"/>
                    </a:cubicBezTo>
                    <a:lnTo>
                      <a:pt x="2015" y="9"/>
                    </a:lnTo>
                    <a:close/>
                  </a:path>
                </a:pathLst>
              </a:custGeom>
              <a:noFill/>
              <a:ln w="15875" cap="flat">
                <a:solidFill>
                  <a:srgbClr val="0070C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4" name="TextBox 23">
                <a:extLst>
                  <a:ext uri="{FF2B5EF4-FFF2-40B4-BE49-F238E27FC236}">
                    <a16:creationId xmlns:a16="http://schemas.microsoft.com/office/drawing/2014/main" id="{C37AB7C8-EB0C-114F-A2B5-FBACB687ADA8}"/>
                  </a:ext>
                </a:extLst>
              </p:cNvPr>
              <p:cNvSpPr txBox="1"/>
              <p:nvPr/>
            </p:nvSpPr>
            <p:spPr>
              <a:xfrm flipH="1">
                <a:off x="8760822" y="2100336"/>
                <a:ext cx="1188720" cy="586314"/>
              </a:xfrm>
              <a:prstGeom prst="rect">
                <a:avLst/>
              </a:prstGeom>
              <a:noFill/>
              <a:ln>
                <a:noFill/>
              </a:ln>
            </p:spPr>
            <p:txBody>
              <a:bodyPr wrap="squar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0070C0"/>
                    </a:solidFill>
                    <a:effectLst/>
                    <a:uLnTx/>
                    <a:uFillTx/>
                    <a:latin typeface="Segoe UI Light" panose="020B0502040204020203" pitchFamily="34" charset="0"/>
                    <a:ea typeface="+mn-ea"/>
                    <a:cs typeface="Segoe UI Light" panose="020B0502040204020203" pitchFamily="34" charset="0"/>
                  </a:rPr>
                  <a:t>Management plane</a:t>
                </a:r>
              </a:p>
            </p:txBody>
          </p:sp>
          <p:sp>
            <p:nvSpPr>
              <p:cNvPr id="25" name="Oval 24">
                <a:extLst>
                  <a:ext uri="{FF2B5EF4-FFF2-40B4-BE49-F238E27FC236}">
                    <a16:creationId xmlns:a16="http://schemas.microsoft.com/office/drawing/2014/main" id="{56F06BFB-9053-7A46-8419-1206DC4C9823}"/>
                  </a:ext>
                </a:extLst>
              </p:cNvPr>
              <p:cNvSpPr>
                <a:spLocks noChangeAspect="1"/>
              </p:cNvSpPr>
              <p:nvPr/>
            </p:nvSpPr>
            <p:spPr bwMode="auto">
              <a:xfrm>
                <a:off x="8532222" y="1274673"/>
                <a:ext cx="1645920" cy="1645920"/>
              </a:xfrm>
              <a:prstGeom prst="ellipse">
                <a:avLst/>
              </a:prstGeom>
              <a:noFill/>
              <a:ln>
                <a:solidFill>
                  <a:srgbClr val="0070C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7BD77655-0616-244D-997F-53616EE1A962}"/>
                  </a:ext>
                </a:extLst>
              </p:cNvPr>
              <p:cNvSpPr txBox="1"/>
              <p:nvPr/>
            </p:nvSpPr>
            <p:spPr>
              <a:xfrm flipH="1">
                <a:off x="8760822" y="1202305"/>
                <a:ext cx="1188720" cy="440890"/>
              </a:xfrm>
              <a:prstGeom prst="rect">
                <a:avLst/>
              </a:prstGeom>
              <a:noFill/>
              <a:ln>
                <a:noFill/>
              </a:ln>
            </p:spPr>
            <p:txBody>
              <a:bodyPr wrap="squar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0070C0"/>
                    </a:solidFill>
                    <a:effectLst/>
                    <a:uLnTx/>
                    <a:uFillTx/>
                    <a:latin typeface="Segoe UI Semibold"/>
                    <a:ea typeface="+mn-ea"/>
                    <a:cs typeface="+mn-cs"/>
                  </a:rPr>
                  <a:t>API</a:t>
                </a:r>
              </a:p>
            </p:txBody>
          </p:sp>
        </p:grpSp>
        <p:sp>
          <p:nvSpPr>
            <p:cNvPr id="29" name="door" title="Icon of an open doorway">
              <a:extLst>
                <a:ext uri="{FF2B5EF4-FFF2-40B4-BE49-F238E27FC236}">
                  <a16:creationId xmlns:a16="http://schemas.microsoft.com/office/drawing/2014/main" id="{A76B545C-19E8-B84E-B032-7C7BE2028C40}"/>
                </a:ext>
              </a:extLst>
            </p:cNvPr>
            <p:cNvSpPr>
              <a:spLocks noChangeAspect="1" noEditPoints="1"/>
            </p:cNvSpPr>
            <p:nvPr/>
          </p:nvSpPr>
          <p:spPr bwMode="auto">
            <a:xfrm>
              <a:off x="6106180" y="4358040"/>
              <a:ext cx="259015" cy="365760"/>
            </a:xfrm>
            <a:custGeom>
              <a:avLst/>
              <a:gdLst>
                <a:gd name="T0" fmla="*/ 165 w 165"/>
                <a:gd name="T1" fmla="*/ 233 h 233"/>
                <a:gd name="T2" fmla="*/ 0 w 165"/>
                <a:gd name="T3" fmla="*/ 233 h 233"/>
                <a:gd name="T4" fmla="*/ 0 w 165"/>
                <a:gd name="T5" fmla="*/ 0 h 233"/>
                <a:gd name="T6" fmla="*/ 165 w 165"/>
                <a:gd name="T7" fmla="*/ 0 h 233"/>
                <a:gd name="T8" fmla="*/ 165 w 165"/>
                <a:gd name="T9" fmla="*/ 6 h 233"/>
                <a:gd name="T10" fmla="*/ 165 w 165"/>
                <a:gd name="T11" fmla="*/ 233 h 233"/>
                <a:gd name="T12" fmla="*/ 165 w 165"/>
                <a:gd name="T13" fmla="*/ 233 h 233"/>
                <a:gd name="T14" fmla="*/ 165 w 165"/>
                <a:gd name="T15" fmla="*/ 233 h 233"/>
                <a:gd name="T16" fmla="*/ 165 w 165"/>
                <a:gd name="T17" fmla="*/ 0 h 233"/>
                <a:gd name="T18" fmla="*/ 79 w 165"/>
                <a:gd name="T19" fmla="*/ 50 h 233"/>
                <a:gd name="T20" fmla="*/ 79 w 165"/>
                <a:gd name="T21" fmla="*/ 183 h 233"/>
                <a:gd name="T22" fmla="*/ 165 w 165"/>
                <a:gd name="T23" fmla="*/ 233 h 233"/>
                <a:gd name="T24" fmla="*/ 91 w 165"/>
                <a:gd name="T25" fmla="*/ 120 h 233"/>
                <a:gd name="T26" fmla="*/ 108 w 165"/>
                <a:gd name="T27" fmla="*/ 12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 h="233">
                  <a:moveTo>
                    <a:pt x="165" y="233"/>
                  </a:moveTo>
                  <a:lnTo>
                    <a:pt x="0" y="233"/>
                  </a:lnTo>
                  <a:lnTo>
                    <a:pt x="0" y="0"/>
                  </a:lnTo>
                  <a:lnTo>
                    <a:pt x="165" y="0"/>
                  </a:lnTo>
                  <a:lnTo>
                    <a:pt x="165" y="6"/>
                  </a:lnTo>
                  <a:lnTo>
                    <a:pt x="165" y="233"/>
                  </a:lnTo>
                  <a:lnTo>
                    <a:pt x="165" y="233"/>
                  </a:lnTo>
                  <a:lnTo>
                    <a:pt x="165" y="233"/>
                  </a:lnTo>
                  <a:moveTo>
                    <a:pt x="165" y="0"/>
                  </a:moveTo>
                  <a:lnTo>
                    <a:pt x="79" y="50"/>
                  </a:lnTo>
                  <a:lnTo>
                    <a:pt x="79" y="183"/>
                  </a:lnTo>
                  <a:lnTo>
                    <a:pt x="165" y="233"/>
                  </a:lnTo>
                  <a:moveTo>
                    <a:pt x="91" y="120"/>
                  </a:moveTo>
                  <a:lnTo>
                    <a:pt x="108" y="120"/>
                  </a:lnTo>
                </a:path>
              </a:pathLst>
            </a:custGeom>
            <a:noFill/>
            <a:ln w="15875" cap="flat">
              <a:solidFill>
                <a:srgbClr val="0070C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cxnSp>
          <p:nvCxnSpPr>
            <p:cNvPr id="33" name="Straight Connector 32" descr="line connecting &quot;developer portal&quot; and &quot;API management plane&quot;">
              <a:extLst>
                <a:ext uri="{FF2B5EF4-FFF2-40B4-BE49-F238E27FC236}">
                  <a16:creationId xmlns:a16="http://schemas.microsoft.com/office/drawing/2014/main" id="{B8A32EB7-E1B3-D14D-8EC8-16457002A8C2}"/>
                </a:ext>
              </a:extLst>
            </p:cNvPr>
            <p:cNvCxnSpPr>
              <a:cxnSpLocks/>
            </p:cNvCxnSpPr>
            <p:nvPr/>
          </p:nvCxnSpPr>
          <p:spPr>
            <a:xfrm>
              <a:off x="5146692" y="2495853"/>
              <a:ext cx="228600" cy="0"/>
            </a:xfrm>
            <a:prstGeom prst="line">
              <a:avLst/>
            </a:prstGeom>
            <a:ln w="12700">
              <a:solidFill>
                <a:srgbClr val="0070C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descr="line connecting &quot;API Management Plane&quot; to the &quot;Gateway&quot;">
              <a:extLst>
                <a:ext uri="{FF2B5EF4-FFF2-40B4-BE49-F238E27FC236}">
                  <a16:creationId xmlns:a16="http://schemas.microsoft.com/office/drawing/2014/main" id="{DFDCA4A8-CFC6-C140-8F5A-B24FF10ADFAD}"/>
                </a:ext>
              </a:extLst>
            </p:cNvPr>
            <p:cNvCxnSpPr>
              <a:cxnSpLocks/>
            </p:cNvCxnSpPr>
            <p:nvPr/>
          </p:nvCxnSpPr>
          <p:spPr>
            <a:xfrm>
              <a:off x="6269039" y="3392585"/>
              <a:ext cx="0" cy="228600"/>
            </a:xfrm>
            <a:prstGeom prst="line">
              <a:avLst/>
            </a:prstGeom>
            <a:ln w="12700">
              <a:solidFill>
                <a:srgbClr val="0070C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71223F90-A966-1444-9AD5-683CE881C6B7}"/>
                </a:ext>
              </a:extLst>
            </p:cNvPr>
            <p:cNvGrpSpPr/>
            <p:nvPr/>
          </p:nvGrpSpPr>
          <p:grpSpPr>
            <a:xfrm>
              <a:off x="1496456" y="3946310"/>
              <a:ext cx="3857066" cy="1617141"/>
              <a:chOff x="1496456" y="4053318"/>
              <a:chExt cx="3857066" cy="1617141"/>
            </a:xfrm>
          </p:grpSpPr>
          <p:grpSp>
            <p:nvGrpSpPr>
              <p:cNvPr id="6" name="Group 5" descr="Icons of a smart watch, house, car, and shopping cart with titled &quot;Apps on Devices&quot;">
                <a:extLst>
                  <a:ext uri="{FF2B5EF4-FFF2-40B4-BE49-F238E27FC236}">
                    <a16:creationId xmlns:a16="http://schemas.microsoft.com/office/drawing/2014/main" id="{569DB364-DFC9-C04F-BE93-7FC9BA7F1BE1}"/>
                  </a:ext>
                </a:extLst>
              </p:cNvPr>
              <p:cNvGrpSpPr/>
              <p:nvPr/>
            </p:nvGrpSpPr>
            <p:grpSpPr>
              <a:xfrm>
                <a:off x="1496456" y="4053318"/>
                <a:ext cx="1219371" cy="1617141"/>
                <a:chOff x="1865811" y="4178000"/>
                <a:chExt cx="1219371" cy="1617141"/>
              </a:xfrm>
            </p:grpSpPr>
            <p:grpSp>
              <p:nvGrpSpPr>
                <p:cNvPr id="4" name="Group 3">
                  <a:extLst>
                    <a:ext uri="{FF2B5EF4-FFF2-40B4-BE49-F238E27FC236}">
                      <a16:creationId xmlns:a16="http://schemas.microsoft.com/office/drawing/2014/main" id="{04462456-7851-4281-9062-81908D2927CC}"/>
                    </a:ext>
                  </a:extLst>
                </p:cNvPr>
                <p:cNvGrpSpPr/>
                <p:nvPr/>
              </p:nvGrpSpPr>
              <p:grpSpPr>
                <a:xfrm>
                  <a:off x="1865811" y="4178000"/>
                  <a:ext cx="645855" cy="554882"/>
                  <a:chOff x="1865811" y="4148375"/>
                  <a:chExt cx="645855" cy="554882"/>
                </a:xfrm>
              </p:grpSpPr>
              <p:sp>
                <p:nvSpPr>
                  <p:cNvPr id="64" name="watch" title="Icon of a smart watch">
                    <a:extLst>
                      <a:ext uri="{FF2B5EF4-FFF2-40B4-BE49-F238E27FC236}">
                        <a16:creationId xmlns:a16="http://schemas.microsoft.com/office/drawing/2014/main" id="{E664C403-6D81-BA43-88FE-069954B00A24}"/>
                      </a:ext>
                    </a:extLst>
                  </p:cNvPr>
                  <p:cNvSpPr>
                    <a:spLocks noChangeAspect="1" noEditPoints="1"/>
                  </p:cNvSpPr>
                  <p:nvPr/>
                </p:nvSpPr>
                <p:spPr bwMode="auto">
                  <a:xfrm>
                    <a:off x="1865811" y="4148375"/>
                    <a:ext cx="216746" cy="365760"/>
                  </a:xfrm>
                  <a:custGeom>
                    <a:avLst/>
                    <a:gdLst>
                      <a:gd name="T0" fmla="*/ 105 w 197"/>
                      <a:gd name="T1" fmla="*/ 90 h 335"/>
                      <a:gd name="T2" fmla="*/ 105 w 197"/>
                      <a:gd name="T3" fmla="*/ 46 h 335"/>
                      <a:gd name="T4" fmla="*/ 151 w 197"/>
                      <a:gd name="T5" fmla="*/ 0 h 335"/>
                      <a:gd name="T6" fmla="*/ 197 w 197"/>
                      <a:gd name="T7" fmla="*/ 46 h 335"/>
                      <a:gd name="T8" fmla="*/ 197 w 197"/>
                      <a:gd name="T9" fmla="*/ 161 h 335"/>
                      <a:gd name="T10" fmla="*/ 151 w 197"/>
                      <a:gd name="T11" fmla="*/ 0 h 335"/>
                      <a:gd name="T12" fmla="*/ 68 w 197"/>
                      <a:gd name="T13" fmla="*/ 0 h 335"/>
                      <a:gd name="T14" fmla="*/ 22 w 197"/>
                      <a:gd name="T15" fmla="*/ 46 h 335"/>
                      <a:gd name="T16" fmla="*/ 22 w 197"/>
                      <a:gd name="T17" fmla="*/ 90 h 335"/>
                      <a:gd name="T18" fmla="*/ 105 w 197"/>
                      <a:gd name="T19" fmla="*/ 245 h 335"/>
                      <a:gd name="T20" fmla="*/ 105 w 197"/>
                      <a:gd name="T21" fmla="*/ 289 h 335"/>
                      <a:gd name="T22" fmla="*/ 151 w 197"/>
                      <a:gd name="T23" fmla="*/ 335 h 335"/>
                      <a:gd name="T24" fmla="*/ 197 w 197"/>
                      <a:gd name="T25" fmla="*/ 289 h 335"/>
                      <a:gd name="T26" fmla="*/ 197 w 197"/>
                      <a:gd name="T27" fmla="*/ 254 h 335"/>
                      <a:gd name="T28" fmla="*/ 22 w 197"/>
                      <a:gd name="T29" fmla="*/ 245 h 335"/>
                      <a:gd name="T30" fmla="*/ 22 w 197"/>
                      <a:gd name="T31" fmla="*/ 289 h 335"/>
                      <a:gd name="T32" fmla="*/ 68 w 197"/>
                      <a:gd name="T33" fmla="*/ 335 h 335"/>
                      <a:gd name="T34" fmla="*/ 151 w 197"/>
                      <a:gd name="T35" fmla="*/ 335 h 335"/>
                      <a:gd name="T36" fmla="*/ 125 w 197"/>
                      <a:gd name="T37" fmla="*/ 231 h 335"/>
                      <a:gd name="T38" fmla="*/ 125 w 197"/>
                      <a:gd name="T39" fmla="*/ 104 h 335"/>
                      <a:gd name="T40" fmla="*/ 110 w 197"/>
                      <a:gd name="T41" fmla="*/ 90 h 335"/>
                      <a:gd name="T42" fmla="*/ 15 w 197"/>
                      <a:gd name="T43" fmla="*/ 90 h 335"/>
                      <a:gd name="T44" fmla="*/ 0 w 197"/>
                      <a:gd name="T45" fmla="*/ 104 h 335"/>
                      <a:gd name="T46" fmla="*/ 0 w 197"/>
                      <a:gd name="T47" fmla="*/ 104 h 335"/>
                      <a:gd name="T48" fmla="*/ 0 w 197"/>
                      <a:gd name="T49" fmla="*/ 231 h 335"/>
                      <a:gd name="T50" fmla="*/ 15 w 197"/>
                      <a:gd name="T51" fmla="*/ 245 h 335"/>
                      <a:gd name="T52" fmla="*/ 110 w 197"/>
                      <a:gd name="T53" fmla="*/ 245 h 335"/>
                      <a:gd name="T54" fmla="*/ 125 w 197"/>
                      <a:gd name="T55" fmla="*/ 231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7" h="335">
                        <a:moveTo>
                          <a:pt x="105" y="90"/>
                        </a:moveTo>
                        <a:cubicBezTo>
                          <a:pt x="105" y="46"/>
                          <a:pt x="105" y="46"/>
                          <a:pt x="105" y="46"/>
                        </a:cubicBezTo>
                        <a:cubicBezTo>
                          <a:pt x="105" y="21"/>
                          <a:pt x="125" y="0"/>
                          <a:pt x="151" y="0"/>
                        </a:cubicBezTo>
                        <a:cubicBezTo>
                          <a:pt x="176" y="0"/>
                          <a:pt x="197" y="21"/>
                          <a:pt x="197" y="46"/>
                        </a:cubicBezTo>
                        <a:cubicBezTo>
                          <a:pt x="197" y="161"/>
                          <a:pt x="197" y="161"/>
                          <a:pt x="197" y="161"/>
                        </a:cubicBezTo>
                        <a:moveTo>
                          <a:pt x="151" y="0"/>
                        </a:moveTo>
                        <a:cubicBezTo>
                          <a:pt x="68" y="0"/>
                          <a:pt x="68" y="0"/>
                          <a:pt x="68" y="0"/>
                        </a:cubicBezTo>
                        <a:cubicBezTo>
                          <a:pt x="42" y="0"/>
                          <a:pt x="22" y="21"/>
                          <a:pt x="22" y="46"/>
                        </a:cubicBezTo>
                        <a:cubicBezTo>
                          <a:pt x="22" y="90"/>
                          <a:pt x="22" y="90"/>
                          <a:pt x="22" y="90"/>
                        </a:cubicBezTo>
                        <a:moveTo>
                          <a:pt x="105" y="245"/>
                        </a:moveTo>
                        <a:cubicBezTo>
                          <a:pt x="105" y="289"/>
                          <a:pt x="105" y="289"/>
                          <a:pt x="105" y="289"/>
                        </a:cubicBezTo>
                        <a:cubicBezTo>
                          <a:pt x="105" y="314"/>
                          <a:pt x="125" y="335"/>
                          <a:pt x="151" y="335"/>
                        </a:cubicBezTo>
                        <a:cubicBezTo>
                          <a:pt x="176" y="335"/>
                          <a:pt x="197" y="314"/>
                          <a:pt x="197" y="289"/>
                        </a:cubicBezTo>
                        <a:cubicBezTo>
                          <a:pt x="197" y="254"/>
                          <a:pt x="197" y="254"/>
                          <a:pt x="197" y="254"/>
                        </a:cubicBezTo>
                        <a:moveTo>
                          <a:pt x="22" y="245"/>
                        </a:moveTo>
                        <a:cubicBezTo>
                          <a:pt x="22" y="289"/>
                          <a:pt x="22" y="289"/>
                          <a:pt x="22" y="289"/>
                        </a:cubicBezTo>
                        <a:cubicBezTo>
                          <a:pt x="22" y="314"/>
                          <a:pt x="42" y="335"/>
                          <a:pt x="68" y="335"/>
                        </a:cubicBezTo>
                        <a:cubicBezTo>
                          <a:pt x="151" y="335"/>
                          <a:pt x="151" y="335"/>
                          <a:pt x="151" y="335"/>
                        </a:cubicBezTo>
                        <a:moveTo>
                          <a:pt x="125" y="231"/>
                        </a:moveTo>
                        <a:cubicBezTo>
                          <a:pt x="125" y="104"/>
                          <a:pt x="125" y="104"/>
                          <a:pt x="125" y="104"/>
                        </a:cubicBezTo>
                        <a:cubicBezTo>
                          <a:pt x="125" y="96"/>
                          <a:pt x="118" y="90"/>
                          <a:pt x="110" y="90"/>
                        </a:cubicBezTo>
                        <a:cubicBezTo>
                          <a:pt x="15" y="90"/>
                          <a:pt x="15" y="90"/>
                          <a:pt x="15" y="90"/>
                        </a:cubicBezTo>
                        <a:cubicBezTo>
                          <a:pt x="7" y="90"/>
                          <a:pt x="0" y="96"/>
                          <a:pt x="0" y="104"/>
                        </a:cubicBezTo>
                        <a:moveTo>
                          <a:pt x="0" y="104"/>
                        </a:moveTo>
                        <a:cubicBezTo>
                          <a:pt x="0" y="231"/>
                          <a:pt x="0" y="231"/>
                          <a:pt x="0" y="231"/>
                        </a:cubicBezTo>
                        <a:cubicBezTo>
                          <a:pt x="0" y="239"/>
                          <a:pt x="7" y="245"/>
                          <a:pt x="15" y="245"/>
                        </a:cubicBezTo>
                        <a:cubicBezTo>
                          <a:pt x="110" y="245"/>
                          <a:pt x="110" y="245"/>
                          <a:pt x="110" y="245"/>
                        </a:cubicBezTo>
                        <a:cubicBezTo>
                          <a:pt x="118" y="245"/>
                          <a:pt x="125" y="239"/>
                          <a:pt x="125" y="231"/>
                        </a:cubicBezTo>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61" name="UniversalApp_E8CC" title="Icon of a cellphone in front of a tablet">
                    <a:extLst>
                      <a:ext uri="{FF2B5EF4-FFF2-40B4-BE49-F238E27FC236}">
                        <a16:creationId xmlns:a16="http://schemas.microsoft.com/office/drawing/2014/main" id="{8F960B97-B430-6F47-BA62-FFC97B0FD320}"/>
                      </a:ext>
                    </a:extLst>
                  </p:cNvPr>
                  <p:cNvSpPr>
                    <a:spLocks noChangeAspect="1" noEditPoints="1"/>
                  </p:cNvSpPr>
                  <p:nvPr/>
                </p:nvSpPr>
                <p:spPr bwMode="auto">
                  <a:xfrm>
                    <a:off x="2013231" y="4337497"/>
                    <a:ext cx="498435" cy="365760"/>
                  </a:xfrm>
                  <a:custGeom>
                    <a:avLst/>
                    <a:gdLst>
                      <a:gd name="T0" fmla="*/ 1250 w 3750"/>
                      <a:gd name="T1" fmla="*/ 2750 h 2750"/>
                      <a:gd name="T2" fmla="*/ 0 w 3750"/>
                      <a:gd name="T3" fmla="*/ 2750 h 2750"/>
                      <a:gd name="T4" fmla="*/ 0 w 3750"/>
                      <a:gd name="T5" fmla="*/ 750 h 2750"/>
                      <a:gd name="T6" fmla="*/ 1250 w 3750"/>
                      <a:gd name="T7" fmla="*/ 750 h 2750"/>
                      <a:gd name="T8" fmla="*/ 1250 w 3750"/>
                      <a:gd name="T9" fmla="*/ 2750 h 2750"/>
                      <a:gd name="T10" fmla="*/ 375 w 3750"/>
                      <a:gd name="T11" fmla="*/ 2250 h 2750"/>
                      <a:gd name="T12" fmla="*/ 875 w 3750"/>
                      <a:gd name="T13" fmla="*/ 2250 h 2750"/>
                      <a:gd name="T14" fmla="*/ 1875 w 3750"/>
                      <a:gd name="T15" fmla="*/ 1750 h 2750"/>
                      <a:gd name="T16" fmla="*/ 2375 w 3750"/>
                      <a:gd name="T17" fmla="*/ 1750 h 2750"/>
                      <a:gd name="T18" fmla="*/ 1250 w 3750"/>
                      <a:gd name="T19" fmla="*/ 2250 h 2750"/>
                      <a:gd name="T20" fmla="*/ 3625 w 3750"/>
                      <a:gd name="T21" fmla="*/ 2250 h 2750"/>
                      <a:gd name="T22" fmla="*/ 3750 w 3750"/>
                      <a:gd name="T23" fmla="*/ 2125 h 2750"/>
                      <a:gd name="T24" fmla="*/ 3750 w 3750"/>
                      <a:gd name="T25" fmla="*/ 125 h 2750"/>
                      <a:gd name="T26" fmla="*/ 3625 w 3750"/>
                      <a:gd name="T27" fmla="*/ 0 h 2750"/>
                      <a:gd name="T28" fmla="*/ 625 w 3750"/>
                      <a:gd name="T29" fmla="*/ 0 h 2750"/>
                      <a:gd name="T30" fmla="*/ 500 w 3750"/>
                      <a:gd name="T31" fmla="*/ 125 h 2750"/>
                      <a:gd name="T32" fmla="*/ 500 w 3750"/>
                      <a:gd name="T33" fmla="*/ 750 h 2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50" h="2750">
                        <a:moveTo>
                          <a:pt x="1250" y="2750"/>
                        </a:moveTo>
                        <a:cubicBezTo>
                          <a:pt x="0" y="2750"/>
                          <a:pt x="0" y="2750"/>
                          <a:pt x="0" y="2750"/>
                        </a:cubicBezTo>
                        <a:cubicBezTo>
                          <a:pt x="0" y="750"/>
                          <a:pt x="0" y="750"/>
                          <a:pt x="0" y="750"/>
                        </a:cubicBezTo>
                        <a:cubicBezTo>
                          <a:pt x="1250" y="750"/>
                          <a:pt x="1250" y="750"/>
                          <a:pt x="1250" y="750"/>
                        </a:cubicBezTo>
                        <a:lnTo>
                          <a:pt x="1250" y="2750"/>
                        </a:lnTo>
                        <a:close/>
                        <a:moveTo>
                          <a:pt x="375" y="2250"/>
                        </a:moveTo>
                        <a:cubicBezTo>
                          <a:pt x="875" y="2250"/>
                          <a:pt x="875" y="2250"/>
                          <a:pt x="875" y="2250"/>
                        </a:cubicBezTo>
                        <a:moveTo>
                          <a:pt x="1875" y="1750"/>
                        </a:moveTo>
                        <a:cubicBezTo>
                          <a:pt x="2375" y="1750"/>
                          <a:pt x="2375" y="1750"/>
                          <a:pt x="2375" y="1750"/>
                        </a:cubicBezTo>
                        <a:moveTo>
                          <a:pt x="1250" y="2250"/>
                        </a:moveTo>
                        <a:cubicBezTo>
                          <a:pt x="3625" y="2250"/>
                          <a:pt x="3625" y="2250"/>
                          <a:pt x="3625" y="2250"/>
                        </a:cubicBezTo>
                        <a:cubicBezTo>
                          <a:pt x="3694" y="2250"/>
                          <a:pt x="3750" y="2194"/>
                          <a:pt x="3750" y="2125"/>
                        </a:cubicBezTo>
                        <a:cubicBezTo>
                          <a:pt x="3750" y="125"/>
                          <a:pt x="3750" y="125"/>
                          <a:pt x="3750" y="125"/>
                        </a:cubicBezTo>
                        <a:cubicBezTo>
                          <a:pt x="3750" y="56"/>
                          <a:pt x="3694" y="0"/>
                          <a:pt x="3625" y="0"/>
                        </a:cubicBezTo>
                        <a:cubicBezTo>
                          <a:pt x="625" y="0"/>
                          <a:pt x="625" y="0"/>
                          <a:pt x="625" y="0"/>
                        </a:cubicBezTo>
                        <a:cubicBezTo>
                          <a:pt x="556" y="0"/>
                          <a:pt x="500" y="56"/>
                          <a:pt x="500" y="125"/>
                        </a:cubicBezTo>
                        <a:cubicBezTo>
                          <a:pt x="500" y="750"/>
                          <a:pt x="500" y="750"/>
                          <a:pt x="500" y="750"/>
                        </a:cubicBezTo>
                      </a:path>
                    </a:pathLst>
                  </a:custGeom>
                  <a:solidFill>
                    <a:schemeClr val="bg1"/>
                  </a:solidFill>
                  <a:ln w="12700" cap="sq">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Segoe UI"/>
                      <a:ea typeface="+mn-ea"/>
                      <a:cs typeface="+mn-cs"/>
                    </a:endParaRPr>
                  </a:p>
                </p:txBody>
              </p:sp>
            </p:grpSp>
            <p:sp>
              <p:nvSpPr>
                <p:cNvPr id="62" name="car_3" title="Icon of a car with signal lines on top">
                  <a:extLst>
                    <a:ext uri="{FF2B5EF4-FFF2-40B4-BE49-F238E27FC236}">
                      <a16:creationId xmlns:a16="http://schemas.microsoft.com/office/drawing/2014/main" id="{D675D7EF-ADDA-A646-98B8-344C3A8D6712}"/>
                    </a:ext>
                  </a:extLst>
                </p:cNvPr>
                <p:cNvSpPr>
                  <a:spLocks noChangeAspect="1" noEditPoints="1"/>
                </p:cNvSpPr>
                <p:nvPr/>
              </p:nvSpPr>
              <p:spPr bwMode="auto">
                <a:xfrm>
                  <a:off x="1943295" y="4884845"/>
                  <a:ext cx="486984" cy="365760"/>
                </a:xfrm>
                <a:custGeom>
                  <a:avLst/>
                  <a:gdLst>
                    <a:gd name="T0" fmla="*/ 27 w 339"/>
                    <a:gd name="T1" fmla="*/ 121 h 255"/>
                    <a:gd name="T2" fmla="*/ 287 w 339"/>
                    <a:gd name="T3" fmla="*/ 121 h 255"/>
                    <a:gd name="T4" fmla="*/ 339 w 339"/>
                    <a:gd name="T5" fmla="*/ 173 h 255"/>
                    <a:gd name="T6" fmla="*/ 339 w 339"/>
                    <a:gd name="T7" fmla="*/ 211 h 255"/>
                    <a:gd name="T8" fmla="*/ 318 w 339"/>
                    <a:gd name="T9" fmla="*/ 233 h 255"/>
                    <a:gd name="T10" fmla="*/ 294 w 339"/>
                    <a:gd name="T11" fmla="*/ 233 h 255"/>
                    <a:gd name="T12" fmla="*/ 297 w 339"/>
                    <a:gd name="T13" fmla="*/ 219 h 255"/>
                    <a:gd name="T14" fmla="*/ 261 w 339"/>
                    <a:gd name="T15" fmla="*/ 182 h 255"/>
                    <a:gd name="T16" fmla="*/ 224 w 339"/>
                    <a:gd name="T17" fmla="*/ 219 h 255"/>
                    <a:gd name="T18" fmla="*/ 261 w 339"/>
                    <a:gd name="T19" fmla="*/ 255 h 255"/>
                    <a:gd name="T20" fmla="*/ 297 w 339"/>
                    <a:gd name="T21" fmla="*/ 219 h 255"/>
                    <a:gd name="T22" fmla="*/ 95 w 339"/>
                    <a:gd name="T23" fmla="*/ 219 h 255"/>
                    <a:gd name="T24" fmla="*/ 59 w 339"/>
                    <a:gd name="T25" fmla="*/ 182 h 255"/>
                    <a:gd name="T26" fmla="*/ 22 w 339"/>
                    <a:gd name="T27" fmla="*/ 219 h 255"/>
                    <a:gd name="T28" fmla="*/ 59 w 339"/>
                    <a:gd name="T29" fmla="*/ 255 h 255"/>
                    <a:gd name="T30" fmla="*/ 95 w 339"/>
                    <a:gd name="T31" fmla="*/ 219 h 255"/>
                    <a:gd name="T32" fmla="*/ 63 w 339"/>
                    <a:gd name="T33" fmla="*/ 51 h 255"/>
                    <a:gd name="T34" fmla="*/ 10 w 339"/>
                    <a:gd name="T35" fmla="*/ 156 h 255"/>
                    <a:gd name="T36" fmla="*/ 0 w 339"/>
                    <a:gd name="T37" fmla="*/ 190 h 255"/>
                    <a:gd name="T38" fmla="*/ 24 w 339"/>
                    <a:gd name="T39" fmla="*/ 229 h 255"/>
                    <a:gd name="T40" fmla="*/ 271 w 339"/>
                    <a:gd name="T41" fmla="*/ 121 h 255"/>
                    <a:gd name="T42" fmla="*/ 222 w 339"/>
                    <a:gd name="T43" fmla="*/ 66 h 255"/>
                    <a:gd name="T44" fmla="*/ 194 w 339"/>
                    <a:gd name="T45" fmla="*/ 51 h 255"/>
                    <a:gd name="T46" fmla="*/ 37 w 339"/>
                    <a:gd name="T47" fmla="*/ 51 h 255"/>
                    <a:gd name="T48" fmla="*/ 227 w 339"/>
                    <a:gd name="T49" fmla="*/ 233 h 255"/>
                    <a:gd name="T50" fmla="*/ 92 w 339"/>
                    <a:gd name="T51" fmla="*/ 233 h 255"/>
                    <a:gd name="T52" fmla="*/ 134 w 339"/>
                    <a:gd name="T53" fmla="*/ 233 h 255"/>
                    <a:gd name="T54" fmla="*/ 134 w 339"/>
                    <a:gd name="T55" fmla="*/ 51 h 255"/>
                    <a:gd name="T56" fmla="*/ 258 w 339"/>
                    <a:gd name="T57" fmla="*/ 66 h 255"/>
                    <a:gd name="T58" fmla="*/ 269 w 339"/>
                    <a:gd name="T59" fmla="*/ 70 h 255"/>
                    <a:gd name="T60" fmla="*/ 273 w 339"/>
                    <a:gd name="T61" fmla="*/ 79 h 255"/>
                    <a:gd name="T62" fmla="*/ 305 w 339"/>
                    <a:gd name="T63" fmla="*/ 79 h 255"/>
                    <a:gd name="T64" fmla="*/ 292 w 339"/>
                    <a:gd name="T65" fmla="*/ 47 h 255"/>
                    <a:gd name="T66" fmla="*/ 258 w 339"/>
                    <a:gd name="T67" fmla="*/ 33 h 255"/>
                    <a:gd name="T68" fmla="*/ 339 w 339"/>
                    <a:gd name="T69" fmla="*/ 79 h 255"/>
                    <a:gd name="T70" fmla="*/ 316 w 339"/>
                    <a:gd name="T71" fmla="*/ 23 h 255"/>
                    <a:gd name="T72" fmla="*/ 258 w 339"/>
                    <a:gd name="T73"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39" h="255">
                      <a:moveTo>
                        <a:pt x="27" y="121"/>
                      </a:moveTo>
                      <a:cubicBezTo>
                        <a:pt x="287" y="121"/>
                        <a:pt x="287" y="121"/>
                        <a:pt x="287" y="121"/>
                      </a:cubicBezTo>
                      <a:cubicBezTo>
                        <a:pt x="316" y="121"/>
                        <a:pt x="339" y="145"/>
                        <a:pt x="339" y="173"/>
                      </a:cubicBezTo>
                      <a:cubicBezTo>
                        <a:pt x="339" y="211"/>
                        <a:pt x="339" y="211"/>
                        <a:pt x="339" y="211"/>
                      </a:cubicBezTo>
                      <a:cubicBezTo>
                        <a:pt x="339" y="223"/>
                        <a:pt x="330" y="233"/>
                        <a:pt x="318" y="233"/>
                      </a:cubicBezTo>
                      <a:cubicBezTo>
                        <a:pt x="294" y="233"/>
                        <a:pt x="294" y="233"/>
                        <a:pt x="294" y="233"/>
                      </a:cubicBezTo>
                      <a:moveTo>
                        <a:pt x="297" y="219"/>
                      </a:moveTo>
                      <a:cubicBezTo>
                        <a:pt x="297" y="199"/>
                        <a:pt x="281" y="182"/>
                        <a:pt x="261" y="182"/>
                      </a:cubicBezTo>
                      <a:cubicBezTo>
                        <a:pt x="241" y="182"/>
                        <a:pt x="224" y="199"/>
                        <a:pt x="224" y="219"/>
                      </a:cubicBezTo>
                      <a:cubicBezTo>
                        <a:pt x="224" y="239"/>
                        <a:pt x="241" y="255"/>
                        <a:pt x="261" y="255"/>
                      </a:cubicBezTo>
                      <a:cubicBezTo>
                        <a:pt x="281" y="255"/>
                        <a:pt x="297" y="239"/>
                        <a:pt x="297" y="219"/>
                      </a:cubicBezTo>
                      <a:close/>
                      <a:moveTo>
                        <a:pt x="95" y="219"/>
                      </a:moveTo>
                      <a:cubicBezTo>
                        <a:pt x="95" y="199"/>
                        <a:pt x="79" y="182"/>
                        <a:pt x="59" y="182"/>
                      </a:cubicBezTo>
                      <a:cubicBezTo>
                        <a:pt x="39" y="182"/>
                        <a:pt x="22" y="199"/>
                        <a:pt x="22" y="219"/>
                      </a:cubicBezTo>
                      <a:cubicBezTo>
                        <a:pt x="22" y="239"/>
                        <a:pt x="39" y="255"/>
                        <a:pt x="59" y="255"/>
                      </a:cubicBezTo>
                      <a:cubicBezTo>
                        <a:pt x="79" y="255"/>
                        <a:pt x="95" y="239"/>
                        <a:pt x="95" y="219"/>
                      </a:cubicBezTo>
                      <a:close/>
                      <a:moveTo>
                        <a:pt x="63" y="51"/>
                      </a:moveTo>
                      <a:cubicBezTo>
                        <a:pt x="63" y="51"/>
                        <a:pt x="20" y="135"/>
                        <a:pt x="10" y="156"/>
                      </a:cubicBezTo>
                      <a:cubicBezTo>
                        <a:pt x="0" y="178"/>
                        <a:pt x="0" y="190"/>
                        <a:pt x="0" y="190"/>
                      </a:cubicBezTo>
                      <a:cubicBezTo>
                        <a:pt x="0" y="205"/>
                        <a:pt x="9" y="224"/>
                        <a:pt x="24" y="229"/>
                      </a:cubicBezTo>
                      <a:moveTo>
                        <a:pt x="271" y="121"/>
                      </a:moveTo>
                      <a:cubicBezTo>
                        <a:pt x="222" y="66"/>
                        <a:pt x="222" y="66"/>
                        <a:pt x="222" y="66"/>
                      </a:cubicBezTo>
                      <a:cubicBezTo>
                        <a:pt x="214" y="56"/>
                        <a:pt x="206" y="51"/>
                        <a:pt x="194" y="51"/>
                      </a:cubicBezTo>
                      <a:cubicBezTo>
                        <a:pt x="37" y="51"/>
                        <a:pt x="37" y="51"/>
                        <a:pt x="37" y="51"/>
                      </a:cubicBezTo>
                      <a:moveTo>
                        <a:pt x="227" y="233"/>
                      </a:moveTo>
                      <a:cubicBezTo>
                        <a:pt x="92" y="233"/>
                        <a:pt x="92" y="233"/>
                        <a:pt x="92" y="233"/>
                      </a:cubicBezTo>
                      <a:moveTo>
                        <a:pt x="134" y="233"/>
                      </a:moveTo>
                      <a:cubicBezTo>
                        <a:pt x="134" y="51"/>
                        <a:pt x="134" y="51"/>
                        <a:pt x="134" y="51"/>
                      </a:cubicBezTo>
                      <a:moveTo>
                        <a:pt x="258" y="66"/>
                      </a:moveTo>
                      <a:cubicBezTo>
                        <a:pt x="262" y="66"/>
                        <a:pt x="266" y="67"/>
                        <a:pt x="269" y="70"/>
                      </a:cubicBezTo>
                      <a:cubicBezTo>
                        <a:pt x="271" y="73"/>
                        <a:pt x="273" y="76"/>
                        <a:pt x="273" y="79"/>
                      </a:cubicBezTo>
                      <a:moveTo>
                        <a:pt x="305" y="79"/>
                      </a:moveTo>
                      <a:cubicBezTo>
                        <a:pt x="305" y="67"/>
                        <a:pt x="301" y="56"/>
                        <a:pt x="292" y="47"/>
                      </a:cubicBezTo>
                      <a:cubicBezTo>
                        <a:pt x="283" y="38"/>
                        <a:pt x="270" y="33"/>
                        <a:pt x="258" y="33"/>
                      </a:cubicBezTo>
                      <a:moveTo>
                        <a:pt x="339" y="79"/>
                      </a:moveTo>
                      <a:cubicBezTo>
                        <a:pt x="339" y="59"/>
                        <a:pt x="331" y="39"/>
                        <a:pt x="316" y="23"/>
                      </a:cubicBezTo>
                      <a:cubicBezTo>
                        <a:pt x="300" y="7"/>
                        <a:pt x="279" y="0"/>
                        <a:pt x="258" y="0"/>
                      </a:cubicBezTo>
                    </a:path>
                  </a:pathLst>
                </a:custGeom>
                <a:noFill/>
                <a:ln w="127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63" name="house" title="Icon of a house">
                  <a:extLst>
                    <a:ext uri="{FF2B5EF4-FFF2-40B4-BE49-F238E27FC236}">
                      <a16:creationId xmlns:a16="http://schemas.microsoft.com/office/drawing/2014/main" id="{17DF6A6E-1111-544D-83A0-2E918E57B914}"/>
                    </a:ext>
                  </a:extLst>
                </p:cNvPr>
                <p:cNvSpPr>
                  <a:spLocks noChangeAspect="1" noEditPoints="1"/>
                </p:cNvSpPr>
                <p:nvPr/>
              </p:nvSpPr>
              <p:spPr bwMode="auto">
                <a:xfrm>
                  <a:off x="2672871" y="4294594"/>
                  <a:ext cx="412311" cy="365760"/>
                </a:xfrm>
                <a:custGeom>
                  <a:avLst/>
                  <a:gdLst>
                    <a:gd name="T0" fmla="*/ 0 w 248"/>
                    <a:gd name="T1" fmla="*/ 123 h 220"/>
                    <a:gd name="T2" fmla="*/ 124 w 248"/>
                    <a:gd name="T3" fmla="*/ 0 h 220"/>
                    <a:gd name="T4" fmla="*/ 248 w 248"/>
                    <a:gd name="T5" fmla="*/ 123 h 220"/>
                    <a:gd name="T6" fmla="*/ 27 w 248"/>
                    <a:gd name="T7" fmla="*/ 97 h 220"/>
                    <a:gd name="T8" fmla="*/ 27 w 248"/>
                    <a:gd name="T9" fmla="*/ 220 h 220"/>
                    <a:gd name="T10" fmla="*/ 98 w 248"/>
                    <a:gd name="T11" fmla="*/ 220 h 220"/>
                    <a:gd name="T12" fmla="*/ 98 w 248"/>
                    <a:gd name="T13" fmla="*/ 131 h 220"/>
                    <a:gd name="T14" fmla="*/ 152 w 248"/>
                    <a:gd name="T15" fmla="*/ 131 h 220"/>
                    <a:gd name="T16" fmla="*/ 152 w 248"/>
                    <a:gd name="T17" fmla="*/ 220 h 220"/>
                    <a:gd name="T18" fmla="*/ 222 w 248"/>
                    <a:gd name="T19" fmla="*/ 220 h 220"/>
                    <a:gd name="T20" fmla="*/ 222 w 248"/>
                    <a:gd name="T21" fmla="*/ 9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8" h="220">
                      <a:moveTo>
                        <a:pt x="0" y="123"/>
                      </a:moveTo>
                      <a:lnTo>
                        <a:pt x="124" y="0"/>
                      </a:lnTo>
                      <a:lnTo>
                        <a:pt x="248" y="123"/>
                      </a:lnTo>
                      <a:moveTo>
                        <a:pt x="27" y="97"/>
                      </a:moveTo>
                      <a:lnTo>
                        <a:pt x="27" y="220"/>
                      </a:lnTo>
                      <a:lnTo>
                        <a:pt x="98" y="220"/>
                      </a:lnTo>
                      <a:lnTo>
                        <a:pt x="98" y="131"/>
                      </a:lnTo>
                      <a:lnTo>
                        <a:pt x="152" y="131"/>
                      </a:lnTo>
                      <a:lnTo>
                        <a:pt x="152" y="220"/>
                      </a:lnTo>
                      <a:lnTo>
                        <a:pt x="222" y="220"/>
                      </a:lnTo>
                      <a:lnTo>
                        <a:pt x="222" y="97"/>
                      </a:lnTo>
                    </a:path>
                  </a:pathLst>
                </a:custGeom>
                <a:noFill/>
                <a:ln w="12700" cap="flat">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Segoe UI"/>
                    <a:ea typeface="+mn-ea"/>
                    <a:cs typeface="+mn-cs"/>
                  </a:endParaRPr>
                </a:p>
              </p:txBody>
            </p:sp>
            <p:sp>
              <p:nvSpPr>
                <p:cNvPr id="70" name="ShoppingCart_E7BF" title="Icon of a shopping cart">
                  <a:extLst>
                    <a:ext uri="{FF2B5EF4-FFF2-40B4-BE49-F238E27FC236}">
                      <a16:creationId xmlns:a16="http://schemas.microsoft.com/office/drawing/2014/main" id="{0C52841A-05D8-5C4D-9ACB-F9CE596B95E7}"/>
                    </a:ext>
                  </a:extLst>
                </p:cNvPr>
                <p:cNvSpPr>
                  <a:spLocks noChangeAspect="1" noEditPoints="1"/>
                </p:cNvSpPr>
                <p:nvPr/>
              </p:nvSpPr>
              <p:spPr bwMode="auto">
                <a:xfrm>
                  <a:off x="2641234" y="4869781"/>
                  <a:ext cx="430127" cy="365760"/>
                </a:xfrm>
                <a:custGeom>
                  <a:avLst/>
                  <a:gdLst>
                    <a:gd name="T0" fmla="*/ 3368 w 3817"/>
                    <a:gd name="T1" fmla="*/ 2994 h 3244"/>
                    <a:gd name="T2" fmla="*/ 3119 w 3817"/>
                    <a:gd name="T3" fmla="*/ 3244 h 3244"/>
                    <a:gd name="T4" fmla="*/ 2869 w 3817"/>
                    <a:gd name="T5" fmla="*/ 2994 h 3244"/>
                    <a:gd name="T6" fmla="*/ 3119 w 3817"/>
                    <a:gd name="T7" fmla="*/ 2745 h 3244"/>
                    <a:gd name="T8" fmla="*/ 3368 w 3817"/>
                    <a:gd name="T9" fmla="*/ 2994 h 3244"/>
                    <a:gd name="T10" fmla="*/ 1372 w 3817"/>
                    <a:gd name="T11" fmla="*/ 2745 h 3244"/>
                    <a:gd name="T12" fmla="*/ 1123 w 3817"/>
                    <a:gd name="T13" fmla="*/ 2994 h 3244"/>
                    <a:gd name="T14" fmla="*/ 1372 w 3817"/>
                    <a:gd name="T15" fmla="*/ 3244 h 3244"/>
                    <a:gd name="T16" fmla="*/ 1622 w 3817"/>
                    <a:gd name="T17" fmla="*/ 2994 h 3244"/>
                    <a:gd name="T18" fmla="*/ 1372 w 3817"/>
                    <a:gd name="T19" fmla="*/ 2745 h 3244"/>
                    <a:gd name="T20" fmla="*/ 0 w 3817"/>
                    <a:gd name="T21" fmla="*/ 0 h 3244"/>
                    <a:gd name="T22" fmla="*/ 457 w 3817"/>
                    <a:gd name="T23" fmla="*/ 0 h 3244"/>
                    <a:gd name="T24" fmla="*/ 1372 w 3817"/>
                    <a:gd name="T25" fmla="*/ 2745 h 3244"/>
                    <a:gd name="T26" fmla="*/ 3119 w 3817"/>
                    <a:gd name="T27" fmla="*/ 2745 h 3244"/>
                    <a:gd name="T28" fmla="*/ 1123 w 3817"/>
                    <a:gd name="T29" fmla="*/ 1996 h 3244"/>
                    <a:gd name="T30" fmla="*/ 3318 w 3817"/>
                    <a:gd name="T31" fmla="*/ 1996 h 3244"/>
                    <a:gd name="T32" fmla="*/ 3817 w 3817"/>
                    <a:gd name="T33" fmla="*/ 499 h 3244"/>
                    <a:gd name="T34" fmla="*/ 624 w 3817"/>
                    <a:gd name="T35" fmla="*/ 499 h 3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817" h="3244">
                      <a:moveTo>
                        <a:pt x="3368" y="2994"/>
                      </a:moveTo>
                      <a:cubicBezTo>
                        <a:pt x="3368" y="3132"/>
                        <a:pt x="3257" y="3244"/>
                        <a:pt x="3119" y="3244"/>
                      </a:cubicBezTo>
                      <a:cubicBezTo>
                        <a:pt x="2981" y="3244"/>
                        <a:pt x="2869" y="3132"/>
                        <a:pt x="2869" y="2994"/>
                      </a:cubicBezTo>
                      <a:cubicBezTo>
                        <a:pt x="2869" y="2856"/>
                        <a:pt x="2981" y="2745"/>
                        <a:pt x="3119" y="2745"/>
                      </a:cubicBezTo>
                      <a:cubicBezTo>
                        <a:pt x="3257" y="2745"/>
                        <a:pt x="3368" y="2856"/>
                        <a:pt x="3368" y="2994"/>
                      </a:cubicBezTo>
                      <a:close/>
                      <a:moveTo>
                        <a:pt x="1372" y="2745"/>
                      </a:moveTo>
                      <a:cubicBezTo>
                        <a:pt x="1234" y="2745"/>
                        <a:pt x="1123" y="2856"/>
                        <a:pt x="1123" y="2994"/>
                      </a:cubicBezTo>
                      <a:cubicBezTo>
                        <a:pt x="1123" y="3132"/>
                        <a:pt x="1234" y="3244"/>
                        <a:pt x="1372" y="3244"/>
                      </a:cubicBezTo>
                      <a:cubicBezTo>
                        <a:pt x="1510" y="3244"/>
                        <a:pt x="1622" y="3132"/>
                        <a:pt x="1622" y="2994"/>
                      </a:cubicBezTo>
                      <a:cubicBezTo>
                        <a:pt x="1622" y="2856"/>
                        <a:pt x="1510" y="2745"/>
                        <a:pt x="1372" y="2745"/>
                      </a:cubicBezTo>
                      <a:close/>
                      <a:moveTo>
                        <a:pt x="0" y="0"/>
                      </a:moveTo>
                      <a:cubicBezTo>
                        <a:pt x="457" y="0"/>
                        <a:pt x="457" y="0"/>
                        <a:pt x="457" y="0"/>
                      </a:cubicBezTo>
                      <a:cubicBezTo>
                        <a:pt x="1372" y="2745"/>
                        <a:pt x="1372" y="2745"/>
                        <a:pt x="1372" y="2745"/>
                      </a:cubicBezTo>
                      <a:cubicBezTo>
                        <a:pt x="3119" y="2745"/>
                        <a:pt x="3119" y="2745"/>
                        <a:pt x="3119" y="2745"/>
                      </a:cubicBezTo>
                      <a:moveTo>
                        <a:pt x="1123" y="1996"/>
                      </a:moveTo>
                      <a:cubicBezTo>
                        <a:pt x="3318" y="1996"/>
                        <a:pt x="3318" y="1996"/>
                        <a:pt x="3318" y="1996"/>
                      </a:cubicBezTo>
                      <a:cubicBezTo>
                        <a:pt x="3817" y="499"/>
                        <a:pt x="3817" y="499"/>
                        <a:pt x="3817" y="499"/>
                      </a:cubicBezTo>
                      <a:cubicBezTo>
                        <a:pt x="624" y="499"/>
                        <a:pt x="624" y="499"/>
                        <a:pt x="624" y="499"/>
                      </a:cubicBezTo>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Segoe UI"/>
                    <a:ea typeface="+mn-ea"/>
                    <a:cs typeface="+mn-cs"/>
                  </a:endParaRPr>
                </a:p>
              </p:txBody>
            </p:sp>
            <p:sp>
              <p:nvSpPr>
                <p:cNvPr id="80" name="TextBox 79">
                  <a:extLst>
                    <a:ext uri="{FF2B5EF4-FFF2-40B4-BE49-F238E27FC236}">
                      <a16:creationId xmlns:a16="http://schemas.microsoft.com/office/drawing/2014/main" id="{7C03C176-14B2-374D-86B5-B998A682C884}"/>
                    </a:ext>
                  </a:extLst>
                </p:cNvPr>
                <p:cNvSpPr txBox="1"/>
                <p:nvPr/>
              </p:nvSpPr>
              <p:spPr>
                <a:xfrm>
                  <a:off x="2185818" y="5456587"/>
                  <a:ext cx="641201" cy="338554"/>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100" i="1" u="none" strike="noStrike" cap="none" spc="0" normalizeH="0" baseline="0">
                      <a:ln>
                        <a:noFill/>
                      </a:ln>
                      <a:solidFill>
                        <a:srgbClr val="000000"/>
                      </a:solidFill>
                      <a:effectLst/>
                      <a:uLnTx/>
                      <a:uFillTx/>
                      <a:latin typeface="Segoe UI Semilight" panose="020B0402040204020203" pitchFamily="34" charset="0"/>
                      <a:cs typeface="Segoe UI Semilight" panose="020B04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Apps </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on devices</a:t>
                  </a:r>
                </a:p>
              </p:txBody>
            </p:sp>
          </p:grpSp>
          <p:cxnSp>
            <p:nvCxnSpPr>
              <p:cNvPr id="85" name="Straight Connector 84" descr="straight line icon connecting &quot;Apps on Devices&quot; to &quot;Gateway&quot;">
                <a:extLst>
                  <a:ext uri="{FF2B5EF4-FFF2-40B4-BE49-F238E27FC236}">
                    <a16:creationId xmlns:a16="http://schemas.microsoft.com/office/drawing/2014/main" id="{2685AE81-2194-CF40-A8F8-7E70F565E3E3}"/>
                  </a:ext>
                </a:extLst>
              </p:cNvPr>
              <p:cNvCxnSpPr>
                <a:cxnSpLocks/>
              </p:cNvCxnSpPr>
              <p:nvPr/>
            </p:nvCxnSpPr>
            <p:spPr>
              <a:xfrm>
                <a:off x="2884642" y="4649379"/>
                <a:ext cx="2468880" cy="0"/>
              </a:xfrm>
              <a:prstGeom prst="line">
                <a:avLst/>
              </a:prstGeom>
              <a:ln w="12700">
                <a:solidFill>
                  <a:srgbClr val="0070C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101" name="Browser_2" title="Icon of a browser window with a home symbol inside">
              <a:extLst>
                <a:ext uri="{FF2B5EF4-FFF2-40B4-BE49-F238E27FC236}">
                  <a16:creationId xmlns:a16="http://schemas.microsoft.com/office/drawing/2014/main" id="{F88FB124-3153-724E-8857-C6DF0A330BD5}"/>
                </a:ext>
              </a:extLst>
            </p:cNvPr>
            <p:cNvSpPr>
              <a:spLocks noChangeAspect="1" noEditPoints="1"/>
            </p:cNvSpPr>
            <p:nvPr/>
          </p:nvSpPr>
          <p:spPr bwMode="auto">
            <a:xfrm>
              <a:off x="4073433" y="2333050"/>
              <a:ext cx="421763" cy="358570"/>
            </a:xfrm>
            <a:custGeom>
              <a:avLst/>
              <a:gdLst>
                <a:gd name="T0" fmla="*/ 0 w 335"/>
                <a:gd name="T1" fmla="*/ 0 h 285"/>
                <a:gd name="T2" fmla="*/ 335 w 335"/>
                <a:gd name="T3" fmla="*/ 0 h 285"/>
                <a:gd name="T4" fmla="*/ 335 w 335"/>
                <a:gd name="T5" fmla="*/ 285 h 285"/>
                <a:gd name="T6" fmla="*/ 0 w 335"/>
                <a:gd name="T7" fmla="*/ 285 h 285"/>
                <a:gd name="T8" fmla="*/ 0 w 335"/>
                <a:gd name="T9" fmla="*/ 0 h 285"/>
                <a:gd name="T10" fmla="*/ 0 w 335"/>
                <a:gd name="T11" fmla="*/ 64 h 285"/>
                <a:gd name="T12" fmla="*/ 335 w 335"/>
                <a:gd name="T13" fmla="*/ 64 h 285"/>
                <a:gd name="T14" fmla="*/ 293 w 335"/>
                <a:gd name="T15" fmla="*/ 36 h 285"/>
                <a:gd name="T16" fmla="*/ 298 w 335"/>
                <a:gd name="T17" fmla="*/ 31 h 285"/>
                <a:gd name="T18" fmla="*/ 293 w 335"/>
                <a:gd name="T19" fmla="*/ 27 h 285"/>
                <a:gd name="T20" fmla="*/ 289 w 335"/>
                <a:gd name="T21" fmla="*/ 31 h 285"/>
                <a:gd name="T22" fmla="*/ 293 w 335"/>
                <a:gd name="T23" fmla="*/ 36 h 285"/>
                <a:gd name="T24" fmla="*/ 240 w 335"/>
                <a:gd name="T25" fmla="*/ 36 h 285"/>
                <a:gd name="T26" fmla="*/ 245 w 335"/>
                <a:gd name="T27" fmla="*/ 31 h 285"/>
                <a:gd name="T28" fmla="*/ 240 w 335"/>
                <a:gd name="T29" fmla="*/ 27 h 285"/>
                <a:gd name="T30" fmla="*/ 235 w 335"/>
                <a:gd name="T31" fmla="*/ 31 h 285"/>
                <a:gd name="T32" fmla="*/ 240 w 335"/>
                <a:gd name="T33" fmla="*/ 36 h 285"/>
                <a:gd name="T34" fmla="*/ 187 w 335"/>
                <a:gd name="T35" fmla="*/ 36 h 285"/>
                <a:gd name="T36" fmla="*/ 192 w 335"/>
                <a:gd name="T37" fmla="*/ 31 h 285"/>
                <a:gd name="T38" fmla="*/ 187 w 335"/>
                <a:gd name="T39" fmla="*/ 27 h 285"/>
                <a:gd name="T40" fmla="*/ 182 w 335"/>
                <a:gd name="T41" fmla="*/ 31 h 285"/>
                <a:gd name="T42" fmla="*/ 187 w 335"/>
                <a:gd name="T43" fmla="*/ 36 h 285"/>
                <a:gd name="T44" fmla="*/ 157 w 335"/>
                <a:gd name="T45" fmla="*/ 233 h 285"/>
                <a:gd name="T46" fmla="*/ 157 w 335"/>
                <a:gd name="T47" fmla="*/ 190 h 285"/>
                <a:gd name="T48" fmla="*/ 185 w 335"/>
                <a:gd name="T49" fmla="*/ 190 h 285"/>
                <a:gd name="T50" fmla="*/ 185 w 335"/>
                <a:gd name="T51" fmla="*/ 233 h 285"/>
                <a:gd name="T52" fmla="*/ 232 w 335"/>
                <a:gd name="T53" fmla="*/ 233 h 285"/>
                <a:gd name="T54" fmla="*/ 232 w 335"/>
                <a:gd name="T55" fmla="*/ 165 h 285"/>
                <a:gd name="T56" fmla="*/ 171 w 335"/>
                <a:gd name="T57" fmla="*/ 105 h 285"/>
                <a:gd name="T58" fmla="*/ 111 w 335"/>
                <a:gd name="T59" fmla="*/ 165 h 285"/>
                <a:gd name="T60" fmla="*/ 111 w 335"/>
                <a:gd name="T61" fmla="*/ 233 h 285"/>
                <a:gd name="T62" fmla="*/ 157 w 335"/>
                <a:gd name="T63" fmla="*/ 233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35" h="285">
                  <a:moveTo>
                    <a:pt x="0" y="0"/>
                  </a:moveTo>
                  <a:cubicBezTo>
                    <a:pt x="335" y="0"/>
                    <a:pt x="335" y="0"/>
                    <a:pt x="335" y="0"/>
                  </a:cubicBezTo>
                  <a:cubicBezTo>
                    <a:pt x="335" y="285"/>
                    <a:pt x="335" y="285"/>
                    <a:pt x="335" y="285"/>
                  </a:cubicBezTo>
                  <a:cubicBezTo>
                    <a:pt x="0" y="285"/>
                    <a:pt x="0" y="285"/>
                    <a:pt x="0" y="285"/>
                  </a:cubicBezTo>
                  <a:cubicBezTo>
                    <a:pt x="0" y="0"/>
                    <a:pt x="0" y="0"/>
                    <a:pt x="0" y="0"/>
                  </a:cubicBezTo>
                  <a:close/>
                  <a:moveTo>
                    <a:pt x="0" y="64"/>
                  </a:moveTo>
                  <a:cubicBezTo>
                    <a:pt x="335" y="64"/>
                    <a:pt x="335" y="64"/>
                    <a:pt x="335" y="64"/>
                  </a:cubicBezTo>
                  <a:moveTo>
                    <a:pt x="293" y="36"/>
                  </a:moveTo>
                  <a:cubicBezTo>
                    <a:pt x="296" y="36"/>
                    <a:pt x="298" y="34"/>
                    <a:pt x="298" y="31"/>
                  </a:cubicBezTo>
                  <a:cubicBezTo>
                    <a:pt x="298" y="29"/>
                    <a:pt x="296" y="27"/>
                    <a:pt x="293" y="27"/>
                  </a:cubicBezTo>
                  <a:cubicBezTo>
                    <a:pt x="291" y="27"/>
                    <a:pt x="289" y="29"/>
                    <a:pt x="289" y="31"/>
                  </a:cubicBezTo>
                  <a:cubicBezTo>
                    <a:pt x="289" y="34"/>
                    <a:pt x="291" y="36"/>
                    <a:pt x="293" y="36"/>
                  </a:cubicBezTo>
                  <a:close/>
                  <a:moveTo>
                    <a:pt x="240" y="36"/>
                  </a:moveTo>
                  <a:cubicBezTo>
                    <a:pt x="243" y="36"/>
                    <a:pt x="245" y="34"/>
                    <a:pt x="245" y="31"/>
                  </a:cubicBezTo>
                  <a:cubicBezTo>
                    <a:pt x="245" y="29"/>
                    <a:pt x="243" y="27"/>
                    <a:pt x="240" y="27"/>
                  </a:cubicBezTo>
                  <a:cubicBezTo>
                    <a:pt x="238" y="27"/>
                    <a:pt x="235" y="29"/>
                    <a:pt x="235" y="31"/>
                  </a:cubicBezTo>
                  <a:cubicBezTo>
                    <a:pt x="235" y="34"/>
                    <a:pt x="238" y="36"/>
                    <a:pt x="240" y="36"/>
                  </a:cubicBezTo>
                  <a:close/>
                  <a:moveTo>
                    <a:pt x="187" y="36"/>
                  </a:moveTo>
                  <a:cubicBezTo>
                    <a:pt x="189" y="36"/>
                    <a:pt x="192" y="34"/>
                    <a:pt x="192" y="31"/>
                  </a:cubicBezTo>
                  <a:cubicBezTo>
                    <a:pt x="192" y="29"/>
                    <a:pt x="189" y="27"/>
                    <a:pt x="187" y="27"/>
                  </a:cubicBezTo>
                  <a:cubicBezTo>
                    <a:pt x="184" y="27"/>
                    <a:pt x="182" y="29"/>
                    <a:pt x="182" y="31"/>
                  </a:cubicBezTo>
                  <a:cubicBezTo>
                    <a:pt x="182" y="34"/>
                    <a:pt x="184" y="36"/>
                    <a:pt x="187" y="36"/>
                  </a:cubicBezTo>
                  <a:close/>
                  <a:moveTo>
                    <a:pt x="157" y="233"/>
                  </a:moveTo>
                  <a:cubicBezTo>
                    <a:pt x="157" y="190"/>
                    <a:pt x="157" y="190"/>
                    <a:pt x="157" y="190"/>
                  </a:cubicBezTo>
                  <a:cubicBezTo>
                    <a:pt x="185" y="190"/>
                    <a:pt x="185" y="190"/>
                    <a:pt x="185" y="190"/>
                  </a:cubicBezTo>
                  <a:cubicBezTo>
                    <a:pt x="185" y="233"/>
                    <a:pt x="185" y="233"/>
                    <a:pt x="185" y="233"/>
                  </a:cubicBezTo>
                  <a:cubicBezTo>
                    <a:pt x="232" y="233"/>
                    <a:pt x="232" y="233"/>
                    <a:pt x="232" y="233"/>
                  </a:cubicBezTo>
                  <a:cubicBezTo>
                    <a:pt x="232" y="165"/>
                    <a:pt x="232" y="165"/>
                    <a:pt x="232" y="165"/>
                  </a:cubicBezTo>
                  <a:cubicBezTo>
                    <a:pt x="171" y="105"/>
                    <a:pt x="171" y="105"/>
                    <a:pt x="171" y="105"/>
                  </a:cubicBezTo>
                  <a:cubicBezTo>
                    <a:pt x="111" y="165"/>
                    <a:pt x="111" y="165"/>
                    <a:pt x="111" y="165"/>
                  </a:cubicBezTo>
                  <a:cubicBezTo>
                    <a:pt x="111" y="233"/>
                    <a:pt x="111" y="233"/>
                    <a:pt x="111" y="233"/>
                  </a:cubicBezTo>
                  <a:lnTo>
                    <a:pt x="157" y="233"/>
                  </a:lnTo>
                  <a:close/>
                </a:path>
              </a:pathLst>
            </a:custGeom>
            <a:noFill/>
            <a:ln w="15875" cap="sq">
              <a:solidFill>
                <a:srgbClr val="0070C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defPPr>
                <a:defRPr lang="en-GB"/>
              </a:defPPr>
              <a:lvl1pPr algn="ctr" rtl="0" fontAlgn="base">
                <a:defRPr sz="1700" kern="1200">
                  <a:solidFill>
                    <a:schemeClr val="tx1"/>
                  </a:solidFill>
                  <a:latin typeface="+mn-lt"/>
                  <a:ea typeface="+mn-ea"/>
                  <a:cs typeface="+mn-cs"/>
                </a:defRPr>
              </a:lvl1pPr>
              <a:lvl2pPr marL="539725" algn="ctr" rtl="0" fontAlgn="base">
                <a:defRPr sz="1700" kern="1200">
                  <a:solidFill>
                    <a:schemeClr val="tx1"/>
                  </a:solidFill>
                  <a:latin typeface="+mn-lt"/>
                  <a:ea typeface="+mn-ea"/>
                  <a:cs typeface="+mn-cs"/>
                </a:defRPr>
              </a:lvl2pPr>
              <a:lvl3pPr marL="1079449" algn="ctr" rtl="0" fontAlgn="base">
                <a:defRPr sz="1700" kern="1200">
                  <a:solidFill>
                    <a:schemeClr val="tx1"/>
                  </a:solidFill>
                  <a:latin typeface="+mn-lt"/>
                  <a:ea typeface="+mn-ea"/>
                  <a:cs typeface="+mn-cs"/>
                </a:defRPr>
              </a:lvl3pPr>
              <a:lvl4pPr marL="1619174" algn="ctr" rtl="0" fontAlgn="base">
                <a:defRPr sz="1700" kern="1200">
                  <a:solidFill>
                    <a:schemeClr val="tx1"/>
                  </a:solidFill>
                  <a:latin typeface="+mn-lt"/>
                  <a:ea typeface="+mn-ea"/>
                  <a:cs typeface="+mn-cs"/>
                </a:defRPr>
              </a:lvl4pPr>
              <a:lvl5pPr marL="2158898" algn="ctr" rtl="0" fontAlgn="base">
                <a:defRPr sz="1700" kern="1200">
                  <a:solidFill>
                    <a:schemeClr val="tx1"/>
                  </a:solidFill>
                  <a:latin typeface="+mn-lt"/>
                  <a:ea typeface="+mn-ea"/>
                  <a:cs typeface="+mn-cs"/>
                </a:defRPr>
              </a:lvl5pPr>
              <a:lvl6pPr marL="2698623" algn="l" defTabSz="1079449" rtl="0" eaLnBrk="1" latinLnBrk="0" hangingPunct="1">
                <a:defRPr sz="1700" kern="1200">
                  <a:solidFill>
                    <a:schemeClr val="tx1"/>
                  </a:solidFill>
                  <a:latin typeface="+mn-lt"/>
                  <a:ea typeface="+mn-ea"/>
                  <a:cs typeface="+mn-cs"/>
                </a:defRPr>
              </a:lvl6pPr>
              <a:lvl7pPr marL="3238348" algn="l" defTabSz="1079449" rtl="0" eaLnBrk="1" latinLnBrk="0" hangingPunct="1">
                <a:defRPr sz="1700" kern="1200">
                  <a:solidFill>
                    <a:schemeClr val="tx1"/>
                  </a:solidFill>
                  <a:latin typeface="+mn-lt"/>
                  <a:ea typeface="+mn-ea"/>
                  <a:cs typeface="+mn-cs"/>
                </a:defRPr>
              </a:lvl7pPr>
              <a:lvl8pPr marL="3778072" algn="l" defTabSz="1079449" rtl="0" eaLnBrk="1" latinLnBrk="0" hangingPunct="1">
                <a:defRPr sz="1700" kern="1200">
                  <a:solidFill>
                    <a:schemeClr val="tx1"/>
                  </a:solidFill>
                  <a:latin typeface="+mn-lt"/>
                  <a:ea typeface="+mn-ea"/>
                  <a:cs typeface="+mn-cs"/>
                </a:defRPr>
              </a:lvl8pPr>
              <a:lvl9pPr marL="4317797" algn="l" defTabSz="1079449" rtl="0" eaLnBrk="1" latinLnBrk="0" hangingPunct="1">
                <a:defRPr sz="1700" kern="1200">
                  <a:solidFill>
                    <a:schemeClr val="tx1"/>
                  </a:solidFill>
                  <a:latin typeface="+mn-lt"/>
                  <a:ea typeface="+mn-ea"/>
                  <a:cs typeface="+mn-cs"/>
                </a:defRPr>
              </a:lvl9pPr>
            </a:lstStyle>
            <a:p>
              <a:pPr marL="0" marR="0" lvl="0" indent="0" algn="ctr" defTabSz="914367"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3C3C41"/>
                </a:solidFill>
                <a:effectLst/>
                <a:uLnTx/>
                <a:uFillTx/>
                <a:latin typeface="Segoe UI"/>
                <a:ea typeface="+mn-ea"/>
                <a:cs typeface="+mn-cs"/>
              </a:endParaRPr>
            </a:p>
          </p:txBody>
        </p:sp>
        <p:sp>
          <p:nvSpPr>
            <p:cNvPr id="5" name="Rectangle 4" descr="cloud-shaped graphic at the top right corner of these three graphics: &quot;developer portal&quot; &quot;API Management Plane&quot; and &quot;Gateway&quot;.">
              <a:extLst>
                <a:ext uri="{FF2B5EF4-FFF2-40B4-BE49-F238E27FC236}">
                  <a16:creationId xmlns:a16="http://schemas.microsoft.com/office/drawing/2014/main" id="{E3427294-C88F-4BAC-9FF9-99E515B32F4E}"/>
                </a:ext>
              </a:extLst>
            </p:cNvPr>
            <p:cNvSpPr/>
            <p:nvPr/>
          </p:nvSpPr>
          <p:spPr bwMode="auto">
            <a:xfrm>
              <a:off x="7253229" y="1034360"/>
              <a:ext cx="388651" cy="38865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31" name="Group 30">
              <a:extLst>
                <a:ext uri="{FF2B5EF4-FFF2-40B4-BE49-F238E27FC236}">
                  <a16:creationId xmlns:a16="http://schemas.microsoft.com/office/drawing/2014/main" id="{F0AF651B-F8F4-7947-AFE2-7298C316E00A}"/>
                </a:ext>
              </a:extLst>
            </p:cNvPr>
            <p:cNvGrpSpPr/>
            <p:nvPr/>
          </p:nvGrpSpPr>
          <p:grpSpPr>
            <a:xfrm>
              <a:off x="803253" y="1972655"/>
              <a:ext cx="2577230" cy="1025199"/>
              <a:chOff x="803253" y="2079663"/>
              <a:chExt cx="2577230" cy="1025199"/>
            </a:xfrm>
          </p:grpSpPr>
          <p:grpSp>
            <p:nvGrpSpPr>
              <p:cNvPr id="56" name="Group 55" descr="Icon of multiple people titled &quot;App Developers&quot; with this text placed vertically to the left: Discover, learn, try, access, get help&quot;">
                <a:extLst>
                  <a:ext uri="{FF2B5EF4-FFF2-40B4-BE49-F238E27FC236}">
                    <a16:creationId xmlns:a16="http://schemas.microsoft.com/office/drawing/2014/main" id="{346A1CE0-87FF-0D4C-80D0-33FE1461892D}"/>
                  </a:ext>
                </a:extLst>
              </p:cNvPr>
              <p:cNvGrpSpPr/>
              <p:nvPr/>
            </p:nvGrpSpPr>
            <p:grpSpPr>
              <a:xfrm>
                <a:off x="803253" y="2079663"/>
                <a:ext cx="1734463" cy="1025199"/>
                <a:chOff x="1363991" y="2076357"/>
                <a:chExt cx="1734463" cy="1025199"/>
              </a:xfrm>
            </p:grpSpPr>
            <p:grpSp>
              <p:nvGrpSpPr>
                <p:cNvPr id="51" name="Group 50">
                  <a:extLst>
                    <a:ext uri="{FF2B5EF4-FFF2-40B4-BE49-F238E27FC236}">
                      <a16:creationId xmlns:a16="http://schemas.microsoft.com/office/drawing/2014/main" id="{7D855109-DB2A-4C4F-A107-CC8C3D08AE7C}"/>
                    </a:ext>
                  </a:extLst>
                </p:cNvPr>
                <p:cNvGrpSpPr/>
                <p:nvPr/>
              </p:nvGrpSpPr>
              <p:grpSpPr>
                <a:xfrm>
                  <a:off x="2436413" y="2228761"/>
                  <a:ext cx="662041" cy="872795"/>
                  <a:chOff x="8749007" y="3501597"/>
                  <a:chExt cx="662041" cy="872795"/>
                </a:xfrm>
              </p:grpSpPr>
              <p:sp>
                <p:nvSpPr>
                  <p:cNvPr id="52" name="people_12" title="Icon of three people">
                    <a:extLst>
                      <a:ext uri="{FF2B5EF4-FFF2-40B4-BE49-F238E27FC236}">
                        <a16:creationId xmlns:a16="http://schemas.microsoft.com/office/drawing/2014/main" id="{8B382E56-E061-D148-A0CA-1A584572E41C}"/>
                      </a:ext>
                    </a:extLst>
                  </p:cNvPr>
                  <p:cNvSpPr>
                    <a:spLocks noChangeAspect="1" noEditPoints="1"/>
                  </p:cNvSpPr>
                  <p:nvPr/>
                </p:nvSpPr>
                <p:spPr bwMode="auto">
                  <a:xfrm>
                    <a:off x="8849669" y="3501597"/>
                    <a:ext cx="428704" cy="36576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53" name="TextBox 52">
                    <a:extLst>
                      <a:ext uri="{FF2B5EF4-FFF2-40B4-BE49-F238E27FC236}">
                        <a16:creationId xmlns:a16="http://schemas.microsoft.com/office/drawing/2014/main" id="{57BB9354-3D6A-4346-9ACA-4F64DAAD2D61}"/>
                      </a:ext>
                    </a:extLst>
                  </p:cNvPr>
                  <p:cNvSpPr txBox="1"/>
                  <p:nvPr/>
                </p:nvSpPr>
                <p:spPr>
                  <a:xfrm>
                    <a:off x="8749007" y="4035838"/>
                    <a:ext cx="662041" cy="338554"/>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App</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developers</a:t>
                    </a:r>
                  </a:p>
                </p:txBody>
              </p:sp>
            </p:grpSp>
            <p:cxnSp>
              <p:nvCxnSpPr>
                <p:cNvPr id="54" name="Straight Connector 53">
                  <a:extLst>
                    <a:ext uri="{FF2B5EF4-FFF2-40B4-BE49-F238E27FC236}">
                      <a16:creationId xmlns:a16="http://schemas.microsoft.com/office/drawing/2014/main" id="{1D0584DC-BE1B-B144-B724-77F0BEF18F94}"/>
                    </a:ext>
                  </a:extLst>
                </p:cNvPr>
                <p:cNvCxnSpPr/>
                <p:nvPr/>
              </p:nvCxnSpPr>
              <p:spPr>
                <a:xfrm>
                  <a:off x="2121395" y="2076357"/>
                  <a:ext cx="0" cy="1005840"/>
                </a:xfrm>
                <a:prstGeom prst="line">
                  <a:avLst/>
                </a:prstGeom>
                <a:ln>
                  <a:solidFill>
                    <a:schemeClr val="tx1">
                      <a:lumMod val="25000"/>
                      <a:lumOff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340C43A7-4F0F-C946-B0A0-E4507073B09E}"/>
                    </a:ext>
                  </a:extLst>
                </p:cNvPr>
                <p:cNvSpPr txBox="1"/>
                <p:nvPr/>
              </p:nvSpPr>
              <p:spPr>
                <a:xfrm>
                  <a:off x="1363991" y="2087622"/>
                  <a:ext cx="582019" cy="923330"/>
                </a:xfrm>
                <a:prstGeom prst="rect">
                  <a:avLst/>
                </a:prstGeom>
                <a:noFill/>
                <a:ln>
                  <a:noFill/>
                </a:ln>
              </p:spPr>
              <p:txBody>
                <a:bodyPr wrap="none" lIns="0" tIns="0" rIns="0" bIns="0" rtlCol="0" anchor="ctr">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Discover</a:t>
                  </a:r>
                </a:p>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Learn</a:t>
                  </a:r>
                </a:p>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Try</a:t>
                  </a:r>
                </a:p>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Onboard</a:t>
                  </a:r>
                </a:p>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Get help</a:t>
                  </a:r>
                </a:p>
              </p:txBody>
            </p:sp>
          </p:grpSp>
          <p:cxnSp>
            <p:nvCxnSpPr>
              <p:cNvPr id="95" name="Straight Connector 94" descr="line graphic connecting &quot;app developers&quot; graphic to &quot;developer portal&quot; graphic">
                <a:extLst>
                  <a:ext uri="{FF2B5EF4-FFF2-40B4-BE49-F238E27FC236}">
                    <a16:creationId xmlns:a16="http://schemas.microsoft.com/office/drawing/2014/main" id="{04C6C85D-73AC-4E1C-8211-643C63666105}"/>
                  </a:ext>
                </a:extLst>
              </p:cNvPr>
              <p:cNvCxnSpPr>
                <a:cxnSpLocks/>
              </p:cNvCxnSpPr>
              <p:nvPr/>
            </p:nvCxnSpPr>
            <p:spPr>
              <a:xfrm>
                <a:off x="2677812" y="2587958"/>
                <a:ext cx="702671" cy="0"/>
              </a:xfrm>
              <a:prstGeom prst="line">
                <a:avLst/>
              </a:prstGeom>
              <a:ln w="12700">
                <a:solidFill>
                  <a:srgbClr val="0070C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3AEC2A3B-7237-E847-B462-B09F2179E7ED}"/>
                </a:ext>
              </a:extLst>
            </p:cNvPr>
            <p:cNvGrpSpPr/>
            <p:nvPr/>
          </p:nvGrpSpPr>
          <p:grpSpPr>
            <a:xfrm>
              <a:off x="6931462" y="1940462"/>
              <a:ext cx="3637324" cy="1249970"/>
              <a:chOff x="6931462" y="2047470"/>
              <a:chExt cx="3637324" cy="1249970"/>
            </a:xfrm>
          </p:grpSpPr>
          <p:grpSp>
            <p:nvGrpSpPr>
              <p:cNvPr id="50" name="Group 49" descr="Icon of multiple people with the words &quot;API providers&quot; and the following text listed vertically: abstract, version, secure and protect, monitor and measure, publish and monetize">
                <a:extLst>
                  <a:ext uri="{FF2B5EF4-FFF2-40B4-BE49-F238E27FC236}">
                    <a16:creationId xmlns:a16="http://schemas.microsoft.com/office/drawing/2014/main" id="{A033DCCA-1629-2844-B1D3-DA41861D32E8}"/>
                  </a:ext>
                </a:extLst>
              </p:cNvPr>
              <p:cNvGrpSpPr/>
              <p:nvPr/>
            </p:nvGrpSpPr>
            <p:grpSpPr>
              <a:xfrm>
                <a:off x="8816393" y="2085179"/>
                <a:ext cx="1752393" cy="1041199"/>
                <a:chOff x="9447173" y="2176739"/>
                <a:chExt cx="1752393" cy="1041199"/>
              </a:xfrm>
            </p:grpSpPr>
            <p:sp>
              <p:nvSpPr>
                <p:cNvPr id="41" name="TextBox 40">
                  <a:extLst>
                    <a:ext uri="{FF2B5EF4-FFF2-40B4-BE49-F238E27FC236}">
                      <a16:creationId xmlns:a16="http://schemas.microsoft.com/office/drawing/2014/main" id="{FC5A0DAC-19F7-A448-B0E8-4264AE99909B}"/>
                    </a:ext>
                  </a:extLst>
                </p:cNvPr>
                <p:cNvSpPr txBox="1"/>
                <p:nvPr/>
              </p:nvSpPr>
              <p:spPr>
                <a:xfrm>
                  <a:off x="10598439" y="2212023"/>
                  <a:ext cx="601127" cy="923330"/>
                </a:xfrm>
                <a:prstGeom prst="rect">
                  <a:avLst/>
                </a:prstGeom>
                <a:noFill/>
                <a:ln>
                  <a:noFill/>
                </a:ln>
              </p:spPr>
              <p:txBody>
                <a:bodyPr wrap="non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Abstract</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Secure</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Evolve</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Observe</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Light" panose="020B0502040204020203" pitchFamily="34" charset="0"/>
                      <a:ea typeface="+mn-ea"/>
                      <a:cs typeface="Segoe UI Light" panose="020B0502040204020203" pitchFamily="34" charset="0"/>
                    </a:rPr>
                    <a:t>Monetize</a:t>
                  </a:r>
                </a:p>
              </p:txBody>
            </p:sp>
            <p:grpSp>
              <p:nvGrpSpPr>
                <p:cNvPr id="42" name="Group 41">
                  <a:extLst>
                    <a:ext uri="{FF2B5EF4-FFF2-40B4-BE49-F238E27FC236}">
                      <a16:creationId xmlns:a16="http://schemas.microsoft.com/office/drawing/2014/main" id="{9420D24E-FE3A-4D4B-AEE7-96C6029D53B8}"/>
                    </a:ext>
                  </a:extLst>
                </p:cNvPr>
                <p:cNvGrpSpPr/>
                <p:nvPr/>
              </p:nvGrpSpPr>
              <p:grpSpPr>
                <a:xfrm>
                  <a:off x="9447173" y="2345143"/>
                  <a:ext cx="565861" cy="872795"/>
                  <a:chOff x="8797090" y="3599571"/>
                  <a:chExt cx="565861" cy="872795"/>
                </a:xfrm>
              </p:grpSpPr>
              <p:sp>
                <p:nvSpPr>
                  <p:cNvPr id="43" name="people_12" title="Icon of three people">
                    <a:extLst>
                      <a:ext uri="{FF2B5EF4-FFF2-40B4-BE49-F238E27FC236}">
                        <a16:creationId xmlns:a16="http://schemas.microsoft.com/office/drawing/2014/main" id="{B6A3E22A-89D6-F848-8178-A1560AECC72B}"/>
                      </a:ext>
                    </a:extLst>
                  </p:cNvPr>
                  <p:cNvSpPr>
                    <a:spLocks noChangeAspect="1" noEditPoints="1"/>
                  </p:cNvSpPr>
                  <p:nvPr/>
                </p:nvSpPr>
                <p:spPr bwMode="auto">
                  <a:xfrm>
                    <a:off x="8849669" y="3599571"/>
                    <a:ext cx="428704" cy="365760"/>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496F3F4C-1EF5-7B4C-8EA4-2D8B2DB4A354}"/>
                      </a:ext>
                    </a:extLst>
                  </p:cNvPr>
                  <p:cNvSpPr txBox="1"/>
                  <p:nvPr/>
                </p:nvSpPr>
                <p:spPr>
                  <a:xfrm>
                    <a:off x="8797090" y="4133812"/>
                    <a:ext cx="565861" cy="338554"/>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API</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providers</a:t>
                    </a:r>
                  </a:p>
                </p:txBody>
              </p:sp>
            </p:grpSp>
            <p:cxnSp>
              <p:nvCxnSpPr>
                <p:cNvPr id="45" name="Straight Connector 44">
                  <a:extLst>
                    <a:ext uri="{FF2B5EF4-FFF2-40B4-BE49-F238E27FC236}">
                      <a16:creationId xmlns:a16="http://schemas.microsoft.com/office/drawing/2014/main" id="{D03EEE01-AA6E-5E48-851A-BD0421A392A4}"/>
                    </a:ext>
                  </a:extLst>
                </p:cNvPr>
                <p:cNvCxnSpPr/>
                <p:nvPr/>
              </p:nvCxnSpPr>
              <p:spPr>
                <a:xfrm>
                  <a:off x="10374819" y="2176739"/>
                  <a:ext cx="0" cy="1005840"/>
                </a:xfrm>
                <a:prstGeom prst="line">
                  <a:avLst/>
                </a:prstGeom>
                <a:ln>
                  <a:solidFill>
                    <a:schemeClr val="tx1">
                      <a:lumMod val="25000"/>
                      <a:lumOff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cxnSp>
            <p:nvCxnSpPr>
              <p:cNvPr id="47" name="Straight Connector 46">
                <a:extLst>
                  <a:ext uri="{FF2B5EF4-FFF2-40B4-BE49-F238E27FC236}">
                    <a16:creationId xmlns:a16="http://schemas.microsoft.com/office/drawing/2014/main" id="{AC378683-A89E-ED47-BC06-01A9C535B214}"/>
                  </a:ext>
                  <a:ext uri="{C183D7F6-B498-43B3-948B-1728B52AA6E4}">
                    <adec:decorative xmlns:adec="http://schemas.microsoft.com/office/drawing/2017/decorative" val="1"/>
                  </a:ext>
                </a:extLst>
              </p:cNvPr>
              <p:cNvCxnSpPr>
                <a:cxnSpLocks/>
              </p:cNvCxnSpPr>
              <p:nvPr/>
            </p:nvCxnSpPr>
            <p:spPr>
              <a:xfrm>
                <a:off x="6931462" y="2047470"/>
                <a:ext cx="1097280" cy="0"/>
              </a:xfrm>
              <a:prstGeom prst="line">
                <a:avLst/>
              </a:prstGeom>
              <a:ln w="12700">
                <a:solidFill>
                  <a:srgbClr val="0070C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B6374ED-2B53-EF44-84BE-3FD78106E0F9}"/>
                  </a:ext>
                  <a:ext uri="{C183D7F6-B498-43B3-948B-1728B52AA6E4}">
                    <adec:decorative xmlns:adec="http://schemas.microsoft.com/office/drawing/2017/decorative" val="1"/>
                  </a:ext>
                </a:extLst>
              </p:cNvPr>
              <p:cNvCxnSpPr>
                <a:cxnSpLocks/>
              </p:cNvCxnSpPr>
              <p:nvPr/>
            </p:nvCxnSpPr>
            <p:spPr>
              <a:xfrm>
                <a:off x="7125278" y="2466186"/>
                <a:ext cx="868680" cy="0"/>
              </a:xfrm>
              <a:prstGeom prst="line">
                <a:avLst/>
              </a:prstGeom>
              <a:ln w="12700">
                <a:solidFill>
                  <a:srgbClr val="0070C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A83F4FD-42EC-DB47-B2F6-E550F1A6D6CA}"/>
                  </a:ext>
                  <a:ext uri="{C183D7F6-B498-43B3-948B-1728B52AA6E4}">
                    <adec:decorative xmlns:adec="http://schemas.microsoft.com/office/drawing/2017/decorative" val="1"/>
                  </a:ext>
                </a:extLst>
              </p:cNvPr>
              <p:cNvCxnSpPr>
                <a:cxnSpLocks/>
              </p:cNvCxnSpPr>
              <p:nvPr/>
            </p:nvCxnSpPr>
            <p:spPr>
              <a:xfrm>
                <a:off x="6949402" y="3202168"/>
                <a:ext cx="1039311" cy="0"/>
              </a:xfrm>
              <a:prstGeom prst="line">
                <a:avLst/>
              </a:prstGeom>
              <a:ln w="12700">
                <a:solidFill>
                  <a:srgbClr val="0070C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55D9EE7-09FD-0049-93EE-7BE9597BB224}"/>
                  </a:ext>
                  <a:ext uri="{C183D7F6-B498-43B3-948B-1728B52AA6E4}">
                    <adec:decorative xmlns:adec="http://schemas.microsoft.com/office/drawing/2017/decorative" val="1"/>
                  </a:ext>
                </a:extLst>
              </p:cNvPr>
              <p:cNvCxnSpPr>
                <a:cxnSpLocks/>
              </p:cNvCxnSpPr>
              <p:nvPr/>
            </p:nvCxnSpPr>
            <p:spPr>
              <a:xfrm>
                <a:off x="7112292" y="2858630"/>
                <a:ext cx="876421" cy="0"/>
              </a:xfrm>
              <a:prstGeom prst="line">
                <a:avLst/>
              </a:prstGeom>
              <a:ln w="12700">
                <a:solidFill>
                  <a:srgbClr val="0070C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7" name="Freeform 21">
                <a:extLst>
                  <a:ext uri="{FF2B5EF4-FFF2-40B4-BE49-F238E27FC236}">
                    <a16:creationId xmlns:a16="http://schemas.microsoft.com/office/drawing/2014/main" id="{6872B727-2F07-D949-89D8-F5A8F5B2EDCD}"/>
                  </a:ext>
                </a:extLst>
              </p:cNvPr>
              <p:cNvSpPr>
                <a:spLocks noChangeAspect="1" noEditPoints="1"/>
              </p:cNvSpPr>
              <p:nvPr/>
            </p:nvSpPr>
            <p:spPr bwMode="auto">
              <a:xfrm>
                <a:off x="8155341" y="3139934"/>
                <a:ext cx="158038" cy="157506"/>
              </a:xfrm>
              <a:custGeom>
                <a:avLst/>
                <a:gdLst>
                  <a:gd name="T0" fmla="*/ 71 w 1130"/>
                  <a:gd name="T1" fmla="*/ 628 h 1110"/>
                  <a:gd name="T2" fmla="*/ 132 w 1130"/>
                  <a:gd name="T3" fmla="*/ 659 h 1110"/>
                  <a:gd name="T4" fmla="*/ 293 w 1130"/>
                  <a:gd name="T5" fmla="*/ 536 h 1110"/>
                  <a:gd name="T6" fmla="*/ 542 w 1130"/>
                  <a:gd name="T7" fmla="*/ 785 h 1110"/>
                  <a:gd name="T8" fmla="*/ 699 w 1130"/>
                  <a:gd name="T9" fmla="*/ 721 h 1110"/>
                  <a:gd name="T10" fmla="*/ 699 w 1130"/>
                  <a:gd name="T11" fmla="*/ 219 h 1110"/>
                  <a:gd name="T12" fmla="*/ 542 w 1130"/>
                  <a:gd name="T13" fmla="*/ 156 h 1110"/>
                  <a:gd name="T14" fmla="*/ 293 w 1130"/>
                  <a:gd name="T15" fmla="*/ 405 h 1110"/>
                  <a:gd name="T16" fmla="*/ 132 w 1130"/>
                  <a:gd name="T17" fmla="*/ 281 h 1110"/>
                  <a:gd name="T18" fmla="*/ 71 w 1130"/>
                  <a:gd name="T19" fmla="*/ 313 h 1110"/>
                  <a:gd name="T20" fmla="*/ 132 w 1130"/>
                  <a:gd name="T21" fmla="*/ 377 h 1110"/>
                  <a:gd name="T22" fmla="*/ 228 w 1130"/>
                  <a:gd name="T23" fmla="*/ 470 h 1110"/>
                  <a:gd name="T24" fmla="*/ 132 w 1130"/>
                  <a:gd name="T25" fmla="*/ 564 h 1110"/>
                  <a:gd name="T26" fmla="*/ 71 w 1130"/>
                  <a:gd name="T27" fmla="*/ 628 h 1110"/>
                  <a:gd name="T28" fmla="*/ 376 w 1130"/>
                  <a:gd name="T29" fmla="*/ 470 h 1110"/>
                  <a:gd name="T30" fmla="*/ 542 w 1130"/>
                  <a:gd name="T31" fmla="*/ 341 h 1110"/>
                  <a:gd name="T32" fmla="*/ 542 w 1130"/>
                  <a:gd name="T33" fmla="*/ 599 h 1110"/>
                  <a:gd name="T34" fmla="*/ 376 w 1130"/>
                  <a:gd name="T35" fmla="*/ 470 h 1110"/>
                  <a:gd name="T36" fmla="*/ 841 w 1130"/>
                  <a:gd name="T37" fmla="*/ 0 h 1110"/>
                  <a:gd name="T38" fmla="*/ 1130 w 1130"/>
                  <a:gd name="T39" fmla="*/ 113 h 1110"/>
                  <a:gd name="T40" fmla="*/ 1130 w 1130"/>
                  <a:gd name="T41" fmla="*/ 983 h 1110"/>
                  <a:gd name="T42" fmla="*/ 841 w 1130"/>
                  <a:gd name="T43" fmla="*/ 1110 h 1110"/>
                  <a:gd name="T44" fmla="*/ 0 w 1130"/>
                  <a:gd name="T45" fmla="*/ 856 h 1110"/>
                  <a:gd name="T46" fmla="*/ 0 w 1130"/>
                  <a:gd name="T47" fmla="*/ 827 h 1110"/>
                  <a:gd name="T48" fmla="*/ 835 w 1130"/>
                  <a:gd name="T49" fmla="*/ 894 h 1110"/>
                  <a:gd name="T50" fmla="*/ 844 w 1130"/>
                  <a:gd name="T51" fmla="*/ 894 h 1110"/>
                  <a:gd name="T52" fmla="*/ 841 w 1130"/>
                  <a:gd name="T53" fmla="*/ 0 h 1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30" h="1110">
                    <a:moveTo>
                      <a:pt x="71" y="628"/>
                    </a:moveTo>
                    <a:lnTo>
                      <a:pt x="132" y="659"/>
                    </a:lnTo>
                    <a:lnTo>
                      <a:pt x="293" y="536"/>
                    </a:lnTo>
                    <a:lnTo>
                      <a:pt x="542" y="785"/>
                    </a:lnTo>
                    <a:lnTo>
                      <a:pt x="699" y="721"/>
                    </a:lnTo>
                    <a:lnTo>
                      <a:pt x="699" y="219"/>
                    </a:lnTo>
                    <a:lnTo>
                      <a:pt x="542" y="156"/>
                    </a:lnTo>
                    <a:lnTo>
                      <a:pt x="293" y="405"/>
                    </a:lnTo>
                    <a:lnTo>
                      <a:pt x="132" y="281"/>
                    </a:lnTo>
                    <a:lnTo>
                      <a:pt x="71" y="313"/>
                    </a:lnTo>
                    <a:lnTo>
                      <a:pt x="132" y="377"/>
                    </a:lnTo>
                    <a:lnTo>
                      <a:pt x="228" y="470"/>
                    </a:lnTo>
                    <a:lnTo>
                      <a:pt x="132" y="564"/>
                    </a:lnTo>
                    <a:lnTo>
                      <a:pt x="71" y="628"/>
                    </a:lnTo>
                    <a:close/>
                    <a:moveTo>
                      <a:pt x="376" y="470"/>
                    </a:moveTo>
                    <a:lnTo>
                      <a:pt x="542" y="341"/>
                    </a:lnTo>
                    <a:lnTo>
                      <a:pt x="542" y="599"/>
                    </a:lnTo>
                    <a:lnTo>
                      <a:pt x="376" y="470"/>
                    </a:lnTo>
                    <a:close/>
                    <a:moveTo>
                      <a:pt x="841" y="0"/>
                    </a:moveTo>
                    <a:lnTo>
                      <a:pt x="1130" y="113"/>
                    </a:lnTo>
                    <a:lnTo>
                      <a:pt x="1130" y="983"/>
                    </a:lnTo>
                    <a:lnTo>
                      <a:pt x="841" y="1110"/>
                    </a:lnTo>
                    <a:lnTo>
                      <a:pt x="0" y="856"/>
                    </a:lnTo>
                    <a:lnTo>
                      <a:pt x="0" y="827"/>
                    </a:lnTo>
                    <a:lnTo>
                      <a:pt x="835" y="894"/>
                    </a:lnTo>
                    <a:lnTo>
                      <a:pt x="844" y="894"/>
                    </a:lnTo>
                    <a:lnTo>
                      <a:pt x="841" y="0"/>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sp>
          <p:nvSpPr>
            <p:cNvPr id="7" name="TextBox 6">
              <a:extLst>
                <a:ext uri="{FF2B5EF4-FFF2-40B4-BE49-F238E27FC236}">
                  <a16:creationId xmlns:a16="http://schemas.microsoft.com/office/drawing/2014/main" id="{9CCEC20B-5B8E-D442-AFF2-2C533E62E3B7}"/>
                </a:ext>
              </a:extLst>
            </p:cNvPr>
            <p:cNvSpPr txBox="1"/>
            <p:nvPr/>
          </p:nvSpPr>
          <p:spPr>
            <a:xfrm flipH="1">
              <a:off x="5431903" y="3677720"/>
              <a:ext cx="1645920" cy="438912"/>
            </a:xfrm>
            <a:prstGeom prst="rect">
              <a:avLst/>
            </a:prstGeom>
            <a:noFill/>
            <a:ln>
              <a:noFill/>
            </a:ln>
          </p:spPr>
          <p:txBody>
            <a:bodyPr wrap="squar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0070C0"/>
                  </a:solidFill>
                  <a:effectLst/>
                  <a:uLnTx/>
                  <a:uFillTx/>
                  <a:latin typeface="Segoe UI Semibold"/>
                  <a:ea typeface="+mn-ea"/>
                  <a:cs typeface="+mn-cs"/>
                </a:rPr>
                <a:t>Gateway</a:t>
              </a:r>
            </a:p>
          </p:txBody>
        </p:sp>
        <p:sp>
          <p:nvSpPr>
            <p:cNvPr id="8" name="TextBox 7">
              <a:extLst>
                <a:ext uri="{FF2B5EF4-FFF2-40B4-BE49-F238E27FC236}">
                  <a16:creationId xmlns:a16="http://schemas.microsoft.com/office/drawing/2014/main" id="{26C13FE2-8599-A648-8F06-BBA219DF0A50}"/>
                </a:ext>
              </a:extLst>
            </p:cNvPr>
            <p:cNvSpPr txBox="1"/>
            <p:nvPr/>
          </p:nvSpPr>
          <p:spPr>
            <a:xfrm flipH="1">
              <a:off x="3468619" y="1714491"/>
              <a:ext cx="1645920" cy="440890"/>
            </a:xfrm>
            <a:prstGeom prst="rect">
              <a:avLst/>
            </a:prstGeom>
            <a:noFill/>
            <a:ln>
              <a:noFill/>
            </a:ln>
          </p:spPr>
          <p:txBody>
            <a:bodyPr wrap="square" lIns="182880" tIns="146304" rIns="182880" bIns="146304"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50" b="0" i="0" u="none" strike="noStrike" kern="1200" cap="none" spc="0" normalizeH="0" baseline="0" noProof="0">
                  <a:ln>
                    <a:noFill/>
                  </a:ln>
                  <a:solidFill>
                    <a:srgbClr val="0070C0"/>
                  </a:solidFill>
                  <a:effectLst/>
                  <a:uLnTx/>
                  <a:uFillTx/>
                  <a:latin typeface="Segoe UI Semibold"/>
                  <a:ea typeface="+mn-ea"/>
                  <a:cs typeface="+mn-cs"/>
                </a:rPr>
                <a:t>Developer portal</a:t>
              </a:r>
            </a:p>
          </p:txBody>
        </p:sp>
        <p:grpSp>
          <p:nvGrpSpPr>
            <p:cNvPr id="34" name="Group 33">
              <a:extLst>
                <a:ext uri="{FF2B5EF4-FFF2-40B4-BE49-F238E27FC236}">
                  <a16:creationId xmlns:a16="http://schemas.microsoft.com/office/drawing/2014/main" id="{AF4D1B56-51BE-6244-A504-4DD19325E268}"/>
                </a:ext>
              </a:extLst>
            </p:cNvPr>
            <p:cNvGrpSpPr/>
            <p:nvPr/>
          </p:nvGrpSpPr>
          <p:grpSpPr>
            <a:xfrm>
              <a:off x="7176892" y="3657924"/>
              <a:ext cx="1556260" cy="2012911"/>
              <a:chOff x="7481686" y="3764932"/>
              <a:chExt cx="1556260" cy="2012911"/>
            </a:xfrm>
          </p:grpSpPr>
          <p:sp>
            <p:nvSpPr>
              <p:cNvPr id="74" name="Freeform 13" title="Icon of a cloud">
                <a:extLst>
                  <a:ext uri="{FF2B5EF4-FFF2-40B4-BE49-F238E27FC236}">
                    <a16:creationId xmlns:a16="http://schemas.microsoft.com/office/drawing/2014/main" id="{BCE96C40-996C-7F44-A686-022EE42E91D1}"/>
                  </a:ext>
                </a:extLst>
              </p:cNvPr>
              <p:cNvSpPr>
                <a:spLocks noChangeAspect="1"/>
              </p:cNvSpPr>
              <p:nvPr/>
            </p:nvSpPr>
            <p:spPr bwMode="auto">
              <a:xfrm>
                <a:off x="8274563" y="5099351"/>
                <a:ext cx="545436" cy="299205"/>
              </a:xfrm>
              <a:custGeom>
                <a:avLst/>
                <a:gdLst>
                  <a:gd name="T0" fmla="*/ 384 w 771"/>
                  <a:gd name="T1" fmla="*/ 0 h 422"/>
                  <a:gd name="T2" fmla="*/ 549 w 771"/>
                  <a:gd name="T3" fmla="*/ 110 h 422"/>
                  <a:gd name="T4" fmla="*/ 551 w 771"/>
                  <a:gd name="T5" fmla="*/ 115 h 422"/>
                  <a:gd name="T6" fmla="*/ 565 w 771"/>
                  <a:gd name="T7" fmla="*/ 110 h 422"/>
                  <a:gd name="T8" fmla="*/ 612 w 771"/>
                  <a:gd name="T9" fmla="*/ 103 h 422"/>
                  <a:gd name="T10" fmla="*/ 771 w 771"/>
                  <a:gd name="T11" fmla="*/ 262 h 422"/>
                  <a:gd name="T12" fmla="*/ 628 w 771"/>
                  <a:gd name="T13" fmla="*/ 420 h 422"/>
                  <a:gd name="T14" fmla="*/ 616 w 771"/>
                  <a:gd name="T15" fmla="*/ 421 h 422"/>
                  <a:gd name="T16" fmla="*/ 610 w 771"/>
                  <a:gd name="T17" fmla="*/ 421 h 422"/>
                  <a:gd name="T18" fmla="*/ 98 w 771"/>
                  <a:gd name="T19" fmla="*/ 421 h 422"/>
                  <a:gd name="T20" fmla="*/ 91 w 771"/>
                  <a:gd name="T21" fmla="*/ 422 h 422"/>
                  <a:gd name="T22" fmla="*/ 74 w 771"/>
                  <a:gd name="T23" fmla="*/ 419 h 422"/>
                  <a:gd name="T24" fmla="*/ 12 w 771"/>
                  <a:gd name="T25" fmla="*/ 312 h 422"/>
                  <a:gd name="T26" fmla="*/ 101 w 771"/>
                  <a:gd name="T27" fmla="*/ 247 h 422"/>
                  <a:gd name="T28" fmla="*/ 108 w 771"/>
                  <a:gd name="T29" fmla="*/ 249 h 422"/>
                  <a:gd name="T30" fmla="*/ 106 w 771"/>
                  <a:gd name="T31" fmla="*/ 238 h 422"/>
                  <a:gd name="T32" fmla="*/ 119 w 771"/>
                  <a:gd name="T33" fmla="*/ 179 h 422"/>
                  <a:gd name="T34" fmla="*/ 201 w 771"/>
                  <a:gd name="T35" fmla="*/ 128 h 422"/>
                  <a:gd name="T36" fmla="*/ 213 w 771"/>
                  <a:gd name="T37" fmla="*/ 128 h 422"/>
                  <a:gd name="T38" fmla="*/ 213 w 771"/>
                  <a:gd name="T39" fmla="*/ 127 h 422"/>
                  <a:gd name="T40" fmla="*/ 384 w 771"/>
                  <a:gd name="T41" fmla="*/ 0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71" h="422">
                    <a:moveTo>
                      <a:pt x="384" y="0"/>
                    </a:moveTo>
                    <a:cubicBezTo>
                      <a:pt x="458" y="0"/>
                      <a:pt x="522" y="46"/>
                      <a:pt x="549" y="110"/>
                    </a:cubicBezTo>
                    <a:cubicBezTo>
                      <a:pt x="551" y="115"/>
                      <a:pt x="551" y="115"/>
                      <a:pt x="551" y="115"/>
                    </a:cubicBezTo>
                    <a:cubicBezTo>
                      <a:pt x="565" y="110"/>
                      <a:pt x="565" y="110"/>
                      <a:pt x="565" y="110"/>
                    </a:cubicBezTo>
                    <a:cubicBezTo>
                      <a:pt x="580" y="105"/>
                      <a:pt x="596" y="103"/>
                      <a:pt x="612" y="103"/>
                    </a:cubicBezTo>
                    <a:cubicBezTo>
                      <a:pt x="700" y="103"/>
                      <a:pt x="771" y="174"/>
                      <a:pt x="771" y="262"/>
                    </a:cubicBezTo>
                    <a:cubicBezTo>
                      <a:pt x="771" y="344"/>
                      <a:pt x="708" y="412"/>
                      <a:pt x="628" y="420"/>
                    </a:cubicBezTo>
                    <a:cubicBezTo>
                      <a:pt x="616" y="421"/>
                      <a:pt x="616" y="421"/>
                      <a:pt x="616" y="421"/>
                    </a:cubicBezTo>
                    <a:cubicBezTo>
                      <a:pt x="610" y="421"/>
                      <a:pt x="610" y="421"/>
                      <a:pt x="610" y="421"/>
                    </a:cubicBezTo>
                    <a:cubicBezTo>
                      <a:pt x="98" y="421"/>
                      <a:pt x="98" y="421"/>
                      <a:pt x="98" y="421"/>
                    </a:cubicBezTo>
                    <a:cubicBezTo>
                      <a:pt x="91" y="422"/>
                      <a:pt x="91" y="422"/>
                      <a:pt x="91" y="422"/>
                    </a:cubicBezTo>
                    <a:cubicBezTo>
                      <a:pt x="85" y="421"/>
                      <a:pt x="79" y="420"/>
                      <a:pt x="74" y="419"/>
                    </a:cubicBezTo>
                    <a:cubicBezTo>
                      <a:pt x="27" y="406"/>
                      <a:pt x="0" y="359"/>
                      <a:pt x="12" y="312"/>
                    </a:cubicBezTo>
                    <a:cubicBezTo>
                      <a:pt x="23" y="271"/>
                      <a:pt x="61" y="245"/>
                      <a:pt x="101" y="247"/>
                    </a:cubicBezTo>
                    <a:cubicBezTo>
                      <a:pt x="108" y="249"/>
                      <a:pt x="108" y="249"/>
                      <a:pt x="108" y="249"/>
                    </a:cubicBezTo>
                    <a:cubicBezTo>
                      <a:pt x="106" y="238"/>
                      <a:pt x="106" y="238"/>
                      <a:pt x="106" y="238"/>
                    </a:cubicBezTo>
                    <a:cubicBezTo>
                      <a:pt x="105" y="218"/>
                      <a:pt x="109" y="198"/>
                      <a:pt x="119" y="179"/>
                    </a:cubicBezTo>
                    <a:cubicBezTo>
                      <a:pt x="137" y="148"/>
                      <a:pt x="168" y="130"/>
                      <a:pt x="201" y="128"/>
                    </a:cubicBezTo>
                    <a:cubicBezTo>
                      <a:pt x="213" y="128"/>
                      <a:pt x="213" y="128"/>
                      <a:pt x="213" y="128"/>
                    </a:cubicBezTo>
                    <a:cubicBezTo>
                      <a:pt x="213" y="127"/>
                      <a:pt x="213" y="127"/>
                      <a:pt x="213" y="127"/>
                    </a:cubicBezTo>
                    <a:cubicBezTo>
                      <a:pt x="236" y="53"/>
                      <a:pt x="304" y="0"/>
                      <a:pt x="384" y="0"/>
                    </a:cubicBezTo>
                    <a:close/>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sp>
            <p:nvSpPr>
              <p:cNvPr id="81" name="TextBox 80">
                <a:extLst>
                  <a:ext uri="{FF2B5EF4-FFF2-40B4-BE49-F238E27FC236}">
                    <a16:creationId xmlns:a16="http://schemas.microsoft.com/office/drawing/2014/main" id="{8323F92D-0DF6-8948-9206-B3115D7CA4A8}"/>
                  </a:ext>
                </a:extLst>
              </p:cNvPr>
              <p:cNvSpPr txBox="1"/>
              <p:nvPr/>
            </p:nvSpPr>
            <p:spPr>
              <a:xfrm>
                <a:off x="8141868" y="5608566"/>
                <a:ext cx="896078" cy="169277"/>
              </a:xfrm>
              <a:prstGeom prst="rect">
                <a:avLst/>
              </a:prstGeom>
              <a:noFill/>
            </p:spPr>
            <p:txBody>
              <a:bodyPr wrap="none" lIns="0" tIns="0" rIns="0" bIns="0" rtlCol="0">
                <a:spAutoFit/>
              </a:bodyPr>
              <a:lstStyle>
                <a:defPPr>
                  <a:defRPr lang="en-US"/>
                </a:defPPr>
                <a:lvl1pPr marR="0" lvl="0" indent="0" algn="ctr" fontAlgn="auto">
                  <a:lnSpc>
                    <a:spcPct val="100000"/>
                  </a:lnSpc>
                  <a:spcBef>
                    <a:spcPts val="0"/>
                  </a:spcBef>
                  <a:spcAft>
                    <a:spcPts val="0"/>
                  </a:spcAft>
                  <a:buClrTx/>
                  <a:buSzTx/>
                  <a:buFontTx/>
                  <a:buNone/>
                  <a:tabLst/>
                  <a:defRPr kumimoji="0" sz="1100" i="1" u="none" strike="noStrike" cap="none" spc="0" normalizeH="0" baseline="0">
                    <a:ln>
                      <a:noFill/>
                    </a:ln>
                    <a:solidFill>
                      <a:srgbClr val="000000"/>
                    </a:solidFill>
                    <a:effectLst/>
                    <a:uLnTx/>
                    <a:uFillTx/>
                    <a:latin typeface="Segoe UI Semilight" panose="020B0402040204020203" pitchFamily="34" charset="0"/>
                    <a:cs typeface="Segoe UI Semilight" panose="020B04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(micro)services</a:t>
                </a:r>
              </a:p>
            </p:txBody>
          </p:sp>
          <p:cxnSp>
            <p:nvCxnSpPr>
              <p:cNvPr id="88" name="Straight Connector 87" descr="straight line icon connecting &quot;gateway&quot; to &quot;Backend APIs&quot;">
                <a:extLst>
                  <a:ext uri="{FF2B5EF4-FFF2-40B4-BE49-F238E27FC236}">
                    <a16:creationId xmlns:a16="http://schemas.microsoft.com/office/drawing/2014/main" id="{3CE31776-1885-E048-A4F3-839E473049E2}"/>
                  </a:ext>
                </a:extLst>
              </p:cNvPr>
              <p:cNvCxnSpPr>
                <a:cxnSpLocks/>
              </p:cNvCxnSpPr>
              <p:nvPr/>
            </p:nvCxnSpPr>
            <p:spPr>
              <a:xfrm>
                <a:off x="7481686" y="4649379"/>
                <a:ext cx="731520" cy="0"/>
              </a:xfrm>
              <a:prstGeom prst="line">
                <a:avLst/>
              </a:prstGeom>
              <a:ln w="12700">
                <a:solidFill>
                  <a:srgbClr val="0070C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EMI_E731" title="Icon of a tall rectangular building">
                <a:extLst>
                  <a:ext uri="{FF2B5EF4-FFF2-40B4-BE49-F238E27FC236}">
                    <a16:creationId xmlns:a16="http://schemas.microsoft.com/office/drawing/2014/main" id="{C1066676-277F-0748-85B2-E4EC29C420C1}"/>
                  </a:ext>
                </a:extLst>
              </p:cNvPr>
              <p:cNvSpPr>
                <a:spLocks noChangeAspect="1" noEditPoints="1"/>
              </p:cNvSpPr>
              <p:nvPr/>
            </p:nvSpPr>
            <p:spPr bwMode="auto">
              <a:xfrm>
                <a:off x="8398447" y="3764932"/>
                <a:ext cx="281414" cy="457200"/>
              </a:xfrm>
              <a:custGeom>
                <a:avLst/>
                <a:gdLst>
                  <a:gd name="T0" fmla="*/ 0 w 2523"/>
                  <a:gd name="T1" fmla="*/ 0 h 4099"/>
                  <a:gd name="T2" fmla="*/ 2523 w 2523"/>
                  <a:gd name="T3" fmla="*/ 0 h 4099"/>
                  <a:gd name="T4" fmla="*/ 2523 w 2523"/>
                  <a:gd name="T5" fmla="*/ 4099 h 4099"/>
                  <a:gd name="T6" fmla="*/ 1578 w 2523"/>
                  <a:gd name="T7" fmla="*/ 4099 h 4099"/>
                  <a:gd name="T8" fmla="*/ 1578 w 2523"/>
                  <a:gd name="T9" fmla="*/ 2838 h 4099"/>
                  <a:gd name="T10" fmla="*/ 947 w 2523"/>
                  <a:gd name="T11" fmla="*/ 2838 h 4099"/>
                  <a:gd name="T12" fmla="*/ 947 w 2523"/>
                  <a:gd name="T13" fmla="*/ 4099 h 4099"/>
                  <a:gd name="T14" fmla="*/ 0 w 2523"/>
                  <a:gd name="T15" fmla="*/ 4099 h 4099"/>
                  <a:gd name="T16" fmla="*/ 0 w 2523"/>
                  <a:gd name="T17" fmla="*/ 0 h 4099"/>
                  <a:gd name="T18" fmla="*/ 631 w 2523"/>
                  <a:gd name="T19" fmla="*/ 473 h 4099"/>
                  <a:gd name="T20" fmla="*/ 631 w 2523"/>
                  <a:gd name="T21" fmla="*/ 1104 h 4099"/>
                  <a:gd name="T22" fmla="*/ 1262 w 2523"/>
                  <a:gd name="T23" fmla="*/ 473 h 4099"/>
                  <a:gd name="T24" fmla="*/ 1262 w 2523"/>
                  <a:gd name="T25" fmla="*/ 1104 h 4099"/>
                  <a:gd name="T26" fmla="*/ 1893 w 2523"/>
                  <a:gd name="T27" fmla="*/ 473 h 4099"/>
                  <a:gd name="T28" fmla="*/ 1893 w 2523"/>
                  <a:gd name="T29" fmla="*/ 1104 h 4099"/>
                  <a:gd name="T30" fmla="*/ 631 w 2523"/>
                  <a:gd name="T31" fmla="*/ 1419 h 4099"/>
                  <a:gd name="T32" fmla="*/ 631 w 2523"/>
                  <a:gd name="T33" fmla="*/ 2050 h 4099"/>
                  <a:gd name="T34" fmla="*/ 1262 w 2523"/>
                  <a:gd name="T35" fmla="*/ 1419 h 4099"/>
                  <a:gd name="T36" fmla="*/ 1262 w 2523"/>
                  <a:gd name="T37" fmla="*/ 2050 h 4099"/>
                  <a:gd name="T38" fmla="*/ 1893 w 2523"/>
                  <a:gd name="T39" fmla="*/ 1419 h 4099"/>
                  <a:gd name="T40" fmla="*/ 1893 w 2523"/>
                  <a:gd name="T41" fmla="*/ 2050 h 4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523" h="4099">
                    <a:moveTo>
                      <a:pt x="0" y="0"/>
                    </a:moveTo>
                    <a:lnTo>
                      <a:pt x="2523" y="0"/>
                    </a:lnTo>
                    <a:lnTo>
                      <a:pt x="2523" y="4099"/>
                    </a:lnTo>
                    <a:lnTo>
                      <a:pt x="1578" y="4099"/>
                    </a:lnTo>
                    <a:lnTo>
                      <a:pt x="1578" y="2838"/>
                    </a:lnTo>
                    <a:lnTo>
                      <a:pt x="947" y="2838"/>
                    </a:lnTo>
                    <a:lnTo>
                      <a:pt x="947" y="4099"/>
                    </a:lnTo>
                    <a:lnTo>
                      <a:pt x="0" y="4099"/>
                    </a:lnTo>
                    <a:lnTo>
                      <a:pt x="0" y="0"/>
                    </a:lnTo>
                    <a:moveTo>
                      <a:pt x="631" y="473"/>
                    </a:moveTo>
                    <a:lnTo>
                      <a:pt x="631" y="1104"/>
                    </a:lnTo>
                    <a:moveTo>
                      <a:pt x="1262" y="473"/>
                    </a:moveTo>
                    <a:lnTo>
                      <a:pt x="1262" y="1104"/>
                    </a:lnTo>
                    <a:moveTo>
                      <a:pt x="1893" y="473"/>
                    </a:moveTo>
                    <a:lnTo>
                      <a:pt x="1893" y="1104"/>
                    </a:lnTo>
                    <a:moveTo>
                      <a:pt x="631" y="1419"/>
                    </a:moveTo>
                    <a:lnTo>
                      <a:pt x="631" y="2050"/>
                    </a:lnTo>
                    <a:moveTo>
                      <a:pt x="1262" y="1419"/>
                    </a:moveTo>
                    <a:lnTo>
                      <a:pt x="1262" y="2050"/>
                    </a:lnTo>
                    <a:moveTo>
                      <a:pt x="1893" y="1419"/>
                    </a:moveTo>
                    <a:lnTo>
                      <a:pt x="1893" y="2050"/>
                    </a:lnTo>
                  </a:path>
                </a:pathLst>
              </a:custGeom>
              <a:noFill/>
              <a:ln w="12700"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grpSp>
          <p:nvGrpSpPr>
            <p:cNvPr id="86" name="Group 85">
              <a:extLst>
                <a:ext uri="{FF2B5EF4-FFF2-40B4-BE49-F238E27FC236}">
                  <a16:creationId xmlns:a16="http://schemas.microsoft.com/office/drawing/2014/main" id="{E245CBBF-9A32-2E44-B3A2-242D5B62DF3C}"/>
                </a:ext>
              </a:extLst>
            </p:cNvPr>
            <p:cNvGrpSpPr/>
            <p:nvPr/>
          </p:nvGrpSpPr>
          <p:grpSpPr>
            <a:xfrm>
              <a:off x="625318" y="4283652"/>
              <a:ext cx="649217" cy="1015312"/>
              <a:chOff x="596189" y="4312070"/>
              <a:chExt cx="649217" cy="1015312"/>
            </a:xfrm>
          </p:grpSpPr>
          <p:sp>
            <p:nvSpPr>
              <p:cNvPr id="2" name="people_4" title="Icon of a person">
                <a:extLst>
                  <a:ext uri="{FF2B5EF4-FFF2-40B4-BE49-F238E27FC236}">
                    <a16:creationId xmlns:a16="http://schemas.microsoft.com/office/drawing/2014/main" id="{CF9C3401-C16A-AC4F-9766-D0E34619D610}"/>
                  </a:ext>
                </a:extLst>
              </p:cNvPr>
              <p:cNvSpPr>
                <a:spLocks noChangeAspect="1" noEditPoints="1"/>
              </p:cNvSpPr>
              <p:nvPr/>
            </p:nvSpPr>
            <p:spPr bwMode="auto">
              <a:xfrm>
                <a:off x="769892" y="4312070"/>
                <a:ext cx="327161" cy="365760"/>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5875" cap="sq">
                <a:solidFill>
                  <a:schemeClr val="tx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46" name="TextBox 45">
                <a:extLst>
                  <a:ext uri="{FF2B5EF4-FFF2-40B4-BE49-F238E27FC236}">
                    <a16:creationId xmlns:a16="http://schemas.microsoft.com/office/drawing/2014/main" id="{2BBBE9A9-3A9F-A049-AACA-6FF45542330A}"/>
                  </a:ext>
                </a:extLst>
              </p:cNvPr>
              <p:cNvSpPr txBox="1"/>
              <p:nvPr/>
            </p:nvSpPr>
            <p:spPr>
              <a:xfrm>
                <a:off x="596189" y="4819551"/>
                <a:ext cx="649217" cy="507831"/>
              </a:xfrm>
              <a:prstGeom prst="rect">
                <a:avLst/>
              </a:prstGeom>
              <a:noFill/>
            </p:spPr>
            <p:txBody>
              <a:bodyPr wrap="non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Employees</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Partners</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UI Semilight" panose="020B0402040204020203" pitchFamily="34" charset="0"/>
                    <a:ea typeface="+mn-ea"/>
                    <a:cs typeface="Segoe UI Semilight" panose="020B0402040204020203" pitchFamily="34" charset="0"/>
                  </a:rPr>
                  <a:t>Customers</a:t>
                </a:r>
              </a:p>
            </p:txBody>
          </p:sp>
        </p:grpSp>
        <p:pic>
          <p:nvPicPr>
            <p:cNvPr id="40" name="Picture 39" descr="A picture containing text, clipart  Description automatically generated">
              <a:extLst>
                <a:ext uri="{FF2B5EF4-FFF2-40B4-BE49-F238E27FC236}">
                  <a16:creationId xmlns:a16="http://schemas.microsoft.com/office/drawing/2014/main" id="{EFDF36C9-E015-9B4B-986F-A4CDDC1530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2313" y="2936785"/>
              <a:ext cx="347472" cy="347472"/>
            </a:xfrm>
            <a:prstGeom prst="rect">
              <a:avLst/>
            </a:prstGeom>
          </p:spPr>
        </p:pic>
        <p:grpSp>
          <p:nvGrpSpPr>
            <p:cNvPr id="2076" name="Group 2075">
              <a:extLst>
                <a:ext uri="{FF2B5EF4-FFF2-40B4-BE49-F238E27FC236}">
                  <a16:creationId xmlns:a16="http://schemas.microsoft.com/office/drawing/2014/main" id="{9DB00EA0-2689-6A42-BAD4-B8C4E4C7E8F4}"/>
                </a:ext>
              </a:extLst>
            </p:cNvPr>
            <p:cNvGrpSpPr/>
            <p:nvPr/>
          </p:nvGrpSpPr>
          <p:grpSpPr>
            <a:xfrm>
              <a:off x="1140803" y="3318481"/>
              <a:ext cx="1813278" cy="351475"/>
              <a:chOff x="1140803" y="3318481"/>
              <a:chExt cx="1813278" cy="351475"/>
            </a:xfrm>
          </p:grpSpPr>
          <p:pic>
            <p:nvPicPr>
              <p:cNvPr id="79" name="Graphic 78">
                <a:extLst>
                  <a:ext uri="{FF2B5EF4-FFF2-40B4-BE49-F238E27FC236}">
                    <a16:creationId xmlns:a16="http://schemas.microsoft.com/office/drawing/2014/main" id="{DA1D466E-9E83-D149-A532-11FD114D83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57208" y="3318927"/>
                <a:ext cx="347472" cy="347472"/>
              </a:xfrm>
              <a:prstGeom prst="rect">
                <a:avLst/>
              </a:prstGeom>
            </p:spPr>
          </p:pic>
          <p:pic>
            <p:nvPicPr>
              <p:cNvPr id="106" name="Graphic 105">
                <a:extLst>
                  <a:ext uri="{FF2B5EF4-FFF2-40B4-BE49-F238E27FC236}">
                    <a16:creationId xmlns:a16="http://schemas.microsoft.com/office/drawing/2014/main" id="{0C16A46B-8DD4-F049-A71C-DA91123E45C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06609" y="3320110"/>
                <a:ext cx="347472" cy="347472"/>
              </a:xfrm>
              <a:prstGeom prst="rect">
                <a:avLst/>
              </a:prstGeom>
            </p:spPr>
          </p:pic>
          <p:pic>
            <p:nvPicPr>
              <p:cNvPr id="107" name="Picture 106" descr="A picture containing text, clipart  Description automatically generated">
                <a:extLst>
                  <a:ext uri="{FF2B5EF4-FFF2-40B4-BE49-F238E27FC236}">
                    <a16:creationId xmlns:a16="http://schemas.microsoft.com/office/drawing/2014/main" id="{1D6D0059-2E1C-8B4B-9421-7D5C0249C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0803" y="3322484"/>
                <a:ext cx="347472" cy="347472"/>
              </a:xfrm>
              <a:prstGeom prst="rect">
                <a:avLst/>
              </a:prstGeom>
            </p:spPr>
          </p:pic>
          <p:pic>
            <p:nvPicPr>
              <p:cNvPr id="113" name="Graphic 112">
                <a:extLst>
                  <a:ext uri="{FF2B5EF4-FFF2-40B4-BE49-F238E27FC236}">
                    <a16:creationId xmlns:a16="http://schemas.microsoft.com/office/drawing/2014/main" id="{6F8EEA17-A36E-3E49-A97E-A4793EDB9A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90829" y="3318481"/>
                <a:ext cx="347472" cy="347472"/>
              </a:xfrm>
              <a:prstGeom prst="rect">
                <a:avLst/>
              </a:prstGeom>
            </p:spPr>
          </p:pic>
        </p:grpSp>
        <p:grpSp>
          <p:nvGrpSpPr>
            <p:cNvPr id="2055" name="Group 2054">
              <a:extLst>
                <a:ext uri="{FF2B5EF4-FFF2-40B4-BE49-F238E27FC236}">
                  <a16:creationId xmlns:a16="http://schemas.microsoft.com/office/drawing/2014/main" id="{195A6A98-6833-9144-9982-EF1A26E7CB0C}"/>
                </a:ext>
              </a:extLst>
            </p:cNvPr>
            <p:cNvGrpSpPr/>
            <p:nvPr/>
          </p:nvGrpSpPr>
          <p:grpSpPr>
            <a:xfrm>
              <a:off x="3117709" y="5809860"/>
              <a:ext cx="4432793" cy="408224"/>
              <a:chOff x="3140008" y="5802836"/>
              <a:chExt cx="4432793" cy="408224"/>
            </a:xfrm>
          </p:grpSpPr>
          <p:pic>
            <p:nvPicPr>
              <p:cNvPr id="117" name="Graphic 116">
                <a:extLst>
                  <a:ext uri="{FF2B5EF4-FFF2-40B4-BE49-F238E27FC236}">
                    <a16:creationId xmlns:a16="http://schemas.microsoft.com/office/drawing/2014/main" id="{E7BF8429-C54E-0545-A262-485DB2C2F59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56766" y="5840762"/>
                <a:ext cx="365760" cy="365760"/>
              </a:xfrm>
              <a:prstGeom prst="rect">
                <a:avLst/>
              </a:prstGeom>
            </p:spPr>
          </p:pic>
          <p:pic>
            <p:nvPicPr>
              <p:cNvPr id="119" name="Graphic 118">
                <a:extLst>
                  <a:ext uri="{FF2B5EF4-FFF2-40B4-BE49-F238E27FC236}">
                    <a16:creationId xmlns:a16="http://schemas.microsoft.com/office/drawing/2014/main" id="{D8B73DFE-B1A5-1640-BC21-7EF947C45A1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65145" y="5840762"/>
                <a:ext cx="365760" cy="365760"/>
              </a:xfrm>
              <a:prstGeom prst="rect">
                <a:avLst/>
              </a:prstGeom>
            </p:spPr>
          </p:pic>
          <p:pic>
            <p:nvPicPr>
              <p:cNvPr id="121" name="Graphic 120">
                <a:extLst>
                  <a:ext uri="{FF2B5EF4-FFF2-40B4-BE49-F238E27FC236}">
                    <a16:creationId xmlns:a16="http://schemas.microsoft.com/office/drawing/2014/main" id="{ED5E0DF5-C795-CD41-BE91-AC2F31C292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73524" y="5845300"/>
                <a:ext cx="365760" cy="365760"/>
              </a:xfrm>
              <a:prstGeom prst="rect">
                <a:avLst/>
              </a:prstGeom>
            </p:spPr>
          </p:pic>
          <p:pic>
            <p:nvPicPr>
              <p:cNvPr id="123" name="Graphic 122">
                <a:extLst>
                  <a:ext uri="{FF2B5EF4-FFF2-40B4-BE49-F238E27FC236}">
                    <a16:creationId xmlns:a16="http://schemas.microsoft.com/office/drawing/2014/main" id="{60E2EFB9-B5B8-404E-B281-971896383B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648387" y="5840762"/>
                <a:ext cx="365760" cy="365760"/>
              </a:xfrm>
              <a:prstGeom prst="rect">
                <a:avLst/>
              </a:prstGeom>
            </p:spPr>
          </p:pic>
          <p:pic>
            <p:nvPicPr>
              <p:cNvPr id="125" name="Graphic 124">
                <a:extLst>
                  <a:ext uri="{FF2B5EF4-FFF2-40B4-BE49-F238E27FC236}">
                    <a16:creationId xmlns:a16="http://schemas.microsoft.com/office/drawing/2014/main" id="{13610C74-66E9-A749-AEDA-9E9E7B5E98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40008" y="5840762"/>
                <a:ext cx="365760" cy="365760"/>
              </a:xfrm>
              <a:prstGeom prst="rect">
                <a:avLst/>
              </a:prstGeom>
            </p:spPr>
          </p:pic>
          <p:pic>
            <p:nvPicPr>
              <p:cNvPr id="127" name="Graphic 126">
                <a:extLst>
                  <a:ext uri="{FF2B5EF4-FFF2-40B4-BE49-F238E27FC236}">
                    <a16:creationId xmlns:a16="http://schemas.microsoft.com/office/drawing/2014/main" id="{E8018D74-4840-0140-96FE-42CAFA1501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681903" y="5819698"/>
                <a:ext cx="365760" cy="365760"/>
              </a:xfrm>
              <a:prstGeom prst="rect">
                <a:avLst/>
              </a:prstGeom>
            </p:spPr>
          </p:pic>
          <p:pic>
            <p:nvPicPr>
              <p:cNvPr id="2049" name="Graphic 2048">
                <a:extLst>
                  <a:ext uri="{FF2B5EF4-FFF2-40B4-BE49-F238E27FC236}">
                    <a16:creationId xmlns:a16="http://schemas.microsoft.com/office/drawing/2014/main" id="{3405873E-4869-204A-9E47-81CC2EA2CD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190282" y="5802836"/>
                <a:ext cx="365760" cy="365760"/>
              </a:xfrm>
              <a:prstGeom prst="rect">
                <a:avLst/>
              </a:prstGeom>
            </p:spPr>
          </p:pic>
          <p:pic>
            <p:nvPicPr>
              <p:cNvPr id="2052" name="Graphic 2051">
                <a:extLst>
                  <a:ext uri="{FF2B5EF4-FFF2-40B4-BE49-F238E27FC236}">
                    <a16:creationId xmlns:a16="http://schemas.microsoft.com/office/drawing/2014/main" id="{3E3110EC-BF85-CF42-B05D-A2373BBBDF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98661" y="5815977"/>
                <a:ext cx="365760" cy="365760"/>
              </a:xfrm>
              <a:prstGeom prst="rect">
                <a:avLst/>
              </a:prstGeom>
            </p:spPr>
          </p:pic>
          <p:pic>
            <p:nvPicPr>
              <p:cNvPr id="2054" name="Graphic 2053">
                <a:extLst>
                  <a:ext uri="{FF2B5EF4-FFF2-40B4-BE49-F238E27FC236}">
                    <a16:creationId xmlns:a16="http://schemas.microsoft.com/office/drawing/2014/main" id="{59F7989F-486E-A249-B26F-511648E7CD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07041" y="5815977"/>
                <a:ext cx="365760" cy="365760"/>
              </a:xfrm>
              <a:prstGeom prst="rect">
                <a:avLst/>
              </a:prstGeom>
            </p:spPr>
          </p:pic>
        </p:grpSp>
        <p:pic>
          <p:nvPicPr>
            <p:cNvPr id="2057" name="Graphic 2056">
              <a:extLst>
                <a:ext uri="{FF2B5EF4-FFF2-40B4-BE49-F238E27FC236}">
                  <a16:creationId xmlns:a16="http://schemas.microsoft.com/office/drawing/2014/main" id="{C13320FC-6A67-EF40-9BE3-AE275B9665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064946" y="2553895"/>
              <a:ext cx="374904" cy="374904"/>
            </a:xfrm>
            <a:prstGeom prst="rect">
              <a:avLst/>
            </a:prstGeom>
          </p:spPr>
        </p:pic>
        <p:pic>
          <p:nvPicPr>
            <p:cNvPr id="2059" name="Graphic 2058">
              <a:extLst>
                <a:ext uri="{FF2B5EF4-FFF2-40B4-BE49-F238E27FC236}">
                  <a16:creationId xmlns:a16="http://schemas.microsoft.com/office/drawing/2014/main" id="{9020D03A-CE10-8D4E-9BA8-A8D64AB83F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067862" y="1751649"/>
              <a:ext cx="365760" cy="365760"/>
            </a:xfrm>
            <a:prstGeom prst="rect">
              <a:avLst/>
            </a:prstGeom>
          </p:spPr>
        </p:pic>
        <p:pic>
          <p:nvPicPr>
            <p:cNvPr id="2061" name="Graphic 2060">
              <a:extLst>
                <a:ext uri="{FF2B5EF4-FFF2-40B4-BE49-F238E27FC236}">
                  <a16:creationId xmlns:a16="http://schemas.microsoft.com/office/drawing/2014/main" id="{6F9ABBFB-5C64-6D41-BEB0-A64588D2F3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087379" y="2166377"/>
              <a:ext cx="356616" cy="356616"/>
            </a:xfrm>
            <a:prstGeom prst="rect">
              <a:avLst/>
            </a:prstGeom>
          </p:spPr>
        </p:pic>
        <p:pic>
          <p:nvPicPr>
            <p:cNvPr id="2063" name="Graphic 2062">
              <a:extLst>
                <a:ext uri="{FF2B5EF4-FFF2-40B4-BE49-F238E27FC236}">
                  <a16:creationId xmlns:a16="http://schemas.microsoft.com/office/drawing/2014/main" id="{B141BC23-DC6C-104A-9474-16CDD8D044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031943" y="4306513"/>
              <a:ext cx="457200" cy="457200"/>
            </a:xfrm>
            <a:prstGeom prst="rect">
              <a:avLst/>
            </a:prstGeom>
          </p:spPr>
        </p:pic>
        <p:grpSp>
          <p:nvGrpSpPr>
            <p:cNvPr id="2074" name="Group 2073">
              <a:extLst>
                <a:ext uri="{FF2B5EF4-FFF2-40B4-BE49-F238E27FC236}">
                  <a16:creationId xmlns:a16="http://schemas.microsoft.com/office/drawing/2014/main" id="{3FC92B4F-3BCE-1741-9EB7-DDAA207F63F4}"/>
                </a:ext>
              </a:extLst>
            </p:cNvPr>
            <p:cNvGrpSpPr/>
            <p:nvPr/>
          </p:nvGrpSpPr>
          <p:grpSpPr>
            <a:xfrm>
              <a:off x="8941834" y="3437931"/>
              <a:ext cx="365760" cy="2197423"/>
              <a:chOff x="9615206" y="3548908"/>
              <a:chExt cx="365760" cy="2197423"/>
            </a:xfrm>
          </p:grpSpPr>
          <p:pic>
            <p:nvPicPr>
              <p:cNvPr id="2065" name="Graphic 2064">
                <a:extLst>
                  <a:ext uri="{FF2B5EF4-FFF2-40B4-BE49-F238E27FC236}">
                    <a16:creationId xmlns:a16="http://schemas.microsoft.com/office/drawing/2014/main" id="{9951DDA2-8E39-AD45-BCD3-BF52891036D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615206" y="3548908"/>
                <a:ext cx="365760" cy="365760"/>
              </a:xfrm>
              <a:prstGeom prst="rect">
                <a:avLst/>
              </a:prstGeom>
            </p:spPr>
          </p:pic>
          <p:pic>
            <p:nvPicPr>
              <p:cNvPr id="2067" name="Graphic 2066">
                <a:extLst>
                  <a:ext uri="{FF2B5EF4-FFF2-40B4-BE49-F238E27FC236}">
                    <a16:creationId xmlns:a16="http://schemas.microsoft.com/office/drawing/2014/main" id="{333A388F-CEEE-234D-B0CA-505D48F93A7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615206" y="4006824"/>
                <a:ext cx="365760" cy="365760"/>
              </a:xfrm>
              <a:prstGeom prst="rect">
                <a:avLst/>
              </a:prstGeom>
            </p:spPr>
          </p:pic>
          <p:pic>
            <p:nvPicPr>
              <p:cNvPr id="2069" name="Graphic 2068">
                <a:extLst>
                  <a:ext uri="{FF2B5EF4-FFF2-40B4-BE49-F238E27FC236}">
                    <a16:creationId xmlns:a16="http://schemas.microsoft.com/office/drawing/2014/main" id="{0D130A47-57DC-D14A-B7F4-B836EF1726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9615206" y="4464740"/>
                <a:ext cx="365760" cy="365760"/>
              </a:xfrm>
              <a:prstGeom prst="rect">
                <a:avLst/>
              </a:prstGeom>
            </p:spPr>
          </p:pic>
          <p:pic>
            <p:nvPicPr>
              <p:cNvPr id="2071" name="Graphic 2070">
                <a:extLst>
                  <a:ext uri="{FF2B5EF4-FFF2-40B4-BE49-F238E27FC236}">
                    <a16:creationId xmlns:a16="http://schemas.microsoft.com/office/drawing/2014/main" id="{EF101DE7-CCEA-4045-80C7-4B446116AD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615206" y="4922656"/>
                <a:ext cx="365760" cy="365760"/>
              </a:xfrm>
              <a:prstGeom prst="rect">
                <a:avLst/>
              </a:prstGeom>
            </p:spPr>
          </p:pic>
          <p:pic>
            <p:nvPicPr>
              <p:cNvPr id="2073" name="Graphic 2072">
                <a:extLst>
                  <a:ext uri="{FF2B5EF4-FFF2-40B4-BE49-F238E27FC236}">
                    <a16:creationId xmlns:a16="http://schemas.microsoft.com/office/drawing/2014/main" id="{DFEFC134-ECA8-404E-8951-6A7AB4A29A1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9615206" y="5380571"/>
                <a:ext cx="365760" cy="365760"/>
              </a:xfrm>
              <a:prstGeom prst="rect">
                <a:avLst/>
              </a:prstGeom>
            </p:spPr>
          </p:pic>
        </p:grpSp>
        <p:pic>
          <p:nvPicPr>
            <p:cNvPr id="2078" name="Graphic 2077">
              <a:extLst>
                <a:ext uri="{FF2B5EF4-FFF2-40B4-BE49-F238E27FC236}">
                  <a16:creationId xmlns:a16="http://schemas.microsoft.com/office/drawing/2014/main" id="{D3618973-1F10-604F-BF92-B817A6AB6CE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297129" y="1120883"/>
              <a:ext cx="365760" cy="365760"/>
            </a:xfrm>
            <a:prstGeom prst="rect">
              <a:avLst/>
            </a:prstGeom>
          </p:spPr>
        </p:pic>
      </p:grpSp>
    </p:spTree>
    <p:extLst>
      <p:ext uri="{BB962C8B-B14F-4D97-AF65-F5344CB8AC3E}">
        <p14:creationId xmlns:p14="http://schemas.microsoft.com/office/powerpoint/2010/main" val="1405600"/>
      </p:ext>
    </p:extLst>
  </p:cSld>
  <p:clrMapOvr>
    <a:masterClrMapping/>
  </p:clrMapOvr>
  <mc:AlternateContent xmlns:mc="http://schemas.openxmlformats.org/markup-compatibility/2006" xmlns:p14="http://schemas.microsoft.com/office/powerpoint/2010/main">
    <mc:Choice Requires="p14">
      <p:transition p14:dur="0" advTm="285165"/>
    </mc:Choice>
    <mc:Fallback xmlns="">
      <p:transition advTm="28516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Placeholder 9">
            <a:extLst>
              <a:ext uri="{FF2B5EF4-FFF2-40B4-BE49-F238E27FC236}">
                <a16:creationId xmlns:a16="http://schemas.microsoft.com/office/drawing/2014/main" id="{1ED9C1BC-3AC3-459E-8B0B-555A616DD09D}"/>
              </a:ext>
            </a:extLst>
          </p:cNvPr>
          <p:cNvGraphicFramePr>
            <a:graphicFrameLocks noGrp="1"/>
          </p:cNvGraphicFramePr>
          <p:nvPr>
            <p:ph type="tbl" sz="quarter" idx="4294967295"/>
            <p:extLst>
              <p:ext uri="{D42A27DB-BD31-4B8C-83A1-F6EECF244321}">
                <p14:modId xmlns:p14="http://schemas.microsoft.com/office/powerpoint/2010/main" val="779786573"/>
              </p:ext>
            </p:extLst>
          </p:nvPr>
        </p:nvGraphicFramePr>
        <p:xfrm>
          <a:off x="586390" y="1434370"/>
          <a:ext cx="10936243" cy="5103365"/>
        </p:xfrm>
        <a:graphic>
          <a:graphicData uri="http://schemas.openxmlformats.org/drawingml/2006/table">
            <a:tbl>
              <a:tblPr firstRow="1" bandRow="1">
                <a:tableStyleId>{2D5ABB26-0587-4C30-8999-92F81FD0307C}</a:tableStyleId>
              </a:tblPr>
              <a:tblGrid>
                <a:gridCol w="5734258">
                  <a:extLst>
                    <a:ext uri="{9D8B030D-6E8A-4147-A177-3AD203B41FA5}">
                      <a16:colId xmlns:a16="http://schemas.microsoft.com/office/drawing/2014/main" val="503937480"/>
                    </a:ext>
                  </a:extLst>
                </a:gridCol>
                <a:gridCol w="5201985">
                  <a:extLst>
                    <a:ext uri="{9D8B030D-6E8A-4147-A177-3AD203B41FA5}">
                      <a16:colId xmlns:a16="http://schemas.microsoft.com/office/drawing/2014/main" val="603937481"/>
                    </a:ext>
                  </a:extLst>
                </a:gridCol>
              </a:tblGrid>
              <a:tr h="360405">
                <a:tc>
                  <a:txBody>
                    <a:bodyPr/>
                    <a:lstStyle/>
                    <a:p>
                      <a:pPr>
                        <a:lnSpc>
                          <a:spcPts val="1600"/>
                        </a:lnSpc>
                      </a:pPr>
                      <a:r>
                        <a:rPr lang="en-US" sz="1800" b="0">
                          <a:solidFill>
                            <a:srgbClr val="0070C0"/>
                          </a:solidFill>
                        </a:rPr>
                        <a:t>v1: Developer | Basic | Standard | Premium</a:t>
                      </a:r>
                      <a:endParaRPr lang="en-US" sz="1800" b="0">
                        <a:solidFill>
                          <a:srgbClr val="0070C0"/>
                        </a:solidFill>
                        <a:latin typeface="+mj-lt"/>
                      </a:endParaRPr>
                    </a:p>
                  </a:txBody>
                  <a:tcPr marL="89642" marR="89642" marT="44821" marB="44821" anchor="ctr"/>
                </a:tc>
                <a:tc>
                  <a:txBody>
                    <a:bodyPr/>
                    <a:lstStyle/>
                    <a:p>
                      <a:pPr>
                        <a:lnSpc>
                          <a:spcPts val="1600"/>
                        </a:lnSpc>
                      </a:pPr>
                      <a:r>
                        <a:rPr lang="en-US" sz="1800" b="0">
                          <a:solidFill>
                            <a:srgbClr val="0070C0"/>
                          </a:solidFill>
                        </a:rPr>
                        <a:t>v2: Basic | Standard | Premium</a:t>
                      </a:r>
                    </a:p>
                  </a:txBody>
                  <a:tcPr marL="89642" marR="89642" marT="44821" marB="44821" anchor="ctr"/>
                </a:tc>
                <a:extLst>
                  <a:ext uri="{0D108BD9-81ED-4DB2-BD59-A6C34878D82A}">
                    <a16:rowId xmlns:a16="http://schemas.microsoft.com/office/drawing/2014/main" val="230065927"/>
                  </a:ext>
                </a:extLst>
              </a:tr>
              <a:tr h="59287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kumimoji="0" lang="en-US" sz="1600" b="0" u="none" strike="noStrike" kern="1200" cap="none" spc="0" normalizeH="0" baseline="0" noProof="0">
                          <a:ln>
                            <a:noFill/>
                          </a:ln>
                          <a:solidFill>
                            <a:srgbClr val="2F2F2F"/>
                          </a:solidFill>
                          <a:effectLst/>
                          <a:uLnTx/>
                          <a:uFillTx/>
                        </a:rPr>
                        <a:t>No infrastructure to provision or manage</a:t>
                      </a:r>
                      <a:endParaRPr kumimoji="0" lang="en-US" sz="1600" b="0" i="0" u="none" strike="noStrike" kern="1200" cap="none" spc="0" normalizeH="0" baseline="0" noProof="0">
                        <a:ln>
                          <a:noFill/>
                        </a:ln>
                        <a:solidFill>
                          <a:srgbClr val="2F2F2F"/>
                        </a:solidFill>
                        <a:effectLst/>
                        <a:uLnTx/>
                        <a:uFillTx/>
                        <a:latin typeface="+mn-lt"/>
                        <a:ea typeface="+mn-ea"/>
                        <a:cs typeface="+mn-cs"/>
                      </a:endParaRPr>
                    </a:p>
                  </a:txBody>
                  <a:tcPr marL="89642" marR="89642" marT="89642" marB="44821" anchor="ctr"/>
                </a:tc>
                <a:tc>
                  <a:txBody>
                    <a:bodyPr/>
                    <a:lstStyle/>
                    <a:p>
                      <a:pPr>
                        <a:lnSpc>
                          <a:spcPts val="1600"/>
                        </a:lnSpc>
                      </a:pPr>
                      <a:r>
                        <a:rPr lang="en-US" sz="1600" b="0">
                          <a:solidFill>
                            <a:srgbClr val="2F2F2F"/>
                          </a:solidFill>
                        </a:rPr>
                        <a:t>No infrastructure to provision or manage</a:t>
                      </a:r>
                    </a:p>
                  </a:txBody>
                  <a:tcPr marL="89642" marR="89642" marT="89642" marB="44821" anchor="ctr"/>
                </a:tc>
                <a:extLst>
                  <a:ext uri="{0D108BD9-81ED-4DB2-BD59-A6C34878D82A}">
                    <a16:rowId xmlns:a16="http://schemas.microsoft.com/office/drawing/2014/main" val="3614321566"/>
                  </a:ext>
                </a:extLst>
              </a:tr>
              <a:tr h="59287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kumimoji="0" lang="en-US" sz="1600" b="0" u="none" strike="noStrike" kern="1200" cap="none" spc="0" normalizeH="0" baseline="0" noProof="0">
                          <a:ln>
                            <a:noFill/>
                          </a:ln>
                          <a:solidFill>
                            <a:srgbClr val="2F2F2F"/>
                          </a:solidFill>
                          <a:effectLst/>
                          <a:uLnTx/>
                          <a:uFillTx/>
                        </a:rPr>
                        <a:t>Manual scaling or external auto-scaling</a:t>
                      </a:r>
                      <a:endParaRPr kumimoji="0" lang="en-US" sz="1600" b="0" i="0" u="none" strike="noStrike" kern="1200" cap="none" spc="0" normalizeH="0" baseline="0" noProof="0">
                        <a:ln>
                          <a:noFill/>
                        </a:ln>
                        <a:solidFill>
                          <a:srgbClr val="2F2F2F"/>
                        </a:solidFill>
                        <a:effectLst/>
                        <a:uLnTx/>
                        <a:uFillTx/>
                        <a:latin typeface="+mn-lt"/>
                        <a:ea typeface="+mn-ea"/>
                        <a:cs typeface="+mn-cs"/>
                      </a:endParaRPr>
                    </a:p>
                  </a:txBody>
                  <a:tcPr marL="89642" marR="89642" marT="89642" marB="44821" anchor="ctr"/>
                </a:tc>
                <a:tc>
                  <a:txBody>
                    <a:bodyPr/>
                    <a:lstStyle/>
                    <a:p>
                      <a:pPr>
                        <a:lnSpc>
                          <a:spcPts val="1600"/>
                        </a:lnSpc>
                      </a:pPr>
                      <a:r>
                        <a:rPr lang="en-US" sz="1600" b="0">
                          <a:solidFill>
                            <a:srgbClr val="2F2F2F"/>
                          </a:solidFill>
                        </a:rPr>
                        <a:t>Autoscaling supported; faster scaling (up to 10–30 units)</a:t>
                      </a:r>
                    </a:p>
                  </a:txBody>
                  <a:tcPr marL="89642" marR="89642" marT="89642" marB="44821" anchor="ctr"/>
                </a:tc>
                <a:extLst>
                  <a:ext uri="{0D108BD9-81ED-4DB2-BD59-A6C34878D82A}">
                    <a16:rowId xmlns:a16="http://schemas.microsoft.com/office/drawing/2014/main" val="3769821644"/>
                  </a:ext>
                </a:extLst>
              </a:tr>
              <a:tr h="59287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kumimoji="0" lang="en-US" sz="1600" b="0" u="none" strike="noStrike" kern="1200" cap="none" spc="0" normalizeH="0" baseline="0" noProof="0">
                          <a:ln>
                            <a:noFill/>
                          </a:ln>
                          <a:solidFill>
                            <a:srgbClr val="2F2F2F"/>
                          </a:solidFill>
                          <a:effectLst/>
                          <a:uLnTx/>
                          <a:uFillTx/>
                        </a:rPr>
                        <a:t>Billing based on reserved capacity</a:t>
                      </a:r>
                      <a:endParaRPr kumimoji="0" lang="en-US" sz="1600" b="0" i="0" u="none" strike="noStrike" kern="1200" cap="none" spc="0" normalizeH="0" baseline="0" noProof="0">
                        <a:ln>
                          <a:noFill/>
                        </a:ln>
                        <a:solidFill>
                          <a:srgbClr val="2F2F2F"/>
                        </a:solidFill>
                        <a:effectLst/>
                        <a:uLnTx/>
                        <a:uFillTx/>
                        <a:latin typeface="+mn-lt"/>
                        <a:ea typeface="+mn-ea"/>
                        <a:cs typeface="+mn-cs"/>
                      </a:endParaRPr>
                    </a:p>
                  </a:txBody>
                  <a:tcPr marL="89642" marR="89642" marT="89642" marB="44821" anchor="ctr"/>
                </a:tc>
                <a:tc>
                  <a:txBody>
                    <a:bodyPr/>
                    <a:lstStyle/>
                    <a:p>
                      <a:pPr>
                        <a:lnSpc>
                          <a:spcPts val="1600"/>
                        </a:lnSpc>
                      </a:pPr>
                      <a:r>
                        <a:rPr lang="en-US" sz="1600" b="0">
                          <a:solidFill>
                            <a:srgbClr val="2F2F2F"/>
                          </a:solidFill>
                        </a:rPr>
                        <a:t>Billing based on reserved capacity</a:t>
                      </a:r>
                    </a:p>
                  </a:txBody>
                  <a:tcPr marL="89642" marR="89642" marT="89642" marB="44821" anchor="ctr"/>
                </a:tc>
                <a:extLst>
                  <a:ext uri="{0D108BD9-81ED-4DB2-BD59-A6C34878D82A}">
                    <a16:rowId xmlns:a16="http://schemas.microsoft.com/office/drawing/2014/main" val="1493476776"/>
                  </a:ext>
                </a:extLst>
              </a:tr>
              <a:tr h="59287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kumimoji="0" lang="en-US" sz="1600" b="0" i="0" u="none" strike="noStrike" kern="1200" cap="none" spc="0" normalizeH="0" baseline="0" noProof="0">
                          <a:ln>
                            <a:noFill/>
                          </a:ln>
                          <a:solidFill>
                            <a:srgbClr val="2F2F2F"/>
                          </a:solidFill>
                          <a:effectLst/>
                          <a:uLnTx/>
                          <a:uFillTx/>
                          <a:latin typeface="+mn-lt"/>
                          <a:ea typeface="+mn-ea"/>
                          <a:cs typeface="+mn-cs"/>
                        </a:rPr>
                        <a:t>Constant, predictable monthly cost</a:t>
                      </a:r>
                    </a:p>
                  </a:txBody>
                  <a:tcPr marL="89642" marR="89642" marT="89642" marB="44821" anchor="ctr"/>
                </a:tc>
                <a:tc>
                  <a:txBody>
                    <a:bodyPr/>
                    <a:lstStyle/>
                    <a:p>
                      <a:pPr>
                        <a:lnSpc>
                          <a:spcPts val="1600"/>
                        </a:lnSpc>
                      </a:pPr>
                      <a:r>
                        <a:rPr lang="en-US" sz="1600" b="0">
                          <a:solidFill>
                            <a:srgbClr val="2F2F2F"/>
                          </a:solidFill>
                        </a:rPr>
                        <a:t>Constant, predictable monthly cost</a:t>
                      </a:r>
                    </a:p>
                  </a:txBody>
                  <a:tcPr marL="89642" marR="89642" marT="89642" marB="44821" anchor="ctr"/>
                </a:tc>
                <a:extLst>
                  <a:ext uri="{0D108BD9-81ED-4DB2-BD59-A6C34878D82A}">
                    <a16:rowId xmlns:a16="http://schemas.microsoft.com/office/drawing/2014/main" val="4153898521"/>
                  </a:ext>
                </a:extLst>
              </a:tr>
              <a:tr h="59287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kumimoji="0" lang="en-US" sz="1600" b="0" u="none" strike="noStrike" kern="1200" cap="none" spc="0" normalizeH="0" baseline="0" noProof="0">
                          <a:ln>
                            <a:noFill/>
                          </a:ln>
                          <a:solidFill>
                            <a:srgbClr val="2F2F2F"/>
                          </a:solidFill>
                          <a:effectLst/>
                          <a:uLnTx/>
                          <a:uFillTx/>
                        </a:rPr>
                        <a:t>Reserved capacity</a:t>
                      </a:r>
                      <a:endParaRPr kumimoji="0" lang="en-US" sz="1600" b="0" i="0" u="none" strike="noStrike" kern="1200" cap="none" spc="0" normalizeH="0" baseline="0" noProof="0">
                        <a:ln>
                          <a:noFill/>
                        </a:ln>
                        <a:solidFill>
                          <a:srgbClr val="2F2F2F"/>
                        </a:solidFill>
                        <a:effectLst/>
                        <a:uLnTx/>
                        <a:uFillTx/>
                        <a:latin typeface="+mn-lt"/>
                        <a:ea typeface="+mn-ea"/>
                        <a:cs typeface="+mn-cs"/>
                      </a:endParaRPr>
                    </a:p>
                  </a:txBody>
                  <a:tcPr marL="89642" marR="89642" marT="89642" marB="44821" anchor="ctr"/>
                </a:tc>
                <a:tc>
                  <a:txBody>
                    <a:bodyPr/>
                    <a:lstStyle/>
                    <a:p>
                      <a:pPr>
                        <a:lnSpc>
                          <a:spcPts val="1600"/>
                        </a:lnSpc>
                      </a:pPr>
                      <a:r>
                        <a:rPr lang="en-US" sz="1600" b="0">
                          <a:solidFill>
                            <a:srgbClr val="2F2F2F"/>
                          </a:solidFill>
                        </a:rPr>
                        <a:t>Reserved capacity</a:t>
                      </a:r>
                    </a:p>
                  </a:txBody>
                  <a:tcPr marL="89642" marR="89642" marT="89642" marB="44821" anchor="ctr"/>
                </a:tc>
                <a:extLst>
                  <a:ext uri="{0D108BD9-81ED-4DB2-BD59-A6C34878D82A}">
                    <a16:rowId xmlns:a16="http://schemas.microsoft.com/office/drawing/2014/main" val="4133323419"/>
                  </a:ext>
                </a:extLst>
              </a:tr>
              <a:tr h="59287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kumimoji="0" lang="en-US" sz="1600" b="0" u="none" strike="noStrike" kern="1200" cap="none" spc="0" normalizeH="0" baseline="0" noProof="0">
                          <a:ln>
                            <a:noFill/>
                          </a:ln>
                          <a:solidFill>
                            <a:srgbClr val="2F2F2F"/>
                          </a:solidFill>
                          <a:effectLst/>
                          <a:uLnTx/>
                          <a:uFillTx/>
                        </a:rPr>
                        <a:t>Dedicated management, user, and data planes</a:t>
                      </a:r>
                      <a:endParaRPr kumimoji="0" lang="en-US" sz="1600" b="0" i="0" u="none" strike="noStrike" kern="1200" cap="none" spc="0" normalizeH="0" baseline="0" noProof="0">
                        <a:ln>
                          <a:noFill/>
                        </a:ln>
                        <a:solidFill>
                          <a:srgbClr val="2F2F2F"/>
                        </a:solidFill>
                        <a:effectLst/>
                        <a:uLnTx/>
                        <a:uFillTx/>
                        <a:latin typeface="+mn-lt"/>
                        <a:ea typeface="+mn-ea"/>
                        <a:cs typeface="+mn-cs"/>
                      </a:endParaRPr>
                    </a:p>
                  </a:txBody>
                  <a:tcPr marL="89642" marR="89642" marT="89642" marB="44821" anchor="ctr"/>
                </a:tc>
                <a:tc>
                  <a:txBody>
                    <a:bodyPr/>
                    <a:lstStyle/>
                    <a:p>
                      <a:pPr>
                        <a:lnSpc>
                          <a:spcPts val="1600"/>
                        </a:lnSpc>
                      </a:pPr>
                      <a:r>
                        <a:rPr lang="en-US" sz="1600" b="0">
                          <a:solidFill>
                            <a:srgbClr val="2F2F2F"/>
                          </a:solidFill>
                        </a:rPr>
                        <a:t>Dedicated management, user, and data planes</a:t>
                      </a:r>
                    </a:p>
                  </a:txBody>
                  <a:tcPr marL="89642" marR="89642" marT="89642" marB="44821" anchor="ctr"/>
                </a:tc>
                <a:extLst>
                  <a:ext uri="{0D108BD9-81ED-4DB2-BD59-A6C34878D82A}">
                    <a16:rowId xmlns:a16="http://schemas.microsoft.com/office/drawing/2014/main" val="2470833457"/>
                  </a:ext>
                </a:extLst>
              </a:tr>
              <a:tr h="59287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kumimoji="0" lang="en-US" sz="1600" b="0" u="none" strike="noStrike" kern="1200" cap="none" spc="0" normalizeH="0" baseline="0" noProof="0">
                          <a:ln>
                            <a:noFill/>
                          </a:ln>
                          <a:solidFill>
                            <a:srgbClr val="2F2F2F"/>
                          </a:solidFill>
                          <a:effectLst/>
                          <a:uLnTx/>
                          <a:uFillTx/>
                        </a:rPr>
                        <a:t>Always on</a:t>
                      </a:r>
                      <a:endParaRPr kumimoji="0" lang="en-US" sz="1600" b="0" i="0" u="none" strike="noStrike" kern="1200" cap="none" spc="0" normalizeH="0" baseline="0" noProof="0">
                        <a:ln>
                          <a:noFill/>
                        </a:ln>
                        <a:solidFill>
                          <a:srgbClr val="2F2F2F"/>
                        </a:solidFill>
                        <a:effectLst/>
                        <a:uLnTx/>
                        <a:uFillTx/>
                        <a:latin typeface="+mn-lt"/>
                        <a:ea typeface="+mn-ea"/>
                        <a:cs typeface="+mn-cs"/>
                      </a:endParaRPr>
                    </a:p>
                  </a:txBody>
                  <a:tcPr marL="89642" marR="89642" marT="89642" marB="44821" anchor="ctr"/>
                </a:tc>
                <a:tc>
                  <a:txBody>
                    <a:bodyPr/>
                    <a:lstStyle/>
                    <a:p>
                      <a:pPr>
                        <a:lnSpc>
                          <a:spcPts val="1600"/>
                        </a:lnSpc>
                      </a:pPr>
                      <a:r>
                        <a:rPr lang="en-US" sz="1600" b="0">
                          <a:solidFill>
                            <a:srgbClr val="2F2F2F"/>
                          </a:solidFill>
                        </a:rPr>
                        <a:t>Always on; deploys in minutes vs. hours</a:t>
                      </a:r>
                    </a:p>
                  </a:txBody>
                  <a:tcPr marL="89642" marR="89642" marT="89642" marB="44821" anchor="ctr"/>
                </a:tc>
                <a:extLst>
                  <a:ext uri="{0D108BD9-81ED-4DB2-BD59-A6C34878D82A}">
                    <a16:rowId xmlns:a16="http://schemas.microsoft.com/office/drawing/2014/main" val="1305920810"/>
                  </a:ext>
                </a:extLst>
              </a:tr>
              <a:tr h="592870">
                <a:tc>
                  <a:txBody>
                    <a:bodyPr/>
                    <a:lstStyle/>
                    <a:p>
                      <a:pPr marL="0" marR="0" lvl="0" indent="0" algn="l" defTabSz="932742" rtl="0" eaLnBrk="1" fontAlgn="auto" latinLnBrk="0" hangingPunct="1">
                        <a:lnSpc>
                          <a:spcPts val="1600"/>
                        </a:lnSpc>
                        <a:spcBef>
                          <a:spcPts val="0"/>
                        </a:spcBef>
                        <a:spcAft>
                          <a:spcPts val="0"/>
                        </a:spcAft>
                        <a:buClrTx/>
                        <a:buSzTx/>
                        <a:buFontTx/>
                        <a:buNone/>
                        <a:tabLst/>
                        <a:defRPr/>
                      </a:pPr>
                      <a:r>
                        <a:rPr kumimoji="0" lang="en-US" sz="1600" b="0" u="none" strike="noStrike" kern="1200" cap="none" spc="0" normalizeH="0" baseline="0" noProof="0">
                          <a:ln>
                            <a:noFill/>
                          </a:ln>
                          <a:solidFill>
                            <a:srgbClr val="2F2F2F"/>
                          </a:solidFill>
                          <a:effectLst/>
                          <a:uLnTx/>
                          <a:uFillTx/>
                        </a:rPr>
                        <a:t>Full set of features. Not governed.</a:t>
                      </a:r>
                      <a:endParaRPr kumimoji="0" lang="en-US" sz="1600" b="0" i="0" u="none" strike="noStrike" kern="1200" cap="none" spc="0" normalizeH="0" baseline="0" noProof="0">
                        <a:ln>
                          <a:noFill/>
                        </a:ln>
                        <a:solidFill>
                          <a:srgbClr val="2F2F2F"/>
                        </a:solidFill>
                        <a:effectLst/>
                        <a:uLnTx/>
                        <a:uFillTx/>
                        <a:latin typeface="+mn-lt"/>
                        <a:ea typeface="+mn-ea"/>
                        <a:cs typeface="+mn-cs"/>
                      </a:endParaRPr>
                    </a:p>
                  </a:txBody>
                  <a:tcPr marL="89642" marR="89642" marT="89642" marB="44821" anchor="ctr"/>
                </a:tc>
                <a:tc>
                  <a:txBody>
                    <a:bodyPr/>
                    <a:lstStyle/>
                    <a:p>
                      <a:pPr>
                        <a:lnSpc>
                          <a:spcPts val="1600"/>
                        </a:lnSpc>
                      </a:pPr>
                      <a:r>
                        <a:rPr lang="en-US" sz="1600" b="0">
                          <a:solidFill>
                            <a:srgbClr val="2F2F2F"/>
                          </a:solidFill>
                        </a:rPr>
                        <a:t>VNet integration, workspaces, availability zones, SLA included</a:t>
                      </a:r>
                    </a:p>
                  </a:txBody>
                  <a:tcPr marL="89642" marR="89642" marT="89642" marB="44821" anchor="ctr"/>
                </a:tc>
                <a:extLst>
                  <a:ext uri="{0D108BD9-81ED-4DB2-BD59-A6C34878D82A}">
                    <a16:rowId xmlns:a16="http://schemas.microsoft.com/office/drawing/2014/main" val="416076602"/>
                  </a:ext>
                </a:extLst>
              </a:tr>
            </a:tbl>
          </a:graphicData>
        </a:graphic>
      </p:graphicFrame>
      <p:sp>
        <p:nvSpPr>
          <p:cNvPr id="2" name="Title 1">
            <a:extLst>
              <a:ext uri="{FF2B5EF4-FFF2-40B4-BE49-F238E27FC236}">
                <a16:creationId xmlns:a16="http://schemas.microsoft.com/office/drawing/2014/main" id="{D0AEBDD6-414C-454C-9FE7-20496BF5D795}"/>
              </a:ext>
            </a:extLst>
          </p:cNvPr>
          <p:cNvSpPr>
            <a:spLocks noGrp="1"/>
          </p:cNvSpPr>
          <p:nvPr>
            <p:ph type="title"/>
          </p:nvPr>
        </p:nvSpPr>
        <p:spPr>
          <a:xfrm>
            <a:off x="588262" y="457200"/>
            <a:ext cx="11210037" cy="553998"/>
          </a:xfrm>
        </p:spPr>
        <p:txBody>
          <a:bodyPr/>
          <a:lstStyle/>
          <a:p>
            <a:r>
              <a:rPr lang="en-US" sz="3600"/>
              <a:t>Fully-managed serverless, classic, and v2 tiers</a:t>
            </a:r>
          </a:p>
        </p:txBody>
      </p:sp>
    </p:spTree>
    <p:extLst>
      <p:ext uri="{BB962C8B-B14F-4D97-AF65-F5344CB8AC3E}">
        <p14:creationId xmlns:p14="http://schemas.microsoft.com/office/powerpoint/2010/main" val="353023166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67C80F-1E90-0347-87EA-D792784F3778}"/>
              </a:ext>
            </a:extLst>
          </p:cNvPr>
          <p:cNvSpPr>
            <a:spLocks noGrp="1"/>
          </p:cNvSpPr>
          <p:nvPr>
            <p:ph type="title"/>
          </p:nvPr>
        </p:nvSpPr>
        <p:spPr/>
        <p:txBody>
          <a:bodyPr/>
          <a:lstStyle/>
          <a:p>
            <a:r>
              <a:rPr lang="en-US"/>
              <a:t>Full API lifecycle</a:t>
            </a:r>
          </a:p>
        </p:txBody>
      </p:sp>
      <p:graphicFrame>
        <p:nvGraphicFramePr>
          <p:cNvPr id="6" name="Diagram 5">
            <a:extLst>
              <a:ext uri="{FF2B5EF4-FFF2-40B4-BE49-F238E27FC236}">
                <a16:creationId xmlns:a16="http://schemas.microsoft.com/office/drawing/2014/main" id="{58F92C08-3CCC-9A47-A77E-CBA31E698D77}"/>
              </a:ext>
            </a:extLst>
          </p:cNvPr>
          <p:cNvGraphicFramePr>
            <a:graphicFrameLocks noChangeAspect="1"/>
          </p:cNvGraphicFramePr>
          <p:nvPr/>
        </p:nvGraphicFramePr>
        <p:xfrm>
          <a:off x="3947160" y="1097280"/>
          <a:ext cx="4297680" cy="4297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69D01D52-79AC-FD4F-A943-3406F6BC8EC7}"/>
              </a:ext>
            </a:extLst>
          </p:cNvPr>
          <p:cNvSpPr txBox="1"/>
          <p:nvPr/>
        </p:nvSpPr>
        <p:spPr>
          <a:xfrm>
            <a:off x="5148590" y="249855"/>
            <a:ext cx="2427929" cy="846386"/>
          </a:xfrm>
          <a:prstGeom prst="rect">
            <a:avLst/>
          </a:prstGeom>
          <a:noFill/>
        </p:spPr>
        <p:txBody>
          <a:bodyPr wrap="square" lIns="0" tIns="0" rIns="0" bIns="0" rtlCol="0">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Start fast with proxy mode</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Design and mock</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Import from a definition</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panose="020B0502040204020203" pitchFamily="34" charset="0"/>
                <a:ea typeface="+mn-ea"/>
                <a:cs typeface="Segoe UI Semibold" panose="020B0502040204020203" pitchFamily="34" charset="0"/>
              </a:rPr>
              <a:t>Import from an Azure resource</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Capture schema from test calls</a:t>
            </a:r>
          </a:p>
        </p:txBody>
      </p:sp>
      <p:sp>
        <p:nvSpPr>
          <p:cNvPr id="3" name="TextBox 2">
            <a:extLst>
              <a:ext uri="{FF2B5EF4-FFF2-40B4-BE49-F238E27FC236}">
                <a16:creationId xmlns:a16="http://schemas.microsoft.com/office/drawing/2014/main" id="{B8E0B4AC-7018-F441-9D07-12DC1E885EE8}"/>
              </a:ext>
            </a:extLst>
          </p:cNvPr>
          <p:cNvSpPr txBox="1"/>
          <p:nvPr/>
        </p:nvSpPr>
        <p:spPr>
          <a:xfrm>
            <a:off x="8090720" y="1705466"/>
            <a:ext cx="2516320" cy="846386"/>
          </a:xfrm>
          <a:prstGeom prst="rect">
            <a:avLst/>
          </a:prstGeom>
          <a:noFill/>
        </p:spPr>
        <p:txBody>
          <a:bodyPr wrap="square" lIns="0" tIns="0" rIns="0" bIns="0" rtlCol="0">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50+ </a:t>
            </a: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Segoe UI Semibold" panose="020B0502040204020203" pitchFamily="34" charset="0"/>
              </a:rPr>
              <a:t>policies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SOAP-to-REST</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Visual Studio Code integration</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Live policy debugging</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API scaffolding</a:t>
            </a:r>
          </a:p>
        </p:txBody>
      </p:sp>
      <p:sp>
        <p:nvSpPr>
          <p:cNvPr id="5" name="TextBox 4">
            <a:extLst>
              <a:ext uri="{FF2B5EF4-FFF2-40B4-BE49-F238E27FC236}">
                <a16:creationId xmlns:a16="http://schemas.microsoft.com/office/drawing/2014/main" id="{F2442DCA-0E5B-9640-9DAF-83DB8AA18B25}"/>
              </a:ext>
            </a:extLst>
          </p:cNvPr>
          <p:cNvSpPr txBox="1"/>
          <p:nvPr/>
        </p:nvSpPr>
        <p:spPr>
          <a:xfrm>
            <a:off x="8428393" y="3317551"/>
            <a:ext cx="2606752" cy="1184940"/>
          </a:xfrm>
          <a:prstGeom prst="rect">
            <a:avLst/>
          </a:prstGeom>
          <a:noFill/>
        </p:spPr>
        <p:txBody>
          <a:bodyPr wrap="square" lIns="0" tIns="0" rIns="0" bIns="0" rtlCol="0">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Data | Management | User planes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Keys, OAuth, certificates, custom</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1</a:t>
            </a:r>
            <a:r>
              <a:rPr kumimoji="0" lang="en-US" sz="1100" b="0" i="0" u="none" strike="noStrike" kern="1200" cap="none" spc="0" normalizeH="0" baseline="30000" noProof="0">
                <a:ln>
                  <a:noFill/>
                </a:ln>
                <a:gradFill>
                  <a:gsLst>
                    <a:gs pos="2917">
                      <a:srgbClr val="000000"/>
                    </a:gs>
                    <a:gs pos="30000">
                      <a:srgbClr val="000000"/>
                    </a:gs>
                  </a:gsLst>
                  <a:lin ang="5400000" scaled="0"/>
                </a:gradFill>
                <a:effectLst/>
                <a:uLnTx/>
                <a:uFillTx/>
                <a:latin typeface="Segoe UI"/>
                <a:ea typeface="+mn-ea"/>
                <a:cs typeface="+mn-cs"/>
              </a:rPr>
              <a:t>st </a:t>
            </a: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and 3</a:t>
            </a:r>
            <a:r>
              <a:rPr kumimoji="0" lang="en-US" sz="1100" b="0" i="0" u="none" strike="noStrike" kern="1200" cap="none" spc="0" normalizeH="0" baseline="30000" noProof="0">
                <a:ln>
                  <a:noFill/>
                </a:ln>
                <a:gradFill>
                  <a:gsLst>
                    <a:gs pos="2917">
                      <a:srgbClr val="000000"/>
                    </a:gs>
                    <a:gs pos="30000">
                      <a:srgbClr val="000000"/>
                    </a:gs>
                  </a:gsLst>
                  <a:lin ang="5400000" scaled="0"/>
                </a:gradFill>
                <a:effectLst/>
                <a:uLnTx/>
                <a:uFillTx/>
                <a:latin typeface="Segoe UI"/>
                <a:ea typeface="+mn-ea"/>
                <a:cs typeface="+mn-cs"/>
              </a:rPr>
              <a:t>rd</a:t>
            </a: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 party identity providers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Request/response validation</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IP-based access control</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Private networking</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Compliance</a:t>
            </a:r>
          </a:p>
        </p:txBody>
      </p:sp>
      <p:sp>
        <p:nvSpPr>
          <p:cNvPr id="11" name="TextBox 10">
            <a:extLst>
              <a:ext uri="{FF2B5EF4-FFF2-40B4-BE49-F238E27FC236}">
                <a16:creationId xmlns:a16="http://schemas.microsoft.com/office/drawing/2014/main" id="{A91502CB-E01C-CB4E-B82B-C96747423568}"/>
              </a:ext>
            </a:extLst>
          </p:cNvPr>
          <p:cNvSpPr txBox="1"/>
          <p:nvPr/>
        </p:nvSpPr>
        <p:spPr>
          <a:xfrm>
            <a:off x="7341031" y="5185340"/>
            <a:ext cx="2891234" cy="1184940"/>
          </a:xfrm>
          <a:prstGeom prst="rect">
            <a:avLst/>
          </a:prstGeom>
          <a:noFill/>
        </p:spPr>
        <p:txBody>
          <a:bodyPr wrap="square" lIns="0" tIns="0" rIns="0" bIns="0" rtlCol="0">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Revisions and versions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API products, user groups, subscriptions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Customizable developer portal</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Integrated API playground</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Export to the Power Platform</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Self-service onboarding</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DevOps</a:t>
            </a:r>
          </a:p>
        </p:txBody>
      </p:sp>
      <p:sp>
        <p:nvSpPr>
          <p:cNvPr id="13" name="TextBox 12">
            <a:extLst>
              <a:ext uri="{FF2B5EF4-FFF2-40B4-BE49-F238E27FC236}">
                <a16:creationId xmlns:a16="http://schemas.microsoft.com/office/drawing/2014/main" id="{F0B0582E-9CA6-DC43-8229-1D0C13505D96}"/>
              </a:ext>
            </a:extLst>
          </p:cNvPr>
          <p:cNvSpPr txBox="1"/>
          <p:nvPr/>
        </p:nvSpPr>
        <p:spPr>
          <a:xfrm>
            <a:off x="3280308" y="5330279"/>
            <a:ext cx="2891234" cy="1184940"/>
          </a:xfrm>
          <a:prstGeom prst="rect">
            <a:avLst/>
          </a:prstGeom>
          <a:noFill/>
        </p:spPr>
        <p:txBody>
          <a:bodyPr wrap="square" lIns="0" tIns="0" rIns="0" bIns="0" rtlCol="0">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Worldwide availability</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Multi-region deployments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Availability zones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Caching</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Auto-scaling</a:t>
            </a:r>
            <a:endPar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endParaRP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Hybrid and multi-cloud</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Azure Arc enabled</a:t>
            </a:r>
          </a:p>
        </p:txBody>
      </p:sp>
      <p:sp>
        <p:nvSpPr>
          <p:cNvPr id="15" name="TextBox 14">
            <a:extLst>
              <a:ext uri="{FF2B5EF4-FFF2-40B4-BE49-F238E27FC236}">
                <a16:creationId xmlns:a16="http://schemas.microsoft.com/office/drawing/2014/main" id="{1D07353F-46E6-3246-AE5E-63FD459C6F1F}"/>
              </a:ext>
            </a:extLst>
          </p:cNvPr>
          <p:cNvSpPr txBox="1"/>
          <p:nvPr/>
        </p:nvSpPr>
        <p:spPr>
          <a:xfrm>
            <a:off x="1156855" y="3246120"/>
            <a:ext cx="2891234" cy="1015663"/>
          </a:xfrm>
          <a:prstGeom prst="rect">
            <a:avLst/>
          </a:prstGeom>
          <a:noFill/>
        </p:spPr>
        <p:txBody>
          <a:bodyPr wrap="square" lIns="0" tIns="0" rIns="0" bIns="0" rtlCol="0">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Azure Monitor</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Application Insights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Logs | Metrics | Traces | Alerts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Configurable verbosity</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E2E request tracing</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Local telemetry for self-hosted gateway</a:t>
            </a:r>
            <a:endParaRPr kumimoji="0" lang="en-US" sz="1100" b="0" i="1"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endParaRPr>
          </a:p>
        </p:txBody>
      </p:sp>
      <p:sp>
        <p:nvSpPr>
          <p:cNvPr id="17" name="TextBox 16">
            <a:extLst>
              <a:ext uri="{FF2B5EF4-FFF2-40B4-BE49-F238E27FC236}">
                <a16:creationId xmlns:a16="http://schemas.microsoft.com/office/drawing/2014/main" id="{9E1B4CD5-CF29-784E-B332-7C4704536A29}"/>
              </a:ext>
            </a:extLst>
          </p:cNvPr>
          <p:cNvSpPr txBox="1"/>
          <p:nvPr/>
        </p:nvSpPr>
        <p:spPr>
          <a:xfrm>
            <a:off x="2361096" y="1527721"/>
            <a:ext cx="1838425" cy="1015663"/>
          </a:xfrm>
          <a:prstGeom prst="rect">
            <a:avLst/>
          </a:prstGeom>
          <a:noFill/>
        </p:spPr>
        <p:txBody>
          <a:bodyPr wrap="square" lIns="0" tIns="0" rIns="0" bIns="0" rtlCol="0">
            <a:spAutoFit/>
          </a:bodyPr>
          <a:lstStyle/>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Built-in reports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Custom reports with Log Analytics</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Reports in Power BI</a:t>
            </a:r>
          </a:p>
          <a:p>
            <a:pPr marL="171450" marR="0" lvl="0" indent="-1714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Custom telemetry pipelines</a:t>
            </a:r>
          </a:p>
        </p:txBody>
      </p:sp>
      <p:pic>
        <p:nvPicPr>
          <p:cNvPr id="8" name="Graphic 7">
            <a:extLst>
              <a:ext uri="{FF2B5EF4-FFF2-40B4-BE49-F238E27FC236}">
                <a16:creationId xmlns:a16="http://schemas.microsoft.com/office/drawing/2014/main" id="{9ED7102F-3966-7348-BECD-1D9831516E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30240" y="3063240"/>
            <a:ext cx="731520" cy="731520"/>
          </a:xfrm>
          <a:prstGeom prst="rect">
            <a:avLst/>
          </a:prstGeom>
        </p:spPr>
      </p:pic>
    </p:spTree>
    <p:extLst>
      <p:ext uri="{BB962C8B-B14F-4D97-AF65-F5344CB8AC3E}">
        <p14:creationId xmlns:p14="http://schemas.microsoft.com/office/powerpoint/2010/main" val="1633376167"/>
      </p:ext>
    </p:extLst>
  </p:cSld>
  <p:clrMapOvr>
    <a:masterClrMapping/>
  </p:clrMapOvr>
  <p:transition advTm="433972">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7EB47-33ED-44B1-B890-8BCA2BFE9A75}"/>
              </a:ext>
            </a:extLst>
          </p:cNvPr>
          <p:cNvSpPr>
            <a:spLocks noGrp="1"/>
          </p:cNvSpPr>
          <p:nvPr>
            <p:ph type="title"/>
          </p:nvPr>
        </p:nvSpPr>
        <p:spPr>
          <a:xfrm>
            <a:off x="588263" y="457200"/>
            <a:ext cx="11018520" cy="553998"/>
          </a:xfrm>
        </p:spPr>
        <p:txBody>
          <a:bodyPr/>
          <a:lstStyle/>
          <a:p>
            <a:r>
              <a:rPr lang="en-US"/>
              <a:t>Code- and design-first approaches to building APIs</a:t>
            </a:r>
          </a:p>
        </p:txBody>
      </p:sp>
      <p:sp>
        <p:nvSpPr>
          <p:cNvPr id="3" name="Text Placeholder 2">
            <a:extLst>
              <a:ext uri="{FF2B5EF4-FFF2-40B4-BE49-F238E27FC236}">
                <a16:creationId xmlns:a16="http://schemas.microsoft.com/office/drawing/2014/main" id="{1DCF7EF2-6A2B-4559-A76F-2A636299E0DE}"/>
              </a:ext>
            </a:extLst>
          </p:cNvPr>
          <p:cNvSpPr>
            <a:spLocks noGrp="1"/>
          </p:cNvSpPr>
          <p:nvPr>
            <p:ph type="body" sz="quarter" idx="10"/>
          </p:nvPr>
        </p:nvSpPr>
        <p:spPr>
          <a:xfrm>
            <a:off x="586390" y="1434370"/>
            <a:ext cx="11018520" cy="4493538"/>
          </a:xfrm>
        </p:spPr>
        <p:txBody>
          <a:bodyPr/>
          <a:lstStyle/>
          <a:p>
            <a:r>
              <a:rPr lang="en-US"/>
              <a:t>API Management supports both approaches to building APIs:</a:t>
            </a:r>
          </a:p>
          <a:p>
            <a:r>
              <a:rPr lang="en-US">
                <a:latin typeface="+mj-lt"/>
              </a:rPr>
              <a:t>Code-first approach</a:t>
            </a:r>
          </a:p>
          <a:p>
            <a:pPr lvl="1"/>
            <a:r>
              <a:rPr lang="en-US"/>
              <a:t>Implement the API and generate the API specification as an afterthought (i.e. with </a:t>
            </a:r>
            <a:r>
              <a:rPr lang="en-US" err="1"/>
              <a:t>Swashbuckle</a:t>
            </a:r>
            <a:r>
              <a:rPr lang="en-US"/>
              <a:t>)</a:t>
            </a:r>
          </a:p>
          <a:p>
            <a:pPr lvl="1"/>
            <a:r>
              <a:rPr lang="en-US"/>
              <a:t>Benefits: </a:t>
            </a:r>
          </a:p>
          <a:p>
            <a:pPr lvl="2"/>
            <a:r>
              <a:rPr lang="en-US"/>
              <a:t>More convenient for API developers</a:t>
            </a:r>
          </a:p>
          <a:p>
            <a:pPr lvl="2"/>
            <a:r>
              <a:rPr lang="en-US"/>
              <a:t>The only option for existing APIs</a:t>
            </a:r>
          </a:p>
          <a:p>
            <a:r>
              <a:rPr lang="en-US">
                <a:latin typeface="+mj-lt"/>
              </a:rPr>
              <a:t>Design-first approach</a:t>
            </a:r>
          </a:p>
          <a:p>
            <a:pPr lvl="1"/>
            <a:r>
              <a:rPr lang="en-US"/>
              <a:t>Create an API specification, review it with stakeholders, and implement the API</a:t>
            </a:r>
          </a:p>
          <a:p>
            <a:pPr lvl="1"/>
            <a:r>
              <a:rPr lang="en-US"/>
              <a:t>Kickstart development by scaffolding the code from the API specification</a:t>
            </a:r>
          </a:p>
          <a:p>
            <a:pPr lvl="1"/>
            <a:r>
              <a:rPr lang="en-US"/>
              <a:t>Benefits: </a:t>
            </a:r>
          </a:p>
          <a:p>
            <a:pPr lvl="2"/>
            <a:r>
              <a:rPr lang="en-US"/>
              <a:t>Better API consumer experience thanks to the deliberate API design</a:t>
            </a:r>
          </a:p>
          <a:p>
            <a:pPr lvl="2"/>
            <a:r>
              <a:rPr lang="en-US"/>
              <a:t>Reduced risk thanks to the API review processes</a:t>
            </a:r>
          </a:p>
        </p:txBody>
      </p:sp>
    </p:spTree>
    <p:extLst>
      <p:ext uri="{BB962C8B-B14F-4D97-AF65-F5344CB8AC3E}">
        <p14:creationId xmlns:p14="http://schemas.microsoft.com/office/powerpoint/2010/main" val="420698536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C4187-8124-4D6F-822D-F84B554D34DE}"/>
              </a:ext>
            </a:extLst>
          </p:cNvPr>
          <p:cNvSpPr>
            <a:spLocks noGrp="1"/>
          </p:cNvSpPr>
          <p:nvPr>
            <p:ph type="title"/>
          </p:nvPr>
        </p:nvSpPr>
        <p:spPr>
          <a:xfrm>
            <a:off x="588263" y="421361"/>
            <a:ext cx="4158362" cy="553998"/>
          </a:xfrm>
        </p:spPr>
        <p:txBody>
          <a:bodyPr/>
          <a:lstStyle/>
          <a:p>
            <a:r>
              <a:rPr lang="en-US"/>
              <a:t>Create an API</a:t>
            </a:r>
          </a:p>
        </p:txBody>
      </p:sp>
      <p:sp>
        <p:nvSpPr>
          <p:cNvPr id="7" name="Text Placeholder 6">
            <a:extLst>
              <a:ext uri="{FF2B5EF4-FFF2-40B4-BE49-F238E27FC236}">
                <a16:creationId xmlns:a16="http://schemas.microsoft.com/office/drawing/2014/main" id="{CCBE7EFA-E398-4F3C-8AC4-BBCBA215323F}"/>
              </a:ext>
            </a:extLst>
          </p:cNvPr>
          <p:cNvSpPr>
            <a:spLocks noGrp="1"/>
          </p:cNvSpPr>
          <p:nvPr>
            <p:ph type="body" sz="quarter" idx="10"/>
          </p:nvPr>
        </p:nvSpPr>
        <p:spPr>
          <a:xfrm>
            <a:off x="584200" y="1855330"/>
            <a:ext cx="4162425" cy="3927229"/>
          </a:xfrm>
        </p:spPr>
        <p:txBody>
          <a:bodyPr/>
          <a:lstStyle/>
          <a:p>
            <a:r>
              <a:rPr lang="en-US"/>
              <a:t>Support for SOAP, REST, WebSocket and </a:t>
            </a:r>
            <a:r>
              <a:rPr lang="en-US" err="1"/>
              <a:t>GraphQL</a:t>
            </a:r>
            <a:r>
              <a:rPr lang="en-US"/>
              <a:t> APIs</a:t>
            </a:r>
            <a:br>
              <a:rPr lang="en-US"/>
            </a:br>
            <a:endParaRPr lang="en-US"/>
          </a:p>
          <a:p>
            <a:r>
              <a:rPr lang="en-US"/>
              <a:t>Import an API from </a:t>
            </a:r>
            <a:r>
              <a:rPr lang="en-US" err="1"/>
              <a:t>OpenAPI</a:t>
            </a:r>
            <a:r>
              <a:rPr lang="en-US"/>
              <a:t> (1, 2, or 3), WADL, or WSDL files</a:t>
            </a:r>
            <a:br>
              <a:rPr lang="en-US"/>
            </a:br>
            <a:endParaRPr lang="en-US"/>
          </a:p>
          <a:p>
            <a:r>
              <a:rPr lang="en-US"/>
              <a:t>Import an API from App Service, Logic App, Function App, or Container App</a:t>
            </a:r>
            <a:br>
              <a:rPr lang="en-US"/>
            </a:br>
            <a:endParaRPr lang="en-US"/>
          </a:p>
          <a:p>
            <a:r>
              <a:rPr lang="en-US"/>
              <a:t>Create a blank API</a:t>
            </a:r>
          </a:p>
        </p:txBody>
      </p:sp>
      <p:pic>
        <p:nvPicPr>
          <p:cNvPr id="4" name="Picture 3" descr="The image displays a visual representation of various APIs and their integration options, including Microsoft Foundry, Azure Resource, and different protocols such as A2A, OpenAI, REST, SOAP, OData, gRPC, and WebSocket.&#10;&#10;AI-generated content may be incorrect.">
            <a:extLst>
              <a:ext uri="{FF2B5EF4-FFF2-40B4-BE49-F238E27FC236}">
                <a16:creationId xmlns:a16="http://schemas.microsoft.com/office/drawing/2014/main" id="{AE508279-7016-7A4D-3AFA-35789F216202}"/>
              </a:ext>
            </a:extLst>
          </p:cNvPr>
          <p:cNvPicPr>
            <a:picLocks noChangeAspect="1"/>
          </p:cNvPicPr>
          <p:nvPr/>
        </p:nvPicPr>
        <p:blipFill>
          <a:blip r:embed="rId3"/>
          <a:stretch>
            <a:fillRect/>
          </a:stretch>
        </p:blipFill>
        <p:spPr>
          <a:xfrm>
            <a:off x="5635178" y="0"/>
            <a:ext cx="6475736" cy="6858000"/>
          </a:xfrm>
          <a:prstGeom prst="rect">
            <a:avLst/>
          </a:prstGeom>
        </p:spPr>
      </p:pic>
    </p:spTree>
    <p:extLst>
      <p:ext uri="{BB962C8B-B14F-4D97-AF65-F5344CB8AC3E}">
        <p14:creationId xmlns:p14="http://schemas.microsoft.com/office/powerpoint/2010/main" val="265703328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A6A59-E00D-6E80-C740-BF0FE032D23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1DB3074-7E1A-338F-C1B8-BFC0FCF9CEAE}"/>
              </a:ext>
            </a:extLst>
          </p:cNvPr>
          <p:cNvPicPr>
            <a:picLocks noChangeAspect="1"/>
          </p:cNvPicPr>
          <p:nvPr/>
        </p:nvPicPr>
        <p:blipFill>
          <a:blip r:embed="rId3"/>
          <a:stretch>
            <a:fillRect/>
          </a:stretch>
        </p:blipFill>
        <p:spPr>
          <a:xfrm>
            <a:off x="1173006" y="1111422"/>
            <a:ext cx="9223601" cy="5191247"/>
          </a:xfrm>
          <a:prstGeom prst="rect">
            <a:avLst/>
          </a:prstGeom>
        </p:spPr>
      </p:pic>
      <p:sp>
        <p:nvSpPr>
          <p:cNvPr id="2" name="TextBox 1">
            <a:extLst>
              <a:ext uri="{FF2B5EF4-FFF2-40B4-BE49-F238E27FC236}">
                <a16:creationId xmlns:a16="http://schemas.microsoft.com/office/drawing/2014/main" id="{0DD20201-47ED-3F16-A0A7-A1A638580F9B}"/>
              </a:ext>
            </a:extLst>
          </p:cNvPr>
          <p:cNvSpPr txBox="1"/>
          <p:nvPr/>
        </p:nvSpPr>
        <p:spPr>
          <a:xfrm>
            <a:off x="471594" y="382760"/>
            <a:ext cx="4166816"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000">
                <a:cs typeface="Segoe UI"/>
              </a:rPr>
              <a:t>API vs Operations</a:t>
            </a:r>
            <a:endParaRPr lang="en-US" sz="4000"/>
          </a:p>
        </p:txBody>
      </p:sp>
    </p:spTree>
    <p:extLst>
      <p:ext uri="{BB962C8B-B14F-4D97-AF65-F5344CB8AC3E}">
        <p14:creationId xmlns:p14="http://schemas.microsoft.com/office/powerpoint/2010/main" val="242746691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There’s a </a:t>
            </a:r>
            <a:r>
              <a:rPr lang="en-US">
                <a:hlinkClick r:id="rId3"/>
              </a:rPr>
              <a:t>policy</a:t>
            </a:r>
            <a:r>
              <a:rPr lang="en-US"/>
              <a:t> for that</a:t>
            </a:r>
          </a:p>
        </p:txBody>
      </p:sp>
      <p:sp>
        <p:nvSpPr>
          <p:cNvPr id="3" name="Text Placeholder 2"/>
          <p:cNvSpPr>
            <a:spLocks noGrp="1"/>
          </p:cNvSpPr>
          <p:nvPr>
            <p:ph type="body" sz="quarter" idx="10"/>
          </p:nvPr>
        </p:nvSpPr>
        <p:spPr>
          <a:xfrm>
            <a:off x="586390" y="1434370"/>
            <a:ext cx="11018520" cy="4653582"/>
          </a:xfrm>
        </p:spPr>
        <p:txBody>
          <a:bodyPr/>
          <a:lstStyle/>
          <a:p>
            <a:pPr>
              <a:lnSpc>
                <a:spcPct val="100000"/>
              </a:lnSpc>
            </a:pPr>
            <a:r>
              <a:rPr lang="en-US" sz="2400"/>
              <a:t>Encapsulate common API management functions</a:t>
            </a:r>
          </a:p>
          <a:p>
            <a:pPr lvl="1">
              <a:lnSpc>
                <a:spcPct val="100000"/>
              </a:lnSpc>
            </a:pPr>
            <a:r>
              <a:rPr lang="en-US" sz="1800"/>
              <a:t>Access control, Protection, Transformation, Caching, </a:t>
            </a:r>
            <a:r>
              <a:rPr lang="mr-IN" sz="1800"/>
              <a:t>…</a:t>
            </a:r>
            <a:endParaRPr lang="en-US" sz="1800"/>
          </a:p>
          <a:p>
            <a:pPr>
              <a:lnSpc>
                <a:spcPct val="100000"/>
              </a:lnSpc>
            </a:pPr>
            <a:endParaRPr lang="en-US" sz="700"/>
          </a:p>
          <a:p>
            <a:pPr>
              <a:lnSpc>
                <a:spcPct val="100000"/>
              </a:lnSpc>
            </a:pPr>
            <a:r>
              <a:rPr lang="en-US" sz="2400"/>
              <a:t>Mutate request context or change API behavior</a:t>
            </a:r>
          </a:p>
          <a:p>
            <a:pPr lvl="1">
              <a:lnSpc>
                <a:spcPct val="100000"/>
              </a:lnSpc>
            </a:pPr>
            <a:r>
              <a:rPr lang="en-US" sz="1800"/>
              <a:t>E.g. add a header or throttle</a:t>
            </a:r>
          </a:p>
          <a:p>
            <a:pPr>
              <a:lnSpc>
                <a:spcPct val="100000"/>
              </a:lnSpc>
            </a:pPr>
            <a:endParaRPr lang="en-US" sz="700"/>
          </a:p>
          <a:p>
            <a:pPr>
              <a:lnSpc>
                <a:spcPct val="100000"/>
              </a:lnSpc>
            </a:pPr>
            <a:r>
              <a:rPr lang="en-US" sz="2400"/>
              <a:t>Set in the inbound and outbound directions</a:t>
            </a:r>
          </a:p>
          <a:p>
            <a:pPr>
              <a:lnSpc>
                <a:spcPct val="100000"/>
              </a:lnSpc>
            </a:pPr>
            <a:endParaRPr lang="en-US" sz="700"/>
          </a:p>
          <a:p>
            <a:pPr>
              <a:lnSpc>
                <a:spcPct val="100000"/>
              </a:lnSpc>
            </a:pPr>
            <a:r>
              <a:rPr lang="en-US" sz="2400"/>
              <a:t>Apply at a variety of scopes or on error</a:t>
            </a:r>
          </a:p>
          <a:p>
            <a:pPr lvl="1">
              <a:lnSpc>
                <a:spcPct val="100000"/>
              </a:lnSpc>
            </a:pPr>
            <a:r>
              <a:rPr lang="en-US" sz="1800"/>
              <a:t>Scope determines which APIs are affected</a:t>
            </a:r>
          </a:p>
          <a:p>
            <a:pPr lvl="1">
              <a:lnSpc>
                <a:spcPct val="100000"/>
              </a:lnSpc>
            </a:pPr>
            <a:r>
              <a:rPr lang="en-US" sz="1800"/>
              <a:t>Can define custom scopes in addition to four available b default</a:t>
            </a:r>
          </a:p>
          <a:p>
            <a:pPr>
              <a:lnSpc>
                <a:spcPct val="100000"/>
              </a:lnSpc>
            </a:pPr>
            <a:endParaRPr lang="en-US" sz="700"/>
          </a:p>
          <a:p>
            <a:pPr>
              <a:lnSpc>
                <a:spcPct val="100000"/>
              </a:lnSpc>
            </a:pPr>
            <a:r>
              <a:rPr lang="en-US" sz="2400"/>
              <a:t>Compose into a pipeline from effective scopes</a:t>
            </a:r>
          </a:p>
          <a:p>
            <a:pPr lvl="1">
              <a:lnSpc>
                <a:spcPct val="100000"/>
              </a:lnSpc>
            </a:pPr>
            <a:r>
              <a:rPr lang="en-US" sz="1800"/>
              <a:t>Degree of control over inheritance of scopes, i.e. &lt;base/&gt; element</a:t>
            </a:r>
          </a:p>
          <a:p>
            <a:pPr lvl="1">
              <a:lnSpc>
                <a:spcPct val="100000"/>
              </a:lnSpc>
            </a:pPr>
            <a:r>
              <a:rPr lang="en-US" sz="1800"/>
              <a:t>Don’t delete &lt;base/&gt; inadvertently </a:t>
            </a:r>
          </a:p>
        </p:txBody>
      </p:sp>
      <p:sp>
        <p:nvSpPr>
          <p:cNvPr id="5" name="Rectangle 4">
            <a:hlinkClick r:id="rId4"/>
            <a:extLst>
              <a:ext uri="{FF2B5EF4-FFF2-40B4-BE49-F238E27FC236}">
                <a16:creationId xmlns:a16="http://schemas.microsoft.com/office/drawing/2014/main" id="{05DB9280-B0F3-1646-A048-BAC09DDAC31B}"/>
              </a:ext>
            </a:extLst>
          </p:cNvPr>
          <p:cNvSpPr/>
          <p:nvPr/>
        </p:nvSpPr>
        <p:spPr>
          <a:xfrm>
            <a:off x="580834" y="6246911"/>
            <a:ext cx="2827121" cy="307777"/>
          </a:xfrm>
          <a:prstGeom prst="rect">
            <a:avLst/>
          </a:prstGeom>
        </p:spPr>
        <p:txBody>
          <a:bodyPr wrap="non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ea"/>
                <a:cs typeface="+mn-cs"/>
                <a:hlinkClick r:id="rId4"/>
              </a:rPr>
              <a:t>http://aka.ms/apimpolicyexamples</a:t>
            </a:r>
            <a:endParaRPr kumimoji="0" lang="en-US" sz="1400" b="0" i="0" u="none" strike="noStrike" kern="1200" cap="none" spc="0" normalizeH="0" baseline="0" noProof="0">
              <a:ln>
                <a:noFill/>
              </a:ln>
              <a:solidFill>
                <a:srgbClr val="000000"/>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9AF06D6-FA36-FC43-A462-0486A100A0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84046" y="-1"/>
            <a:ext cx="10972800" cy="6858000"/>
          </a:xfrm>
          <a:prstGeom prst="rect">
            <a:avLst/>
          </a:prstGeom>
        </p:spPr>
      </p:pic>
    </p:spTree>
    <p:extLst>
      <p:ext uri="{BB962C8B-B14F-4D97-AF65-F5344CB8AC3E}">
        <p14:creationId xmlns:p14="http://schemas.microsoft.com/office/powerpoint/2010/main" val="3535724183"/>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Policy scopes</a:t>
            </a:r>
          </a:p>
        </p:txBody>
      </p:sp>
      <p:sp>
        <p:nvSpPr>
          <p:cNvPr id="10" name="Rectangle 9"/>
          <p:cNvSpPr/>
          <p:nvPr/>
        </p:nvSpPr>
        <p:spPr bwMode="auto">
          <a:xfrm>
            <a:off x="4971391" y="3888743"/>
            <a:ext cx="2859392" cy="1098091"/>
          </a:xfrm>
          <a:prstGeom prst="rect">
            <a:avLst/>
          </a:prstGeom>
          <a:noFill/>
          <a:ln w="28575">
            <a:solidFill>
              <a:srgbClr val="7030A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8" name="Rectangle 17"/>
          <p:cNvSpPr/>
          <p:nvPr/>
        </p:nvSpPr>
        <p:spPr bwMode="auto">
          <a:xfrm>
            <a:off x="4367045" y="3208476"/>
            <a:ext cx="4046311" cy="2100949"/>
          </a:xfrm>
          <a:prstGeom prst="rect">
            <a:avLst/>
          </a:prstGeom>
          <a:noFill/>
          <a:ln w="28575">
            <a:solidFill>
              <a:srgbClr val="0070C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50E6FF">
                  <a:lumMod val="60000"/>
                  <a:lumOff val="40000"/>
                </a:srgbClr>
              </a:solidFill>
              <a:effectLst/>
              <a:uLnTx/>
              <a:uFillTx/>
              <a:latin typeface="Segoe UI"/>
              <a:ea typeface="Segoe UI" pitchFamily="34" charset="0"/>
              <a:cs typeface="Segoe UI" pitchFamily="34" charset="0"/>
            </a:endParaRPr>
          </a:p>
        </p:txBody>
      </p:sp>
      <p:sp>
        <p:nvSpPr>
          <p:cNvPr id="19" name="Rectangle 18"/>
          <p:cNvSpPr/>
          <p:nvPr/>
        </p:nvSpPr>
        <p:spPr bwMode="auto">
          <a:xfrm>
            <a:off x="3763451" y="2502541"/>
            <a:ext cx="5212384" cy="3123642"/>
          </a:xfrm>
          <a:prstGeom prst="rect">
            <a:avLst/>
          </a:prstGeom>
          <a:noFill/>
          <a:ln w="28575">
            <a:solidFill>
              <a:srgbClr val="92D05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00B050"/>
              </a:solidFill>
              <a:effectLst/>
              <a:uLnTx/>
              <a:uFillTx/>
              <a:latin typeface="Segoe UI"/>
              <a:ea typeface="Segoe UI" pitchFamily="34" charset="0"/>
              <a:cs typeface="Segoe UI" pitchFamily="34" charset="0"/>
            </a:endParaRPr>
          </a:p>
        </p:txBody>
      </p:sp>
      <p:sp>
        <p:nvSpPr>
          <p:cNvPr id="20" name="Rectangle 19"/>
          <p:cNvSpPr/>
          <p:nvPr/>
        </p:nvSpPr>
        <p:spPr bwMode="auto">
          <a:xfrm>
            <a:off x="3200971" y="1786756"/>
            <a:ext cx="6394076" cy="4225161"/>
          </a:xfrm>
          <a:prstGeom prst="rect">
            <a:avLst/>
          </a:prstGeom>
          <a:noFill/>
          <a:ln w="28575">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1" name="TextBox 20"/>
          <p:cNvSpPr txBox="1"/>
          <p:nvPr/>
        </p:nvSpPr>
        <p:spPr>
          <a:xfrm>
            <a:off x="8863819" y="1731763"/>
            <a:ext cx="844718"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FF0000"/>
                </a:solidFill>
                <a:effectLst/>
                <a:uLnTx/>
                <a:uFillTx/>
                <a:latin typeface="Segoe UI"/>
                <a:ea typeface="+mn-ea"/>
                <a:cs typeface="+mn-cs"/>
              </a:rPr>
              <a:t>global</a:t>
            </a:r>
            <a:endParaRPr kumimoji="0" lang="en-US" sz="1400" b="0" i="0" u="none" strike="noStrike" kern="1200" cap="none" spc="0" normalizeH="0" baseline="0" noProof="0">
              <a:ln>
                <a:noFill/>
              </a:ln>
              <a:solidFill>
                <a:srgbClr val="243A5E">
                  <a:lumMod val="60000"/>
                  <a:lumOff val="40000"/>
                </a:srgbClr>
              </a:solidFill>
              <a:effectLst/>
              <a:uLnTx/>
              <a:uFillTx/>
              <a:latin typeface="Segoe UI"/>
              <a:ea typeface="+mn-ea"/>
              <a:cs typeface="+mn-cs"/>
            </a:endParaRPr>
          </a:p>
        </p:txBody>
      </p:sp>
      <p:sp>
        <p:nvSpPr>
          <p:cNvPr id="22" name="TextBox 21"/>
          <p:cNvSpPr txBox="1"/>
          <p:nvPr/>
        </p:nvSpPr>
        <p:spPr>
          <a:xfrm>
            <a:off x="8063273" y="2396359"/>
            <a:ext cx="992131"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B050"/>
                </a:solidFill>
                <a:effectLst/>
                <a:uLnTx/>
                <a:uFillTx/>
                <a:latin typeface="Segoe UI"/>
                <a:ea typeface="+mn-ea"/>
                <a:cs typeface="+mn-cs"/>
              </a:rPr>
              <a:t>product</a:t>
            </a:r>
          </a:p>
        </p:txBody>
      </p:sp>
      <p:sp>
        <p:nvSpPr>
          <p:cNvPr id="23" name="TextBox 22"/>
          <p:cNvSpPr txBox="1"/>
          <p:nvPr/>
        </p:nvSpPr>
        <p:spPr>
          <a:xfrm>
            <a:off x="7889791" y="3125152"/>
            <a:ext cx="601768"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err="1">
                <a:ln>
                  <a:noFill/>
                </a:ln>
                <a:solidFill>
                  <a:srgbClr val="0070C0"/>
                </a:solidFill>
                <a:effectLst/>
                <a:uLnTx/>
                <a:uFillTx/>
                <a:latin typeface="Segoe UI"/>
                <a:ea typeface="+mn-ea"/>
                <a:cs typeface="+mn-cs"/>
              </a:rPr>
              <a:t>api</a:t>
            </a:r>
            <a:endParaRPr kumimoji="0" lang="en-US" sz="1400" b="0" i="0" u="none" strike="noStrike" kern="1200" cap="none" spc="0" normalizeH="0" baseline="0" noProof="0">
              <a:ln>
                <a:noFill/>
              </a:ln>
              <a:solidFill>
                <a:srgbClr val="50E6FF">
                  <a:lumMod val="20000"/>
                  <a:lumOff val="80000"/>
                </a:srgbClr>
              </a:solidFill>
              <a:effectLst/>
              <a:uLnTx/>
              <a:uFillTx/>
              <a:latin typeface="Segoe UI"/>
              <a:ea typeface="+mn-ea"/>
              <a:cs typeface="+mn-cs"/>
            </a:endParaRPr>
          </a:p>
        </p:txBody>
      </p:sp>
      <p:sp>
        <p:nvSpPr>
          <p:cNvPr id="24" name="TextBox 23"/>
          <p:cNvSpPr txBox="1"/>
          <p:nvPr/>
        </p:nvSpPr>
        <p:spPr>
          <a:xfrm>
            <a:off x="6798454" y="3796542"/>
            <a:ext cx="1140377"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7030A0"/>
                </a:solidFill>
                <a:effectLst/>
                <a:uLnTx/>
                <a:uFillTx/>
                <a:latin typeface="Segoe UI"/>
                <a:ea typeface="+mn-ea"/>
                <a:cs typeface="+mn-cs"/>
              </a:rPr>
              <a:t>operation</a:t>
            </a:r>
          </a:p>
        </p:txBody>
      </p:sp>
      <p:sp>
        <p:nvSpPr>
          <p:cNvPr id="27" name="TextBox 26"/>
          <p:cNvSpPr txBox="1"/>
          <p:nvPr/>
        </p:nvSpPr>
        <p:spPr>
          <a:xfrm rot="16200000">
            <a:off x="2472190" y="2954342"/>
            <a:ext cx="1015343"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inbound</a:t>
            </a:r>
          </a:p>
        </p:txBody>
      </p:sp>
      <p:sp>
        <p:nvSpPr>
          <p:cNvPr id="28" name="TextBox 27"/>
          <p:cNvSpPr txBox="1"/>
          <p:nvPr/>
        </p:nvSpPr>
        <p:spPr>
          <a:xfrm rot="16200000">
            <a:off x="2412078" y="5105239"/>
            <a:ext cx="1135567"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outbound</a:t>
            </a:r>
          </a:p>
        </p:txBody>
      </p:sp>
      <p:cxnSp>
        <p:nvCxnSpPr>
          <p:cNvPr id="30" name="Straight Arrow Connector 29"/>
          <p:cNvCxnSpPr/>
          <p:nvPr/>
        </p:nvCxnSpPr>
        <p:spPr>
          <a:xfrm>
            <a:off x="10106276" y="3200286"/>
            <a:ext cx="1471448"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10167117" y="5423649"/>
            <a:ext cx="1471448" cy="0"/>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0276211" y="2710921"/>
            <a:ext cx="1226170"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1" u="none" strike="noStrike" kern="1200" cap="none" spc="0" normalizeH="0" baseline="0" noProof="0">
                <a:ln>
                  <a:noFill/>
                </a:ln>
                <a:solidFill>
                  <a:srgbClr val="000000">
                    <a:lumMod val="40000"/>
                    <a:lumOff val="60000"/>
                  </a:srgbClr>
                </a:solidFill>
                <a:effectLst/>
                <a:uLnTx/>
                <a:uFillTx/>
                <a:latin typeface="Segoe UI"/>
                <a:ea typeface="+mn-ea"/>
                <a:cs typeface="+mn-cs"/>
              </a:rPr>
              <a:t>to backend</a:t>
            </a:r>
          </a:p>
        </p:txBody>
      </p:sp>
      <p:sp>
        <p:nvSpPr>
          <p:cNvPr id="33" name="TextBox 32"/>
          <p:cNvSpPr txBox="1"/>
          <p:nvPr/>
        </p:nvSpPr>
        <p:spPr>
          <a:xfrm>
            <a:off x="10198641" y="4986834"/>
            <a:ext cx="1408399"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1" u="none" strike="noStrike" kern="1200" cap="none" spc="0" normalizeH="0" baseline="0" noProof="0">
                <a:ln>
                  <a:noFill/>
                </a:ln>
                <a:solidFill>
                  <a:srgbClr val="000000">
                    <a:lumMod val="40000"/>
                    <a:lumOff val="60000"/>
                  </a:srgbClr>
                </a:solidFill>
                <a:effectLst/>
                <a:uLnTx/>
                <a:uFillTx/>
                <a:latin typeface="Segoe UI"/>
                <a:ea typeface="+mn-ea"/>
                <a:cs typeface="+mn-cs"/>
              </a:rPr>
              <a:t>from backend</a:t>
            </a:r>
          </a:p>
        </p:txBody>
      </p:sp>
      <p:cxnSp>
        <p:nvCxnSpPr>
          <p:cNvPr id="34" name="Straight Arrow Connector 33"/>
          <p:cNvCxnSpPr/>
          <p:nvPr/>
        </p:nvCxnSpPr>
        <p:spPr>
          <a:xfrm>
            <a:off x="771196" y="3200421"/>
            <a:ext cx="1471448"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761438" y="5349922"/>
            <a:ext cx="1471448" cy="0"/>
          </a:xfrm>
          <a:prstGeom prst="straightConnector1">
            <a:avLst/>
          </a:prstGeom>
          <a:ln>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941131" y="2711056"/>
            <a:ext cx="1179169"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1" u="none" strike="noStrike" kern="1200" cap="none" spc="0" normalizeH="0" baseline="0" noProof="0">
                <a:ln>
                  <a:noFill/>
                </a:ln>
                <a:solidFill>
                  <a:srgbClr val="000000">
                    <a:lumMod val="40000"/>
                    <a:lumOff val="60000"/>
                  </a:srgbClr>
                </a:solidFill>
                <a:effectLst/>
                <a:uLnTx/>
                <a:uFillTx/>
                <a:latin typeface="Segoe UI"/>
                <a:ea typeface="+mn-ea"/>
                <a:cs typeface="+mn-cs"/>
              </a:rPr>
              <a:t>from caller</a:t>
            </a:r>
          </a:p>
        </p:txBody>
      </p:sp>
      <p:sp>
        <p:nvSpPr>
          <p:cNvPr id="37" name="TextBox 36"/>
          <p:cNvSpPr txBox="1"/>
          <p:nvPr/>
        </p:nvSpPr>
        <p:spPr>
          <a:xfrm>
            <a:off x="931373" y="4860556"/>
            <a:ext cx="972061" cy="489365"/>
          </a:xfrm>
          <a:prstGeom prst="rect">
            <a:avLst/>
          </a:prstGeom>
          <a:noFill/>
        </p:spPr>
        <p:txBody>
          <a:bodyPr wrap="none" lIns="182880" tIns="146304"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1" u="none" strike="noStrike" kern="1200" cap="none" spc="0" normalizeH="0" baseline="0" noProof="0">
                <a:ln>
                  <a:noFill/>
                </a:ln>
                <a:solidFill>
                  <a:srgbClr val="000000">
                    <a:lumMod val="40000"/>
                    <a:lumOff val="60000"/>
                  </a:srgbClr>
                </a:solidFill>
                <a:effectLst/>
                <a:uLnTx/>
                <a:uFillTx/>
                <a:latin typeface="Segoe UI"/>
                <a:ea typeface="+mn-ea"/>
                <a:cs typeface="+mn-cs"/>
              </a:rPr>
              <a:t>to caller</a:t>
            </a:r>
          </a:p>
        </p:txBody>
      </p:sp>
      <p:sp>
        <p:nvSpPr>
          <p:cNvPr id="38" name="TextBox 37"/>
          <p:cNvSpPr txBox="1"/>
          <p:nvPr/>
        </p:nvSpPr>
        <p:spPr>
          <a:xfrm>
            <a:off x="775442" y="1784552"/>
            <a:ext cx="2319230" cy="1154162"/>
          </a:xfrm>
          <a:prstGeom prst="rect">
            <a:avLst/>
          </a:prstGeom>
          <a:noFill/>
        </p:spPr>
        <p:txBody>
          <a:bodyPr wrap="square" lIns="0" tIns="0" rIns="182880" bIns="146304"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icrosoft Sans Serif" charset="0"/>
                <a:cs typeface="Microsoft Sans Serif" charset="0"/>
              </a:rPr>
              <a:t>GET /foo/bar HTTP/1.1</a:t>
            </a:r>
          </a:p>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icrosoft Sans Serif" charset="0"/>
                <a:cs typeface="Microsoft Sans Serif" charset="0"/>
              </a:rPr>
              <a:t>Host: </a:t>
            </a:r>
            <a:r>
              <a:rPr kumimoji="0" lang="en-US" sz="1400" b="0" i="0" u="none" strike="noStrike" kern="1200" cap="none" spc="0" normalizeH="0" baseline="0" noProof="0" err="1">
                <a:ln>
                  <a:noFill/>
                </a:ln>
                <a:solidFill>
                  <a:srgbClr val="000000"/>
                </a:solidFill>
                <a:effectLst/>
                <a:uLnTx/>
                <a:uFillTx/>
                <a:latin typeface="Segoe UI Semibold"/>
                <a:ea typeface="Microsoft Sans Serif" charset="0"/>
                <a:cs typeface="Microsoft Sans Serif" charset="0"/>
              </a:rPr>
              <a:t>api.constoso.com</a:t>
            </a:r>
            <a:endParaRPr kumimoji="0" lang="en-US" sz="1400" b="0" i="0" u="none" strike="noStrike" kern="1200" cap="none" spc="0" normalizeH="0" baseline="0" noProof="0">
              <a:ln>
                <a:noFill/>
              </a:ln>
              <a:solidFill>
                <a:srgbClr val="000000"/>
              </a:solidFill>
              <a:effectLst/>
              <a:uLnTx/>
              <a:uFillTx/>
              <a:latin typeface="Segoe UI Semibold"/>
              <a:ea typeface="Microsoft Sans Serif" charset="0"/>
              <a:cs typeface="Microsoft Sans Serif" charset="0"/>
            </a:endParaRPr>
          </a:p>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icrosoft Sans Serif" charset="0"/>
                <a:cs typeface="Microsoft Sans Serif" charset="0"/>
              </a:rPr>
              <a:t>Key: 0123456789</a:t>
            </a:r>
          </a:p>
          <a:p>
            <a:pPr marL="0" marR="0" lvl="0" indent="0" algn="l" defTabSz="914367" rtl="0" eaLnBrk="1" fontAlgn="auto" latinLnBrk="0" hangingPunct="1">
              <a:lnSpc>
                <a:spcPct val="90000"/>
              </a:lnSpc>
              <a:spcBef>
                <a:spcPts val="0"/>
              </a:spcBef>
              <a:spcAft>
                <a:spcPts val="60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UI Semibold"/>
              <a:ea typeface="Microsoft Sans Serif" charset="0"/>
              <a:cs typeface="Microsoft Sans Serif" charset="0"/>
            </a:endParaRPr>
          </a:p>
        </p:txBody>
      </p:sp>
      <p:sp>
        <p:nvSpPr>
          <p:cNvPr id="39" name="Rectangle 38"/>
          <p:cNvSpPr/>
          <p:nvPr/>
        </p:nvSpPr>
        <p:spPr>
          <a:xfrm>
            <a:off x="3787024" y="2502541"/>
            <a:ext cx="1267385" cy="307777"/>
          </a:xfrm>
          <a:prstGeom prst="rect">
            <a:avLst/>
          </a:prstGeom>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icrosoft Sans Serif" charset="0"/>
                <a:cs typeface="Microsoft Sans Serif" charset="0"/>
              </a:rPr>
              <a:t>0123456789</a:t>
            </a:r>
            <a:endParaRPr kumimoji="0" lang="en-US" sz="1400"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40" name="Rectangle 39"/>
          <p:cNvSpPr/>
          <p:nvPr/>
        </p:nvSpPr>
        <p:spPr>
          <a:xfrm>
            <a:off x="4367045" y="3233763"/>
            <a:ext cx="1114101" cy="307777"/>
          </a:xfrm>
          <a:prstGeom prst="rect">
            <a:avLst/>
          </a:prstGeom>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Segoe UI Semibold"/>
                <a:ea typeface="Microsoft Sans Serif" charset="0"/>
                <a:cs typeface="Microsoft Sans Serif" charset="0"/>
              </a:rPr>
              <a:t>/foo</a:t>
            </a:r>
            <a:endParaRPr kumimoji="0" lang="en-US" sz="1400" b="1" i="0" u="none" strike="noStrike" kern="1200" cap="none" spc="0" normalizeH="0" baseline="0" noProof="0">
              <a:ln>
                <a:noFill/>
              </a:ln>
              <a:solidFill>
                <a:srgbClr val="000000"/>
              </a:solidFill>
              <a:effectLst/>
              <a:uLnTx/>
              <a:uFillTx/>
              <a:latin typeface="Segoe UI Semibold"/>
              <a:ea typeface="+mn-ea"/>
              <a:cs typeface="+mn-cs"/>
            </a:endParaRPr>
          </a:p>
        </p:txBody>
      </p:sp>
      <p:sp>
        <p:nvSpPr>
          <p:cNvPr id="42" name="Rectangle 41"/>
          <p:cNvSpPr/>
          <p:nvPr/>
        </p:nvSpPr>
        <p:spPr>
          <a:xfrm>
            <a:off x="4971391" y="3900091"/>
            <a:ext cx="1114101" cy="307777"/>
          </a:xfrm>
          <a:prstGeom prst="rect">
            <a:avLst/>
          </a:prstGeom>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Semibold"/>
                <a:ea typeface="Microsoft Sans Serif" charset="0"/>
                <a:cs typeface="Microsoft Sans Serif" charset="0"/>
              </a:rPr>
              <a:t>/bar</a:t>
            </a:r>
            <a:endParaRPr kumimoji="0" lang="en-US" sz="1400" b="0" i="0" u="none" strike="noStrike" kern="1200" cap="none" spc="0" normalizeH="0" baseline="0" noProof="0">
              <a:ln>
                <a:noFill/>
              </a:ln>
              <a:solidFill>
                <a:srgbClr val="000000"/>
              </a:solidFill>
              <a:effectLst/>
              <a:uLnTx/>
              <a:uFillTx/>
              <a:latin typeface="Segoe UI Semibold"/>
              <a:ea typeface="+mn-ea"/>
              <a:cs typeface="+mn-cs"/>
            </a:endParaRPr>
          </a:p>
        </p:txBody>
      </p:sp>
      <p:grpSp>
        <p:nvGrpSpPr>
          <p:cNvPr id="72" name="Group 71"/>
          <p:cNvGrpSpPr/>
          <p:nvPr/>
        </p:nvGrpSpPr>
        <p:grpSpPr>
          <a:xfrm>
            <a:off x="5481146" y="1910120"/>
            <a:ext cx="849478" cy="461665"/>
            <a:chOff x="5273495" y="1910055"/>
            <a:chExt cx="849478" cy="461665"/>
          </a:xfrm>
        </p:grpSpPr>
        <p:sp>
          <p:nvSpPr>
            <p:cNvPr id="43" name="Rectangle 42"/>
            <p:cNvSpPr/>
            <p:nvPr/>
          </p:nvSpPr>
          <p:spPr bwMode="auto">
            <a:xfrm>
              <a:off x="5340400" y="2005654"/>
              <a:ext cx="715668" cy="231228"/>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3" name="TextBox 52"/>
            <p:cNvSpPr txBox="1"/>
            <p:nvPr/>
          </p:nvSpPr>
          <p:spPr>
            <a:xfrm>
              <a:off x="5273495" y="1910055"/>
              <a:ext cx="849478" cy="461665"/>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CORS</a:t>
              </a:r>
            </a:p>
          </p:txBody>
        </p:sp>
      </p:grpSp>
      <p:grpSp>
        <p:nvGrpSpPr>
          <p:cNvPr id="73" name="Group 72"/>
          <p:cNvGrpSpPr/>
          <p:nvPr/>
        </p:nvGrpSpPr>
        <p:grpSpPr>
          <a:xfrm>
            <a:off x="6377223" y="1906473"/>
            <a:ext cx="715668" cy="461665"/>
            <a:chOff x="8429377" y="351873"/>
            <a:chExt cx="715668" cy="461665"/>
          </a:xfrm>
        </p:grpSpPr>
        <p:sp>
          <p:nvSpPr>
            <p:cNvPr id="56" name="TextBox 55"/>
            <p:cNvSpPr txBox="1"/>
            <p:nvPr/>
          </p:nvSpPr>
          <p:spPr>
            <a:xfrm>
              <a:off x="8451539" y="351873"/>
              <a:ext cx="693506" cy="461665"/>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LOG</a:t>
              </a:r>
            </a:p>
          </p:txBody>
        </p:sp>
        <p:sp>
          <p:nvSpPr>
            <p:cNvPr id="71" name="Rectangle 70"/>
            <p:cNvSpPr/>
            <p:nvPr/>
          </p:nvSpPr>
          <p:spPr bwMode="auto">
            <a:xfrm>
              <a:off x="8429377" y="451165"/>
              <a:ext cx="715668" cy="231228"/>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74" name="Group 73"/>
          <p:cNvGrpSpPr/>
          <p:nvPr/>
        </p:nvGrpSpPr>
        <p:grpSpPr>
          <a:xfrm>
            <a:off x="5490615" y="2619968"/>
            <a:ext cx="849478" cy="461665"/>
            <a:chOff x="5273495" y="1910055"/>
            <a:chExt cx="849478" cy="461665"/>
          </a:xfrm>
        </p:grpSpPr>
        <p:sp>
          <p:nvSpPr>
            <p:cNvPr id="75" name="Rectangle 74"/>
            <p:cNvSpPr/>
            <p:nvPr/>
          </p:nvSpPr>
          <p:spPr bwMode="auto">
            <a:xfrm>
              <a:off x="5340400" y="2005654"/>
              <a:ext cx="715668" cy="231228"/>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6" name="TextBox 75"/>
            <p:cNvSpPr txBox="1"/>
            <p:nvPr/>
          </p:nvSpPr>
          <p:spPr>
            <a:xfrm>
              <a:off x="5273495" y="1910055"/>
              <a:ext cx="849478" cy="461665"/>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RATE</a:t>
              </a:r>
            </a:p>
          </p:txBody>
        </p:sp>
      </p:grpSp>
      <p:grpSp>
        <p:nvGrpSpPr>
          <p:cNvPr id="77" name="Group 76"/>
          <p:cNvGrpSpPr/>
          <p:nvPr/>
        </p:nvGrpSpPr>
        <p:grpSpPr>
          <a:xfrm>
            <a:off x="6238684" y="2616321"/>
            <a:ext cx="1062322" cy="461665"/>
            <a:chOff x="8281369" y="351873"/>
            <a:chExt cx="1062322" cy="461665"/>
          </a:xfrm>
        </p:grpSpPr>
        <p:sp>
          <p:nvSpPr>
            <p:cNvPr id="78" name="TextBox 77"/>
            <p:cNvSpPr txBox="1"/>
            <p:nvPr/>
          </p:nvSpPr>
          <p:spPr>
            <a:xfrm>
              <a:off x="8281369" y="351873"/>
              <a:ext cx="1062322" cy="461665"/>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QUOTA</a:t>
              </a:r>
            </a:p>
          </p:txBody>
        </p:sp>
        <p:sp>
          <p:nvSpPr>
            <p:cNvPr id="79" name="Rectangle 78"/>
            <p:cNvSpPr/>
            <p:nvPr/>
          </p:nvSpPr>
          <p:spPr bwMode="auto">
            <a:xfrm>
              <a:off x="8429377" y="451165"/>
              <a:ext cx="715668" cy="231228"/>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80" name="Group 79"/>
          <p:cNvGrpSpPr/>
          <p:nvPr/>
        </p:nvGrpSpPr>
        <p:grpSpPr>
          <a:xfrm>
            <a:off x="5942497" y="3322256"/>
            <a:ext cx="849478" cy="461665"/>
            <a:chOff x="5273495" y="1910055"/>
            <a:chExt cx="849478" cy="461665"/>
          </a:xfrm>
        </p:grpSpPr>
        <p:sp>
          <p:nvSpPr>
            <p:cNvPr id="81" name="Rectangle 80"/>
            <p:cNvSpPr/>
            <p:nvPr/>
          </p:nvSpPr>
          <p:spPr bwMode="auto">
            <a:xfrm>
              <a:off x="5340400" y="2005654"/>
              <a:ext cx="715668" cy="231228"/>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2" name="TextBox 81"/>
            <p:cNvSpPr txBox="1"/>
            <p:nvPr/>
          </p:nvSpPr>
          <p:spPr>
            <a:xfrm>
              <a:off x="5273495" y="1910055"/>
              <a:ext cx="849478" cy="461665"/>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JWT</a:t>
              </a:r>
            </a:p>
          </p:txBody>
        </p:sp>
      </p:grpSp>
      <p:grpSp>
        <p:nvGrpSpPr>
          <p:cNvPr id="83" name="Group 82"/>
          <p:cNvGrpSpPr/>
          <p:nvPr/>
        </p:nvGrpSpPr>
        <p:grpSpPr>
          <a:xfrm>
            <a:off x="5123241" y="4142180"/>
            <a:ext cx="849478" cy="461665"/>
            <a:chOff x="5273495" y="1910055"/>
            <a:chExt cx="849478" cy="461665"/>
          </a:xfrm>
        </p:grpSpPr>
        <p:sp>
          <p:nvSpPr>
            <p:cNvPr id="84" name="Rectangle 83"/>
            <p:cNvSpPr/>
            <p:nvPr/>
          </p:nvSpPr>
          <p:spPr bwMode="auto">
            <a:xfrm>
              <a:off x="5340400" y="2005654"/>
              <a:ext cx="715668" cy="231228"/>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5" name="TextBox 84"/>
            <p:cNvSpPr txBox="1"/>
            <p:nvPr/>
          </p:nvSpPr>
          <p:spPr>
            <a:xfrm>
              <a:off x="5273495" y="1910055"/>
              <a:ext cx="849478" cy="461665"/>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CACHE</a:t>
              </a:r>
            </a:p>
          </p:txBody>
        </p:sp>
      </p:grpSp>
      <p:grpSp>
        <p:nvGrpSpPr>
          <p:cNvPr id="86" name="Group 85"/>
          <p:cNvGrpSpPr/>
          <p:nvPr/>
        </p:nvGrpSpPr>
        <p:grpSpPr>
          <a:xfrm>
            <a:off x="6019318" y="4138533"/>
            <a:ext cx="715668" cy="461665"/>
            <a:chOff x="8429377" y="351873"/>
            <a:chExt cx="715668" cy="461665"/>
          </a:xfrm>
        </p:grpSpPr>
        <p:sp>
          <p:nvSpPr>
            <p:cNvPr id="87" name="TextBox 86"/>
            <p:cNvSpPr txBox="1"/>
            <p:nvPr/>
          </p:nvSpPr>
          <p:spPr>
            <a:xfrm>
              <a:off x="8451539" y="351873"/>
              <a:ext cx="693506" cy="461665"/>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URL</a:t>
              </a:r>
            </a:p>
          </p:txBody>
        </p:sp>
        <p:sp>
          <p:nvSpPr>
            <p:cNvPr id="88" name="Rectangle 87"/>
            <p:cNvSpPr/>
            <p:nvPr/>
          </p:nvSpPr>
          <p:spPr bwMode="auto">
            <a:xfrm>
              <a:off x="8429377" y="451165"/>
              <a:ext cx="715668" cy="231228"/>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89" name="Group 88"/>
          <p:cNvGrpSpPr/>
          <p:nvPr/>
        </p:nvGrpSpPr>
        <p:grpSpPr>
          <a:xfrm>
            <a:off x="6815767" y="4124308"/>
            <a:ext cx="806313" cy="461665"/>
            <a:chOff x="8402200" y="351873"/>
            <a:chExt cx="806313" cy="461665"/>
          </a:xfrm>
        </p:grpSpPr>
        <p:sp>
          <p:nvSpPr>
            <p:cNvPr id="90" name="TextBox 89"/>
            <p:cNvSpPr txBox="1"/>
            <p:nvPr/>
          </p:nvSpPr>
          <p:spPr>
            <a:xfrm>
              <a:off x="8402200" y="351873"/>
              <a:ext cx="806313" cy="461665"/>
            </a:xfrm>
            <a:prstGeom prst="rect">
              <a:avLst/>
            </a:prstGeom>
            <a:noFill/>
          </p:spPr>
          <p:txBody>
            <a:bodyPr wrap="square" lIns="182880" tIns="146304" rIns="182880" bIns="146304" rtlCol="0">
              <a:spAutoFit/>
            </a:body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a:ea typeface="+mn-ea"/>
                  <a:cs typeface="+mn-cs"/>
                </a:rPr>
                <a:t>BODY</a:t>
              </a:r>
            </a:p>
          </p:txBody>
        </p:sp>
        <p:sp>
          <p:nvSpPr>
            <p:cNvPr id="91" name="Rectangle 90"/>
            <p:cNvSpPr/>
            <p:nvPr/>
          </p:nvSpPr>
          <p:spPr bwMode="auto">
            <a:xfrm>
              <a:off x="8429377" y="451165"/>
              <a:ext cx="715668" cy="231228"/>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1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cxnSp>
        <p:nvCxnSpPr>
          <p:cNvPr id="15" name="Straight Connector 14"/>
          <p:cNvCxnSpPr/>
          <p:nvPr/>
        </p:nvCxnSpPr>
        <p:spPr>
          <a:xfrm>
            <a:off x="2735179" y="4711763"/>
            <a:ext cx="7227427" cy="0"/>
          </a:xfrm>
          <a:prstGeom prst="line">
            <a:avLst/>
          </a:prstGeom>
          <a:ln w="38100">
            <a:solidFill>
              <a:schemeClr val="tx1">
                <a:lumMod val="60000"/>
                <a:lumOff val="40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698185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dissolve">
                                      <p:cBhvr>
                                        <p:cTn id="7" dur="500"/>
                                        <p:tgtEl>
                                          <p:spTgt spid="72"/>
                                        </p:tgtEl>
                                      </p:cBhvr>
                                    </p:animEffect>
                                  </p:childTnLst>
                                </p:cTn>
                              </p:par>
                              <p:par>
                                <p:cTn id="8" presetID="9" presetClass="entr" presetSubtype="0" fill="hold" nodeType="with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dissolve">
                                      <p:cBhvr>
                                        <p:cTn id="10" dur="500"/>
                                        <p:tgtEl>
                                          <p:spTgt spid="7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74"/>
                                        </p:tgtEl>
                                        <p:attrNameLst>
                                          <p:attrName>style.visibility</p:attrName>
                                        </p:attrNameLst>
                                      </p:cBhvr>
                                      <p:to>
                                        <p:strVal val="visible"/>
                                      </p:to>
                                    </p:set>
                                    <p:animEffect transition="in" filter="dissolve">
                                      <p:cBhvr>
                                        <p:cTn id="15" dur="500"/>
                                        <p:tgtEl>
                                          <p:spTgt spid="74"/>
                                        </p:tgtEl>
                                      </p:cBhvr>
                                    </p:animEffect>
                                  </p:childTnLst>
                                </p:cTn>
                              </p:par>
                              <p:par>
                                <p:cTn id="16" presetID="9" presetClass="entr" presetSubtype="0" fill="hold" nodeType="withEffect">
                                  <p:stCondLst>
                                    <p:cond delay="0"/>
                                  </p:stCondLst>
                                  <p:childTnLst>
                                    <p:set>
                                      <p:cBhvr>
                                        <p:cTn id="17" dur="1" fill="hold">
                                          <p:stCondLst>
                                            <p:cond delay="0"/>
                                          </p:stCondLst>
                                        </p:cTn>
                                        <p:tgtEl>
                                          <p:spTgt spid="77"/>
                                        </p:tgtEl>
                                        <p:attrNameLst>
                                          <p:attrName>style.visibility</p:attrName>
                                        </p:attrNameLst>
                                      </p:cBhvr>
                                      <p:to>
                                        <p:strVal val="visible"/>
                                      </p:to>
                                    </p:set>
                                    <p:animEffect transition="in" filter="dissolve">
                                      <p:cBhvr>
                                        <p:cTn id="18" dur="500"/>
                                        <p:tgtEl>
                                          <p:spTgt spid="7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80"/>
                                        </p:tgtEl>
                                        <p:attrNameLst>
                                          <p:attrName>style.visibility</p:attrName>
                                        </p:attrNameLst>
                                      </p:cBhvr>
                                      <p:to>
                                        <p:strVal val="visible"/>
                                      </p:to>
                                    </p:set>
                                    <p:animEffect transition="in" filter="dissolve">
                                      <p:cBhvr>
                                        <p:cTn id="23" dur="500"/>
                                        <p:tgtEl>
                                          <p:spTgt spid="8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83"/>
                                        </p:tgtEl>
                                        <p:attrNameLst>
                                          <p:attrName>style.visibility</p:attrName>
                                        </p:attrNameLst>
                                      </p:cBhvr>
                                      <p:to>
                                        <p:strVal val="visible"/>
                                      </p:to>
                                    </p:set>
                                    <p:animEffect transition="in" filter="dissolve">
                                      <p:cBhvr>
                                        <p:cTn id="28" dur="500"/>
                                        <p:tgtEl>
                                          <p:spTgt spid="83"/>
                                        </p:tgtEl>
                                      </p:cBhvr>
                                    </p:animEffect>
                                  </p:childTnLst>
                                </p:cTn>
                              </p:par>
                              <p:par>
                                <p:cTn id="29" presetID="9" presetClass="entr" presetSubtype="0" fill="hold" nodeType="with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dissolve">
                                      <p:cBhvr>
                                        <p:cTn id="31" dur="500"/>
                                        <p:tgtEl>
                                          <p:spTgt spid="86"/>
                                        </p:tgtEl>
                                      </p:cBhvr>
                                    </p:animEffect>
                                  </p:childTnLst>
                                </p:cTn>
                              </p:par>
                              <p:par>
                                <p:cTn id="32" presetID="9" presetClass="entr" presetSubtype="0" fill="hold" nodeType="withEffect">
                                  <p:stCondLst>
                                    <p:cond delay="0"/>
                                  </p:stCondLst>
                                  <p:childTnLst>
                                    <p:set>
                                      <p:cBhvr>
                                        <p:cTn id="33" dur="1" fill="hold">
                                          <p:stCondLst>
                                            <p:cond delay="0"/>
                                          </p:stCondLst>
                                        </p:cTn>
                                        <p:tgtEl>
                                          <p:spTgt spid="89"/>
                                        </p:tgtEl>
                                        <p:attrNameLst>
                                          <p:attrName>style.visibility</p:attrName>
                                        </p:attrNameLst>
                                      </p:cBhvr>
                                      <p:to>
                                        <p:strVal val="visible"/>
                                      </p:to>
                                    </p:set>
                                    <p:animEffect transition="in" filter="dissolve">
                                      <p:cBhvr>
                                        <p:cTn id="34" dur="500"/>
                                        <p:tgtEl>
                                          <p:spTgt spid="8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dissolve">
                                      <p:cBhvr>
                                        <p:cTn id="39" dur="500"/>
                                        <p:tgtEl>
                                          <p:spTgt spid="38"/>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dissolve">
                                      <p:cBhvr>
                                        <p:cTn id="44" dur="500"/>
                                        <p:tgtEl>
                                          <p:spTgt spid="39"/>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dissolve">
                                      <p:cBhvr>
                                        <p:cTn id="49" dur="500"/>
                                        <p:tgtEl>
                                          <p:spTgt spid="40"/>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dissolve">
                                      <p:cBhvr>
                                        <p:cTn id="5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CCFFA14-8A98-374E-BC9D-50AB2B4F34E1}"/>
              </a:ext>
            </a:extLst>
          </p:cNvPr>
          <p:cNvSpPr>
            <a:spLocks noGrp="1"/>
          </p:cNvSpPr>
          <p:nvPr>
            <p:ph type="body" sz="quarter" idx="4294967295"/>
          </p:nvPr>
        </p:nvSpPr>
        <p:spPr>
          <a:xfrm>
            <a:off x="6873875" y="1435100"/>
            <a:ext cx="5227929" cy="2215991"/>
          </a:xfrm>
        </p:spPr>
        <p:txBody>
          <a:bodyPr lIns="0"/>
          <a:lstStyle/>
          <a:p>
            <a:pPr marL="0" lvl="0" indent="0">
              <a:buClr>
                <a:srgbClr val="353535"/>
              </a:buClr>
              <a:buNone/>
            </a:pPr>
            <a:r>
              <a:rPr lang="en-US" sz="1800">
                <a:gradFill>
                  <a:gsLst>
                    <a:gs pos="1250">
                      <a:srgbClr val="353535"/>
                    </a:gs>
                    <a:gs pos="100000">
                      <a:srgbClr val="353535"/>
                    </a:gs>
                  </a:gsLst>
                  <a:lin ang="5400000" scaled="0"/>
                </a:gradFill>
              </a:rPr>
              <a:t>Scoped to an APIM service instance</a:t>
            </a:r>
          </a:p>
          <a:p>
            <a:pPr marL="0" indent="0">
              <a:buClr>
                <a:srgbClr val="353535"/>
              </a:buClr>
              <a:buNone/>
            </a:pPr>
            <a:r>
              <a:rPr lang="en-US" sz="1800">
                <a:gradFill>
                  <a:gsLst>
                    <a:gs pos="1250">
                      <a:srgbClr val="353535"/>
                    </a:gs>
                    <a:gs pos="100000">
                      <a:srgbClr val="353535"/>
                    </a:gs>
                  </a:gsLst>
                  <a:lin ang="5400000" scaled="0"/>
                </a:gradFill>
              </a:rPr>
              <a:t>Keep secrets and “magic” strings out of policies</a:t>
            </a:r>
          </a:p>
          <a:p>
            <a:pPr marL="0" indent="0">
              <a:buClr>
                <a:srgbClr val="353535"/>
              </a:buClr>
              <a:buNone/>
            </a:pPr>
            <a:r>
              <a:rPr lang="en-US" sz="1800">
                <a:gradFill>
                  <a:gsLst>
                    <a:gs pos="1250">
                      <a:srgbClr val="353535"/>
                    </a:gs>
                    <a:gs pos="100000">
                      <a:srgbClr val="353535"/>
                    </a:gs>
                  </a:gsLst>
                  <a:lin ang="5400000" scaled="0"/>
                </a:gradFill>
              </a:rPr>
              <a:t>Provide environment-specific values</a:t>
            </a:r>
          </a:p>
          <a:p>
            <a:pPr marL="0" lvl="0" indent="0">
              <a:buClr>
                <a:srgbClr val="353535"/>
              </a:buClr>
              <a:buNone/>
            </a:pPr>
            <a:r>
              <a:rPr lang="en-US" sz="1800">
                <a:gradFill>
                  <a:gsLst>
                    <a:gs pos="1250">
                      <a:srgbClr val="353535"/>
                    </a:gs>
                    <a:gs pos="100000">
                      <a:srgbClr val="353535"/>
                    </a:gs>
                  </a:gsLst>
                  <a:lin ang="5400000" scaled="0"/>
                </a:gradFill>
              </a:rPr>
              <a:t>Add semantics, if named well</a:t>
            </a:r>
          </a:p>
          <a:p>
            <a:pPr marL="0" lvl="0" indent="0">
              <a:buClr>
                <a:srgbClr val="353535"/>
              </a:buClr>
              <a:buNone/>
            </a:pPr>
            <a:r>
              <a:rPr lang="en-US" sz="1800">
                <a:gradFill>
                  <a:gsLst>
                    <a:gs pos="1250">
                      <a:srgbClr val="353535"/>
                    </a:gs>
                    <a:gs pos="100000">
                      <a:srgbClr val="353535"/>
                    </a:gs>
                  </a:gsLst>
                  <a:lin ang="5400000" scaled="0"/>
                </a:gradFill>
              </a:rPr>
              <a:t>Enable a single point of change</a:t>
            </a:r>
          </a:p>
          <a:p>
            <a:pPr marL="0" lvl="0" indent="0">
              <a:buClr>
                <a:srgbClr val="353535"/>
              </a:buClr>
              <a:buNone/>
            </a:pPr>
            <a:r>
              <a:rPr lang="en-US" sz="1800">
                <a:gradFill>
                  <a:gsLst>
                    <a:gs pos="1250">
                      <a:srgbClr val="353535"/>
                    </a:gs>
                    <a:gs pos="100000">
                      <a:srgbClr val="353535"/>
                    </a:gs>
                  </a:gsLst>
                  <a:lin ang="5400000" scaled="0"/>
                </a:gradFill>
              </a:rPr>
              <a:t>Integrate with Azure Key Vault for an additional layer of protection and access management</a:t>
            </a:r>
          </a:p>
        </p:txBody>
      </p:sp>
      <p:sp>
        <p:nvSpPr>
          <p:cNvPr id="3" name="Text Placeholder 2"/>
          <p:cNvSpPr>
            <a:spLocks noGrp="1"/>
          </p:cNvSpPr>
          <p:nvPr>
            <p:ph type="body" sz="quarter" idx="4294967295"/>
          </p:nvPr>
        </p:nvSpPr>
        <p:spPr>
          <a:xfrm>
            <a:off x="635706" y="1435100"/>
            <a:ext cx="6096000" cy="1274195"/>
          </a:xfrm>
          <a:ln>
            <a:noFill/>
          </a:ln>
        </p:spPr>
        <p:txBody>
          <a:bodyPr lIns="0"/>
          <a:lstStyle/>
          <a:p>
            <a:pPr marL="0" indent="0">
              <a:buNone/>
            </a:pPr>
            <a:r>
              <a:rPr lang="en-US" sz="1800"/>
              <a:t>C# “snippets” used with policies</a:t>
            </a:r>
          </a:p>
          <a:p>
            <a:pPr marL="0" indent="0">
              <a:buNone/>
            </a:pPr>
            <a:r>
              <a:rPr lang="en-US" sz="1800"/>
              <a:t>Have read-only access to the request context</a:t>
            </a:r>
          </a:p>
          <a:p>
            <a:pPr marL="0" indent="0">
              <a:buNone/>
            </a:pPr>
            <a:r>
              <a:rPr lang="en-US" sz="1800"/>
              <a:t>Use only whitelisted .NET types</a:t>
            </a:r>
          </a:p>
          <a:p>
            <a:pPr marL="0" indent="0">
              <a:buNone/>
            </a:pPr>
            <a:r>
              <a:rPr lang="en-US" sz="1800"/>
              <a:t>Used to configure and conditionally execute policies</a:t>
            </a:r>
          </a:p>
        </p:txBody>
      </p:sp>
      <p:sp>
        <p:nvSpPr>
          <p:cNvPr id="9" name="TextBox 8">
            <a:extLst>
              <a:ext uri="{FF2B5EF4-FFF2-40B4-BE49-F238E27FC236}">
                <a16:creationId xmlns:a16="http://schemas.microsoft.com/office/drawing/2014/main" id="{417BBEB1-595A-EF4F-AAB3-31A8DA71C0E2}"/>
              </a:ext>
            </a:extLst>
          </p:cNvPr>
          <p:cNvSpPr txBox="1"/>
          <p:nvPr/>
        </p:nvSpPr>
        <p:spPr>
          <a:xfrm>
            <a:off x="603798" y="464736"/>
            <a:ext cx="3776290" cy="498598"/>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36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Policy expressions</a:t>
            </a:r>
          </a:p>
        </p:txBody>
      </p:sp>
      <p:sp>
        <p:nvSpPr>
          <p:cNvPr id="15" name="TextBox 14">
            <a:extLst>
              <a:ext uri="{FF2B5EF4-FFF2-40B4-BE49-F238E27FC236}">
                <a16:creationId xmlns:a16="http://schemas.microsoft.com/office/drawing/2014/main" id="{787B6DFF-C4A1-054C-8407-7985C8B5FA45}"/>
              </a:ext>
            </a:extLst>
          </p:cNvPr>
          <p:cNvSpPr txBox="1"/>
          <p:nvPr/>
        </p:nvSpPr>
        <p:spPr>
          <a:xfrm>
            <a:off x="6873875" y="479140"/>
            <a:ext cx="2626938" cy="443198"/>
          </a:xfrm>
          <a:prstGeom prst="rect">
            <a:avLst/>
          </a:prstGeom>
          <a:noFill/>
        </p:spPr>
        <p:txBody>
          <a:bodyPr wrap="none" lIns="0" tIns="0" rIns="0" bIns="0" rtlCol="0">
            <a:spAutoFit/>
          </a:bodyPr>
          <a:lstStyle/>
          <a:p>
            <a:pPr marL="0" marR="0" lvl="0" indent="0" algn="l" defTabSz="914367" rtl="0" eaLnBrk="1" fontAlgn="auto" latinLnBrk="0" hangingPunct="1">
              <a:lnSpc>
                <a:spcPct val="90000"/>
              </a:lnSpc>
              <a:spcBef>
                <a:spcPts val="0"/>
              </a:spcBef>
              <a:spcAft>
                <a:spcPts val="600"/>
              </a:spcAft>
              <a:buClrTx/>
              <a:buSzTx/>
              <a:buFontTx/>
              <a:buNone/>
              <a:tabLst/>
              <a:defRPr/>
            </a:pPr>
            <a:r>
              <a:rPr kumimoji="0" lang="en-US" sz="3200" b="0" i="0" u="none" strike="noStrike" kern="1200" cap="none" spc="0" normalizeH="0" baseline="0" noProof="0">
                <a:ln>
                  <a:noFill/>
                </a:ln>
                <a:gradFill>
                  <a:gsLst>
                    <a:gs pos="2917">
                      <a:srgbClr val="000000"/>
                    </a:gs>
                    <a:gs pos="30000">
                      <a:srgbClr val="000000"/>
                    </a:gs>
                  </a:gsLst>
                  <a:lin ang="5400000" scaled="0"/>
                </a:gradFill>
                <a:effectLst/>
                <a:uLnTx/>
                <a:uFillTx/>
                <a:latin typeface="Segoe UI Semibold"/>
                <a:ea typeface="+mn-ea"/>
                <a:cs typeface="+mn-cs"/>
              </a:rPr>
              <a:t>Named values</a:t>
            </a:r>
          </a:p>
        </p:txBody>
      </p:sp>
      <p:pic>
        <p:nvPicPr>
          <p:cNvPr id="13" name="Picture 12">
            <a:extLst>
              <a:ext uri="{FF2B5EF4-FFF2-40B4-BE49-F238E27FC236}">
                <a16:creationId xmlns:a16="http://schemas.microsoft.com/office/drawing/2014/main" id="{87CA449B-6176-6A4C-8393-CB44103B7611}"/>
              </a:ext>
            </a:extLst>
          </p:cNvPr>
          <p:cNvPicPr>
            <a:picLocks noChangeAspect="1"/>
          </p:cNvPicPr>
          <p:nvPr/>
        </p:nvPicPr>
        <p:blipFill rotWithShape="1">
          <a:blip r:embed="rId3"/>
          <a:srcRect t="2147"/>
          <a:stretch/>
        </p:blipFill>
        <p:spPr>
          <a:xfrm>
            <a:off x="0" y="3979510"/>
            <a:ext cx="12192000" cy="2674213"/>
          </a:xfrm>
          <a:prstGeom prst="rect">
            <a:avLst/>
          </a:prstGeom>
        </p:spPr>
      </p:pic>
    </p:spTree>
    <p:extLst>
      <p:ext uri="{BB962C8B-B14F-4D97-AF65-F5344CB8AC3E}">
        <p14:creationId xmlns:p14="http://schemas.microsoft.com/office/powerpoint/2010/main" val="2949434535"/>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EA5A1-CAA1-9A45-BB15-E17C6ACCDE85}"/>
              </a:ext>
            </a:extLst>
          </p:cNvPr>
          <p:cNvSpPr>
            <a:spLocks noGrp="1"/>
          </p:cNvSpPr>
          <p:nvPr>
            <p:ph type="title"/>
          </p:nvPr>
        </p:nvSpPr>
        <p:spPr>
          <a:xfrm>
            <a:off x="588263" y="457200"/>
            <a:ext cx="11018520" cy="553998"/>
          </a:xfrm>
        </p:spPr>
        <p:txBody>
          <a:bodyPr wrap="square" anchor="t">
            <a:normAutofit/>
          </a:bodyPr>
          <a:lstStyle/>
          <a:p>
            <a:r>
              <a:rPr lang="en-US">
                <a:cs typeface="Segoe UI"/>
              </a:rPr>
              <a:t>75 policies out of the box</a:t>
            </a:r>
          </a:p>
        </p:txBody>
      </p:sp>
      <p:graphicFrame>
        <p:nvGraphicFramePr>
          <p:cNvPr id="5" name="Table 5">
            <a:extLst>
              <a:ext uri="{FF2B5EF4-FFF2-40B4-BE49-F238E27FC236}">
                <a16:creationId xmlns:a16="http://schemas.microsoft.com/office/drawing/2014/main" id="{A2CE10C7-7E77-5C4E-94EB-E9BEF5E1F339}"/>
              </a:ext>
            </a:extLst>
          </p:cNvPr>
          <p:cNvGraphicFramePr>
            <a:graphicFrameLocks noGrp="1"/>
          </p:cNvGraphicFramePr>
          <p:nvPr/>
        </p:nvGraphicFramePr>
        <p:xfrm>
          <a:off x="584200" y="1471307"/>
          <a:ext cx="11018839" cy="4932294"/>
        </p:xfrm>
        <a:graphic>
          <a:graphicData uri="http://schemas.openxmlformats.org/drawingml/2006/table">
            <a:tbl>
              <a:tblPr firstRow="1" bandRow="1">
                <a:tableStyleId>{2D5ABB26-0587-4C30-8999-92F81FD0307C}</a:tableStyleId>
              </a:tblPr>
              <a:tblGrid>
                <a:gridCol w="3054622">
                  <a:extLst>
                    <a:ext uri="{9D8B030D-6E8A-4147-A177-3AD203B41FA5}">
                      <a16:colId xmlns:a16="http://schemas.microsoft.com/office/drawing/2014/main" val="1947295560"/>
                    </a:ext>
                  </a:extLst>
                </a:gridCol>
                <a:gridCol w="2738231">
                  <a:extLst>
                    <a:ext uri="{9D8B030D-6E8A-4147-A177-3AD203B41FA5}">
                      <a16:colId xmlns:a16="http://schemas.microsoft.com/office/drawing/2014/main" val="3589810677"/>
                    </a:ext>
                  </a:extLst>
                </a:gridCol>
                <a:gridCol w="2316377">
                  <a:extLst>
                    <a:ext uri="{9D8B030D-6E8A-4147-A177-3AD203B41FA5}">
                      <a16:colId xmlns:a16="http://schemas.microsoft.com/office/drawing/2014/main" val="3774398396"/>
                    </a:ext>
                  </a:extLst>
                </a:gridCol>
                <a:gridCol w="2909609">
                  <a:extLst>
                    <a:ext uri="{9D8B030D-6E8A-4147-A177-3AD203B41FA5}">
                      <a16:colId xmlns:a16="http://schemas.microsoft.com/office/drawing/2014/main" val="2164588343"/>
                    </a:ext>
                  </a:extLst>
                </a:gridCol>
              </a:tblGrid>
              <a:tr h="376805">
                <a:tc>
                  <a:txBody>
                    <a:bodyPr/>
                    <a:lstStyle/>
                    <a:p>
                      <a:r>
                        <a:rPr lang="en-US" sz="1200" b="1" cap="none" spc="0">
                          <a:solidFill>
                            <a:schemeClr val="tx1"/>
                          </a:solidFill>
                        </a:rPr>
                        <a:t>Access restriction</a:t>
                      </a:r>
                    </a:p>
                  </a:txBody>
                  <a:tcPr marL="109014" marR="109014" marT="76310" marB="76310">
                    <a:solidFill>
                      <a:schemeClr val="bg2"/>
                    </a:solidFill>
                  </a:tcPr>
                </a:tc>
                <a:tc>
                  <a:txBody>
                    <a:bodyPr/>
                    <a:lstStyle/>
                    <a:p>
                      <a:r>
                        <a:rPr lang="en-US" sz="1200" b="1" cap="none" spc="0">
                          <a:solidFill>
                            <a:schemeClr val="tx1"/>
                          </a:solidFill>
                        </a:rPr>
                        <a:t>Transformation</a:t>
                      </a:r>
                    </a:p>
                  </a:txBody>
                  <a:tcPr marL="109014" marR="109014" marT="76310" marB="76310">
                    <a:solidFill>
                      <a:schemeClr val="bg2"/>
                    </a:solidFill>
                  </a:tcPr>
                </a:tc>
                <a:tc>
                  <a:txBody>
                    <a:bodyPr/>
                    <a:lstStyle/>
                    <a:p>
                      <a:r>
                        <a:rPr lang="en-US" sz="1200" b="1" cap="none" spc="0">
                          <a:solidFill>
                            <a:schemeClr val="tx1"/>
                          </a:solidFill>
                        </a:rPr>
                        <a:t>Advanced</a:t>
                      </a:r>
                    </a:p>
                  </a:txBody>
                  <a:tcPr marL="109014" marR="109014" marT="76310" marB="76310">
                    <a:solidFill>
                      <a:schemeClr val="bg2"/>
                    </a:solidFill>
                  </a:tcPr>
                </a:tc>
                <a:tc>
                  <a:txBody>
                    <a:bodyPr/>
                    <a:lstStyle/>
                    <a:p>
                      <a:r>
                        <a:rPr lang="en-US" sz="1200" b="1" cap="none" spc="0" err="1">
                          <a:solidFill>
                            <a:schemeClr val="tx1"/>
                          </a:solidFill>
                        </a:rPr>
                        <a:t>Dapr</a:t>
                      </a:r>
                      <a:r>
                        <a:rPr lang="en-US" sz="1200" b="1" cap="none" spc="0">
                          <a:solidFill>
                            <a:schemeClr val="tx1"/>
                          </a:solidFill>
                        </a:rPr>
                        <a:t> integration</a:t>
                      </a:r>
                    </a:p>
                  </a:txBody>
                  <a:tcPr marL="109014" marR="109014" marT="76310" marB="76310">
                    <a:solidFill>
                      <a:schemeClr val="bg2"/>
                    </a:solidFill>
                  </a:tcPr>
                </a:tc>
                <a:extLst>
                  <a:ext uri="{0D108BD9-81ED-4DB2-BD59-A6C34878D82A}">
                    <a16:rowId xmlns:a16="http://schemas.microsoft.com/office/drawing/2014/main" val="2230549613"/>
                  </a:ext>
                </a:extLst>
              </a:tr>
              <a:tr h="2907930">
                <a:tc>
                  <a:txBody>
                    <a:bodyPr/>
                    <a:lstStyle/>
                    <a:p>
                      <a:pPr marL="285750" indent="-285750">
                        <a:buFont typeface="Arial" panose="020B0604020202020204" pitchFamily="34" charset="0"/>
                        <a:buChar char="•"/>
                      </a:pPr>
                      <a:r>
                        <a:rPr lang="en-US" sz="1200" cap="none" spc="0">
                          <a:solidFill>
                            <a:schemeClr val="tx1"/>
                          </a:solidFill>
                        </a:rPr>
                        <a:t>Check HTTP header</a:t>
                      </a:r>
                    </a:p>
                    <a:p>
                      <a:pPr marL="285750" indent="-285750">
                        <a:buFont typeface="Arial" panose="020B0604020202020204" pitchFamily="34" charset="0"/>
                        <a:buChar char="•"/>
                      </a:pPr>
                      <a:r>
                        <a:rPr lang="en-US" sz="1200" cap="none" spc="0">
                          <a:solidFill>
                            <a:schemeClr val="tx1"/>
                          </a:solidFill>
                        </a:rPr>
                        <a:t>Limit call rate by subscription</a:t>
                      </a:r>
                    </a:p>
                    <a:p>
                      <a:pPr marL="285750" indent="-285750">
                        <a:buFont typeface="Arial" panose="020B0604020202020204" pitchFamily="34" charset="0"/>
                        <a:buChar char="•"/>
                      </a:pPr>
                      <a:r>
                        <a:rPr lang="en-US" sz="1200" cap="none" spc="0">
                          <a:solidFill>
                            <a:schemeClr val="tx1"/>
                          </a:solidFill>
                        </a:rPr>
                        <a:t>Limit call rate by key</a:t>
                      </a:r>
                    </a:p>
                    <a:p>
                      <a:pPr marL="285750" indent="-285750">
                        <a:buFont typeface="Arial" panose="020B0604020202020204" pitchFamily="34" charset="0"/>
                        <a:buChar char="•"/>
                      </a:pPr>
                      <a:r>
                        <a:rPr lang="en-US" sz="1200" cap="none" spc="0">
                          <a:solidFill>
                            <a:schemeClr val="tx1"/>
                          </a:solidFill>
                        </a:rPr>
                        <a:t>Restrict caller IPs</a:t>
                      </a:r>
                    </a:p>
                    <a:p>
                      <a:pPr marL="285750" indent="-285750">
                        <a:buFont typeface="Arial" panose="020B0604020202020204" pitchFamily="34" charset="0"/>
                        <a:buChar char="•"/>
                      </a:pPr>
                      <a:r>
                        <a:rPr lang="en-US" sz="1200" cap="none" spc="0">
                          <a:solidFill>
                            <a:schemeClr val="tx1"/>
                          </a:solidFill>
                        </a:rPr>
                        <a:t>Set usage quota by subscription</a:t>
                      </a:r>
                    </a:p>
                    <a:p>
                      <a:pPr marL="285750" indent="-285750">
                        <a:buFont typeface="Arial" panose="020B0604020202020204" pitchFamily="34" charset="0"/>
                        <a:buChar char="•"/>
                      </a:pPr>
                      <a:r>
                        <a:rPr lang="en-US" sz="1200" cap="none" spc="0">
                          <a:solidFill>
                            <a:schemeClr val="tx1"/>
                          </a:solidFill>
                        </a:rPr>
                        <a:t>Set usage quota by key</a:t>
                      </a:r>
                    </a:p>
                    <a:p>
                      <a:pPr marL="285750" indent="-285750">
                        <a:buFont typeface="Arial" panose="020B0604020202020204" pitchFamily="34" charset="0"/>
                        <a:buChar char="•"/>
                      </a:pPr>
                      <a:r>
                        <a:rPr lang="en-US" sz="1200" cap="none" spc="0">
                          <a:solidFill>
                            <a:schemeClr val="tx1"/>
                          </a:solidFill>
                        </a:rPr>
                        <a:t>Validate client certificate</a:t>
                      </a:r>
                    </a:p>
                    <a:p>
                      <a:pPr marL="285750" indent="-285750">
                        <a:buFont typeface="Arial" panose="020B0604020202020204" pitchFamily="34" charset="0"/>
                        <a:buChar char="•"/>
                      </a:pPr>
                      <a:r>
                        <a:rPr lang="en-US" sz="1200" cap="none" spc="0">
                          <a:solidFill>
                            <a:schemeClr val="tx1"/>
                          </a:solidFill>
                        </a:rPr>
                        <a:t>Validate JWT</a:t>
                      </a:r>
                    </a:p>
                    <a:p>
                      <a:pPr marL="285750" indent="-285750">
                        <a:buFont typeface="Arial" panose="020B0604020202020204" pitchFamily="34" charset="0"/>
                        <a:buChar char="•"/>
                      </a:pPr>
                      <a:endParaRPr lang="en-US" sz="1200" cap="none" spc="0">
                        <a:solidFill>
                          <a:schemeClr val="tx1"/>
                        </a:solidFill>
                      </a:endParaRPr>
                    </a:p>
                  </a:txBody>
                  <a:tcPr marL="109014" marR="109014" marT="76310" marB="76310"/>
                </a:tc>
                <a:tc>
                  <a:txBody>
                    <a:bodyPr/>
                    <a:lstStyle/>
                    <a:p>
                      <a:pPr marL="285750" indent="-285750">
                        <a:buFont typeface="Arial" panose="020B0604020202020204" pitchFamily="34" charset="0"/>
                        <a:buChar char="•"/>
                      </a:pPr>
                      <a:r>
                        <a:rPr lang="en-US" sz="1200" cap="none" spc="0">
                          <a:solidFill>
                            <a:schemeClr val="tx1"/>
                          </a:solidFill>
                        </a:rPr>
                        <a:t>Convert JSON to XML</a:t>
                      </a:r>
                    </a:p>
                    <a:p>
                      <a:pPr marL="285750" indent="-285750">
                        <a:buFont typeface="Arial" panose="020B0604020202020204" pitchFamily="34" charset="0"/>
                        <a:buChar char="•"/>
                      </a:pPr>
                      <a:r>
                        <a:rPr lang="en-US" sz="1200" cap="none" spc="0">
                          <a:solidFill>
                            <a:schemeClr val="tx1"/>
                          </a:solidFill>
                        </a:rPr>
                        <a:t>Convert XML to JSON</a:t>
                      </a:r>
                    </a:p>
                    <a:p>
                      <a:pPr marL="285750" indent="-285750">
                        <a:buFont typeface="Arial" panose="020B0604020202020204" pitchFamily="34" charset="0"/>
                        <a:buChar char="•"/>
                      </a:pPr>
                      <a:r>
                        <a:rPr lang="en-US" sz="1200" cap="none" spc="0">
                          <a:solidFill>
                            <a:schemeClr val="tx1"/>
                          </a:solidFill>
                        </a:rPr>
                        <a:t>Find and replace string in body</a:t>
                      </a:r>
                    </a:p>
                    <a:p>
                      <a:pPr marL="285750" indent="-285750">
                        <a:buFont typeface="Arial" panose="020B0604020202020204" pitchFamily="34" charset="0"/>
                        <a:buChar char="•"/>
                      </a:pPr>
                      <a:r>
                        <a:rPr lang="en-US" sz="1200" cap="none" spc="0">
                          <a:solidFill>
                            <a:schemeClr val="tx1"/>
                          </a:solidFill>
                        </a:rPr>
                        <a:t>Mask URLs in content</a:t>
                      </a:r>
                    </a:p>
                    <a:p>
                      <a:pPr marL="285750" indent="-285750">
                        <a:buFont typeface="Arial" panose="020B0604020202020204" pitchFamily="34" charset="0"/>
                        <a:buChar char="•"/>
                      </a:pPr>
                      <a:r>
                        <a:rPr lang="en-US" sz="1200" cap="none" spc="0">
                          <a:solidFill>
                            <a:schemeClr val="tx1"/>
                          </a:solidFill>
                        </a:rPr>
                        <a:t>Set backend service</a:t>
                      </a:r>
                    </a:p>
                    <a:p>
                      <a:pPr marL="285750" indent="-285750">
                        <a:buFont typeface="Arial" panose="020B0604020202020204" pitchFamily="34" charset="0"/>
                        <a:buChar char="•"/>
                      </a:pPr>
                      <a:r>
                        <a:rPr lang="en-US" sz="1200" cap="none" spc="0">
                          <a:solidFill>
                            <a:schemeClr val="tx1"/>
                          </a:solidFill>
                        </a:rPr>
                        <a:t>Set body</a:t>
                      </a:r>
                    </a:p>
                    <a:p>
                      <a:pPr marL="285750" indent="-285750">
                        <a:buFont typeface="Arial" panose="020B0604020202020204" pitchFamily="34" charset="0"/>
                        <a:buChar char="•"/>
                      </a:pPr>
                      <a:r>
                        <a:rPr lang="en-US" sz="1200" cap="none" spc="0">
                          <a:solidFill>
                            <a:schemeClr val="tx1"/>
                          </a:solidFill>
                        </a:rPr>
                        <a:t>Set HTTP header</a:t>
                      </a:r>
                    </a:p>
                    <a:p>
                      <a:pPr marL="285750" indent="-285750">
                        <a:buFont typeface="Arial" panose="020B0604020202020204" pitchFamily="34" charset="0"/>
                        <a:buChar char="•"/>
                      </a:pPr>
                      <a:r>
                        <a:rPr lang="en-US" sz="1200" cap="none" spc="0">
                          <a:solidFill>
                            <a:schemeClr val="tx1"/>
                          </a:solidFill>
                        </a:rPr>
                        <a:t>Set query string parameter</a:t>
                      </a:r>
                    </a:p>
                    <a:p>
                      <a:pPr marL="285750" indent="-285750">
                        <a:buFont typeface="Arial" panose="020B0604020202020204" pitchFamily="34" charset="0"/>
                        <a:buChar char="•"/>
                      </a:pPr>
                      <a:r>
                        <a:rPr lang="en-US" sz="1200" cap="none" spc="0">
                          <a:solidFill>
                            <a:schemeClr val="tx1"/>
                          </a:solidFill>
                        </a:rPr>
                        <a:t>Rewrite URL</a:t>
                      </a:r>
                    </a:p>
                    <a:p>
                      <a:pPr marL="285750" indent="-285750">
                        <a:buFont typeface="Arial" panose="020B0604020202020204" pitchFamily="34" charset="0"/>
                        <a:buChar char="•"/>
                      </a:pPr>
                      <a:r>
                        <a:rPr lang="en-US" sz="1200" cap="none" spc="0">
                          <a:solidFill>
                            <a:schemeClr val="tx1"/>
                          </a:solidFill>
                        </a:rPr>
                        <a:t>Transform XML using XSLT</a:t>
                      </a:r>
                    </a:p>
                  </a:txBody>
                  <a:tcPr marL="109014" marR="109014" marT="76310" marB="76310"/>
                </a:tc>
                <a:tc>
                  <a:txBody>
                    <a:bodyPr/>
                    <a:lstStyle/>
                    <a:p>
                      <a:pPr marL="285750" indent="-285750">
                        <a:buFont typeface="Arial" panose="020B0604020202020204" pitchFamily="34" charset="0"/>
                        <a:buChar char="•"/>
                      </a:pPr>
                      <a:r>
                        <a:rPr lang="en-US" sz="1200" cap="none" spc="0">
                          <a:solidFill>
                            <a:schemeClr val="tx1"/>
                          </a:solidFill>
                        </a:rPr>
                        <a:t>Send one way request</a:t>
                      </a:r>
                    </a:p>
                    <a:p>
                      <a:pPr marL="285750" indent="-285750">
                        <a:buFont typeface="Arial" panose="020B0604020202020204" pitchFamily="34" charset="0"/>
                        <a:buChar char="•"/>
                      </a:pPr>
                      <a:r>
                        <a:rPr lang="en-US" sz="1200" cap="none" spc="0">
                          <a:solidFill>
                            <a:schemeClr val="tx1"/>
                          </a:solidFill>
                        </a:rPr>
                        <a:t>Send request</a:t>
                      </a:r>
                    </a:p>
                    <a:p>
                      <a:pPr marL="285750" indent="-285750">
                        <a:buFont typeface="Arial" panose="020B0604020202020204" pitchFamily="34" charset="0"/>
                        <a:buChar char="•"/>
                      </a:pPr>
                      <a:r>
                        <a:rPr lang="en-US" sz="1200" cap="none" spc="0">
                          <a:solidFill>
                            <a:schemeClr val="tx1"/>
                          </a:solidFill>
                        </a:rPr>
                        <a:t>Set HTTP proxy</a:t>
                      </a:r>
                    </a:p>
                    <a:p>
                      <a:pPr marL="285750" indent="-285750">
                        <a:buFont typeface="Arial" panose="020B0604020202020204" pitchFamily="34" charset="0"/>
                        <a:buChar char="•"/>
                      </a:pPr>
                      <a:r>
                        <a:rPr lang="en-US" sz="1200" cap="none" spc="0">
                          <a:solidFill>
                            <a:schemeClr val="tx1"/>
                          </a:solidFill>
                        </a:rPr>
                        <a:t>Set variable</a:t>
                      </a:r>
                    </a:p>
                    <a:p>
                      <a:pPr marL="285750" indent="-285750">
                        <a:buFont typeface="Arial" panose="020B0604020202020204" pitchFamily="34" charset="0"/>
                        <a:buChar char="•"/>
                      </a:pPr>
                      <a:r>
                        <a:rPr lang="en-US" sz="1200" cap="none" spc="0">
                          <a:solidFill>
                            <a:schemeClr val="tx1"/>
                          </a:solidFill>
                        </a:rPr>
                        <a:t>Set request method</a:t>
                      </a:r>
                    </a:p>
                    <a:p>
                      <a:pPr marL="285750" indent="-285750">
                        <a:buFont typeface="Arial" panose="020B0604020202020204" pitchFamily="34" charset="0"/>
                        <a:buChar char="•"/>
                      </a:pPr>
                      <a:r>
                        <a:rPr lang="en-US" sz="1200" cap="none" spc="0">
                          <a:solidFill>
                            <a:schemeClr val="tx1"/>
                          </a:solidFill>
                        </a:rPr>
                        <a:t>Set status code</a:t>
                      </a:r>
                    </a:p>
                    <a:p>
                      <a:pPr marL="285750" indent="-285750">
                        <a:buFont typeface="Arial" panose="020B0604020202020204" pitchFamily="34" charset="0"/>
                        <a:buChar char="•"/>
                      </a:pPr>
                      <a:r>
                        <a:rPr lang="en-US" sz="1200" cap="none" spc="0">
                          <a:solidFill>
                            <a:schemeClr val="tx1"/>
                          </a:solidFill>
                        </a:rPr>
                        <a:t>Control flow</a:t>
                      </a:r>
                    </a:p>
                    <a:p>
                      <a:pPr marL="285750" indent="-285750">
                        <a:buFont typeface="Arial" panose="020B0604020202020204" pitchFamily="34" charset="0"/>
                        <a:buChar char="•"/>
                      </a:pPr>
                      <a:r>
                        <a:rPr lang="en-US" sz="1200" cap="none" spc="0">
                          <a:solidFill>
                            <a:schemeClr val="tx1"/>
                          </a:solidFill>
                        </a:rPr>
                        <a:t>Emit metric</a:t>
                      </a:r>
                    </a:p>
                    <a:p>
                      <a:pPr marL="285750" indent="-285750">
                        <a:buFont typeface="Arial" panose="020B0604020202020204" pitchFamily="34" charset="0"/>
                        <a:buChar char="•"/>
                      </a:pPr>
                      <a:r>
                        <a:rPr lang="en-US" sz="1200" cap="none" spc="0">
                          <a:solidFill>
                            <a:schemeClr val="tx1"/>
                          </a:solidFill>
                        </a:rPr>
                        <a:t>Log to Event Hub</a:t>
                      </a:r>
                    </a:p>
                    <a:p>
                      <a:pPr marL="285750" marR="0" lvl="0" indent="-285750" algn="l" rtl="0" eaLnBrk="1" fontAlgn="auto" latinLnBrk="0" hangingPunct="1">
                        <a:lnSpc>
                          <a:spcPct val="100000"/>
                        </a:lnSpc>
                        <a:spcBef>
                          <a:spcPts val="0"/>
                        </a:spcBef>
                        <a:spcAft>
                          <a:spcPts val="0"/>
                        </a:spcAft>
                        <a:buClrTx/>
                        <a:buSzTx/>
                        <a:buFont typeface="Arial" panose="020B0604020202020204" pitchFamily="34" charset="0"/>
                        <a:buChar char="•"/>
                      </a:pPr>
                      <a:r>
                        <a:rPr lang="en-US" sz="1200" cap="none" spc="0">
                          <a:solidFill>
                            <a:schemeClr val="tx1"/>
                          </a:solidFill>
                        </a:rPr>
                        <a:t>Trace </a:t>
                      </a:r>
                    </a:p>
                    <a:p>
                      <a:pPr marL="285750" indent="-285750">
                        <a:buFont typeface="Arial" panose="020B0604020202020204" pitchFamily="34" charset="0"/>
                        <a:buChar char="•"/>
                      </a:pPr>
                      <a:r>
                        <a:rPr lang="en-US" sz="1200" cap="none" spc="0">
                          <a:solidFill>
                            <a:schemeClr val="tx1"/>
                          </a:solidFill>
                        </a:rPr>
                        <a:t>Mock response</a:t>
                      </a:r>
                    </a:p>
                    <a:p>
                      <a:pPr marL="285750" marR="0" lvl="0" indent="-2857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cap="none" spc="0">
                          <a:solidFill>
                            <a:schemeClr val="tx1"/>
                          </a:solidFill>
                        </a:rPr>
                        <a:t>Forward request</a:t>
                      </a:r>
                    </a:p>
                    <a:p>
                      <a:pPr marL="285750" marR="0" lvl="0" indent="-2857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cap="none" spc="0">
                          <a:solidFill>
                            <a:schemeClr val="tx1"/>
                          </a:solidFill>
                        </a:rPr>
                        <a:t>Limit concurrency</a:t>
                      </a:r>
                    </a:p>
                    <a:p>
                      <a:pPr marL="285750" indent="-285750">
                        <a:buFont typeface="Arial" panose="020B0604020202020204" pitchFamily="34" charset="0"/>
                        <a:buChar char="•"/>
                      </a:pPr>
                      <a:r>
                        <a:rPr lang="en-US" sz="1200" cap="none" spc="0">
                          <a:solidFill>
                            <a:schemeClr val="tx1"/>
                          </a:solidFill>
                        </a:rPr>
                        <a:t>Return response</a:t>
                      </a:r>
                    </a:p>
                    <a:p>
                      <a:pPr marL="285750" marR="0" lvl="0" indent="-285750"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cap="none" spc="0">
                          <a:solidFill>
                            <a:schemeClr val="tx1"/>
                          </a:solidFill>
                        </a:rPr>
                        <a:t>Retry</a:t>
                      </a:r>
                    </a:p>
                    <a:p>
                      <a:pPr marL="285750" indent="-285750">
                        <a:buFont typeface="Arial" panose="020B0604020202020204" pitchFamily="34" charset="0"/>
                        <a:buChar char="•"/>
                      </a:pPr>
                      <a:r>
                        <a:rPr lang="en-US" sz="1200" cap="none" spc="0">
                          <a:solidFill>
                            <a:schemeClr val="tx1"/>
                          </a:solidFill>
                        </a:rPr>
                        <a:t>Wait</a:t>
                      </a:r>
                    </a:p>
                  </a:txBody>
                  <a:tcPr marL="109014" marR="109014" marT="76310" marB="76310"/>
                </a:tc>
                <a:tc>
                  <a:txBody>
                    <a:bodyPr/>
                    <a:lstStyle/>
                    <a:p>
                      <a:pPr marL="285750" indent="-285750">
                        <a:buFont typeface="Arial" panose="020B0604020202020204" pitchFamily="34" charset="0"/>
                        <a:buChar char="•"/>
                      </a:pPr>
                      <a:r>
                        <a:rPr lang="en-US" sz="1200" cap="none" spc="0">
                          <a:solidFill>
                            <a:schemeClr val="tx1"/>
                          </a:solidFill>
                        </a:rPr>
                        <a:t>Send request to a service</a:t>
                      </a:r>
                    </a:p>
                    <a:p>
                      <a:pPr marL="285750" indent="-285750">
                        <a:buFont typeface="Arial" panose="020B0604020202020204" pitchFamily="34" charset="0"/>
                        <a:buChar char="•"/>
                      </a:pPr>
                      <a:r>
                        <a:rPr lang="en-US" sz="1200" cap="none" spc="0">
                          <a:solidFill>
                            <a:schemeClr val="tx1"/>
                          </a:solidFill>
                        </a:rPr>
                        <a:t>Send message to a pub/sub topic</a:t>
                      </a:r>
                    </a:p>
                    <a:p>
                      <a:pPr marL="285750" indent="-285750">
                        <a:buFont typeface="Arial" panose="020B0604020202020204" pitchFamily="34" charset="0"/>
                        <a:buChar char="•"/>
                      </a:pPr>
                      <a:r>
                        <a:rPr lang="en-US" sz="1200" cap="none" spc="0">
                          <a:solidFill>
                            <a:schemeClr val="tx1"/>
                          </a:solidFill>
                        </a:rPr>
                        <a:t>Trigger output binding</a:t>
                      </a:r>
                    </a:p>
                  </a:txBody>
                  <a:tcPr marL="109014" marR="109014" marT="76310" marB="76310"/>
                </a:tc>
                <a:extLst>
                  <a:ext uri="{0D108BD9-81ED-4DB2-BD59-A6C34878D82A}">
                    <a16:rowId xmlns:a16="http://schemas.microsoft.com/office/drawing/2014/main" val="1206881765"/>
                  </a:ext>
                </a:extLst>
              </a:tr>
              <a:tr h="376805">
                <a:tc>
                  <a:txBody>
                    <a:bodyPr/>
                    <a:lstStyle/>
                    <a:p>
                      <a:pPr algn="l"/>
                      <a:r>
                        <a:rPr lang="en-US" sz="1200" b="1" cap="none" spc="0">
                          <a:solidFill>
                            <a:schemeClr val="tx1"/>
                          </a:solidFill>
                        </a:rPr>
                        <a:t>Authentication</a:t>
                      </a:r>
                    </a:p>
                  </a:txBody>
                  <a:tcPr marL="109014" marR="109014" marT="76310" marB="76310">
                    <a:solidFill>
                      <a:schemeClr val="bg2"/>
                    </a:solidFill>
                  </a:tcPr>
                </a:tc>
                <a:tc>
                  <a:txBody>
                    <a:bodyPr/>
                    <a:lstStyle/>
                    <a:p>
                      <a:pPr algn="l"/>
                      <a:r>
                        <a:rPr lang="en-US" sz="1200" b="1" cap="none" spc="0">
                          <a:solidFill>
                            <a:schemeClr val="tx1"/>
                          </a:solidFill>
                        </a:rPr>
                        <a:t>Caching</a:t>
                      </a:r>
                    </a:p>
                  </a:txBody>
                  <a:tcPr marL="109014" marR="109014" marT="76310" marB="76310">
                    <a:solidFill>
                      <a:schemeClr val="bg2"/>
                    </a:solidFill>
                  </a:tcPr>
                </a:tc>
                <a:tc>
                  <a:txBody>
                    <a:bodyPr/>
                    <a:lstStyle/>
                    <a:p>
                      <a:pPr algn="l"/>
                      <a:r>
                        <a:rPr lang="en-US" sz="1200" b="1" cap="none" spc="0">
                          <a:solidFill>
                            <a:schemeClr val="tx1"/>
                          </a:solidFill>
                        </a:rPr>
                        <a:t>Cross Domain</a:t>
                      </a:r>
                    </a:p>
                  </a:txBody>
                  <a:tcPr marL="109014" marR="109014" marT="76310" marB="76310">
                    <a:solidFill>
                      <a:schemeClr val="bg2"/>
                    </a:solidFill>
                  </a:tcPr>
                </a:tc>
                <a:tc>
                  <a:txBody>
                    <a:bodyPr/>
                    <a:lstStyle/>
                    <a:p>
                      <a:pPr marL="0" indent="0" algn="l" defTabSz="932742" rtl="0" eaLnBrk="1" latinLnBrk="0" hangingPunct="1">
                        <a:buFont typeface="Arial" panose="020B0604020202020204" pitchFamily="34" charset="0"/>
                        <a:buNone/>
                      </a:pPr>
                      <a:r>
                        <a:rPr lang="en-US" sz="1200" b="1" kern="1200" cap="none" spc="0">
                          <a:solidFill>
                            <a:schemeClr val="tx1"/>
                          </a:solidFill>
                          <a:latin typeface="+mn-lt"/>
                          <a:ea typeface="+mn-ea"/>
                          <a:cs typeface="+mn-cs"/>
                        </a:rPr>
                        <a:t>Validation policies</a:t>
                      </a:r>
                    </a:p>
                  </a:txBody>
                  <a:tcPr marL="109014" marR="109014" marT="76310" marB="76310">
                    <a:solidFill>
                      <a:schemeClr val="bg2"/>
                    </a:solidFill>
                  </a:tcPr>
                </a:tc>
                <a:extLst>
                  <a:ext uri="{0D108BD9-81ED-4DB2-BD59-A6C34878D82A}">
                    <a16:rowId xmlns:a16="http://schemas.microsoft.com/office/drawing/2014/main" val="4129350441"/>
                  </a:ext>
                </a:extLst>
              </a:tr>
              <a:tr h="1099984">
                <a:tc>
                  <a:txBody>
                    <a:bodyPr/>
                    <a:lstStyle/>
                    <a:p>
                      <a:pPr marL="171450" indent="-171450">
                        <a:buFont typeface="Arial" panose="020B0604020202020204" pitchFamily="34" charset="0"/>
                        <a:buChar char="•"/>
                      </a:pPr>
                      <a:r>
                        <a:rPr lang="en-US" sz="1200" cap="none" spc="0">
                          <a:solidFill>
                            <a:schemeClr val="tx1"/>
                          </a:solidFill>
                        </a:rPr>
                        <a:t>Authenticate with basic</a:t>
                      </a:r>
                    </a:p>
                    <a:p>
                      <a:pPr marL="171450" indent="-171450">
                        <a:buFont typeface="Arial" panose="020B0604020202020204" pitchFamily="34" charset="0"/>
                        <a:buChar char="•"/>
                      </a:pPr>
                      <a:r>
                        <a:rPr lang="en-US" sz="1200" cap="none" spc="0">
                          <a:solidFill>
                            <a:schemeClr val="tx1"/>
                          </a:solidFill>
                        </a:rPr>
                        <a:t>Authenticate with client certificate</a:t>
                      </a:r>
                    </a:p>
                    <a:p>
                      <a:pPr marL="171450" indent="-171450">
                        <a:buFont typeface="Arial" panose="020B0604020202020204" pitchFamily="34" charset="0"/>
                        <a:buChar char="•"/>
                      </a:pPr>
                      <a:r>
                        <a:rPr lang="en-US" sz="1200" cap="none" spc="0">
                          <a:solidFill>
                            <a:schemeClr val="tx1"/>
                          </a:solidFill>
                        </a:rPr>
                        <a:t>Authenticate with managed identity</a:t>
                      </a:r>
                    </a:p>
                    <a:p>
                      <a:pPr marL="171450" lvl="0" indent="-171450">
                        <a:buFont typeface="Arial" panose="020B0604020202020204" pitchFamily="34" charset="0"/>
                        <a:buChar char="•"/>
                      </a:pPr>
                      <a:r>
                        <a:rPr lang="en-US" sz="1200" cap="none" spc="0">
                          <a:solidFill>
                            <a:schemeClr val="tx1"/>
                          </a:solidFill>
                        </a:rPr>
                        <a:t>Authenticate with external identity</a:t>
                      </a:r>
                    </a:p>
                  </a:txBody>
                  <a:tcPr marL="109014" marR="109014" marT="76310" marB="76310"/>
                </a:tc>
                <a:tc>
                  <a:txBody>
                    <a:bodyPr/>
                    <a:lstStyle/>
                    <a:p>
                      <a:pPr marL="171450" indent="-171450">
                        <a:buFont typeface="Arial" panose="020B0604020202020204" pitchFamily="34" charset="0"/>
                        <a:buChar char="•"/>
                      </a:pPr>
                      <a:r>
                        <a:rPr lang="en-US" sz="1200" cap="none" spc="0">
                          <a:solidFill>
                            <a:schemeClr val="tx1"/>
                          </a:solidFill>
                        </a:rPr>
                        <a:t>Get from cache</a:t>
                      </a:r>
                    </a:p>
                    <a:p>
                      <a:pPr marL="171450" indent="-171450">
                        <a:buFont typeface="Arial" panose="020B0604020202020204" pitchFamily="34" charset="0"/>
                        <a:buChar char="•"/>
                      </a:pPr>
                      <a:r>
                        <a:rPr lang="en-US" sz="1200" cap="none" spc="0">
                          <a:solidFill>
                            <a:schemeClr val="tx1"/>
                          </a:solidFill>
                        </a:rPr>
                        <a:t>Store to cache</a:t>
                      </a:r>
                    </a:p>
                    <a:p>
                      <a:pPr marL="171450" indent="-171450">
                        <a:buFont typeface="Arial" panose="020B0604020202020204" pitchFamily="34" charset="0"/>
                        <a:buChar char="•"/>
                      </a:pPr>
                      <a:r>
                        <a:rPr lang="en-US" sz="1200" cap="none" spc="0">
                          <a:solidFill>
                            <a:schemeClr val="tx1"/>
                          </a:solidFill>
                        </a:rPr>
                        <a:t>Get value from cache</a:t>
                      </a:r>
                    </a:p>
                    <a:p>
                      <a:pPr marL="171450" indent="-171450">
                        <a:buFont typeface="Arial" panose="020B0604020202020204" pitchFamily="34" charset="0"/>
                        <a:buChar char="•"/>
                      </a:pPr>
                      <a:r>
                        <a:rPr lang="en-US" sz="1200" cap="none" spc="0">
                          <a:solidFill>
                            <a:schemeClr val="tx1"/>
                          </a:solidFill>
                        </a:rPr>
                        <a:t>Store value from cache</a:t>
                      </a:r>
                    </a:p>
                    <a:p>
                      <a:pPr marL="171450" indent="-171450">
                        <a:buFont typeface="Arial" panose="020B0604020202020204" pitchFamily="34" charset="0"/>
                        <a:buChar char="•"/>
                      </a:pPr>
                      <a:r>
                        <a:rPr lang="en-US" sz="1200" cap="none" spc="0">
                          <a:solidFill>
                            <a:schemeClr val="tx1"/>
                          </a:solidFill>
                        </a:rPr>
                        <a:t>Remove value from cache</a:t>
                      </a:r>
                    </a:p>
                  </a:txBody>
                  <a:tcPr marL="109014" marR="109014" marT="76310" marB="76310"/>
                </a:tc>
                <a:tc>
                  <a:txBody>
                    <a:bodyPr/>
                    <a:lstStyle/>
                    <a:p>
                      <a:pPr marL="171450" indent="-171450">
                        <a:buFont typeface="Arial" panose="020B0604020202020204" pitchFamily="34" charset="0"/>
                        <a:buChar char="•"/>
                      </a:pPr>
                      <a:r>
                        <a:rPr lang="en-US" sz="1200" cap="none" spc="0">
                          <a:solidFill>
                            <a:schemeClr val="tx1"/>
                          </a:solidFill>
                        </a:rPr>
                        <a:t>Allow cross-domain calls</a:t>
                      </a:r>
                    </a:p>
                    <a:p>
                      <a:pPr marL="171450" indent="-171450">
                        <a:buFont typeface="Arial" panose="020B0604020202020204" pitchFamily="34" charset="0"/>
                        <a:buChar char="•"/>
                      </a:pPr>
                      <a:r>
                        <a:rPr lang="en-US" sz="1200" cap="none" spc="0">
                          <a:solidFill>
                            <a:schemeClr val="tx1"/>
                          </a:solidFill>
                        </a:rPr>
                        <a:t>CORS</a:t>
                      </a:r>
                    </a:p>
                    <a:p>
                      <a:pPr marL="171450" indent="-171450">
                        <a:buFont typeface="Arial" panose="020B0604020202020204" pitchFamily="34" charset="0"/>
                        <a:buChar char="•"/>
                      </a:pPr>
                      <a:r>
                        <a:rPr lang="en-US" sz="1200" cap="none" spc="0">
                          <a:solidFill>
                            <a:schemeClr val="tx1"/>
                          </a:solidFill>
                        </a:rPr>
                        <a:t>JSONP</a:t>
                      </a:r>
                    </a:p>
                  </a:txBody>
                  <a:tcPr marL="109014" marR="109014" marT="76310" marB="76310"/>
                </a:tc>
                <a:tc>
                  <a:txBody>
                    <a:bodyPr/>
                    <a:lstStyle/>
                    <a:p>
                      <a:pPr marL="285750" indent="-285750">
                        <a:buFont typeface="Arial" panose="020B0604020202020204" pitchFamily="34" charset="0"/>
                        <a:buChar char="•"/>
                      </a:pPr>
                      <a:r>
                        <a:rPr lang="en-US" sz="1200" cap="none" spc="0">
                          <a:solidFill>
                            <a:schemeClr val="tx1"/>
                          </a:solidFill>
                        </a:rPr>
                        <a:t>Validate content</a:t>
                      </a:r>
                    </a:p>
                    <a:p>
                      <a:pPr marL="285750" indent="-285750">
                        <a:buFont typeface="Arial" panose="020B0604020202020204" pitchFamily="34" charset="0"/>
                        <a:buChar char="•"/>
                      </a:pPr>
                      <a:r>
                        <a:rPr lang="en-US" sz="1200" cap="none" spc="0">
                          <a:solidFill>
                            <a:schemeClr val="tx1"/>
                          </a:solidFill>
                        </a:rPr>
                        <a:t>Validate parameters</a:t>
                      </a:r>
                    </a:p>
                    <a:p>
                      <a:pPr marL="285750" indent="-285750">
                        <a:buFont typeface="Arial" panose="020B0604020202020204" pitchFamily="34" charset="0"/>
                        <a:buChar char="•"/>
                      </a:pPr>
                      <a:r>
                        <a:rPr lang="en-US" sz="1200" cap="none" spc="0">
                          <a:solidFill>
                            <a:schemeClr val="tx1"/>
                          </a:solidFill>
                        </a:rPr>
                        <a:t>Validate headers</a:t>
                      </a:r>
                    </a:p>
                    <a:p>
                      <a:pPr marL="285750" indent="-285750">
                        <a:buFont typeface="Arial" panose="020B0604020202020204" pitchFamily="34" charset="0"/>
                        <a:buChar char="•"/>
                      </a:pPr>
                      <a:r>
                        <a:rPr lang="en-US" sz="1200" cap="none" spc="0">
                          <a:solidFill>
                            <a:schemeClr val="tx1"/>
                          </a:solidFill>
                        </a:rPr>
                        <a:t>Validate status code</a:t>
                      </a:r>
                    </a:p>
                    <a:p>
                      <a:pPr marL="285750" lvl="0" indent="-285750">
                        <a:buFont typeface="Arial" panose="020B0604020202020204" pitchFamily="34" charset="0"/>
                        <a:buChar char="•"/>
                      </a:pPr>
                      <a:r>
                        <a:rPr lang="en-US" sz="1200" cap="none" spc="0">
                          <a:solidFill>
                            <a:schemeClr val="tx1"/>
                          </a:solidFill>
                        </a:rPr>
                        <a:t>Validate </a:t>
                      </a:r>
                      <a:r>
                        <a:rPr lang="en-US" sz="1200" cap="none" spc="0" err="1">
                          <a:solidFill>
                            <a:schemeClr val="tx1"/>
                          </a:solidFill>
                        </a:rPr>
                        <a:t>GraphQL</a:t>
                      </a:r>
                      <a:r>
                        <a:rPr lang="en-US" sz="1200" cap="none" spc="0">
                          <a:solidFill>
                            <a:schemeClr val="tx1"/>
                          </a:solidFill>
                        </a:rPr>
                        <a:t> request</a:t>
                      </a:r>
                    </a:p>
                  </a:txBody>
                  <a:tcPr marL="109014" marR="109014" marT="76310" marB="76310"/>
                </a:tc>
                <a:extLst>
                  <a:ext uri="{0D108BD9-81ED-4DB2-BD59-A6C34878D82A}">
                    <a16:rowId xmlns:a16="http://schemas.microsoft.com/office/drawing/2014/main" val="417893907"/>
                  </a:ext>
                </a:extLst>
              </a:tr>
            </a:tbl>
          </a:graphicData>
        </a:graphic>
      </p:graphicFrame>
    </p:spTree>
    <p:extLst>
      <p:ext uri="{BB962C8B-B14F-4D97-AF65-F5344CB8AC3E}">
        <p14:creationId xmlns:p14="http://schemas.microsoft.com/office/powerpoint/2010/main" val="335025369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6F94FA-6883-574F-95E7-B4CEC76FE8E6}"/>
              </a:ext>
            </a:extLst>
          </p:cNvPr>
          <p:cNvSpPr>
            <a:spLocks noGrp="1"/>
          </p:cNvSpPr>
          <p:nvPr>
            <p:ph type="title"/>
          </p:nvPr>
        </p:nvSpPr>
        <p:spPr/>
        <p:txBody>
          <a:bodyPr/>
          <a:lstStyle/>
          <a:p>
            <a:r>
              <a:rPr lang="en-US"/>
              <a:t>Private networking and upstream security</a:t>
            </a:r>
          </a:p>
        </p:txBody>
      </p:sp>
    </p:spTree>
    <p:extLst>
      <p:ext uri="{BB962C8B-B14F-4D97-AF65-F5344CB8AC3E}">
        <p14:creationId xmlns:p14="http://schemas.microsoft.com/office/powerpoint/2010/main" val="3809151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FA8B29-3781-DC4A-ABDC-B2D026EA8C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222" y="313932"/>
            <a:ext cx="11103760" cy="6191843"/>
          </a:xfrm>
          <a:prstGeom prst="rect">
            <a:avLst/>
          </a:prstGeom>
        </p:spPr>
      </p:pic>
      <p:grpSp>
        <p:nvGrpSpPr>
          <p:cNvPr id="2" name="Group 1">
            <a:extLst>
              <a:ext uri="{FF2B5EF4-FFF2-40B4-BE49-F238E27FC236}">
                <a16:creationId xmlns:a16="http://schemas.microsoft.com/office/drawing/2014/main" id="{04CDF32C-FE36-6345-86A5-C6F065C0E3A6}"/>
              </a:ext>
            </a:extLst>
          </p:cNvPr>
          <p:cNvGrpSpPr/>
          <p:nvPr/>
        </p:nvGrpSpPr>
        <p:grpSpPr>
          <a:xfrm>
            <a:off x="5470481" y="5988710"/>
            <a:ext cx="6721519" cy="517065"/>
            <a:chOff x="5218583" y="5571732"/>
            <a:chExt cx="6721519" cy="517065"/>
          </a:xfrm>
        </p:grpSpPr>
        <p:sp>
          <p:nvSpPr>
            <p:cNvPr id="6" name="TextBox 5">
              <a:extLst>
                <a:ext uri="{FF2B5EF4-FFF2-40B4-BE49-F238E27FC236}">
                  <a16:creationId xmlns:a16="http://schemas.microsoft.com/office/drawing/2014/main" id="{BF233BF3-2C45-E442-B346-E07BD1224CDD}"/>
                </a:ext>
              </a:extLst>
            </p:cNvPr>
            <p:cNvSpPr txBox="1"/>
            <p:nvPr/>
          </p:nvSpPr>
          <p:spPr>
            <a:xfrm>
              <a:off x="5488721" y="5571732"/>
              <a:ext cx="6451381" cy="517065"/>
            </a:xfrm>
            <a:prstGeom prst="rect">
              <a:avLst/>
            </a:prstGeom>
            <a:noFill/>
            <a:ln>
              <a:noFill/>
            </a:ln>
          </p:spPr>
          <p:txBody>
            <a:bodyPr wrap="non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Secure </a:t>
              </a:r>
              <a:r>
                <a:rPr kumimoji="0" lang="en-US" sz="1600" b="1"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external</a:t>
              </a:r>
              <a:r>
                <a:rPr kumimoji="0" lang="en-US" sz="1600" b="0"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 access to private cloud and on-premises endpoints</a:t>
              </a:r>
            </a:p>
          </p:txBody>
        </p:sp>
        <p:sp>
          <p:nvSpPr>
            <p:cNvPr id="7" name="check 3" title="Icon of a checkmark with a circle around it">
              <a:extLst>
                <a:ext uri="{FF2B5EF4-FFF2-40B4-BE49-F238E27FC236}">
                  <a16:creationId xmlns:a16="http://schemas.microsoft.com/office/drawing/2014/main" id="{A5DBB203-ECB6-0E4E-9DDD-E8494EF729C3}"/>
                </a:ext>
              </a:extLst>
            </p:cNvPr>
            <p:cNvSpPr>
              <a:spLocks noChangeAspect="1" noEditPoints="1"/>
            </p:cNvSpPr>
            <p:nvPr/>
          </p:nvSpPr>
          <p:spPr bwMode="auto">
            <a:xfrm>
              <a:off x="5218583" y="564738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38100" cap="sq">
              <a:solidFill>
                <a:srgbClr val="00B050"/>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1A"/>
                </a:solidFill>
                <a:effectLst/>
                <a:uLnTx/>
                <a:uFillTx/>
                <a:latin typeface="Segoe UI"/>
                <a:ea typeface="+mn-ea"/>
                <a:cs typeface="+mn-cs"/>
              </a:endParaRPr>
            </a:p>
          </p:txBody>
        </p:sp>
      </p:grpSp>
      <p:sp>
        <p:nvSpPr>
          <p:cNvPr id="3" name="Title 2">
            <a:extLst>
              <a:ext uri="{FF2B5EF4-FFF2-40B4-BE49-F238E27FC236}">
                <a16:creationId xmlns:a16="http://schemas.microsoft.com/office/drawing/2014/main" id="{1B254301-4C57-3144-A795-47F92567DB56}"/>
              </a:ext>
            </a:extLst>
          </p:cNvPr>
          <p:cNvSpPr>
            <a:spLocks noGrp="1"/>
          </p:cNvSpPr>
          <p:nvPr>
            <p:ph type="title"/>
          </p:nvPr>
        </p:nvSpPr>
        <p:spPr>
          <a:xfrm>
            <a:off x="6212099" y="457200"/>
            <a:ext cx="5508419" cy="372410"/>
          </a:xfrm>
        </p:spPr>
        <p:txBody>
          <a:bodyPr/>
          <a:lstStyle/>
          <a:p>
            <a:pPr algn="r"/>
            <a:r>
              <a:rPr lang="en-US"/>
              <a:t>External configuration</a:t>
            </a:r>
          </a:p>
        </p:txBody>
      </p:sp>
    </p:spTree>
    <p:extLst>
      <p:ext uri="{BB962C8B-B14F-4D97-AF65-F5344CB8AC3E}">
        <p14:creationId xmlns:p14="http://schemas.microsoft.com/office/powerpoint/2010/main" val="349963787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630A8D6-04A7-C34E-A4C5-807BD93BFE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882" y="206986"/>
            <a:ext cx="10765212" cy="6023392"/>
          </a:xfrm>
          <a:prstGeom prst="rect">
            <a:avLst/>
          </a:prstGeom>
        </p:spPr>
      </p:pic>
      <p:grpSp>
        <p:nvGrpSpPr>
          <p:cNvPr id="2" name="Group 1">
            <a:extLst>
              <a:ext uri="{FF2B5EF4-FFF2-40B4-BE49-F238E27FC236}">
                <a16:creationId xmlns:a16="http://schemas.microsoft.com/office/drawing/2014/main" id="{67F5E7D7-2D97-E641-8B9C-73544C815B89}"/>
              </a:ext>
            </a:extLst>
          </p:cNvPr>
          <p:cNvGrpSpPr/>
          <p:nvPr/>
        </p:nvGrpSpPr>
        <p:grpSpPr>
          <a:xfrm>
            <a:off x="5568970" y="5971845"/>
            <a:ext cx="6623030" cy="517065"/>
            <a:chOff x="5332212" y="6149666"/>
            <a:chExt cx="6623030" cy="517065"/>
          </a:xfrm>
        </p:grpSpPr>
        <p:sp>
          <p:nvSpPr>
            <p:cNvPr id="17" name="TextBox 16">
              <a:extLst>
                <a:ext uri="{FF2B5EF4-FFF2-40B4-BE49-F238E27FC236}">
                  <a16:creationId xmlns:a16="http://schemas.microsoft.com/office/drawing/2014/main" id="{331ADF2E-6106-6A4B-8308-863753C70909}"/>
                </a:ext>
              </a:extLst>
            </p:cNvPr>
            <p:cNvSpPr txBox="1"/>
            <p:nvPr/>
          </p:nvSpPr>
          <p:spPr>
            <a:xfrm>
              <a:off x="5603247" y="6149666"/>
              <a:ext cx="6351995" cy="517065"/>
            </a:xfrm>
            <a:prstGeom prst="rect">
              <a:avLst/>
            </a:prstGeom>
            <a:noFill/>
            <a:ln>
              <a:noFill/>
            </a:ln>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Secure </a:t>
              </a:r>
              <a:r>
                <a:rPr kumimoji="0" lang="en-US" sz="1600" b="1"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internal</a:t>
              </a:r>
              <a:r>
                <a:rPr kumimoji="0" lang="en-US" sz="1600" b="0"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 access to private cloud and on-premises endpoints</a:t>
              </a:r>
            </a:p>
          </p:txBody>
        </p:sp>
        <p:sp>
          <p:nvSpPr>
            <p:cNvPr id="5" name="check 3" title="Icon of a checkmark with a circle around it">
              <a:extLst>
                <a:ext uri="{FF2B5EF4-FFF2-40B4-BE49-F238E27FC236}">
                  <a16:creationId xmlns:a16="http://schemas.microsoft.com/office/drawing/2014/main" id="{C42ACDD1-A95B-E449-9140-77309726A7D8}"/>
                </a:ext>
              </a:extLst>
            </p:cNvPr>
            <p:cNvSpPr>
              <a:spLocks noChangeAspect="1" noEditPoints="1"/>
            </p:cNvSpPr>
            <p:nvPr/>
          </p:nvSpPr>
          <p:spPr bwMode="auto">
            <a:xfrm>
              <a:off x="5332212" y="6222491"/>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38100" cap="sq">
              <a:solidFill>
                <a:srgbClr val="00B050"/>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1A"/>
                </a:solidFill>
                <a:effectLst/>
                <a:uLnTx/>
                <a:uFillTx/>
                <a:latin typeface="Segoe UI"/>
                <a:ea typeface="+mn-ea"/>
                <a:cs typeface="+mn-cs"/>
              </a:endParaRPr>
            </a:p>
          </p:txBody>
        </p:sp>
      </p:grpSp>
      <p:sp>
        <p:nvSpPr>
          <p:cNvPr id="8" name="Title 2">
            <a:extLst>
              <a:ext uri="{FF2B5EF4-FFF2-40B4-BE49-F238E27FC236}">
                <a16:creationId xmlns:a16="http://schemas.microsoft.com/office/drawing/2014/main" id="{9107171C-4FDF-F044-BBEB-79FFB7D08F90}"/>
              </a:ext>
            </a:extLst>
          </p:cNvPr>
          <p:cNvSpPr txBox="1">
            <a:spLocks/>
          </p:cNvSpPr>
          <p:nvPr/>
        </p:nvSpPr>
        <p:spPr>
          <a:xfrm>
            <a:off x="6212099" y="457200"/>
            <a:ext cx="5508419" cy="372410"/>
          </a:xfrm>
          <a:prstGeom prst="rect">
            <a:avLst/>
          </a:prstGeom>
        </p:spPr>
        <p:txBody>
          <a:bodyPr vert="horz" wrap="square" lIns="0" tIns="64008" rIns="0" bIns="0" rtlCol="0" anchor="t">
            <a:spAutoFit/>
          </a:bodyPr>
          <a:lstStyle>
            <a:lvl1pPr algn="l" defTabSz="932742" rtl="0" eaLnBrk="1" latinLnBrk="0" hangingPunct="1">
              <a:lnSpc>
                <a:spcPct val="100000"/>
              </a:lnSpc>
              <a:spcBef>
                <a:spcPct val="0"/>
              </a:spcBef>
              <a:buNone/>
              <a:defRPr lang="en-US" sz="2000" b="0" kern="1200" cap="none" spc="0" baseline="0">
                <a:ln w="3175">
                  <a:noFill/>
                </a:ln>
                <a:gradFill>
                  <a:gsLst>
                    <a:gs pos="1250">
                      <a:schemeClr val="tx1"/>
                    </a:gs>
                    <a:gs pos="100000">
                      <a:schemeClr val="tx1"/>
                    </a:gs>
                  </a:gsLst>
                  <a:lin ang="5400000" scaled="0"/>
                </a:gradFill>
                <a:effectLst/>
                <a:latin typeface="+mj-lt"/>
                <a:ea typeface="+mn-ea"/>
                <a:cs typeface="Segoe UI" panose="020B0502040204020203" pitchFamily="34" charset="0"/>
              </a:defRPr>
            </a:lvl1pPr>
          </a:lstStyle>
          <a:p>
            <a:pPr marL="0" marR="0" lvl="0" indent="0" algn="r" defTabSz="932742"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w="3175">
                  <a:noFill/>
                </a:ln>
                <a:gradFill>
                  <a:gsLst>
                    <a:gs pos="1250">
                      <a:srgbClr val="000000"/>
                    </a:gs>
                    <a:gs pos="100000">
                      <a:srgbClr val="000000"/>
                    </a:gs>
                  </a:gsLst>
                  <a:lin ang="5400000" scaled="0"/>
                </a:gradFill>
                <a:effectLst/>
                <a:uLnTx/>
                <a:uFillTx/>
                <a:latin typeface="Segoe UI Semibold"/>
                <a:ea typeface="+mn-ea"/>
                <a:cs typeface="Segoe UI" panose="020B0502040204020203" pitchFamily="34" charset="0"/>
              </a:rPr>
              <a:t>Internal configuration</a:t>
            </a:r>
          </a:p>
        </p:txBody>
      </p:sp>
    </p:spTree>
    <p:extLst>
      <p:ext uri="{BB962C8B-B14F-4D97-AF65-F5344CB8AC3E}">
        <p14:creationId xmlns:p14="http://schemas.microsoft.com/office/powerpoint/2010/main" val="260646794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04A604-690E-6B40-9C98-8B5B6A5DE0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61008"/>
            <a:ext cx="12192000" cy="5845619"/>
          </a:xfrm>
          <a:prstGeom prst="rect">
            <a:avLst/>
          </a:prstGeom>
        </p:spPr>
      </p:pic>
      <p:grpSp>
        <p:nvGrpSpPr>
          <p:cNvPr id="6" name="Group 5">
            <a:extLst>
              <a:ext uri="{FF2B5EF4-FFF2-40B4-BE49-F238E27FC236}">
                <a16:creationId xmlns:a16="http://schemas.microsoft.com/office/drawing/2014/main" id="{B0A714C6-C864-A24B-A0D8-9FC6DB14BAFB}"/>
              </a:ext>
            </a:extLst>
          </p:cNvPr>
          <p:cNvGrpSpPr/>
          <p:nvPr/>
        </p:nvGrpSpPr>
        <p:grpSpPr>
          <a:xfrm>
            <a:off x="471482" y="421806"/>
            <a:ext cx="6781537" cy="815608"/>
            <a:chOff x="5284925" y="5944005"/>
            <a:chExt cx="6781537" cy="815608"/>
          </a:xfrm>
        </p:grpSpPr>
        <p:sp>
          <p:nvSpPr>
            <p:cNvPr id="8" name="TextBox 7">
              <a:extLst>
                <a:ext uri="{FF2B5EF4-FFF2-40B4-BE49-F238E27FC236}">
                  <a16:creationId xmlns:a16="http://schemas.microsoft.com/office/drawing/2014/main" id="{57D6B75A-5870-2549-8690-46FFD6E24FB2}"/>
                </a:ext>
              </a:extLst>
            </p:cNvPr>
            <p:cNvSpPr txBox="1"/>
            <p:nvPr/>
          </p:nvSpPr>
          <p:spPr>
            <a:xfrm>
              <a:off x="5594410" y="5944005"/>
              <a:ext cx="6472052" cy="815608"/>
            </a:xfrm>
            <a:prstGeom prst="rect">
              <a:avLst/>
            </a:prstGeom>
            <a:noFill/>
            <a:ln>
              <a:noFill/>
            </a:ln>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More secure </a:t>
              </a:r>
              <a:r>
                <a:rPr kumimoji="0" lang="en-US" sz="1600" b="1"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external</a:t>
              </a:r>
              <a:r>
                <a:rPr kumimoji="0" lang="en-US" sz="1600" b="0"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 access to private and on-premises endpoints</a:t>
              </a:r>
            </a:p>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Secure </a:t>
              </a:r>
              <a:r>
                <a:rPr kumimoji="0" lang="en-US" sz="1600" b="1"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internal</a:t>
              </a:r>
              <a:r>
                <a:rPr kumimoji="0" lang="en-US" sz="1600" b="0" i="0" u="none" strike="noStrike" kern="1200" cap="none" spc="0" normalizeH="0" baseline="0" noProof="0">
                  <a:ln>
                    <a:noFill/>
                  </a:ln>
                  <a:gradFill>
                    <a:gsLst>
                      <a:gs pos="2917">
                        <a:srgbClr val="1A1A1A"/>
                      </a:gs>
                      <a:gs pos="30000">
                        <a:srgbClr val="1A1A1A"/>
                      </a:gs>
                    </a:gsLst>
                    <a:lin ang="5400000" scaled="0"/>
                  </a:gradFill>
                  <a:effectLst/>
                  <a:uLnTx/>
                  <a:uFillTx/>
                  <a:latin typeface="Segoe UI"/>
                  <a:ea typeface="+mn-ea"/>
                  <a:cs typeface="+mn-cs"/>
                </a:rPr>
                <a:t> access to private cloud and on-premises endpoints</a:t>
              </a:r>
            </a:p>
          </p:txBody>
        </p:sp>
        <p:sp>
          <p:nvSpPr>
            <p:cNvPr id="9" name="check 3" title="Icon of a checkmark with a circle around it">
              <a:extLst>
                <a:ext uri="{FF2B5EF4-FFF2-40B4-BE49-F238E27FC236}">
                  <a16:creationId xmlns:a16="http://schemas.microsoft.com/office/drawing/2014/main" id="{6EA81418-2C52-9B4F-BE91-8CBFDFBD15FB}"/>
                </a:ext>
              </a:extLst>
            </p:cNvPr>
            <p:cNvSpPr>
              <a:spLocks noChangeAspect="1" noEditPoints="1"/>
            </p:cNvSpPr>
            <p:nvPr/>
          </p:nvSpPr>
          <p:spPr bwMode="auto">
            <a:xfrm>
              <a:off x="5284925" y="6168929"/>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38100" cap="sq">
              <a:solidFill>
                <a:srgbClr val="00B050"/>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1A1A"/>
                </a:solidFill>
                <a:effectLst/>
                <a:uLnTx/>
                <a:uFillTx/>
                <a:latin typeface="Segoe UI"/>
                <a:ea typeface="+mn-ea"/>
                <a:cs typeface="+mn-cs"/>
              </a:endParaRPr>
            </a:p>
          </p:txBody>
        </p:sp>
      </p:grpSp>
      <p:sp>
        <p:nvSpPr>
          <p:cNvPr id="10" name="Title 2">
            <a:extLst>
              <a:ext uri="{FF2B5EF4-FFF2-40B4-BE49-F238E27FC236}">
                <a16:creationId xmlns:a16="http://schemas.microsoft.com/office/drawing/2014/main" id="{AC818C5D-C028-2542-A339-2724F3BF0D6A}"/>
              </a:ext>
            </a:extLst>
          </p:cNvPr>
          <p:cNvSpPr txBox="1">
            <a:spLocks/>
          </p:cNvSpPr>
          <p:nvPr/>
        </p:nvSpPr>
        <p:spPr>
          <a:xfrm>
            <a:off x="6212099" y="457200"/>
            <a:ext cx="5508419" cy="372410"/>
          </a:xfrm>
          <a:prstGeom prst="rect">
            <a:avLst/>
          </a:prstGeom>
        </p:spPr>
        <p:txBody>
          <a:bodyPr vert="horz" wrap="square" lIns="0" tIns="64008" rIns="0" bIns="0" rtlCol="0" anchor="t">
            <a:spAutoFit/>
          </a:bodyPr>
          <a:lstStyle>
            <a:lvl1pPr algn="l" defTabSz="932742" rtl="0" eaLnBrk="1" latinLnBrk="0" hangingPunct="1">
              <a:lnSpc>
                <a:spcPct val="100000"/>
              </a:lnSpc>
              <a:spcBef>
                <a:spcPct val="0"/>
              </a:spcBef>
              <a:buNone/>
              <a:defRPr lang="en-US" sz="2000" b="0" kern="1200" cap="none" spc="0" baseline="0">
                <a:ln w="3175">
                  <a:noFill/>
                </a:ln>
                <a:gradFill>
                  <a:gsLst>
                    <a:gs pos="1250">
                      <a:schemeClr val="tx1"/>
                    </a:gs>
                    <a:gs pos="100000">
                      <a:schemeClr val="tx1"/>
                    </a:gs>
                  </a:gsLst>
                  <a:lin ang="5400000" scaled="0"/>
                </a:gradFill>
                <a:effectLst/>
                <a:latin typeface="+mj-lt"/>
                <a:ea typeface="+mn-ea"/>
                <a:cs typeface="Segoe UI" panose="020B0502040204020203" pitchFamily="34" charset="0"/>
              </a:defRPr>
            </a:lvl1pPr>
          </a:lstStyle>
          <a:p>
            <a:pPr marL="0" marR="0" lvl="0" indent="0" algn="r" defTabSz="932742"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a:ln w="3175">
                  <a:noFill/>
                </a:ln>
                <a:gradFill>
                  <a:gsLst>
                    <a:gs pos="1250">
                      <a:srgbClr val="000000"/>
                    </a:gs>
                    <a:gs pos="100000">
                      <a:srgbClr val="000000"/>
                    </a:gs>
                  </a:gsLst>
                  <a:lin ang="5400000" scaled="0"/>
                </a:gradFill>
                <a:effectLst/>
                <a:uLnTx/>
                <a:uFillTx/>
                <a:latin typeface="Segoe UI Semibold"/>
                <a:ea typeface="+mn-ea"/>
                <a:cs typeface="Segoe UI" panose="020B0502040204020203" pitchFamily="34" charset="0"/>
              </a:rPr>
              <a:t>Internal configuration with WAF</a:t>
            </a:r>
          </a:p>
        </p:txBody>
      </p:sp>
    </p:spTree>
    <p:extLst>
      <p:ext uri="{BB962C8B-B14F-4D97-AF65-F5344CB8AC3E}">
        <p14:creationId xmlns:p14="http://schemas.microsoft.com/office/powerpoint/2010/main" val="235623746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10C5B-43A4-30EC-512A-4C778D1CF906}"/>
              </a:ext>
            </a:extLst>
          </p:cNvPr>
          <p:cNvSpPr>
            <a:spLocks noGrp="1"/>
          </p:cNvSpPr>
          <p:nvPr>
            <p:ph type="title"/>
          </p:nvPr>
        </p:nvSpPr>
        <p:spPr/>
        <p:txBody>
          <a:bodyPr/>
          <a:lstStyle/>
          <a:p>
            <a:r>
              <a:rPr lang="en-US"/>
              <a:t>V2 SKUs VNET integration</a:t>
            </a:r>
          </a:p>
        </p:txBody>
      </p:sp>
      <p:pic>
        <p:nvPicPr>
          <p:cNvPr id="3" name="Picture 2" descr="The image depicts a flowchart illustrating a process with two paths: one leading to 'Inbound' and 'Public access' (represented by a cloud icon and a web address), and another leading to 'Outbound' and 'Private access'.&#10;&#10;AI-generated content may be incorrect.">
            <a:extLst>
              <a:ext uri="{FF2B5EF4-FFF2-40B4-BE49-F238E27FC236}">
                <a16:creationId xmlns:a16="http://schemas.microsoft.com/office/drawing/2014/main" id="{DEEC21E0-28A9-DA2C-0ED4-11BE767B4EB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272261" y="1283084"/>
            <a:ext cx="2972213" cy="1591164"/>
          </a:xfrm>
          <a:prstGeom prst="rect">
            <a:avLst/>
          </a:prstGeom>
        </p:spPr>
      </p:pic>
      <p:sp>
        <p:nvSpPr>
          <p:cNvPr id="4" name="TextBox 3">
            <a:extLst>
              <a:ext uri="{FF2B5EF4-FFF2-40B4-BE49-F238E27FC236}">
                <a16:creationId xmlns:a16="http://schemas.microsoft.com/office/drawing/2014/main" id="{45577ECA-9C35-87ED-1E74-BAA559E28727}"/>
              </a:ext>
            </a:extLst>
          </p:cNvPr>
          <p:cNvSpPr txBox="1"/>
          <p:nvPr/>
        </p:nvSpPr>
        <p:spPr>
          <a:xfrm>
            <a:off x="1866839" y="2971316"/>
            <a:ext cx="1662315" cy="307777"/>
          </a:xfrm>
          <a:prstGeom prst="rect">
            <a:avLst/>
          </a:prstGeom>
          <a:noFill/>
        </p:spPr>
        <p:txBody>
          <a:bodyPr wrap="none" lIns="0" tIns="0" rIns="0" bIns="0" rtlCol="0">
            <a:spAutoFit/>
          </a:bodyPr>
          <a:lstStyle/>
          <a:p>
            <a:pPr algn="l"/>
            <a:r>
              <a:rPr lang="en-US" sz="2000"/>
              <a:t>VNET Injection</a:t>
            </a:r>
          </a:p>
        </p:txBody>
      </p:sp>
      <p:pic>
        <p:nvPicPr>
          <p:cNvPr id="5" name="Picture 4" descr="The image depicts a diagram illustrating the flow from 'Inbound' to 'Outbound', followed by 'Public Access' and 'VNet Integration' with web addresses (www) associated.&#10;&#10;AI-generated content may be incorrect.">
            <a:extLst>
              <a:ext uri="{FF2B5EF4-FFF2-40B4-BE49-F238E27FC236}">
                <a16:creationId xmlns:a16="http://schemas.microsoft.com/office/drawing/2014/main" id="{9119B2A8-173B-6F7C-3790-01B8FD5247A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80955" y="1283084"/>
            <a:ext cx="4272720" cy="1595577"/>
          </a:xfrm>
          <a:prstGeom prst="rect">
            <a:avLst/>
          </a:prstGeom>
        </p:spPr>
      </p:pic>
      <p:sp>
        <p:nvSpPr>
          <p:cNvPr id="6" name="TextBox 5">
            <a:extLst>
              <a:ext uri="{FF2B5EF4-FFF2-40B4-BE49-F238E27FC236}">
                <a16:creationId xmlns:a16="http://schemas.microsoft.com/office/drawing/2014/main" id="{34C04486-13CF-94AE-0424-C0862E3E54EC}"/>
              </a:ext>
            </a:extLst>
          </p:cNvPr>
          <p:cNvSpPr txBox="1"/>
          <p:nvPr/>
        </p:nvSpPr>
        <p:spPr>
          <a:xfrm>
            <a:off x="7272557" y="2971316"/>
            <a:ext cx="1936556" cy="307777"/>
          </a:xfrm>
          <a:prstGeom prst="rect">
            <a:avLst/>
          </a:prstGeom>
          <a:noFill/>
        </p:spPr>
        <p:txBody>
          <a:bodyPr wrap="none" lIns="0" tIns="0" rIns="0" bIns="0" rtlCol="0">
            <a:spAutoFit/>
          </a:bodyPr>
          <a:lstStyle/>
          <a:p>
            <a:pPr algn="l"/>
            <a:r>
              <a:rPr lang="en-US" sz="2000"/>
              <a:t>VNET Integration</a:t>
            </a:r>
          </a:p>
        </p:txBody>
      </p:sp>
      <p:pic>
        <p:nvPicPr>
          <p:cNvPr id="7" name="Picture 6" descr="The image illustrates the various configurations and options for APIM VNet capabilities, including different versions, VNet integrations, and access types for inbound and outbound traffic.&#10;&#10;AI-generated content may be incorrect.">
            <a:extLst>
              <a:ext uri="{FF2B5EF4-FFF2-40B4-BE49-F238E27FC236}">
                <a16:creationId xmlns:a16="http://schemas.microsoft.com/office/drawing/2014/main" id="{B36B6DE0-FFD0-9751-7004-C5A895D4B51D}"/>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2553730" y="3401794"/>
            <a:ext cx="5775833" cy="3268739"/>
          </a:xfrm>
          <a:prstGeom prst="rect">
            <a:avLst/>
          </a:prstGeom>
        </p:spPr>
      </p:pic>
      <p:sp>
        <p:nvSpPr>
          <p:cNvPr id="8" name="Rectangle 7">
            <a:extLst>
              <a:ext uri="{FF2B5EF4-FFF2-40B4-BE49-F238E27FC236}">
                <a16:creationId xmlns:a16="http://schemas.microsoft.com/office/drawing/2014/main" id="{9206BA8E-B3BD-6E76-DDFA-E2D3953FD9DD}"/>
              </a:ext>
            </a:extLst>
          </p:cNvPr>
          <p:cNvSpPr/>
          <p:nvPr/>
        </p:nvSpPr>
        <p:spPr bwMode="auto">
          <a:xfrm>
            <a:off x="2667000" y="4292600"/>
            <a:ext cx="626533" cy="174836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7258002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F7A03B-F8E3-B418-3307-6978D099CD8F}"/>
              </a:ext>
            </a:extLst>
          </p:cNvPr>
          <p:cNvSpPr>
            <a:spLocks noGrp="1"/>
          </p:cNvSpPr>
          <p:nvPr>
            <p:ph type="title"/>
          </p:nvPr>
        </p:nvSpPr>
        <p:spPr/>
        <p:txBody>
          <a:bodyPr/>
          <a:lstStyle/>
          <a:p>
            <a:r>
              <a:rPr lang="en-GB" noProof="0"/>
              <a:t>Why an AI Gateway?</a:t>
            </a:r>
          </a:p>
        </p:txBody>
      </p:sp>
    </p:spTree>
    <p:extLst>
      <p:ext uri="{BB962C8B-B14F-4D97-AF65-F5344CB8AC3E}">
        <p14:creationId xmlns:p14="http://schemas.microsoft.com/office/powerpoint/2010/main" val="380783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EC62A-8891-E2BB-3B9F-60BB91737EE4}"/>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57F30E08-618D-6F8F-5DAB-EBFCF2930A35}"/>
              </a:ext>
            </a:extLst>
          </p:cNvPr>
          <p:cNvSpPr txBox="1">
            <a:spLocks/>
          </p:cNvSpPr>
          <p:nvPr/>
        </p:nvSpPr>
        <p:spPr>
          <a:xfrm>
            <a:off x="461818" y="457200"/>
            <a:ext cx="11144965" cy="4924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200" b="0" i="0" u="none" strike="noStrike" kern="1200" cap="none" spc="-50" normalizeH="0" baseline="0" noProof="0">
                <a:ln w="3175">
                  <a:noFill/>
                </a:ln>
                <a:solidFill>
                  <a:srgbClr val="0F6FC6"/>
                </a:solidFill>
                <a:effectLst/>
                <a:uLnTx/>
                <a:uFillTx/>
                <a:latin typeface="Segoe Semibold"/>
                <a:ea typeface="+mj-ea"/>
                <a:cs typeface="Segoe UI" pitchFamily="34" charset="0"/>
              </a:rPr>
              <a:t>APIs are the bedrock of AI’s future</a:t>
            </a:r>
            <a:endParaRPr kumimoji="0" lang="en-GB" sz="3200" b="0" i="0" u="none" strike="noStrike" kern="1200" cap="none" spc="0" normalizeH="0" baseline="0" noProof="0">
              <a:ln>
                <a:noFill/>
              </a:ln>
              <a:solidFill>
                <a:srgbClr val="0F6FC6"/>
              </a:solidFill>
              <a:effectLst/>
              <a:uLnTx/>
              <a:uFillTx/>
              <a:latin typeface="Segoe Semibold"/>
              <a:ea typeface="+mj-ea"/>
              <a:cs typeface="+mj-cs"/>
            </a:endParaRPr>
          </a:p>
        </p:txBody>
      </p:sp>
      <p:sp>
        <p:nvSpPr>
          <p:cNvPr id="36" name="Rectangle: Rounded Corners 35">
            <a:extLst>
              <a:ext uri="{FF2B5EF4-FFF2-40B4-BE49-F238E27FC236}">
                <a16:creationId xmlns:a16="http://schemas.microsoft.com/office/drawing/2014/main" id="{B229E223-E582-7153-F0FC-8F6CDC4A23A8}"/>
              </a:ext>
            </a:extLst>
          </p:cNvPr>
          <p:cNvSpPr/>
          <p:nvPr/>
        </p:nvSpPr>
        <p:spPr bwMode="auto">
          <a:xfrm>
            <a:off x="6223382" y="1370838"/>
            <a:ext cx="5391532" cy="4487416"/>
          </a:xfrm>
          <a:prstGeom prst="roundRect">
            <a:avLst>
              <a:gd name="adj" fmla="val 5500"/>
            </a:avLst>
          </a:prstGeom>
          <a:solidFill>
            <a:srgbClr val="FFFFFF">
              <a:alpha val="66000"/>
            </a:srgbClr>
          </a:solidFill>
          <a:ln w="9525" cap="flat" cmpd="sng" algn="ctr">
            <a:solidFill>
              <a:schemeClr val="accent1"/>
            </a:soli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37" name="Rectangle: Rounded Corners 36">
            <a:extLst>
              <a:ext uri="{FF2B5EF4-FFF2-40B4-BE49-F238E27FC236}">
                <a16:creationId xmlns:a16="http://schemas.microsoft.com/office/drawing/2014/main" id="{08A2AB1A-812B-795D-EB7F-5D2DF21B83DF}"/>
              </a:ext>
            </a:extLst>
          </p:cNvPr>
          <p:cNvSpPr/>
          <p:nvPr/>
        </p:nvSpPr>
        <p:spPr bwMode="auto">
          <a:xfrm>
            <a:off x="584200" y="1370838"/>
            <a:ext cx="5391532" cy="4487416"/>
          </a:xfrm>
          <a:prstGeom prst="roundRect">
            <a:avLst>
              <a:gd name="adj" fmla="val 5500"/>
            </a:avLst>
          </a:prstGeom>
          <a:solidFill>
            <a:srgbClr val="FFFFFF">
              <a:alpha val="66000"/>
            </a:srgbClr>
          </a:solidFill>
          <a:ln w="9525" cap="flat" cmpd="sng" algn="ctr">
            <a:solidFill>
              <a:schemeClr val="accent1"/>
            </a:soli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pic>
        <p:nvPicPr>
          <p:cNvPr id="38" name="Graphic 37">
            <a:extLst>
              <a:ext uri="{FF2B5EF4-FFF2-40B4-BE49-F238E27FC236}">
                <a16:creationId xmlns:a16="http://schemas.microsoft.com/office/drawing/2014/main" id="{4BDE4041-B9A0-6CC2-C73D-D6B2E6E490C0}"/>
              </a:ext>
            </a:extLst>
          </p:cNvPr>
          <p:cNvPicPr>
            <a:picLocks noChangeAspect="1"/>
          </p:cNvPicPr>
          <p:nvPr/>
        </p:nvPicPr>
        <p:blipFill rotWithShape="1">
          <a:blip>
            <a:alphaModFix/>
            <a:extLst>
              <a:ext uri="{96DAC541-7B7A-43D3-8B79-37D633B846F1}">
                <asvg:svgBlip xmlns:asvg="http://schemas.microsoft.com/office/drawing/2016/SVG/main" r:embed="rId3"/>
              </a:ext>
            </a:extLst>
          </a:blip>
          <a:srcRect l="132" t="3101" b="53943"/>
          <a:stretch/>
        </p:blipFill>
        <p:spPr>
          <a:xfrm flipV="1">
            <a:off x="6223382" y="3704016"/>
            <a:ext cx="5384418" cy="2154238"/>
          </a:xfrm>
          <a:custGeom>
            <a:avLst/>
            <a:gdLst>
              <a:gd name="connsiteX0" fmla="*/ 0 w 5384418"/>
              <a:gd name="connsiteY0" fmla="*/ 2154238 h 2154238"/>
              <a:gd name="connsiteX1" fmla="*/ 5384418 w 5384418"/>
              <a:gd name="connsiteY1" fmla="*/ 2154238 h 2154238"/>
              <a:gd name="connsiteX2" fmla="*/ 5384418 w 5384418"/>
              <a:gd name="connsiteY2" fmla="*/ 190304 h 2154238"/>
              <a:gd name="connsiteX3" fmla="*/ 5372137 w 5384418"/>
              <a:gd name="connsiteY3" fmla="*/ 150740 h 2154238"/>
              <a:gd name="connsiteX4" fmla="*/ 5144724 w 5384418"/>
              <a:gd name="connsiteY4" fmla="*/ 0 h 2154238"/>
              <a:gd name="connsiteX5" fmla="*/ 246808 w 5384418"/>
              <a:gd name="connsiteY5" fmla="*/ 0 h 2154238"/>
              <a:gd name="connsiteX6" fmla="*/ 0 w 5384418"/>
              <a:gd name="connsiteY6" fmla="*/ 246808 h 215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84418" h="2154238">
                <a:moveTo>
                  <a:pt x="0" y="2154238"/>
                </a:moveTo>
                <a:lnTo>
                  <a:pt x="5384418" y="2154238"/>
                </a:lnTo>
                <a:lnTo>
                  <a:pt x="5384418" y="190304"/>
                </a:lnTo>
                <a:lnTo>
                  <a:pt x="5372137" y="150740"/>
                </a:lnTo>
                <a:cubicBezTo>
                  <a:pt x="5334669" y="62157"/>
                  <a:pt x="5246955" y="0"/>
                  <a:pt x="5144724" y="0"/>
                </a:cubicBezTo>
                <a:lnTo>
                  <a:pt x="246808" y="0"/>
                </a:lnTo>
                <a:cubicBezTo>
                  <a:pt x="110500" y="0"/>
                  <a:pt x="0" y="110500"/>
                  <a:pt x="0" y="246808"/>
                </a:cubicBezTo>
                <a:close/>
              </a:path>
            </a:pathLst>
          </a:custGeom>
        </p:spPr>
      </p:pic>
      <p:pic>
        <p:nvPicPr>
          <p:cNvPr id="39" name="Graphic 38">
            <a:extLst>
              <a:ext uri="{FF2B5EF4-FFF2-40B4-BE49-F238E27FC236}">
                <a16:creationId xmlns:a16="http://schemas.microsoft.com/office/drawing/2014/main" id="{1D5B56F7-0072-1AC8-417D-07FF48EF2421}"/>
              </a:ext>
            </a:extLst>
          </p:cNvPr>
          <p:cNvPicPr>
            <a:picLocks noChangeAspect="1"/>
          </p:cNvPicPr>
          <p:nvPr/>
        </p:nvPicPr>
        <p:blipFill rotWithShape="1">
          <a:blip>
            <a:alphaModFix/>
            <a:extLst>
              <a:ext uri="{96DAC541-7B7A-43D3-8B79-37D633B846F1}">
                <asvg:svgBlip xmlns:asvg="http://schemas.microsoft.com/office/drawing/2016/SVG/main" r:embed="rId3"/>
              </a:ext>
            </a:extLst>
          </a:blip>
          <a:srcRect l="132" t="3101" b="53943"/>
          <a:stretch/>
        </p:blipFill>
        <p:spPr>
          <a:xfrm flipV="1">
            <a:off x="584200" y="3704016"/>
            <a:ext cx="5384418" cy="2154238"/>
          </a:xfrm>
          <a:custGeom>
            <a:avLst/>
            <a:gdLst>
              <a:gd name="connsiteX0" fmla="*/ 0 w 5384418"/>
              <a:gd name="connsiteY0" fmla="*/ 2154238 h 2154238"/>
              <a:gd name="connsiteX1" fmla="*/ 5384418 w 5384418"/>
              <a:gd name="connsiteY1" fmla="*/ 2154238 h 2154238"/>
              <a:gd name="connsiteX2" fmla="*/ 5384418 w 5384418"/>
              <a:gd name="connsiteY2" fmla="*/ 190304 h 2154238"/>
              <a:gd name="connsiteX3" fmla="*/ 5372137 w 5384418"/>
              <a:gd name="connsiteY3" fmla="*/ 150740 h 2154238"/>
              <a:gd name="connsiteX4" fmla="*/ 5144724 w 5384418"/>
              <a:gd name="connsiteY4" fmla="*/ 0 h 2154238"/>
              <a:gd name="connsiteX5" fmla="*/ 246808 w 5384418"/>
              <a:gd name="connsiteY5" fmla="*/ 0 h 2154238"/>
              <a:gd name="connsiteX6" fmla="*/ 0 w 5384418"/>
              <a:gd name="connsiteY6" fmla="*/ 246808 h 215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84418" h="2154238">
                <a:moveTo>
                  <a:pt x="0" y="2154238"/>
                </a:moveTo>
                <a:lnTo>
                  <a:pt x="5384418" y="2154238"/>
                </a:lnTo>
                <a:lnTo>
                  <a:pt x="5384418" y="190304"/>
                </a:lnTo>
                <a:lnTo>
                  <a:pt x="5372137" y="150740"/>
                </a:lnTo>
                <a:cubicBezTo>
                  <a:pt x="5334669" y="62157"/>
                  <a:pt x="5246955" y="0"/>
                  <a:pt x="5144724" y="0"/>
                </a:cubicBezTo>
                <a:lnTo>
                  <a:pt x="246808" y="0"/>
                </a:lnTo>
                <a:cubicBezTo>
                  <a:pt x="110500" y="0"/>
                  <a:pt x="0" y="110500"/>
                  <a:pt x="0" y="246808"/>
                </a:cubicBezTo>
                <a:close/>
              </a:path>
            </a:pathLst>
          </a:custGeom>
        </p:spPr>
      </p:pic>
      <p:grpSp>
        <p:nvGrpSpPr>
          <p:cNvPr id="40" name="Group 39">
            <a:extLst>
              <a:ext uri="{FF2B5EF4-FFF2-40B4-BE49-F238E27FC236}">
                <a16:creationId xmlns:a16="http://schemas.microsoft.com/office/drawing/2014/main" id="{90D7F4A1-939C-FE46-8233-73EFA60D384E}"/>
              </a:ext>
            </a:extLst>
          </p:cNvPr>
          <p:cNvGrpSpPr/>
          <p:nvPr/>
        </p:nvGrpSpPr>
        <p:grpSpPr>
          <a:xfrm>
            <a:off x="806832" y="1608518"/>
            <a:ext cx="4946268" cy="3083559"/>
            <a:chOff x="806832" y="2120901"/>
            <a:chExt cx="4946268" cy="3083559"/>
          </a:xfrm>
        </p:grpSpPr>
        <p:sp>
          <p:nvSpPr>
            <p:cNvPr id="41" name="Freeform: Shape 40">
              <a:extLst>
                <a:ext uri="{FF2B5EF4-FFF2-40B4-BE49-F238E27FC236}">
                  <a16:creationId xmlns:a16="http://schemas.microsoft.com/office/drawing/2014/main" id="{E1B423D5-023C-F63B-0E16-CF94481781E8}"/>
                </a:ext>
              </a:extLst>
            </p:cNvPr>
            <p:cNvSpPr/>
            <p:nvPr/>
          </p:nvSpPr>
          <p:spPr bwMode="auto">
            <a:xfrm>
              <a:off x="806832" y="2120901"/>
              <a:ext cx="4946268" cy="3083559"/>
            </a:xfrm>
            <a:custGeom>
              <a:avLst/>
              <a:gdLst>
                <a:gd name="connsiteX0" fmla="*/ 147194 w 4946268"/>
                <a:gd name="connsiteY0" fmla="*/ 0 h 3083559"/>
                <a:gd name="connsiteX1" fmla="*/ 4799074 w 4946268"/>
                <a:gd name="connsiteY1" fmla="*/ 0 h 3083559"/>
                <a:gd name="connsiteX2" fmla="*/ 4946268 w 4946268"/>
                <a:gd name="connsiteY2" fmla="*/ 147194 h 3083559"/>
                <a:gd name="connsiteX3" fmla="*/ 4946268 w 4946268"/>
                <a:gd name="connsiteY3" fmla="*/ 2463562 h 3083559"/>
                <a:gd name="connsiteX4" fmla="*/ 4799074 w 4946268"/>
                <a:gd name="connsiteY4" fmla="*/ 2610756 h 3083559"/>
                <a:gd name="connsiteX5" fmla="*/ 740950 w 4946268"/>
                <a:gd name="connsiteY5" fmla="*/ 2610756 h 3083559"/>
                <a:gd name="connsiteX6" fmla="*/ 266700 w 4946268"/>
                <a:gd name="connsiteY6" fmla="*/ 3083559 h 3083559"/>
                <a:gd name="connsiteX7" fmla="*/ 266700 w 4946268"/>
                <a:gd name="connsiteY7" fmla="*/ 2610756 h 3083559"/>
                <a:gd name="connsiteX8" fmla="*/ 147194 w 4946268"/>
                <a:gd name="connsiteY8" fmla="*/ 2610756 h 3083559"/>
                <a:gd name="connsiteX9" fmla="*/ 0 w 4946268"/>
                <a:gd name="connsiteY9" fmla="*/ 2463562 h 3083559"/>
                <a:gd name="connsiteX10" fmla="*/ 0 w 4946268"/>
                <a:gd name="connsiteY10" fmla="*/ 147194 h 3083559"/>
                <a:gd name="connsiteX11" fmla="*/ 147194 w 4946268"/>
                <a:gd name="connsiteY11" fmla="*/ 0 h 3083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46268" h="3083559">
                  <a:moveTo>
                    <a:pt x="147194" y="0"/>
                  </a:moveTo>
                  <a:lnTo>
                    <a:pt x="4799074" y="0"/>
                  </a:lnTo>
                  <a:cubicBezTo>
                    <a:pt x="4880367" y="0"/>
                    <a:pt x="4946268" y="65901"/>
                    <a:pt x="4946268" y="147194"/>
                  </a:cubicBezTo>
                  <a:lnTo>
                    <a:pt x="4946268" y="2463562"/>
                  </a:lnTo>
                  <a:cubicBezTo>
                    <a:pt x="4946268" y="2544855"/>
                    <a:pt x="4880367" y="2610756"/>
                    <a:pt x="4799074" y="2610756"/>
                  </a:cubicBezTo>
                  <a:lnTo>
                    <a:pt x="740950" y="2610756"/>
                  </a:lnTo>
                  <a:lnTo>
                    <a:pt x="266700" y="3083559"/>
                  </a:lnTo>
                  <a:lnTo>
                    <a:pt x="266700" y="2610756"/>
                  </a:lnTo>
                  <a:lnTo>
                    <a:pt x="147194" y="2610756"/>
                  </a:lnTo>
                  <a:cubicBezTo>
                    <a:pt x="65901" y="2610756"/>
                    <a:pt x="0" y="2544855"/>
                    <a:pt x="0" y="2463562"/>
                  </a:cubicBezTo>
                  <a:lnTo>
                    <a:pt x="0" y="147194"/>
                  </a:lnTo>
                  <a:cubicBezTo>
                    <a:pt x="0" y="65901"/>
                    <a:pt x="65901" y="0"/>
                    <a:pt x="147194" y="0"/>
                  </a:cubicBezTo>
                  <a:close/>
                </a:path>
              </a:pathLst>
            </a:custGeom>
            <a:solidFill>
              <a:srgbClr val="FFFFFF">
                <a:alpha val="66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228600" tIns="731520" rIns="22860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GB" sz="2200" b="0" i="0" u="none" strike="noStrike" kern="0" cap="none" spc="0" normalizeH="0" baseline="0" noProof="0">
                  <a:ln>
                    <a:noFill/>
                  </a:ln>
                  <a:solidFill>
                    <a:srgbClr val="000000"/>
                  </a:solidFill>
                  <a:effectLst/>
                  <a:uLnTx/>
                  <a:uFillTx/>
                  <a:latin typeface="Segoe UI Semibold"/>
                  <a:ea typeface="+mn-ea"/>
                  <a:cs typeface="+mn-cs"/>
                </a:rPr>
                <a:t>We’re heading toward a future where </a:t>
              </a:r>
              <a:r>
                <a:rPr kumimoji="0" lang="en-GB" sz="2400" b="0" i="0" u="none" strike="noStrike" kern="0" cap="none" spc="0" normalizeH="0" baseline="0" noProof="0">
                  <a:ln>
                    <a:noFill/>
                  </a:ln>
                  <a:solidFill>
                    <a:srgbClr val="0078D4"/>
                  </a:solidFill>
                  <a:effectLst/>
                  <a:uLnTx/>
                  <a:uFillTx/>
                  <a:latin typeface="Segoe UI Semibold"/>
                  <a:ea typeface="+mn-ea"/>
                  <a:cs typeface="+mn-cs"/>
                </a:rPr>
                <a:t>all code will essentially be API</a:t>
              </a:r>
              <a:r>
                <a:rPr kumimoji="0" lang="en-GB" sz="2200" b="0" i="0" u="none" strike="noStrike" kern="0" cap="none" spc="0" normalizeH="0" baseline="0" noProof="0">
                  <a:ln>
                    <a:noFill/>
                  </a:ln>
                  <a:solidFill>
                    <a:srgbClr val="0078D4"/>
                  </a:solidFill>
                  <a:effectLst/>
                  <a:uLnTx/>
                  <a:uFillTx/>
                  <a:latin typeface="Segoe UI Semibold"/>
                  <a:ea typeface="+mn-ea"/>
                  <a:cs typeface="+mn-cs"/>
                </a:rPr>
                <a:t> </a:t>
              </a:r>
              <a:r>
                <a:rPr kumimoji="0" lang="en-GB" sz="2400" b="0" i="0" u="none" strike="noStrike" kern="0" cap="none" spc="0" normalizeH="0" baseline="0" noProof="0">
                  <a:ln>
                    <a:noFill/>
                  </a:ln>
                  <a:solidFill>
                    <a:srgbClr val="0078D4"/>
                  </a:solidFill>
                  <a:effectLst/>
                  <a:uLnTx/>
                  <a:uFillTx/>
                  <a:latin typeface="Segoe UI Semibold"/>
                  <a:ea typeface="+mn-ea"/>
                  <a:cs typeface="+mn-cs"/>
                </a:rPr>
                <a:t>calls</a:t>
              </a:r>
              <a:r>
                <a:rPr kumimoji="0" lang="en-GB" sz="2200" b="0" i="0" u="none" strike="noStrike" kern="0" cap="none" spc="0" normalizeH="0" baseline="0" noProof="0">
                  <a:ln>
                    <a:noFill/>
                  </a:ln>
                  <a:solidFill>
                    <a:srgbClr val="0078D4"/>
                  </a:solidFill>
                  <a:effectLst/>
                  <a:uLnTx/>
                  <a:uFillTx/>
                  <a:latin typeface="Segoe UI Semibold"/>
                  <a:ea typeface="+mn-ea"/>
                  <a:cs typeface="+mn-cs"/>
                </a:rPr>
                <a:t> </a:t>
              </a:r>
              <a:r>
                <a:rPr kumimoji="0" lang="en-GB" sz="2200" b="0" i="0" u="none" strike="noStrike" kern="0" cap="none" spc="0" normalizeH="0" baseline="0" noProof="0">
                  <a:ln>
                    <a:noFill/>
                  </a:ln>
                  <a:solidFill>
                    <a:srgbClr val="000000"/>
                  </a:solidFill>
                  <a:effectLst/>
                  <a:uLnTx/>
                  <a:uFillTx/>
                  <a:latin typeface="Segoe UI Semibold"/>
                  <a:ea typeface="+mn-ea"/>
                  <a:cs typeface="+mn-cs"/>
                </a:rPr>
                <a:t>to large language models, with those LLMs in turn calling other LLMs.</a:t>
              </a:r>
              <a:endParaRPr kumimoji="0" lang="en-GB" sz="2200" b="0" i="0" u="none" strike="noStrike" kern="0" cap="none" spc="0" normalizeH="0" baseline="0" noProof="0">
                <a:ln>
                  <a:noFill/>
                </a:ln>
                <a:solidFill>
                  <a:srgbClr val="000000"/>
                </a:solidFill>
                <a:effectLst/>
                <a:uLnTx/>
                <a:uFillTx/>
                <a:latin typeface="Segoe UI Semibold"/>
                <a:ea typeface="+mn-ea"/>
                <a:cs typeface="Segoe UI" pitchFamily="34" charset="0"/>
              </a:endParaRPr>
            </a:p>
          </p:txBody>
        </p:sp>
        <p:sp>
          <p:nvSpPr>
            <p:cNvPr id="42" name="Freeform: Shape 41">
              <a:extLst>
                <a:ext uri="{FF2B5EF4-FFF2-40B4-BE49-F238E27FC236}">
                  <a16:creationId xmlns:a16="http://schemas.microsoft.com/office/drawing/2014/main" id="{5EBE2164-D317-1857-59CB-9AD2AA3CEDB1}"/>
                </a:ext>
              </a:extLst>
            </p:cNvPr>
            <p:cNvSpPr/>
            <p:nvPr/>
          </p:nvSpPr>
          <p:spPr>
            <a:xfrm>
              <a:off x="1054482" y="2242578"/>
              <a:ext cx="2431669" cy="291578"/>
            </a:xfrm>
            <a:custGeom>
              <a:avLst/>
              <a:gdLst>
                <a:gd name="connsiteX0" fmla="*/ 431418 w 2431669"/>
                <a:gd name="connsiteY0" fmla="*/ 145789 h 291578"/>
                <a:gd name="connsiteX1" fmla="*/ 431418 w 2431669"/>
                <a:gd name="connsiteY1" fmla="*/ 145790 h 291578"/>
                <a:gd name="connsiteX2" fmla="*/ 431418 w 2431669"/>
                <a:gd name="connsiteY2" fmla="*/ 145790 h 291578"/>
                <a:gd name="connsiteX3" fmla="*/ 464950 w 2431669"/>
                <a:gd name="connsiteY3" fmla="*/ 112258 h 291578"/>
                <a:gd name="connsiteX4" fmla="*/ 2398137 w 2431669"/>
                <a:gd name="connsiteY4" fmla="*/ 112258 h 291578"/>
                <a:gd name="connsiteX5" fmla="*/ 2431669 w 2431669"/>
                <a:gd name="connsiteY5" fmla="*/ 145790 h 291578"/>
                <a:gd name="connsiteX6" fmla="*/ 2431668 w 2431669"/>
                <a:gd name="connsiteY6" fmla="*/ 145790 h 291578"/>
                <a:gd name="connsiteX7" fmla="*/ 2398136 w 2431669"/>
                <a:gd name="connsiteY7" fmla="*/ 179322 h 291578"/>
                <a:gd name="connsiteX8" fmla="*/ 464950 w 2431669"/>
                <a:gd name="connsiteY8" fmla="*/ 179321 h 291578"/>
                <a:gd name="connsiteX9" fmla="*/ 441239 w 2431669"/>
                <a:gd name="connsiteY9" fmla="*/ 169500 h 291578"/>
                <a:gd name="connsiteX10" fmla="*/ 431418 w 2431669"/>
                <a:gd name="connsiteY10" fmla="*/ 145790 h 291578"/>
                <a:gd name="connsiteX11" fmla="*/ 441239 w 2431669"/>
                <a:gd name="connsiteY11" fmla="*/ 122080 h 291578"/>
                <a:gd name="connsiteX12" fmla="*/ 464950 w 2431669"/>
                <a:gd name="connsiteY12" fmla="*/ 112258 h 291578"/>
                <a:gd name="connsiteX13" fmla="*/ 289449 w 2431669"/>
                <a:gd name="connsiteY13" fmla="*/ 0 h 291578"/>
                <a:gd name="connsiteX14" fmla="*/ 316052 w 2431669"/>
                <a:gd name="connsiteY14" fmla="*/ 42598 h 291578"/>
                <a:gd name="connsiteX15" fmla="*/ 266240 w 2431669"/>
                <a:gd name="connsiteY15" fmla="*/ 83930 h 291578"/>
                <a:gd name="connsiteX16" fmla="*/ 248394 w 2431669"/>
                <a:gd name="connsiteY16" fmla="*/ 163869 h 291578"/>
                <a:gd name="connsiteX17" fmla="*/ 305410 w 2431669"/>
                <a:gd name="connsiteY17" fmla="*/ 163869 h 291578"/>
                <a:gd name="connsiteX18" fmla="*/ 305410 w 2431669"/>
                <a:gd name="connsiteY18" fmla="*/ 163880 h 291578"/>
                <a:gd name="connsiteX19" fmla="*/ 305410 w 2431669"/>
                <a:gd name="connsiteY19" fmla="*/ 291578 h 291578"/>
                <a:gd name="connsiteX20" fmla="*/ 188354 w 2431669"/>
                <a:gd name="connsiteY20" fmla="*/ 291578 h 291578"/>
                <a:gd name="connsiteX21" fmla="*/ 188354 w 2431669"/>
                <a:gd name="connsiteY21" fmla="*/ 191548 h 291578"/>
                <a:gd name="connsiteX22" fmla="*/ 207956 w 2431669"/>
                <a:gd name="connsiteY22" fmla="*/ 73576 h 291578"/>
                <a:gd name="connsiteX23" fmla="*/ 289449 w 2431669"/>
                <a:gd name="connsiteY23" fmla="*/ 0 h 291578"/>
                <a:gd name="connsiteX24" fmla="*/ 101093 w 2431669"/>
                <a:gd name="connsiteY24" fmla="*/ 0 h 291578"/>
                <a:gd name="connsiteX25" fmla="*/ 127698 w 2431669"/>
                <a:gd name="connsiteY25" fmla="*/ 42598 h 291578"/>
                <a:gd name="connsiteX26" fmla="*/ 77885 w 2431669"/>
                <a:gd name="connsiteY26" fmla="*/ 83930 h 291578"/>
                <a:gd name="connsiteX27" fmla="*/ 60040 w 2431669"/>
                <a:gd name="connsiteY27" fmla="*/ 163869 h 291578"/>
                <a:gd name="connsiteX28" fmla="*/ 117056 w 2431669"/>
                <a:gd name="connsiteY28" fmla="*/ 163869 h 291578"/>
                <a:gd name="connsiteX29" fmla="*/ 117056 w 2431669"/>
                <a:gd name="connsiteY29" fmla="*/ 163880 h 291578"/>
                <a:gd name="connsiteX30" fmla="*/ 117056 w 2431669"/>
                <a:gd name="connsiteY30" fmla="*/ 291578 h 291578"/>
                <a:gd name="connsiteX31" fmla="*/ 0 w 2431669"/>
                <a:gd name="connsiteY31" fmla="*/ 291578 h 291578"/>
                <a:gd name="connsiteX32" fmla="*/ 0 w 2431669"/>
                <a:gd name="connsiteY32" fmla="*/ 191548 h 291578"/>
                <a:gd name="connsiteX33" fmla="*/ 19602 w 2431669"/>
                <a:gd name="connsiteY33" fmla="*/ 73576 h 291578"/>
                <a:gd name="connsiteX34" fmla="*/ 101093 w 2431669"/>
                <a:gd name="connsiteY34" fmla="*/ 0 h 291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31669" h="291578">
                  <a:moveTo>
                    <a:pt x="431418" y="145789"/>
                  </a:moveTo>
                  <a:lnTo>
                    <a:pt x="431418" y="145790"/>
                  </a:lnTo>
                  <a:lnTo>
                    <a:pt x="431418" y="145790"/>
                  </a:lnTo>
                  <a:close/>
                  <a:moveTo>
                    <a:pt x="464950" y="112258"/>
                  </a:moveTo>
                  <a:lnTo>
                    <a:pt x="2398137" y="112258"/>
                  </a:lnTo>
                  <a:cubicBezTo>
                    <a:pt x="2416656" y="112258"/>
                    <a:pt x="2431669" y="127271"/>
                    <a:pt x="2431669" y="145790"/>
                  </a:cubicBezTo>
                  <a:lnTo>
                    <a:pt x="2431668" y="145790"/>
                  </a:lnTo>
                  <a:cubicBezTo>
                    <a:pt x="2431668" y="164309"/>
                    <a:pt x="2416655" y="179322"/>
                    <a:pt x="2398136" y="179322"/>
                  </a:cubicBezTo>
                  <a:lnTo>
                    <a:pt x="464950" y="179321"/>
                  </a:lnTo>
                  <a:cubicBezTo>
                    <a:pt x="455691" y="179321"/>
                    <a:pt x="447308" y="175568"/>
                    <a:pt x="441239" y="169500"/>
                  </a:cubicBezTo>
                  <a:lnTo>
                    <a:pt x="431418" y="145790"/>
                  </a:lnTo>
                  <a:lnTo>
                    <a:pt x="441239" y="122080"/>
                  </a:lnTo>
                  <a:cubicBezTo>
                    <a:pt x="447308" y="116011"/>
                    <a:pt x="455691" y="112258"/>
                    <a:pt x="464950" y="112258"/>
                  </a:cubicBezTo>
                  <a:close/>
                  <a:moveTo>
                    <a:pt x="289449" y="0"/>
                  </a:moveTo>
                  <a:lnTo>
                    <a:pt x="316052" y="42598"/>
                  </a:lnTo>
                  <a:cubicBezTo>
                    <a:pt x="293503" y="51857"/>
                    <a:pt x="276892" y="65648"/>
                    <a:pt x="266240" y="83930"/>
                  </a:cubicBezTo>
                  <a:cubicBezTo>
                    <a:pt x="255565" y="102233"/>
                    <a:pt x="249629" y="128891"/>
                    <a:pt x="248394" y="163869"/>
                  </a:cubicBezTo>
                  <a:lnTo>
                    <a:pt x="305410" y="163869"/>
                  </a:lnTo>
                  <a:lnTo>
                    <a:pt x="305410" y="163880"/>
                  </a:lnTo>
                  <a:lnTo>
                    <a:pt x="305410" y="291578"/>
                  </a:lnTo>
                  <a:lnTo>
                    <a:pt x="188354" y="291578"/>
                  </a:lnTo>
                  <a:lnTo>
                    <a:pt x="188354" y="191548"/>
                  </a:lnTo>
                  <a:cubicBezTo>
                    <a:pt x="188354" y="137223"/>
                    <a:pt x="194889" y="97902"/>
                    <a:pt x="207956" y="73576"/>
                  </a:cubicBezTo>
                  <a:cubicBezTo>
                    <a:pt x="225110" y="41152"/>
                    <a:pt x="252267" y="16622"/>
                    <a:pt x="289449" y="0"/>
                  </a:cubicBezTo>
                  <a:close/>
                  <a:moveTo>
                    <a:pt x="101093" y="0"/>
                  </a:moveTo>
                  <a:lnTo>
                    <a:pt x="127698" y="42598"/>
                  </a:lnTo>
                  <a:cubicBezTo>
                    <a:pt x="105148" y="51857"/>
                    <a:pt x="88537" y="65648"/>
                    <a:pt x="77885" y="83930"/>
                  </a:cubicBezTo>
                  <a:cubicBezTo>
                    <a:pt x="67211" y="102233"/>
                    <a:pt x="61274" y="128891"/>
                    <a:pt x="60040" y="163869"/>
                  </a:cubicBezTo>
                  <a:lnTo>
                    <a:pt x="117056" y="163869"/>
                  </a:lnTo>
                  <a:lnTo>
                    <a:pt x="117056" y="163880"/>
                  </a:lnTo>
                  <a:lnTo>
                    <a:pt x="117056" y="291578"/>
                  </a:lnTo>
                  <a:lnTo>
                    <a:pt x="0" y="291578"/>
                  </a:lnTo>
                  <a:lnTo>
                    <a:pt x="0" y="191548"/>
                  </a:lnTo>
                  <a:cubicBezTo>
                    <a:pt x="0" y="137223"/>
                    <a:pt x="6534" y="97902"/>
                    <a:pt x="19602" y="73576"/>
                  </a:cubicBezTo>
                  <a:cubicBezTo>
                    <a:pt x="36756" y="41152"/>
                    <a:pt x="63912" y="16622"/>
                    <a:pt x="101093" y="0"/>
                  </a:cubicBezTo>
                  <a:close/>
                </a:path>
              </a:pathLst>
            </a:custGeom>
            <a:gradFill>
              <a:gsLst>
                <a:gs pos="0">
                  <a:srgbClr val="D59ED7">
                    <a:lumMod val="75000"/>
                  </a:srgbClr>
                </a:gs>
                <a:gs pos="100000">
                  <a:srgbClr val="0078D4"/>
                </a:gs>
              </a:gsLst>
              <a:lin ang="1380000" scaled="0"/>
            </a:gradFill>
            <a:ln w="9525" cap="flat" cmpd="sng" algn="ctr">
              <a:no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43" name="Freeform: Shape 42">
              <a:extLst>
                <a:ext uri="{FF2B5EF4-FFF2-40B4-BE49-F238E27FC236}">
                  <a16:creationId xmlns:a16="http://schemas.microsoft.com/office/drawing/2014/main" id="{F1E8B198-4D99-E628-42B0-BF2195FF9795}"/>
                </a:ext>
              </a:extLst>
            </p:cNvPr>
            <p:cNvSpPr/>
            <p:nvPr/>
          </p:nvSpPr>
          <p:spPr bwMode="auto">
            <a:xfrm>
              <a:off x="806832" y="4000501"/>
              <a:ext cx="4946268" cy="1203959"/>
            </a:xfrm>
            <a:custGeom>
              <a:avLst/>
              <a:gdLst>
                <a:gd name="connsiteX0" fmla="*/ 4892675 w 4946268"/>
                <a:gd name="connsiteY0" fmla="*/ 0 h 1203959"/>
                <a:gd name="connsiteX1" fmla="*/ 4946268 w 4946268"/>
                <a:gd name="connsiteY1" fmla="*/ 0 h 1203959"/>
                <a:gd name="connsiteX2" fmla="*/ 4946268 w 4946268"/>
                <a:gd name="connsiteY2" fmla="*/ 583962 h 1203959"/>
                <a:gd name="connsiteX3" fmla="*/ 4799074 w 4946268"/>
                <a:gd name="connsiteY3" fmla="*/ 731156 h 1203959"/>
                <a:gd name="connsiteX4" fmla="*/ 4505195 w 4946268"/>
                <a:gd name="connsiteY4" fmla="*/ 731156 h 1203959"/>
                <a:gd name="connsiteX5" fmla="*/ 4505195 w 4946268"/>
                <a:gd name="connsiteY5" fmla="*/ 678315 h 1203959"/>
                <a:gd name="connsiteX6" fmla="*/ 4772882 w 4946268"/>
                <a:gd name="connsiteY6" fmla="*/ 678315 h 1203959"/>
                <a:gd name="connsiteX7" fmla="*/ 4892675 w 4946268"/>
                <a:gd name="connsiteY7" fmla="*/ 558522 h 1203959"/>
                <a:gd name="connsiteX8" fmla="*/ 0 w 4946268"/>
                <a:gd name="connsiteY8" fmla="*/ 0 h 1203959"/>
                <a:gd name="connsiteX9" fmla="*/ 53593 w 4946268"/>
                <a:gd name="connsiteY9" fmla="*/ 0 h 1203959"/>
                <a:gd name="connsiteX10" fmla="*/ 53593 w 4946268"/>
                <a:gd name="connsiteY10" fmla="*/ 558522 h 1203959"/>
                <a:gd name="connsiteX11" fmla="*/ 173386 w 4946268"/>
                <a:gd name="connsiteY11" fmla="*/ 678315 h 1203959"/>
                <a:gd name="connsiteX12" fmla="*/ 321564 w 4946268"/>
                <a:gd name="connsiteY12" fmla="*/ 678315 h 1203959"/>
                <a:gd name="connsiteX13" fmla="*/ 321564 w 4946268"/>
                <a:gd name="connsiteY13" fmla="*/ 1059655 h 1203959"/>
                <a:gd name="connsiteX14" fmla="*/ 702888 w 4946268"/>
                <a:gd name="connsiteY14" fmla="*/ 678315 h 1203959"/>
                <a:gd name="connsiteX15" fmla="*/ 3988478 w 4946268"/>
                <a:gd name="connsiteY15" fmla="*/ 678315 h 1203959"/>
                <a:gd name="connsiteX16" fmla="*/ 3988478 w 4946268"/>
                <a:gd name="connsiteY16" fmla="*/ 731156 h 1203959"/>
                <a:gd name="connsiteX17" fmla="*/ 740950 w 4946268"/>
                <a:gd name="connsiteY17" fmla="*/ 731156 h 1203959"/>
                <a:gd name="connsiteX18" fmla="*/ 266700 w 4946268"/>
                <a:gd name="connsiteY18" fmla="*/ 1203959 h 1203959"/>
                <a:gd name="connsiteX19" fmla="*/ 266700 w 4946268"/>
                <a:gd name="connsiteY19" fmla="*/ 731156 h 1203959"/>
                <a:gd name="connsiteX20" fmla="*/ 147194 w 4946268"/>
                <a:gd name="connsiteY20" fmla="*/ 731156 h 1203959"/>
                <a:gd name="connsiteX21" fmla="*/ 0 w 4946268"/>
                <a:gd name="connsiteY21" fmla="*/ 583962 h 120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46268" h="1203959">
                  <a:moveTo>
                    <a:pt x="4892675" y="0"/>
                  </a:moveTo>
                  <a:lnTo>
                    <a:pt x="4946268" y="0"/>
                  </a:lnTo>
                  <a:lnTo>
                    <a:pt x="4946268" y="583962"/>
                  </a:lnTo>
                  <a:cubicBezTo>
                    <a:pt x="4946268" y="665255"/>
                    <a:pt x="4880367" y="731156"/>
                    <a:pt x="4799074" y="731156"/>
                  </a:cubicBezTo>
                  <a:lnTo>
                    <a:pt x="4505195" y="731156"/>
                  </a:lnTo>
                  <a:lnTo>
                    <a:pt x="4505195" y="678315"/>
                  </a:lnTo>
                  <a:lnTo>
                    <a:pt x="4772882" y="678315"/>
                  </a:lnTo>
                  <a:cubicBezTo>
                    <a:pt x="4839042" y="678315"/>
                    <a:pt x="4892675" y="624682"/>
                    <a:pt x="4892675" y="558522"/>
                  </a:cubicBezTo>
                  <a:close/>
                  <a:moveTo>
                    <a:pt x="0" y="0"/>
                  </a:moveTo>
                  <a:lnTo>
                    <a:pt x="53593" y="0"/>
                  </a:lnTo>
                  <a:lnTo>
                    <a:pt x="53593" y="558522"/>
                  </a:lnTo>
                  <a:cubicBezTo>
                    <a:pt x="53593" y="624682"/>
                    <a:pt x="107226" y="678315"/>
                    <a:pt x="173386" y="678315"/>
                  </a:cubicBezTo>
                  <a:lnTo>
                    <a:pt x="321564" y="678315"/>
                  </a:lnTo>
                  <a:lnTo>
                    <a:pt x="321564" y="1059655"/>
                  </a:lnTo>
                  <a:lnTo>
                    <a:pt x="702888" y="678315"/>
                  </a:lnTo>
                  <a:lnTo>
                    <a:pt x="3988478" y="678315"/>
                  </a:lnTo>
                  <a:lnTo>
                    <a:pt x="3988478" y="731156"/>
                  </a:lnTo>
                  <a:lnTo>
                    <a:pt x="740950" y="731156"/>
                  </a:lnTo>
                  <a:lnTo>
                    <a:pt x="266700" y="1203959"/>
                  </a:lnTo>
                  <a:lnTo>
                    <a:pt x="266700" y="731156"/>
                  </a:lnTo>
                  <a:lnTo>
                    <a:pt x="147194" y="731156"/>
                  </a:lnTo>
                  <a:cubicBezTo>
                    <a:pt x="65901" y="731156"/>
                    <a:pt x="0" y="665255"/>
                    <a:pt x="0" y="583962"/>
                  </a:cubicBezTo>
                  <a:close/>
                </a:path>
              </a:pathLst>
            </a:custGeom>
            <a:gradFill>
              <a:gsLst>
                <a:gs pos="0">
                  <a:srgbClr val="D59ED7">
                    <a:lumMod val="75000"/>
                  </a:srgbClr>
                </a:gs>
                <a:gs pos="100000">
                  <a:srgbClr val="0078D4"/>
                </a:gs>
              </a:gsLst>
              <a:lin ang="1380000" scaled="0"/>
            </a:gradFill>
            <a:ln w="9525" cap="flat" cmpd="sng" algn="ctr">
              <a:no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44" name="Freeform: Shape 43">
              <a:extLst>
                <a:ext uri="{FF2B5EF4-FFF2-40B4-BE49-F238E27FC236}">
                  <a16:creationId xmlns:a16="http://schemas.microsoft.com/office/drawing/2014/main" id="{B4CF1DC6-FD80-0197-776F-C7F1B84079A8}"/>
                </a:ext>
              </a:extLst>
            </p:cNvPr>
            <p:cNvSpPr/>
            <p:nvPr/>
          </p:nvSpPr>
          <p:spPr>
            <a:xfrm flipH="1" flipV="1">
              <a:off x="4895643" y="4553211"/>
              <a:ext cx="316052" cy="291578"/>
            </a:xfrm>
            <a:custGeom>
              <a:avLst/>
              <a:gdLst>
                <a:gd name="connsiteX0" fmla="*/ 289449 w 316052"/>
                <a:gd name="connsiteY0" fmla="*/ 0 h 291578"/>
                <a:gd name="connsiteX1" fmla="*/ 316052 w 316052"/>
                <a:gd name="connsiteY1" fmla="*/ 42598 h 291578"/>
                <a:gd name="connsiteX2" fmla="*/ 266240 w 316052"/>
                <a:gd name="connsiteY2" fmla="*/ 83930 h 291578"/>
                <a:gd name="connsiteX3" fmla="*/ 248394 w 316052"/>
                <a:gd name="connsiteY3" fmla="*/ 163869 h 291578"/>
                <a:gd name="connsiteX4" fmla="*/ 305411 w 316052"/>
                <a:gd name="connsiteY4" fmla="*/ 163869 h 291578"/>
                <a:gd name="connsiteX5" fmla="*/ 305411 w 316052"/>
                <a:gd name="connsiteY5" fmla="*/ 163880 h 291578"/>
                <a:gd name="connsiteX6" fmla="*/ 305411 w 316052"/>
                <a:gd name="connsiteY6" fmla="*/ 291578 h 291578"/>
                <a:gd name="connsiteX7" fmla="*/ 188354 w 316052"/>
                <a:gd name="connsiteY7" fmla="*/ 291578 h 291578"/>
                <a:gd name="connsiteX8" fmla="*/ 188354 w 316052"/>
                <a:gd name="connsiteY8" fmla="*/ 191548 h 291578"/>
                <a:gd name="connsiteX9" fmla="*/ 207957 w 316052"/>
                <a:gd name="connsiteY9" fmla="*/ 73576 h 291578"/>
                <a:gd name="connsiteX10" fmla="*/ 289449 w 316052"/>
                <a:gd name="connsiteY10" fmla="*/ 0 h 291578"/>
                <a:gd name="connsiteX11" fmla="*/ 101094 w 316052"/>
                <a:gd name="connsiteY11" fmla="*/ 0 h 291578"/>
                <a:gd name="connsiteX12" fmla="*/ 127698 w 316052"/>
                <a:gd name="connsiteY12" fmla="*/ 42598 h 291578"/>
                <a:gd name="connsiteX13" fmla="*/ 77885 w 316052"/>
                <a:gd name="connsiteY13" fmla="*/ 83930 h 291578"/>
                <a:gd name="connsiteX14" fmla="*/ 60040 w 316052"/>
                <a:gd name="connsiteY14" fmla="*/ 163869 h 291578"/>
                <a:gd name="connsiteX15" fmla="*/ 117057 w 316052"/>
                <a:gd name="connsiteY15" fmla="*/ 163869 h 291578"/>
                <a:gd name="connsiteX16" fmla="*/ 117057 w 316052"/>
                <a:gd name="connsiteY16" fmla="*/ 163880 h 291578"/>
                <a:gd name="connsiteX17" fmla="*/ 117057 w 316052"/>
                <a:gd name="connsiteY17" fmla="*/ 291578 h 291578"/>
                <a:gd name="connsiteX18" fmla="*/ 0 w 316052"/>
                <a:gd name="connsiteY18" fmla="*/ 291578 h 291578"/>
                <a:gd name="connsiteX19" fmla="*/ 0 w 316052"/>
                <a:gd name="connsiteY19" fmla="*/ 191548 h 291578"/>
                <a:gd name="connsiteX20" fmla="*/ 19603 w 316052"/>
                <a:gd name="connsiteY20" fmla="*/ 73576 h 291578"/>
                <a:gd name="connsiteX21" fmla="*/ 101094 w 316052"/>
                <a:gd name="connsiteY21" fmla="*/ 0 h 291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16052" h="291578">
                  <a:moveTo>
                    <a:pt x="289449" y="0"/>
                  </a:moveTo>
                  <a:lnTo>
                    <a:pt x="316052" y="42598"/>
                  </a:lnTo>
                  <a:cubicBezTo>
                    <a:pt x="293503" y="51857"/>
                    <a:pt x="276892" y="65648"/>
                    <a:pt x="266240" y="83930"/>
                  </a:cubicBezTo>
                  <a:cubicBezTo>
                    <a:pt x="255566" y="102233"/>
                    <a:pt x="249629" y="128891"/>
                    <a:pt x="248394" y="163869"/>
                  </a:cubicBezTo>
                  <a:lnTo>
                    <a:pt x="305411" y="163869"/>
                  </a:lnTo>
                  <a:lnTo>
                    <a:pt x="305411" y="163880"/>
                  </a:lnTo>
                  <a:lnTo>
                    <a:pt x="305411" y="291578"/>
                  </a:lnTo>
                  <a:lnTo>
                    <a:pt x="188354" y="291578"/>
                  </a:lnTo>
                  <a:lnTo>
                    <a:pt x="188354" y="191548"/>
                  </a:lnTo>
                  <a:cubicBezTo>
                    <a:pt x="188354" y="137223"/>
                    <a:pt x="194889" y="97902"/>
                    <a:pt x="207957" y="73576"/>
                  </a:cubicBezTo>
                  <a:cubicBezTo>
                    <a:pt x="225110" y="41152"/>
                    <a:pt x="252268" y="16622"/>
                    <a:pt x="289449" y="0"/>
                  </a:cubicBezTo>
                  <a:close/>
                  <a:moveTo>
                    <a:pt x="101094" y="0"/>
                  </a:moveTo>
                  <a:lnTo>
                    <a:pt x="127698" y="42598"/>
                  </a:lnTo>
                  <a:cubicBezTo>
                    <a:pt x="105148" y="51857"/>
                    <a:pt x="88537" y="65648"/>
                    <a:pt x="77885" y="83930"/>
                  </a:cubicBezTo>
                  <a:cubicBezTo>
                    <a:pt x="67212" y="102233"/>
                    <a:pt x="61274" y="128891"/>
                    <a:pt x="60040" y="163869"/>
                  </a:cubicBezTo>
                  <a:lnTo>
                    <a:pt x="117057" y="163869"/>
                  </a:lnTo>
                  <a:lnTo>
                    <a:pt x="117057" y="163880"/>
                  </a:lnTo>
                  <a:lnTo>
                    <a:pt x="117057" y="291578"/>
                  </a:lnTo>
                  <a:lnTo>
                    <a:pt x="0" y="291578"/>
                  </a:lnTo>
                  <a:lnTo>
                    <a:pt x="0" y="191548"/>
                  </a:lnTo>
                  <a:cubicBezTo>
                    <a:pt x="0" y="137223"/>
                    <a:pt x="6534" y="97902"/>
                    <a:pt x="19603" y="73576"/>
                  </a:cubicBezTo>
                  <a:cubicBezTo>
                    <a:pt x="36756" y="41152"/>
                    <a:pt x="63912" y="16622"/>
                    <a:pt x="101094" y="0"/>
                  </a:cubicBezTo>
                  <a:close/>
                </a:path>
              </a:pathLst>
            </a:custGeom>
            <a:gradFill>
              <a:gsLst>
                <a:gs pos="0">
                  <a:srgbClr val="D59ED7">
                    <a:lumMod val="75000"/>
                  </a:srgbClr>
                </a:gs>
                <a:gs pos="100000">
                  <a:srgbClr val="0078D4"/>
                </a:gs>
              </a:gsLst>
              <a:lin ang="1380000" scaled="0"/>
            </a:gradFill>
            <a:ln w="9525" cap="flat" cmpd="sng" algn="ctr">
              <a:no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grpSp>
      <p:grpSp>
        <p:nvGrpSpPr>
          <p:cNvPr id="45" name="Group 44">
            <a:extLst>
              <a:ext uri="{FF2B5EF4-FFF2-40B4-BE49-F238E27FC236}">
                <a16:creationId xmlns:a16="http://schemas.microsoft.com/office/drawing/2014/main" id="{45594466-95AD-955F-0D39-D29293DC4DFF}"/>
              </a:ext>
            </a:extLst>
          </p:cNvPr>
          <p:cNvGrpSpPr/>
          <p:nvPr/>
        </p:nvGrpSpPr>
        <p:grpSpPr>
          <a:xfrm>
            <a:off x="6438900" y="1608518"/>
            <a:ext cx="4946268" cy="3083559"/>
            <a:chOff x="806832" y="2120901"/>
            <a:chExt cx="4946268" cy="3083559"/>
          </a:xfrm>
        </p:grpSpPr>
        <p:sp>
          <p:nvSpPr>
            <p:cNvPr id="46" name="Freeform: Shape 45">
              <a:extLst>
                <a:ext uri="{FF2B5EF4-FFF2-40B4-BE49-F238E27FC236}">
                  <a16:creationId xmlns:a16="http://schemas.microsoft.com/office/drawing/2014/main" id="{FA0E4A4E-982B-DB21-B540-3ABAA866CA3D}"/>
                </a:ext>
              </a:extLst>
            </p:cNvPr>
            <p:cNvSpPr/>
            <p:nvPr/>
          </p:nvSpPr>
          <p:spPr bwMode="auto">
            <a:xfrm>
              <a:off x="806832" y="2120901"/>
              <a:ext cx="4946268" cy="3083559"/>
            </a:xfrm>
            <a:custGeom>
              <a:avLst/>
              <a:gdLst>
                <a:gd name="connsiteX0" fmla="*/ 147194 w 4946268"/>
                <a:gd name="connsiteY0" fmla="*/ 0 h 3083559"/>
                <a:gd name="connsiteX1" fmla="*/ 4799074 w 4946268"/>
                <a:gd name="connsiteY1" fmla="*/ 0 h 3083559"/>
                <a:gd name="connsiteX2" fmla="*/ 4946268 w 4946268"/>
                <a:gd name="connsiteY2" fmla="*/ 147194 h 3083559"/>
                <a:gd name="connsiteX3" fmla="*/ 4946268 w 4946268"/>
                <a:gd name="connsiteY3" fmla="*/ 2463562 h 3083559"/>
                <a:gd name="connsiteX4" fmla="*/ 4799074 w 4946268"/>
                <a:gd name="connsiteY4" fmla="*/ 2610756 h 3083559"/>
                <a:gd name="connsiteX5" fmla="*/ 740950 w 4946268"/>
                <a:gd name="connsiteY5" fmla="*/ 2610756 h 3083559"/>
                <a:gd name="connsiteX6" fmla="*/ 266700 w 4946268"/>
                <a:gd name="connsiteY6" fmla="*/ 3083559 h 3083559"/>
                <a:gd name="connsiteX7" fmla="*/ 266700 w 4946268"/>
                <a:gd name="connsiteY7" fmla="*/ 2610756 h 3083559"/>
                <a:gd name="connsiteX8" fmla="*/ 147194 w 4946268"/>
                <a:gd name="connsiteY8" fmla="*/ 2610756 h 3083559"/>
                <a:gd name="connsiteX9" fmla="*/ 0 w 4946268"/>
                <a:gd name="connsiteY9" fmla="*/ 2463562 h 3083559"/>
                <a:gd name="connsiteX10" fmla="*/ 0 w 4946268"/>
                <a:gd name="connsiteY10" fmla="*/ 147194 h 3083559"/>
                <a:gd name="connsiteX11" fmla="*/ 147194 w 4946268"/>
                <a:gd name="connsiteY11" fmla="*/ 0 h 3083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46268" h="3083559">
                  <a:moveTo>
                    <a:pt x="147194" y="0"/>
                  </a:moveTo>
                  <a:lnTo>
                    <a:pt x="4799074" y="0"/>
                  </a:lnTo>
                  <a:cubicBezTo>
                    <a:pt x="4880367" y="0"/>
                    <a:pt x="4946268" y="65901"/>
                    <a:pt x="4946268" y="147194"/>
                  </a:cubicBezTo>
                  <a:lnTo>
                    <a:pt x="4946268" y="2463562"/>
                  </a:lnTo>
                  <a:cubicBezTo>
                    <a:pt x="4946268" y="2544855"/>
                    <a:pt x="4880367" y="2610756"/>
                    <a:pt x="4799074" y="2610756"/>
                  </a:cubicBezTo>
                  <a:lnTo>
                    <a:pt x="740950" y="2610756"/>
                  </a:lnTo>
                  <a:lnTo>
                    <a:pt x="266700" y="3083559"/>
                  </a:lnTo>
                  <a:lnTo>
                    <a:pt x="266700" y="2610756"/>
                  </a:lnTo>
                  <a:lnTo>
                    <a:pt x="147194" y="2610756"/>
                  </a:lnTo>
                  <a:cubicBezTo>
                    <a:pt x="65901" y="2610756"/>
                    <a:pt x="0" y="2544855"/>
                    <a:pt x="0" y="2463562"/>
                  </a:cubicBezTo>
                  <a:lnTo>
                    <a:pt x="0" y="147194"/>
                  </a:lnTo>
                  <a:cubicBezTo>
                    <a:pt x="0" y="65901"/>
                    <a:pt x="65901" y="0"/>
                    <a:pt x="147194" y="0"/>
                  </a:cubicBezTo>
                  <a:close/>
                </a:path>
              </a:pathLst>
            </a:custGeom>
            <a:solidFill>
              <a:srgbClr val="FFFFFF">
                <a:alpha val="66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228600" tIns="731520" rIns="228600" bIns="146304" numCol="1" spcCol="0" rtlCol="0" fromWordArt="0" anchor="t" anchorCtr="0" forceAA="0" compatLnSpc="1">
              <a:prstTxWarp prst="textNoShape">
                <a:avLst/>
              </a:prstTxWarp>
              <a:noAutofit/>
            </a:bodyPr>
            <a:lstStyle/>
            <a:p>
              <a:pPr marL="0" marR="0" lvl="0" indent="0" defTabSz="932555"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0078D4"/>
                  </a:solidFill>
                  <a:effectLst/>
                  <a:uLnTx/>
                  <a:uFillTx/>
                  <a:latin typeface="Segoe UI Semibold"/>
                  <a:ea typeface="+mn-ea"/>
                  <a:cs typeface="+mn-cs"/>
                </a:rPr>
                <a:t>APIs</a:t>
              </a:r>
              <a:r>
                <a:rPr kumimoji="0" lang="en-GB" sz="2200" b="0" i="0" u="none" strike="noStrike" kern="0" cap="none" spc="0" normalizeH="0" baseline="0" noProof="0">
                  <a:ln>
                    <a:noFill/>
                  </a:ln>
                  <a:solidFill>
                    <a:srgbClr val="000000"/>
                  </a:solidFill>
                  <a:effectLst/>
                  <a:uLnTx/>
                  <a:uFillTx/>
                  <a:latin typeface="Segoe UI Semibold"/>
                  <a:ea typeface="+mn-ea"/>
                  <a:cs typeface="+mn-cs"/>
                </a:rPr>
                <a:t> remain central to tech strategy and are more vital than ever due to their </a:t>
              </a:r>
              <a:r>
                <a:rPr kumimoji="0" lang="en-GB" sz="2400" b="0" i="0" u="none" strike="noStrike" kern="0" cap="none" spc="0" normalizeH="0" baseline="0" noProof="0">
                  <a:ln>
                    <a:noFill/>
                  </a:ln>
                  <a:solidFill>
                    <a:srgbClr val="0078D4"/>
                  </a:solidFill>
                  <a:effectLst/>
                  <a:uLnTx/>
                  <a:uFillTx/>
                  <a:latin typeface="Segoe UI Semibold"/>
                  <a:ea typeface="+mn-ea"/>
                  <a:cs typeface="+mn-cs"/>
                </a:rPr>
                <a:t>use by LLMs</a:t>
              </a:r>
              <a:r>
                <a:rPr kumimoji="0" lang="en-GB" sz="2200" b="0" i="0" u="none" strike="noStrike" kern="0" cap="none" spc="0" normalizeH="0" baseline="0" noProof="0">
                  <a:ln>
                    <a:noFill/>
                  </a:ln>
                  <a:solidFill>
                    <a:srgbClr val="000000"/>
                  </a:solidFill>
                  <a:effectLst/>
                  <a:uLnTx/>
                  <a:uFillTx/>
                  <a:latin typeface="Segoe UI Semibold"/>
                  <a:ea typeface="+mn-ea"/>
                  <a:cs typeface="+mn-cs"/>
                </a:rPr>
                <a:t>, including OpenAI plugins.</a:t>
              </a:r>
            </a:p>
          </p:txBody>
        </p:sp>
        <p:sp>
          <p:nvSpPr>
            <p:cNvPr id="47" name="Freeform: Shape 46">
              <a:extLst>
                <a:ext uri="{FF2B5EF4-FFF2-40B4-BE49-F238E27FC236}">
                  <a16:creationId xmlns:a16="http://schemas.microsoft.com/office/drawing/2014/main" id="{674C377B-EA28-87EC-B2B9-38923E885548}"/>
                </a:ext>
              </a:extLst>
            </p:cNvPr>
            <p:cNvSpPr/>
            <p:nvPr/>
          </p:nvSpPr>
          <p:spPr>
            <a:xfrm>
              <a:off x="1054482" y="2242578"/>
              <a:ext cx="2431669" cy="291578"/>
            </a:xfrm>
            <a:custGeom>
              <a:avLst/>
              <a:gdLst>
                <a:gd name="connsiteX0" fmla="*/ 431418 w 2431669"/>
                <a:gd name="connsiteY0" fmla="*/ 145789 h 291578"/>
                <a:gd name="connsiteX1" fmla="*/ 431418 w 2431669"/>
                <a:gd name="connsiteY1" fmla="*/ 145790 h 291578"/>
                <a:gd name="connsiteX2" fmla="*/ 431418 w 2431669"/>
                <a:gd name="connsiteY2" fmla="*/ 145790 h 291578"/>
                <a:gd name="connsiteX3" fmla="*/ 464950 w 2431669"/>
                <a:gd name="connsiteY3" fmla="*/ 112258 h 291578"/>
                <a:gd name="connsiteX4" fmla="*/ 2398137 w 2431669"/>
                <a:gd name="connsiteY4" fmla="*/ 112258 h 291578"/>
                <a:gd name="connsiteX5" fmla="*/ 2431669 w 2431669"/>
                <a:gd name="connsiteY5" fmla="*/ 145790 h 291578"/>
                <a:gd name="connsiteX6" fmla="*/ 2431668 w 2431669"/>
                <a:gd name="connsiteY6" fmla="*/ 145790 h 291578"/>
                <a:gd name="connsiteX7" fmla="*/ 2398136 w 2431669"/>
                <a:gd name="connsiteY7" fmla="*/ 179322 h 291578"/>
                <a:gd name="connsiteX8" fmla="*/ 464950 w 2431669"/>
                <a:gd name="connsiteY8" fmla="*/ 179321 h 291578"/>
                <a:gd name="connsiteX9" fmla="*/ 441239 w 2431669"/>
                <a:gd name="connsiteY9" fmla="*/ 169500 h 291578"/>
                <a:gd name="connsiteX10" fmla="*/ 431418 w 2431669"/>
                <a:gd name="connsiteY10" fmla="*/ 145790 h 291578"/>
                <a:gd name="connsiteX11" fmla="*/ 441239 w 2431669"/>
                <a:gd name="connsiteY11" fmla="*/ 122080 h 291578"/>
                <a:gd name="connsiteX12" fmla="*/ 464950 w 2431669"/>
                <a:gd name="connsiteY12" fmla="*/ 112258 h 291578"/>
                <a:gd name="connsiteX13" fmla="*/ 289449 w 2431669"/>
                <a:gd name="connsiteY13" fmla="*/ 0 h 291578"/>
                <a:gd name="connsiteX14" fmla="*/ 316052 w 2431669"/>
                <a:gd name="connsiteY14" fmla="*/ 42598 h 291578"/>
                <a:gd name="connsiteX15" fmla="*/ 266240 w 2431669"/>
                <a:gd name="connsiteY15" fmla="*/ 83930 h 291578"/>
                <a:gd name="connsiteX16" fmla="*/ 248394 w 2431669"/>
                <a:gd name="connsiteY16" fmla="*/ 163869 h 291578"/>
                <a:gd name="connsiteX17" fmla="*/ 305410 w 2431669"/>
                <a:gd name="connsiteY17" fmla="*/ 163869 h 291578"/>
                <a:gd name="connsiteX18" fmla="*/ 305410 w 2431669"/>
                <a:gd name="connsiteY18" fmla="*/ 163880 h 291578"/>
                <a:gd name="connsiteX19" fmla="*/ 305410 w 2431669"/>
                <a:gd name="connsiteY19" fmla="*/ 291578 h 291578"/>
                <a:gd name="connsiteX20" fmla="*/ 188354 w 2431669"/>
                <a:gd name="connsiteY20" fmla="*/ 291578 h 291578"/>
                <a:gd name="connsiteX21" fmla="*/ 188354 w 2431669"/>
                <a:gd name="connsiteY21" fmla="*/ 191548 h 291578"/>
                <a:gd name="connsiteX22" fmla="*/ 207956 w 2431669"/>
                <a:gd name="connsiteY22" fmla="*/ 73576 h 291578"/>
                <a:gd name="connsiteX23" fmla="*/ 289449 w 2431669"/>
                <a:gd name="connsiteY23" fmla="*/ 0 h 291578"/>
                <a:gd name="connsiteX24" fmla="*/ 101093 w 2431669"/>
                <a:gd name="connsiteY24" fmla="*/ 0 h 291578"/>
                <a:gd name="connsiteX25" fmla="*/ 127698 w 2431669"/>
                <a:gd name="connsiteY25" fmla="*/ 42598 h 291578"/>
                <a:gd name="connsiteX26" fmla="*/ 77885 w 2431669"/>
                <a:gd name="connsiteY26" fmla="*/ 83930 h 291578"/>
                <a:gd name="connsiteX27" fmla="*/ 60040 w 2431669"/>
                <a:gd name="connsiteY27" fmla="*/ 163869 h 291578"/>
                <a:gd name="connsiteX28" fmla="*/ 117056 w 2431669"/>
                <a:gd name="connsiteY28" fmla="*/ 163869 h 291578"/>
                <a:gd name="connsiteX29" fmla="*/ 117056 w 2431669"/>
                <a:gd name="connsiteY29" fmla="*/ 163880 h 291578"/>
                <a:gd name="connsiteX30" fmla="*/ 117056 w 2431669"/>
                <a:gd name="connsiteY30" fmla="*/ 291578 h 291578"/>
                <a:gd name="connsiteX31" fmla="*/ 0 w 2431669"/>
                <a:gd name="connsiteY31" fmla="*/ 291578 h 291578"/>
                <a:gd name="connsiteX32" fmla="*/ 0 w 2431669"/>
                <a:gd name="connsiteY32" fmla="*/ 191548 h 291578"/>
                <a:gd name="connsiteX33" fmla="*/ 19602 w 2431669"/>
                <a:gd name="connsiteY33" fmla="*/ 73576 h 291578"/>
                <a:gd name="connsiteX34" fmla="*/ 101093 w 2431669"/>
                <a:gd name="connsiteY34" fmla="*/ 0 h 291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31669" h="291578">
                  <a:moveTo>
                    <a:pt x="431418" y="145789"/>
                  </a:moveTo>
                  <a:lnTo>
                    <a:pt x="431418" y="145790"/>
                  </a:lnTo>
                  <a:lnTo>
                    <a:pt x="431418" y="145790"/>
                  </a:lnTo>
                  <a:close/>
                  <a:moveTo>
                    <a:pt x="464950" y="112258"/>
                  </a:moveTo>
                  <a:lnTo>
                    <a:pt x="2398137" y="112258"/>
                  </a:lnTo>
                  <a:cubicBezTo>
                    <a:pt x="2416656" y="112258"/>
                    <a:pt x="2431669" y="127271"/>
                    <a:pt x="2431669" y="145790"/>
                  </a:cubicBezTo>
                  <a:lnTo>
                    <a:pt x="2431668" y="145790"/>
                  </a:lnTo>
                  <a:cubicBezTo>
                    <a:pt x="2431668" y="164309"/>
                    <a:pt x="2416655" y="179322"/>
                    <a:pt x="2398136" y="179322"/>
                  </a:cubicBezTo>
                  <a:lnTo>
                    <a:pt x="464950" y="179321"/>
                  </a:lnTo>
                  <a:cubicBezTo>
                    <a:pt x="455691" y="179321"/>
                    <a:pt x="447308" y="175568"/>
                    <a:pt x="441239" y="169500"/>
                  </a:cubicBezTo>
                  <a:lnTo>
                    <a:pt x="431418" y="145790"/>
                  </a:lnTo>
                  <a:lnTo>
                    <a:pt x="441239" y="122080"/>
                  </a:lnTo>
                  <a:cubicBezTo>
                    <a:pt x="447308" y="116011"/>
                    <a:pt x="455691" y="112258"/>
                    <a:pt x="464950" y="112258"/>
                  </a:cubicBezTo>
                  <a:close/>
                  <a:moveTo>
                    <a:pt x="289449" y="0"/>
                  </a:moveTo>
                  <a:lnTo>
                    <a:pt x="316052" y="42598"/>
                  </a:lnTo>
                  <a:cubicBezTo>
                    <a:pt x="293503" y="51857"/>
                    <a:pt x="276892" y="65648"/>
                    <a:pt x="266240" y="83930"/>
                  </a:cubicBezTo>
                  <a:cubicBezTo>
                    <a:pt x="255565" y="102233"/>
                    <a:pt x="249629" y="128891"/>
                    <a:pt x="248394" y="163869"/>
                  </a:cubicBezTo>
                  <a:lnTo>
                    <a:pt x="305410" y="163869"/>
                  </a:lnTo>
                  <a:lnTo>
                    <a:pt x="305410" y="163880"/>
                  </a:lnTo>
                  <a:lnTo>
                    <a:pt x="305410" y="291578"/>
                  </a:lnTo>
                  <a:lnTo>
                    <a:pt x="188354" y="291578"/>
                  </a:lnTo>
                  <a:lnTo>
                    <a:pt x="188354" y="191548"/>
                  </a:lnTo>
                  <a:cubicBezTo>
                    <a:pt x="188354" y="137223"/>
                    <a:pt x="194889" y="97902"/>
                    <a:pt x="207956" y="73576"/>
                  </a:cubicBezTo>
                  <a:cubicBezTo>
                    <a:pt x="225110" y="41152"/>
                    <a:pt x="252267" y="16622"/>
                    <a:pt x="289449" y="0"/>
                  </a:cubicBezTo>
                  <a:close/>
                  <a:moveTo>
                    <a:pt x="101093" y="0"/>
                  </a:moveTo>
                  <a:lnTo>
                    <a:pt x="127698" y="42598"/>
                  </a:lnTo>
                  <a:cubicBezTo>
                    <a:pt x="105148" y="51857"/>
                    <a:pt x="88537" y="65648"/>
                    <a:pt x="77885" y="83930"/>
                  </a:cubicBezTo>
                  <a:cubicBezTo>
                    <a:pt x="67211" y="102233"/>
                    <a:pt x="61274" y="128891"/>
                    <a:pt x="60040" y="163869"/>
                  </a:cubicBezTo>
                  <a:lnTo>
                    <a:pt x="117056" y="163869"/>
                  </a:lnTo>
                  <a:lnTo>
                    <a:pt x="117056" y="163880"/>
                  </a:lnTo>
                  <a:lnTo>
                    <a:pt x="117056" y="291578"/>
                  </a:lnTo>
                  <a:lnTo>
                    <a:pt x="0" y="291578"/>
                  </a:lnTo>
                  <a:lnTo>
                    <a:pt x="0" y="191548"/>
                  </a:lnTo>
                  <a:cubicBezTo>
                    <a:pt x="0" y="137223"/>
                    <a:pt x="6534" y="97902"/>
                    <a:pt x="19602" y="73576"/>
                  </a:cubicBezTo>
                  <a:cubicBezTo>
                    <a:pt x="36756" y="41152"/>
                    <a:pt x="63912" y="16622"/>
                    <a:pt x="101093" y="0"/>
                  </a:cubicBezTo>
                  <a:close/>
                </a:path>
              </a:pathLst>
            </a:custGeom>
            <a:gradFill>
              <a:gsLst>
                <a:gs pos="0">
                  <a:srgbClr val="D59ED7">
                    <a:lumMod val="75000"/>
                  </a:srgbClr>
                </a:gs>
                <a:gs pos="100000">
                  <a:srgbClr val="0078D4"/>
                </a:gs>
              </a:gsLst>
              <a:lin ang="1380000" scaled="0"/>
            </a:gradFill>
            <a:ln w="9525" cap="flat" cmpd="sng" algn="ctr">
              <a:no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48" name="Freeform: Shape 47">
              <a:extLst>
                <a:ext uri="{FF2B5EF4-FFF2-40B4-BE49-F238E27FC236}">
                  <a16:creationId xmlns:a16="http://schemas.microsoft.com/office/drawing/2014/main" id="{BFB931B1-B21A-8C39-BEF0-92ED91235938}"/>
                </a:ext>
              </a:extLst>
            </p:cNvPr>
            <p:cNvSpPr/>
            <p:nvPr/>
          </p:nvSpPr>
          <p:spPr bwMode="auto">
            <a:xfrm>
              <a:off x="806832" y="4000501"/>
              <a:ext cx="4946268" cy="1203959"/>
            </a:xfrm>
            <a:custGeom>
              <a:avLst/>
              <a:gdLst>
                <a:gd name="connsiteX0" fmla="*/ 4892675 w 4946268"/>
                <a:gd name="connsiteY0" fmla="*/ 0 h 1203959"/>
                <a:gd name="connsiteX1" fmla="*/ 4946268 w 4946268"/>
                <a:gd name="connsiteY1" fmla="*/ 0 h 1203959"/>
                <a:gd name="connsiteX2" fmla="*/ 4946268 w 4946268"/>
                <a:gd name="connsiteY2" fmla="*/ 583962 h 1203959"/>
                <a:gd name="connsiteX3" fmla="*/ 4799074 w 4946268"/>
                <a:gd name="connsiteY3" fmla="*/ 731156 h 1203959"/>
                <a:gd name="connsiteX4" fmla="*/ 4505195 w 4946268"/>
                <a:gd name="connsiteY4" fmla="*/ 731156 h 1203959"/>
                <a:gd name="connsiteX5" fmla="*/ 4505195 w 4946268"/>
                <a:gd name="connsiteY5" fmla="*/ 678315 h 1203959"/>
                <a:gd name="connsiteX6" fmla="*/ 4772882 w 4946268"/>
                <a:gd name="connsiteY6" fmla="*/ 678315 h 1203959"/>
                <a:gd name="connsiteX7" fmla="*/ 4892675 w 4946268"/>
                <a:gd name="connsiteY7" fmla="*/ 558522 h 1203959"/>
                <a:gd name="connsiteX8" fmla="*/ 0 w 4946268"/>
                <a:gd name="connsiteY8" fmla="*/ 0 h 1203959"/>
                <a:gd name="connsiteX9" fmla="*/ 53593 w 4946268"/>
                <a:gd name="connsiteY9" fmla="*/ 0 h 1203959"/>
                <a:gd name="connsiteX10" fmla="*/ 53593 w 4946268"/>
                <a:gd name="connsiteY10" fmla="*/ 558522 h 1203959"/>
                <a:gd name="connsiteX11" fmla="*/ 173386 w 4946268"/>
                <a:gd name="connsiteY11" fmla="*/ 678315 h 1203959"/>
                <a:gd name="connsiteX12" fmla="*/ 321564 w 4946268"/>
                <a:gd name="connsiteY12" fmla="*/ 678315 h 1203959"/>
                <a:gd name="connsiteX13" fmla="*/ 321564 w 4946268"/>
                <a:gd name="connsiteY13" fmla="*/ 1059655 h 1203959"/>
                <a:gd name="connsiteX14" fmla="*/ 702888 w 4946268"/>
                <a:gd name="connsiteY14" fmla="*/ 678315 h 1203959"/>
                <a:gd name="connsiteX15" fmla="*/ 3988478 w 4946268"/>
                <a:gd name="connsiteY15" fmla="*/ 678315 h 1203959"/>
                <a:gd name="connsiteX16" fmla="*/ 3988478 w 4946268"/>
                <a:gd name="connsiteY16" fmla="*/ 731156 h 1203959"/>
                <a:gd name="connsiteX17" fmla="*/ 740950 w 4946268"/>
                <a:gd name="connsiteY17" fmla="*/ 731156 h 1203959"/>
                <a:gd name="connsiteX18" fmla="*/ 266700 w 4946268"/>
                <a:gd name="connsiteY18" fmla="*/ 1203959 h 1203959"/>
                <a:gd name="connsiteX19" fmla="*/ 266700 w 4946268"/>
                <a:gd name="connsiteY19" fmla="*/ 731156 h 1203959"/>
                <a:gd name="connsiteX20" fmla="*/ 147194 w 4946268"/>
                <a:gd name="connsiteY20" fmla="*/ 731156 h 1203959"/>
                <a:gd name="connsiteX21" fmla="*/ 0 w 4946268"/>
                <a:gd name="connsiteY21" fmla="*/ 583962 h 120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46268" h="1203959">
                  <a:moveTo>
                    <a:pt x="4892675" y="0"/>
                  </a:moveTo>
                  <a:lnTo>
                    <a:pt x="4946268" y="0"/>
                  </a:lnTo>
                  <a:lnTo>
                    <a:pt x="4946268" y="583962"/>
                  </a:lnTo>
                  <a:cubicBezTo>
                    <a:pt x="4946268" y="665255"/>
                    <a:pt x="4880367" y="731156"/>
                    <a:pt x="4799074" y="731156"/>
                  </a:cubicBezTo>
                  <a:lnTo>
                    <a:pt x="4505195" y="731156"/>
                  </a:lnTo>
                  <a:lnTo>
                    <a:pt x="4505195" y="678315"/>
                  </a:lnTo>
                  <a:lnTo>
                    <a:pt x="4772882" y="678315"/>
                  </a:lnTo>
                  <a:cubicBezTo>
                    <a:pt x="4839042" y="678315"/>
                    <a:pt x="4892675" y="624682"/>
                    <a:pt x="4892675" y="558522"/>
                  </a:cubicBezTo>
                  <a:close/>
                  <a:moveTo>
                    <a:pt x="0" y="0"/>
                  </a:moveTo>
                  <a:lnTo>
                    <a:pt x="53593" y="0"/>
                  </a:lnTo>
                  <a:lnTo>
                    <a:pt x="53593" y="558522"/>
                  </a:lnTo>
                  <a:cubicBezTo>
                    <a:pt x="53593" y="624682"/>
                    <a:pt x="107226" y="678315"/>
                    <a:pt x="173386" y="678315"/>
                  </a:cubicBezTo>
                  <a:lnTo>
                    <a:pt x="321564" y="678315"/>
                  </a:lnTo>
                  <a:lnTo>
                    <a:pt x="321564" y="1059655"/>
                  </a:lnTo>
                  <a:lnTo>
                    <a:pt x="702888" y="678315"/>
                  </a:lnTo>
                  <a:lnTo>
                    <a:pt x="3988478" y="678315"/>
                  </a:lnTo>
                  <a:lnTo>
                    <a:pt x="3988478" y="731156"/>
                  </a:lnTo>
                  <a:lnTo>
                    <a:pt x="740950" y="731156"/>
                  </a:lnTo>
                  <a:lnTo>
                    <a:pt x="266700" y="1203959"/>
                  </a:lnTo>
                  <a:lnTo>
                    <a:pt x="266700" y="731156"/>
                  </a:lnTo>
                  <a:lnTo>
                    <a:pt x="147194" y="731156"/>
                  </a:lnTo>
                  <a:cubicBezTo>
                    <a:pt x="65901" y="731156"/>
                    <a:pt x="0" y="665255"/>
                    <a:pt x="0" y="583962"/>
                  </a:cubicBezTo>
                  <a:close/>
                </a:path>
              </a:pathLst>
            </a:custGeom>
            <a:gradFill>
              <a:gsLst>
                <a:gs pos="0">
                  <a:srgbClr val="D59ED7">
                    <a:lumMod val="75000"/>
                  </a:srgbClr>
                </a:gs>
                <a:gs pos="100000">
                  <a:srgbClr val="0078D4"/>
                </a:gs>
              </a:gsLst>
              <a:lin ang="1380000" scaled="0"/>
            </a:gradFill>
            <a:ln w="9525" cap="flat" cmpd="sng" algn="ctr">
              <a:no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49" name="Freeform: Shape 48">
              <a:extLst>
                <a:ext uri="{FF2B5EF4-FFF2-40B4-BE49-F238E27FC236}">
                  <a16:creationId xmlns:a16="http://schemas.microsoft.com/office/drawing/2014/main" id="{7625DA36-FD89-354C-879D-42D90552E995}"/>
                </a:ext>
              </a:extLst>
            </p:cNvPr>
            <p:cNvSpPr/>
            <p:nvPr/>
          </p:nvSpPr>
          <p:spPr>
            <a:xfrm flipH="1" flipV="1">
              <a:off x="4895643" y="4553211"/>
              <a:ext cx="316052" cy="291578"/>
            </a:xfrm>
            <a:custGeom>
              <a:avLst/>
              <a:gdLst>
                <a:gd name="connsiteX0" fmla="*/ 289449 w 316052"/>
                <a:gd name="connsiteY0" fmla="*/ 0 h 291578"/>
                <a:gd name="connsiteX1" fmla="*/ 316052 w 316052"/>
                <a:gd name="connsiteY1" fmla="*/ 42598 h 291578"/>
                <a:gd name="connsiteX2" fmla="*/ 266240 w 316052"/>
                <a:gd name="connsiteY2" fmla="*/ 83930 h 291578"/>
                <a:gd name="connsiteX3" fmla="*/ 248394 w 316052"/>
                <a:gd name="connsiteY3" fmla="*/ 163869 h 291578"/>
                <a:gd name="connsiteX4" fmla="*/ 305411 w 316052"/>
                <a:gd name="connsiteY4" fmla="*/ 163869 h 291578"/>
                <a:gd name="connsiteX5" fmla="*/ 305411 w 316052"/>
                <a:gd name="connsiteY5" fmla="*/ 163880 h 291578"/>
                <a:gd name="connsiteX6" fmla="*/ 305411 w 316052"/>
                <a:gd name="connsiteY6" fmla="*/ 291578 h 291578"/>
                <a:gd name="connsiteX7" fmla="*/ 188354 w 316052"/>
                <a:gd name="connsiteY7" fmla="*/ 291578 h 291578"/>
                <a:gd name="connsiteX8" fmla="*/ 188354 w 316052"/>
                <a:gd name="connsiteY8" fmla="*/ 191548 h 291578"/>
                <a:gd name="connsiteX9" fmla="*/ 207957 w 316052"/>
                <a:gd name="connsiteY9" fmla="*/ 73576 h 291578"/>
                <a:gd name="connsiteX10" fmla="*/ 289449 w 316052"/>
                <a:gd name="connsiteY10" fmla="*/ 0 h 291578"/>
                <a:gd name="connsiteX11" fmla="*/ 101094 w 316052"/>
                <a:gd name="connsiteY11" fmla="*/ 0 h 291578"/>
                <a:gd name="connsiteX12" fmla="*/ 127698 w 316052"/>
                <a:gd name="connsiteY12" fmla="*/ 42598 h 291578"/>
                <a:gd name="connsiteX13" fmla="*/ 77885 w 316052"/>
                <a:gd name="connsiteY13" fmla="*/ 83930 h 291578"/>
                <a:gd name="connsiteX14" fmla="*/ 60040 w 316052"/>
                <a:gd name="connsiteY14" fmla="*/ 163869 h 291578"/>
                <a:gd name="connsiteX15" fmla="*/ 117057 w 316052"/>
                <a:gd name="connsiteY15" fmla="*/ 163869 h 291578"/>
                <a:gd name="connsiteX16" fmla="*/ 117057 w 316052"/>
                <a:gd name="connsiteY16" fmla="*/ 163880 h 291578"/>
                <a:gd name="connsiteX17" fmla="*/ 117057 w 316052"/>
                <a:gd name="connsiteY17" fmla="*/ 291578 h 291578"/>
                <a:gd name="connsiteX18" fmla="*/ 0 w 316052"/>
                <a:gd name="connsiteY18" fmla="*/ 291578 h 291578"/>
                <a:gd name="connsiteX19" fmla="*/ 0 w 316052"/>
                <a:gd name="connsiteY19" fmla="*/ 191548 h 291578"/>
                <a:gd name="connsiteX20" fmla="*/ 19603 w 316052"/>
                <a:gd name="connsiteY20" fmla="*/ 73576 h 291578"/>
                <a:gd name="connsiteX21" fmla="*/ 101094 w 316052"/>
                <a:gd name="connsiteY21" fmla="*/ 0 h 291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16052" h="291578">
                  <a:moveTo>
                    <a:pt x="289449" y="0"/>
                  </a:moveTo>
                  <a:lnTo>
                    <a:pt x="316052" y="42598"/>
                  </a:lnTo>
                  <a:cubicBezTo>
                    <a:pt x="293503" y="51857"/>
                    <a:pt x="276892" y="65648"/>
                    <a:pt x="266240" y="83930"/>
                  </a:cubicBezTo>
                  <a:cubicBezTo>
                    <a:pt x="255566" y="102233"/>
                    <a:pt x="249629" y="128891"/>
                    <a:pt x="248394" y="163869"/>
                  </a:cubicBezTo>
                  <a:lnTo>
                    <a:pt x="305411" y="163869"/>
                  </a:lnTo>
                  <a:lnTo>
                    <a:pt x="305411" y="163880"/>
                  </a:lnTo>
                  <a:lnTo>
                    <a:pt x="305411" y="291578"/>
                  </a:lnTo>
                  <a:lnTo>
                    <a:pt x="188354" y="291578"/>
                  </a:lnTo>
                  <a:lnTo>
                    <a:pt x="188354" y="191548"/>
                  </a:lnTo>
                  <a:cubicBezTo>
                    <a:pt x="188354" y="137223"/>
                    <a:pt x="194889" y="97902"/>
                    <a:pt x="207957" y="73576"/>
                  </a:cubicBezTo>
                  <a:cubicBezTo>
                    <a:pt x="225110" y="41152"/>
                    <a:pt x="252268" y="16622"/>
                    <a:pt x="289449" y="0"/>
                  </a:cubicBezTo>
                  <a:close/>
                  <a:moveTo>
                    <a:pt x="101094" y="0"/>
                  </a:moveTo>
                  <a:lnTo>
                    <a:pt x="127698" y="42598"/>
                  </a:lnTo>
                  <a:cubicBezTo>
                    <a:pt x="105148" y="51857"/>
                    <a:pt x="88537" y="65648"/>
                    <a:pt x="77885" y="83930"/>
                  </a:cubicBezTo>
                  <a:cubicBezTo>
                    <a:pt x="67212" y="102233"/>
                    <a:pt x="61274" y="128891"/>
                    <a:pt x="60040" y="163869"/>
                  </a:cubicBezTo>
                  <a:lnTo>
                    <a:pt x="117057" y="163869"/>
                  </a:lnTo>
                  <a:lnTo>
                    <a:pt x="117057" y="163880"/>
                  </a:lnTo>
                  <a:lnTo>
                    <a:pt x="117057" y="291578"/>
                  </a:lnTo>
                  <a:lnTo>
                    <a:pt x="0" y="291578"/>
                  </a:lnTo>
                  <a:lnTo>
                    <a:pt x="0" y="191548"/>
                  </a:lnTo>
                  <a:cubicBezTo>
                    <a:pt x="0" y="137223"/>
                    <a:pt x="6534" y="97902"/>
                    <a:pt x="19603" y="73576"/>
                  </a:cubicBezTo>
                  <a:cubicBezTo>
                    <a:pt x="36756" y="41152"/>
                    <a:pt x="63912" y="16622"/>
                    <a:pt x="101094" y="0"/>
                  </a:cubicBezTo>
                  <a:close/>
                </a:path>
              </a:pathLst>
            </a:custGeom>
            <a:gradFill>
              <a:gsLst>
                <a:gs pos="0">
                  <a:srgbClr val="D59ED7">
                    <a:lumMod val="75000"/>
                  </a:srgbClr>
                </a:gs>
                <a:gs pos="100000">
                  <a:srgbClr val="0078D4"/>
                </a:gs>
              </a:gsLst>
              <a:lin ang="1380000" scaled="0"/>
            </a:gradFill>
            <a:ln w="9525" cap="flat" cmpd="sng" algn="ctr">
              <a:no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grpSp>
      <p:sp>
        <p:nvSpPr>
          <p:cNvPr id="50" name="Text Placeholder 4">
            <a:extLst>
              <a:ext uri="{FF2B5EF4-FFF2-40B4-BE49-F238E27FC236}">
                <a16:creationId xmlns:a16="http://schemas.microsoft.com/office/drawing/2014/main" id="{B8351CF3-F374-6304-5121-9CA0A9B111C7}"/>
              </a:ext>
            </a:extLst>
          </p:cNvPr>
          <p:cNvSpPr txBox="1">
            <a:spLocks/>
          </p:cNvSpPr>
          <p:nvPr/>
        </p:nvSpPr>
        <p:spPr>
          <a:xfrm>
            <a:off x="1276350" y="4859235"/>
            <a:ext cx="4476750" cy="941796"/>
          </a:xfrm>
          <a:prstGeom prst="rect">
            <a:avLst/>
          </a:prstGeom>
        </p:spPr>
        <p:txBody>
          <a:bodyPr vert="horz" wrap="square" lIns="0" tIns="0" rIns="0" bIns="0" rtlCol="0">
            <a:spAutoFit/>
          </a:bodyPr>
          <a:lstStyle>
            <a:lvl1pPr marL="0"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2600" kern="1200" spc="0" baseline="0">
                <a:solidFill>
                  <a:srgbClr val="404040"/>
                </a:solidFill>
                <a:latin typeface="+mj-lt"/>
                <a:ea typeface="+mn-ea"/>
                <a:cs typeface="Segoe UI Semilight" panose="020B0402040204020203" pitchFamily="34" charset="0"/>
              </a:defRPr>
            </a:lvl1pPr>
            <a:lvl2pPr marL="457200"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2600" kern="1200" spc="0" baseline="0">
                <a:solidFill>
                  <a:srgbClr val="404040"/>
                </a:solidFill>
                <a:latin typeface="+mn-lt"/>
                <a:ea typeface="+mn-ea"/>
                <a:cs typeface="+mn-cs"/>
              </a:defRPr>
            </a:lvl2pPr>
            <a:lvl3pPr marL="914400"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1600" kern="1200" spc="0" baseline="0">
                <a:solidFill>
                  <a:srgbClr val="404040"/>
                </a:solidFill>
                <a:latin typeface="+mn-lt"/>
                <a:ea typeface="+mn-ea"/>
                <a:cs typeface="+mn-cs"/>
              </a:defRPr>
            </a:lvl3pPr>
            <a:lvl4pPr marL="1323976"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1000" kern="1200" spc="0" baseline="0">
                <a:solidFill>
                  <a:srgbClr val="404040"/>
                </a:solidFill>
                <a:latin typeface="+mn-lt"/>
                <a:ea typeface="+mn-ea"/>
                <a:cs typeface="+mn-cs"/>
              </a:defRPr>
            </a:lvl4pPr>
            <a:lvl5pPr marL="1711326"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1000" kern="1200" spc="0" baseline="0">
                <a:solidFill>
                  <a:srgbClr val="404040"/>
                </a:solidFill>
                <a:latin typeface="+mn-lt"/>
                <a:ea typeface="+mn-ea"/>
                <a:cs typeface="+mn-cs"/>
              </a:defRPr>
            </a:lvl5pPr>
            <a:lvl6pPr marL="5130080" indent="-466372" algn="l" defTabSz="1865484" rtl="0" eaLnBrk="1" latinLnBrk="0" hangingPunct="1">
              <a:spcBef>
                <a:spcPct val="20000"/>
              </a:spcBef>
              <a:buFont typeface="Arial" pitchFamily="34" charset="0"/>
              <a:buChar char="•"/>
              <a:defRPr sz="4000" kern="1200">
                <a:solidFill>
                  <a:schemeClr val="tx1"/>
                </a:solidFill>
                <a:latin typeface="+mn-lt"/>
                <a:ea typeface="+mn-ea"/>
                <a:cs typeface="+mn-cs"/>
              </a:defRPr>
            </a:lvl6pPr>
            <a:lvl7pPr marL="6062824" indent="-466372" algn="l" defTabSz="1865484" rtl="0" eaLnBrk="1" latinLnBrk="0" hangingPunct="1">
              <a:spcBef>
                <a:spcPct val="20000"/>
              </a:spcBef>
              <a:buFont typeface="Arial" pitchFamily="34" charset="0"/>
              <a:buChar char="•"/>
              <a:defRPr sz="4000" kern="1200">
                <a:solidFill>
                  <a:schemeClr val="tx1"/>
                </a:solidFill>
                <a:latin typeface="+mn-lt"/>
                <a:ea typeface="+mn-ea"/>
                <a:cs typeface="+mn-cs"/>
              </a:defRPr>
            </a:lvl7pPr>
            <a:lvl8pPr marL="6995566" indent="-466372" algn="l" defTabSz="1865484" rtl="0" eaLnBrk="1" latinLnBrk="0" hangingPunct="1">
              <a:spcBef>
                <a:spcPct val="20000"/>
              </a:spcBef>
              <a:buFont typeface="Arial" pitchFamily="34" charset="0"/>
              <a:buChar char="•"/>
              <a:defRPr sz="4000" kern="1200">
                <a:solidFill>
                  <a:schemeClr val="tx1"/>
                </a:solidFill>
                <a:latin typeface="+mn-lt"/>
                <a:ea typeface="+mn-ea"/>
                <a:cs typeface="+mn-cs"/>
              </a:defRPr>
            </a:lvl8pPr>
            <a:lvl9pPr marL="7928310" indent="-466372" algn="l" defTabSz="1865484" rtl="0" eaLnBrk="1" latinLnBrk="0" hangingPunct="1">
              <a:spcBef>
                <a:spcPct val="20000"/>
              </a:spcBef>
              <a:buFont typeface="Arial" pitchFamily="34" charset="0"/>
              <a:buChar char="•"/>
              <a:defRPr sz="4000" kern="1200">
                <a:solidFill>
                  <a:schemeClr val="tx1"/>
                </a:solidFill>
                <a:latin typeface="+mn-lt"/>
                <a:ea typeface="+mn-ea"/>
                <a:cs typeface="+mn-cs"/>
              </a:defRPr>
            </a:lvl9pPr>
          </a:lstStyle>
          <a:p>
            <a:pPr algn="r" defTabSz="932555">
              <a:lnSpc>
                <a:spcPct val="100000"/>
              </a:lnSpc>
              <a:defRPr/>
            </a:pPr>
            <a:r>
              <a:rPr lang="en-GB" sz="1800" noProof="0">
                <a:solidFill>
                  <a:srgbClr val="0078D4"/>
                </a:solidFill>
                <a:latin typeface="Segoe UI"/>
              </a:rPr>
              <a:t>– Jensen Huang, </a:t>
            </a:r>
          </a:p>
          <a:p>
            <a:pPr algn="r" defTabSz="932555">
              <a:lnSpc>
                <a:spcPct val="100000"/>
              </a:lnSpc>
              <a:defRPr/>
            </a:pPr>
            <a:r>
              <a:rPr lang="en-GB" sz="1800" noProof="0">
                <a:solidFill>
                  <a:srgbClr val="0078D4"/>
                </a:solidFill>
                <a:latin typeface="Segoe UI"/>
              </a:rPr>
              <a:t>CEO, </a:t>
            </a:r>
          </a:p>
          <a:p>
            <a:pPr algn="r" defTabSz="932555">
              <a:lnSpc>
                <a:spcPct val="100000"/>
              </a:lnSpc>
              <a:defRPr/>
            </a:pPr>
            <a:r>
              <a:rPr lang="en-GB" sz="1800" noProof="0">
                <a:solidFill>
                  <a:srgbClr val="0078D4"/>
                </a:solidFill>
                <a:latin typeface="Segoe UI"/>
              </a:rPr>
              <a:t>NVIDIA</a:t>
            </a:r>
          </a:p>
        </p:txBody>
      </p:sp>
      <p:sp>
        <p:nvSpPr>
          <p:cNvPr id="51" name="Text Placeholder 4">
            <a:extLst>
              <a:ext uri="{FF2B5EF4-FFF2-40B4-BE49-F238E27FC236}">
                <a16:creationId xmlns:a16="http://schemas.microsoft.com/office/drawing/2014/main" id="{86608A58-3F00-2B7F-497D-F17462642DA4}"/>
              </a:ext>
            </a:extLst>
          </p:cNvPr>
          <p:cNvSpPr txBox="1">
            <a:spLocks/>
          </p:cNvSpPr>
          <p:nvPr/>
        </p:nvSpPr>
        <p:spPr>
          <a:xfrm>
            <a:off x="6908417" y="4859235"/>
            <a:ext cx="4476750" cy="886397"/>
          </a:xfrm>
          <a:prstGeom prst="rect">
            <a:avLst/>
          </a:prstGeom>
        </p:spPr>
        <p:txBody>
          <a:bodyPr vert="horz" wrap="square" lIns="0" tIns="0" rIns="0" bIns="0" rtlCol="0">
            <a:spAutoFit/>
          </a:bodyPr>
          <a:lstStyle>
            <a:lvl1pPr marL="0"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2600" kern="1200" spc="0" baseline="0">
                <a:solidFill>
                  <a:srgbClr val="404040"/>
                </a:solidFill>
                <a:latin typeface="+mj-lt"/>
                <a:ea typeface="+mn-ea"/>
                <a:cs typeface="Segoe UI Semilight" panose="020B0402040204020203" pitchFamily="34" charset="0"/>
              </a:defRPr>
            </a:lvl1pPr>
            <a:lvl2pPr marL="457200"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2600" kern="1200" spc="0" baseline="0">
                <a:solidFill>
                  <a:srgbClr val="404040"/>
                </a:solidFill>
                <a:latin typeface="+mn-lt"/>
                <a:ea typeface="+mn-ea"/>
                <a:cs typeface="+mn-cs"/>
              </a:defRPr>
            </a:lvl2pPr>
            <a:lvl3pPr marL="914400"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1600" kern="1200" spc="0" baseline="0">
                <a:solidFill>
                  <a:srgbClr val="404040"/>
                </a:solidFill>
                <a:latin typeface="+mn-lt"/>
                <a:ea typeface="+mn-ea"/>
                <a:cs typeface="+mn-cs"/>
              </a:defRPr>
            </a:lvl3pPr>
            <a:lvl4pPr marL="1323976"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1000" kern="1200" spc="0" baseline="0">
                <a:solidFill>
                  <a:srgbClr val="404040"/>
                </a:solidFill>
                <a:latin typeface="+mn-lt"/>
                <a:ea typeface="+mn-ea"/>
                <a:cs typeface="+mn-cs"/>
              </a:defRPr>
            </a:lvl4pPr>
            <a:lvl5pPr marL="1711326" marR="0" indent="0" algn="l" defTabSz="1865484" rtl="0" eaLnBrk="1" fontAlgn="auto" latinLnBrk="0" hangingPunct="1">
              <a:lnSpc>
                <a:spcPct val="150000"/>
              </a:lnSpc>
              <a:spcBef>
                <a:spcPct val="20000"/>
              </a:spcBef>
              <a:spcAft>
                <a:spcPts val="0"/>
              </a:spcAft>
              <a:buClrTx/>
              <a:buSzPct val="90000"/>
              <a:buFont typeface="Wingdings" panose="05000000000000000000" pitchFamily="2" charset="2"/>
              <a:buNone/>
              <a:tabLst/>
              <a:defRPr sz="1000" kern="1200" spc="0" baseline="0">
                <a:solidFill>
                  <a:srgbClr val="404040"/>
                </a:solidFill>
                <a:latin typeface="+mn-lt"/>
                <a:ea typeface="+mn-ea"/>
                <a:cs typeface="+mn-cs"/>
              </a:defRPr>
            </a:lvl5pPr>
            <a:lvl6pPr marL="5130080" indent="-466372" algn="l" defTabSz="1865484" rtl="0" eaLnBrk="1" latinLnBrk="0" hangingPunct="1">
              <a:spcBef>
                <a:spcPct val="20000"/>
              </a:spcBef>
              <a:buFont typeface="Arial" pitchFamily="34" charset="0"/>
              <a:buChar char="•"/>
              <a:defRPr sz="4000" kern="1200">
                <a:solidFill>
                  <a:schemeClr val="tx1"/>
                </a:solidFill>
                <a:latin typeface="+mn-lt"/>
                <a:ea typeface="+mn-ea"/>
                <a:cs typeface="+mn-cs"/>
              </a:defRPr>
            </a:lvl6pPr>
            <a:lvl7pPr marL="6062824" indent="-466372" algn="l" defTabSz="1865484" rtl="0" eaLnBrk="1" latinLnBrk="0" hangingPunct="1">
              <a:spcBef>
                <a:spcPct val="20000"/>
              </a:spcBef>
              <a:buFont typeface="Arial" pitchFamily="34" charset="0"/>
              <a:buChar char="•"/>
              <a:defRPr sz="4000" kern="1200">
                <a:solidFill>
                  <a:schemeClr val="tx1"/>
                </a:solidFill>
                <a:latin typeface="+mn-lt"/>
                <a:ea typeface="+mn-ea"/>
                <a:cs typeface="+mn-cs"/>
              </a:defRPr>
            </a:lvl7pPr>
            <a:lvl8pPr marL="6995566" indent="-466372" algn="l" defTabSz="1865484" rtl="0" eaLnBrk="1" latinLnBrk="0" hangingPunct="1">
              <a:spcBef>
                <a:spcPct val="20000"/>
              </a:spcBef>
              <a:buFont typeface="Arial" pitchFamily="34" charset="0"/>
              <a:buChar char="•"/>
              <a:defRPr sz="4000" kern="1200">
                <a:solidFill>
                  <a:schemeClr val="tx1"/>
                </a:solidFill>
                <a:latin typeface="+mn-lt"/>
                <a:ea typeface="+mn-ea"/>
                <a:cs typeface="+mn-cs"/>
              </a:defRPr>
            </a:lvl8pPr>
            <a:lvl9pPr marL="7928310" indent="-466372" algn="l" defTabSz="1865484" rtl="0" eaLnBrk="1" latinLnBrk="0" hangingPunct="1">
              <a:spcBef>
                <a:spcPct val="20000"/>
              </a:spcBef>
              <a:buFont typeface="Arial" pitchFamily="34" charset="0"/>
              <a:buChar char="•"/>
              <a:defRPr sz="4000" kern="1200">
                <a:solidFill>
                  <a:schemeClr val="tx1"/>
                </a:solidFill>
                <a:latin typeface="+mn-lt"/>
                <a:ea typeface="+mn-ea"/>
                <a:cs typeface="+mn-cs"/>
              </a:defRPr>
            </a:lvl9pPr>
          </a:lstStyle>
          <a:p>
            <a:pPr algn="r" defTabSz="932555">
              <a:lnSpc>
                <a:spcPct val="100000"/>
              </a:lnSpc>
              <a:defRPr/>
            </a:pPr>
            <a:r>
              <a:rPr lang="en-GB" sz="1800" noProof="0">
                <a:solidFill>
                  <a:srgbClr val="0078D4"/>
                </a:solidFill>
                <a:latin typeface="Segoe UI"/>
              </a:rPr>
              <a:t>– Mark O’Neil, </a:t>
            </a:r>
          </a:p>
          <a:p>
            <a:pPr algn="r" defTabSz="932555">
              <a:lnSpc>
                <a:spcPct val="100000"/>
              </a:lnSpc>
              <a:defRPr/>
            </a:pPr>
            <a:r>
              <a:rPr lang="en-GB" sz="1800" noProof="0">
                <a:solidFill>
                  <a:srgbClr val="0078D4"/>
                </a:solidFill>
                <a:latin typeface="Segoe UI"/>
              </a:rPr>
              <a:t>VP Analyst for Software Engineering, Gartner</a:t>
            </a:r>
          </a:p>
        </p:txBody>
      </p:sp>
    </p:spTree>
    <p:extLst>
      <p:ext uri="{BB962C8B-B14F-4D97-AF65-F5344CB8AC3E}">
        <p14:creationId xmlns:p14="http://schemas.microsoft.com/office/powerpoint/2010/main" val="3944306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ACD83-7340-33AC-C508-A74D0B9040BC}"/>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252400FC-C075-C0EB-5C7E-98EEBB402256}"/>
              </a:ext>
            </a:extLst>
          </p:cNvPr>
          <p:cNvSpPr txBox="1">
            <a:spLocks/>
          </p:cNvSpPr>
          <p:nvPr/>
        </p:nvSpPr>
        <p:spPr>
          <a:xfrm>
            <a:off x="461818" y="457200"/>
            <a:ext cx="11144965" cy="4924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200" b="0" i="0" u="none" strike="noStrike" kern="1200" cap="none" spc="-50" normalizeH="0" baseline="0" noProof="0">
                <a:ln w="3175">
                  <a:noFill/>
                </a:ln>
                <a:solidFill>
                  <a:srgbClr val="0F6FC6"/>
                </a:solidFill>
                <a:effectLst/>
                <a:uLnTx/>
                <a:uFillTx/>
                <a:latin typeface="Segoe Semibold"/>
                <a:ea typeface="+mj-ea"/>
                <a:cs typeface="Segoe UI" pitchFamily="34" charset="0"/>
              </a:rPr>
              <a:t>GenAI development runs on APIs</a:t>
            </a:r>
          </a:p>
        </p:txBody>
      </p:sp>
      <p:cxnSp>
        <p:nvCxnSpPr>
          <p:cNvPr id="172" name="Straight Connector 171">
            <a:extLst>
              <a:ext uri="{FF2B5EF4-FFF2-40B4-BE49-F238E27FC236}">
                <a16:creationId xmlns:a16="http://schemas.microsoft.com/office/drawing/2014/main" id="{BCC67E7D-6BF9-B4A5-FE60-B4AE5D69DA30}"/>
              </a:ext>
            </a:extLst>
          </p:cNvPr>
          <p:cNvCxnSpPr>
            <a:cxnSpLocks/>
          </p:cNvCxnSpPr>
          <p:nvPr/>
        </p:nvCxnSpPr>
        <p:spPr>
          <a:xfrm>
            <a:off x="3073659" y="3638343"/>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cxnSp>
        <p:nvCxnSpPr>
          <p:cNvPr id="173" name="Straight Connector 172">
            <a:extLst>
              <a:ext uri="{FF2B5EF4-FFF2-40B4-BE49-F238E27FC236}">
                <a16:creationId xmlns:a16="http://schemas.microsoft.com/office/drawing/2014/main" id="{0FA97C12-1D05-4D27-43C8-D80416701BB5}"/>
              </a:ext>
            </a:extLst>
          </p:cNvPr>
          <p:cNvCxnSpPr>
            <a:cxnSpLocks/>
          </p:cNvCxnSpPr>
          <p:nvPr/>
        </p:nvCxnSpPr>
        <p:spPr>
          <a:xfrm>
            <a:off x="3073659" y="4427125"/>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cxnSp>
        <p:nvCxnSpPr>
          <p:cNvPr id="174" name="Straight Connector 173">
            <a:extLst>
              <a:ext uri="{FF2B5EF4-FFF2-40B4-BE49-F238E27FC236}">
                <a16:creationId xmlns:a16="http://schemas.microsoft.com/office/drawing/2014/main" id="{E40D61C8-8084-F888-5579-905BDB011C0A}"/>
              </a:ext>
            </a:extLst>
          </p:cNvPr>
          <p:cNvCxnSpPr>
            <a:cxnSpLocks/>
          </p:cNvCxnSpPr>
          <p:nvPr/>
        </p:nvCxnSpPr>
        <p:spPr>
          <a:xfrm>
            <a:off x="3073659" y="5215906"/>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cxnSp>
        <p:nvCxnSpPr>
          <p:cNvPr id="175" name="Straight Connector 174">
            <a:extLst>
              <a:ext uri="{FF2B5EF4-FFF2-40B4-BE49-F238E27FC236}">
                <a16:creationId xmlns:a16="http://schemas.microsoft.com/office/drawing/2014/main" id="{3EED7549-EDF5-3B25-B438-8450CCCF7FE7}"/>
              </a:ext>
            </a:extLst>
          </p:cNvPr>
          <p:cNvCxnSpPr>
            <a:cxnSpLocks/>
          </p:cNvCxnSpPr>
          <p:nvPr/>
        </p:nvCxnSpPr>
        <p:spPr>
          <a:xfrm>
            <a:off x="3073659" y="2849561"/>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sp>
        <p:nvSpPr>
          <p:cNvPr id="176" name="Oval 175">
            <a:extLst>
              <a:ext uri="{FF2B5EF4-FFF2-40B4-BE49-F238E27FC236}">
                <a16:creationId xmlns:a16="http://schemas.microsoft.com/office/drawing/2014/main" id="{9AEFB876-96C9-6F35-F540-A0A71575A80C}"/>
              </a:ext>
            </a:extLst>
          </p:cNvPr>
          <p:cNvSpPr>
            <a:spLocks/>
          </p:cNvSpPr>
          <p:nvPr/>
        </p:nvSpPr>
        <p:spPr>
          <a:xfrm flipV="1">
            <a:off x="2540129" y="2793269"/>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77" name="Oval 176">
            <a:extLst>
              <a:ext uri="{FF2B5EF4-FFF2-40B4-BE49-F238E27FC236}">
                <a16:creationId xmlns:a16="http://schemas.microsoft.com/office/drawing/2014/main" id="{4603211B-E089-5159-1653-39712CA24ABA}"/>
              </a:ext>
            </a:extLst>
          </p:cNvPr>
          <p:cNvSpPr>
            <a:spLocks/>
          </p:cNvSpPr>
          <p:nvPr/>
        </p:nvSpPr>
        <p:spPr>
          <a:xfrm flipV="1">
            <a:off x="2540129" y="3582051"/>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78" name="Oval 177">
            <a:extLst>
              <a:ext uri="{FF2B5EF4-FFF2-40B4-BE49-F238E27FC236}">
                <a16:creationId xmlns:a16="http://schemas.microsoft.com/office/drawing/2014/main" id="{30B8AB18-E9B2-9A0F-13D5-B7349FFE6FE1}"/>
              </a:ext>
            </a:extLst>
          </p:cNvPr>
          <p:cNvSpPr>
            <a:spLocks/>
          </p:cNvSpPr>
          <p:nvPr/>
        </p:nvSpPr>
        <p:spPr>
          <a:xfrm flipV="1">
            <a:off x="2540129" y="4370833"/>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79" name="Oval 178">
            <a:extLst>
              <a:ext uri="{FF2B5EF4-FFF2-40B4-BE49-F238E27FC236}">
                <a16:creationId xmlns:a16="http://schemas.microsoft.com/office/drawing/2014/main" id="{8585FCC6-02A7-E887-6A5A-A437821FBE79}"/>
              </a:ext>
            </a:extLst>
          </p:cNvPr>
          <p:cNvSpPr>
            <a:spLocks/>
          </p:cNvSpPr>
          <p:nvPr/>
        </p:nvSpPr>
        <p:spPr>
          <a:xfrm flipV="1">
            <a:off x="2540129" y="5159614"/>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grpSp>
        <p:nvGrpSpPr>
          <p:cNvPr id="180" name="Group 179">
            <a:extLst>
              <a:ext uri="{FF2B5EF4-FFF2-40B4-BE49-F238E27FC236}">
                <a16:creationId xmlns:a16="http://schemas.microsoft.com/office/drawing/2014/main" id="{92E70D28-C65C-F4FE-9E05-82758F3D8192}"/>
              </a:ext>
            </a:extLst>
          </p:cNvPr>
          <p:cNvGrpSpPr/>
          <p:nvPr/>
        </p:nvGrpSpPr>
        <p:grpSpPr>
          <a:xfrm>
            <a:off x="4570031" y="1603709"/>
            <a:ext cx="3051938" cy="4332368"/>
            <a:chOff x="4570031" y="1733551"/>
            <a:chExt cx="3051938" cy="4332368"/>
          </a:xfrm>
        </p:grpSpPr>
        <p:sp>
          <p:nvSpPr>
            <p:cNvPr id="181" name="Rectangle: Rounded Corners 180">
              <a:extLst>
                <a:ext uri="{FF2B5EF4-FFF2-40B4-BE49-F238E27FC236}">
                  <a16:creationId xmlns:a16="http://schemas.microsoft.com/office/drawing/2014/main" id="{68D7DBAD-510E-9A9F-AB79-C1F76DF5C5F4}"/>
                </a:ext>
              </a:extLst>
            </p:cNvPr>
            <p:cNvSpPr/>
            <p:nvPr/>
          </p:nvSpPr>
          <p:spPr bwMode="auto">
            <a:xfrm>
              <a:off x="4570031" y="1733551"/>
              <a:ext cx="3051938" cy="4332368"/>
            </a:xfrm>
            <a:prstGeom prst="roundRect">
              <a:avLst>
                <a:gd name="adj" fmla="val 4955"/>
              </a:avLst>
            </a:prstGeom>
            <a:gradFill>
              <a:gsLst>
                <a:gs pos="0">
                  <a:srgbClr val="B85CBC"/>
                </a:gs>
                <a:gs pos="546">
                  <a:srgbClr val="B75CBC"/>
                </a:gs>
                <a:gs pos="1093">
                  <a:srgbClr val="B75CBC"/>
                </a:gs>
                <a:gs pos="1639">
                  <a:srgbClr val="B75CBC"/>
                </a:gs>
                <a:gs pos="2186">
                  <a:srgbClr val="B75DBC"/>
                </a:gs>
                <a:gs pos="2732">
                  <a:srgbClr val="B75DBD"/>
                </a:gs>
                <a:gs pos="3279">
                  <a:srgbClr val="B75DBD"/>
                </a:gs>
                <a:gs pos="3825">
                  <a:srgbClr val="B75DBD"/>
                </a:gs>
                <a:gs pos="4372">
                  <a:srgbClr val="B75EBD"/>
                </a:gs>
                <a:gs pos="4918">
                  <a:srgbClr val="B75EBE"/>
                </a:gs>
                <a:gs pos="5464">
                  <a:srgbClr val="B75EBE"/>
                </a:gs>
                <a:gs pos="6011">
                  <a:srgbClr val="B75FBE"/>
                </a:gs>
                <a:gs pos="6557">
                  <a:srgbClr val="B65FBE"/>
                </a:gs>
                <a:gs pos="7104">
                  <a:srgbClr val="B65FBF"/>
                </a:gs>
                <a:gs pos="7650">
                  <a:srgbClr val="B65FBF"/>
                </a:gs>
                <a:gs pos="8197">
                  <a:srgbClr val="B660BF"/>
                </a:gs>
                <a:gs pos="8743">
                  <a:srgbClr val="B660BF"/>
                </a:gs>
                <a:gs pos="9290">
                  <a:srgbClr val="B560C0"/>
                </a:gs>
                <a:gs pos="9836">
                  <a:srgbClr val="B560C0"/>
                </a:gs>
                <a:gs pos="10383">
                  <a:srgbClr val="B561C0"/>
                </a:gs>
                <a:gs pos="10929">
                  <a:srgbClr val="B561C0"/>
                </a:gs>
                <a:gs pos="11475">
                  <a:srgbClr val="B461C0"/>
                </a:gs>
                <a:gs pos="12022">
                  <a:srgbClr val="B461C1"/>
                </a:gs>
                <a:gs pos="12568">
                  <a:srgbClr val="B462C1"/>
                </a:gs>
                <a:gs pos="13115">
                  <a:srgbClr val="B362C1"/>
                </a:gs>
                <a:gs pos="13661">
                  <a:srgbClr val="B362C1"/>
                </a:gs>
                <a:gs pos="14208">
                  <a:srgbClr val="B362C1"/>
                </a:gs>
                <a:gs pos="14754">
                  <a:srgbClr val="B263C2"/>
                </a:gs>
                <a:gs pos="15301">
                  <a:srgbClr val="B263C2"/>
                </a:gs>
                <a:gs pos="15847">
                  <a:srgbClr val="B263C2"/>
                </a:gs>
                <a:gs pos="16393">
                  <a:srgbClr val="B163C2"/>
                </a:gs>
                <a:gs pos="16940">
                  <a:srgbClr val="B164C3"/>
                </a:gs>
                <a:gs pos="17486">
                  <a:srgbClr val="B164C3"/>
                </a:gs>
                <a:gs pos="18033">
                  <a:srgbClr val="B064C3"/>
                </a:gs>
                <a:gs pos="18579">
                  <a:srgbClr val="B064C3"/>
                </a:gs>
                <a:gs pos="19126">
                  <a:srgbClr val="AF65C3"/>
                </a:gs>
                <a:gs pos="19672">
                  <a:srgbClr val="AF65C4"/>
                </a:gs>
                <a:gs pos="20219">
                  <a:srgbClr val="AE65C4"/>
                </a:gs>
                <a:gs pos="20765">
                  <a:srgbClr val="AE65C4"/>
                </a:gs>
                <a:gs pos="21312">
                  <a:srgbClr val="AD66C4"/>
                </a:gs>
                <a:gs pos="21858">
                  <a:srgbClr val="AD66C4"/>
                </a:gs>
                <a:gs pos="22404">
                  <a:srgbClr val="AC66C5"/>
                </a:gs>
                <a:gs pos="22951">
                  <a:srgbClr val="AC66C5"/>
                </a:gs>
                <a:gs pos="23497">
                  <a:srgbClr val="AB67C5"/>
                </a:gs>
                <a:gs pos="24044">
                  <a:srgbClr val="AB67C5"/>
                </a:gs>
                <a:gs pos="24590">
                  <a:srgbClr val="AA67C5"/>
                </a:gs>
                <a:gs pos="25137">
                  <a:srgbClr val="AA67C6"/>
                </a:gs>
                <a:gs pos="25683">
                  <a:srgbClr val="A967C6"/>
                </a:gs>
                <a:gs pos="26230">
                  <a:srgbClr val="A968C6"/>
                </a:gs>
                <a:gs pos="26776">
                  <a:srgbClr val="A868C6"/>
                </a:gs>
                <a:gs pos="27322">
                  <a:srgbClr val="A768C6"/>
                </a:gs>
                <a:gs pos="27869">
                  <a:srgbClr val="A768C6"/>
                </a:gs>
                <a:gs pos="28415">
                  <a:srgbClr val="A669C7"/>
                </a:gs>
                <a:gs pos="28962">
                  <a:srgbClr val="A569C7"/>
                </a:gs>
                <a:gs pos="29508">
                  <a:srgbClr val="A569C7"/>
                </a:gs>
                <a:gs pos="30055">
                  <a:srgbClr val="A469C7"/>
                </a:gs>
                <a:gs pos="30601">
                  <a:srgbClr val="A469C7"/>
                </a:gs>
                <a:gs pos="31148">
                  <a:srgbClr val="A36AC8"/>
                </a:gs>
                <a:gs pos="31694">
                  <a:srgbClr val="A26AC8"/>
                </a:gs>
                <a:gs pos="32240">
                  <a:srgbClr val="A16AC8"/>
                </a:gs>
                <a:gs pos="32787">
                  <a:srgbClr val="A16AC8"/>
                </a:gs>
                <a:gs pos="33333">
                  <a:srgbClr val="A06AC8"/>
                </a:gs>
                <a:gs pos="33880">
                  <a:srgbClr val="9F6BC8"/>
                </a:gs>
                <a:gs pos="34426">
                  <a:srgbClr val="9F6BC9"/>
                </a:gs>
                <a:gs pos="34973">
                  <a:srgbClr val="9E6BC9"/>
                </a:gs>
                <a:gs pos="35519">
                  <a:srgbClr val="9D6BC9"/>
                </a:gs>
                <a:gs pos="36066">
                  <a:srgbClr val="9C6BC9"/>
                </a:gs>
                <a:gs pos="36612">
                  <a:srgbClr val="9C6CC9"/>
                </a:gs>
                <a:gs pos="37159">
                  <a:srgbClr val="9B6CC9"/>
                </a:gs>
                <a:gs pos="37705">
                  <a:srgbClr val="9A6CCA"/>
                </a:gs>
                <a:gs pos="38251">
                  <a:srgbClr val="996CCA"/>
                </a:gs>
                <a:gs pos="38798">
                  <a:srgbClr val="986CCA"/>
                </a:gs>
                <a:gs pos="39344">
                  <a:srgbClr val="976DCA"/>
                </a:gs>
                <a:gs pos="39891">
                  <a:srgbClr val="976DCA"/>
                </a:gs>
                <a:gs pos="40437">
                  <a:srgbClr val="966DCA"/>
                </a:gs>
                <a:gs pos="40984">
                  <a:srgbClr val="956DCB"/>
                </a:gs>
                <a:gs pos="41530">
                  <a:srgbClr val="946DCB"/>
                </a:gs>
                <a:gs pos="42077">
                  <a:srgbClr val="936DCB"/>
                </a:gs>
                <a:gs pos="42623">
                  <a:srgbClr val="926ECB"/>
                </a:gs>
                <a:gs pos="43169">
                  <a:srgbClr val="916ECB"/>
                </a:gs>
                <a:gs pos="43716">
                  <a:srgbClr val="916ECB"/>
                </a:gs>
                <a:gs pos="44262">
                  <a:srgbClr val="906ECB"/>
                </a:gs>
                <a:gs pos="44809">
                  <a:srgbClr val="8F6ECC"/>
                </a:gs>
                <a:gs pos="45355">
                  <a:srgbClr val="8E6ECC"/>
                </a:gs>
                <a:gs pos="45902">
                  <a:srgbClr val="8D6FCC"/>
                </a:gs>
                <a:gs pos="46448">
                  <a:srgbClr val="8C6FCC"/>
                </a:gs>
                <a:gs pos="46995">
                  <a:srgbClr val="8B6FCC"/>
                </a:gs>
                <a:gs pos="47541">
                  <a:srgbClr val="8A6FCC"/>
                </a:gs>
                <a:gs pos="48087">
                  <a:srgbClr val="896FCC"/>
                </a:gs>
                <a:gs pos="48634">
                  <a:srgbClr val="886FCD"/>
                </a:gs>
                <a:gs pos="49180">
                  <a:srgbClr val="8770CD"/>
                </a:gs>
                <a:gs pos="49727">
                  <a:srgbClr val="8670CD"/>
                </a:gs>
                <a:gs pos="50273">
                  <a:srgbClr val="8570CD"/>
                </a:gs>
                <a:gs pos="50820">
                  <a:srgbClr val="8470CD"/>
                </a:gs>
                <a:gs pos="51366">
                  <a:srgbClr val="8370CD"/>
                </a:gs>
                <a:gs pos="51913">
                  <a:srgbClr val="8270CD"/>
                </a:gs>
                <a:gs pos="52459">
                  <a:srgbClr val="8171CE"/>
                </a:gs>
                <a:gs pos="53005">
                  <a:srgbClr val="8071CE"/>
                </a:gs>
                <a:gs pos="53552">
                  <a:srgbClr val="7E71CE"/>
                </a:gs>
                <a:gs pos="54098">
                  <a:srgbClr val="7D71CE"/>
                </a:gs>
                <a:gs pos="54645">
                  <a:srgbClr val="7C71CE"/>
                </a:gs>
                <a:gs pos="55191">
                  <a:srgbClr val="7B71CE"/>
                </a:gs>
                <a:gs pos="55738">
                  <a:srgbClr val="7A71CE"/>
                </a:gs>
                <a:gs pos="56284">
                  <a:srgbClr val="7972CE"/>
                </a:gs>
                <a:gs pos="56831">
                  <a:srgbClr val="7872CF"/>
                </a:gs>
                <a:gs pos="57377">
                  <a:srgbClr val="7772CF"/>
                </a:gs>
                <a:gs pos="57924">
                  <a:srgbClr val="7572CF"/>
                </a:gs>
                <a:gs pos="58470">
                  <a:srgbClr val="7472CF"/>
                </a:gs>
                <a:gs pos="59016">
                  <a:srgbClr val="7372CF"/>
                </a:gs>
                <a:gs pos="59563">
                  <a:srgbClr val="7272CF"/>
                </a:gs>
                <a:gs pos="60109">
                  <a:srgbClr val="7173CF"/>
                </a:gs>
                <a:gs pos="60656">
                  <a:srgbClr val="6F73CF"/>
                </a:gs>
                <a:gs pos="61202">
                  <a:srgbClr val="6E73CF"/>
                </a:gs>
                <a:gs pos="61749">
                  <a:srgbClr val="6D73D0"/>
                </a:gs>
                <a:gs pos="62295">
                  <a:srgbClr val="6C73D0"/>
                </a:gs>
                <a:gs pos="62841">
                  <a:srgbClr val="6A73D0"/>
                </a:gs>
                <a:gs pos="63388">
                  <a:srgbClr val="6973D0"/>
                </a:gs>
                <a:gs pos="63934">
                  <a:srgbClr val="6873D0"/>
                </a:gs>
                <a:gs pos="64481">
                  <a:srgbClr val="6773D0"/>
                </a:gs>
                <a:gs pos="65027">
                  <a:srgbClr val="6574D0"/>
                </a:gs>
                <a:gs pos="65574">
                  <a:srgbClr val="6474D0"/>
                </a:gs>
                <a:gs pos="66120">
                  <a:srgbClr val="6374D0"/>
                </a:gs>
                <a:gs pos="66667">
                  <a:srgbClr val="6174D0"/>
                </a:gs>
                <a:gs pos="67213">
                  <a:srgbClr val="6074D1"/>
                </a:gs>
                <a:gs pos="67760">
                  <a:srgbClr val="5F74D1"/>
                </a:gs>
                <a:gs pos="68306">
                  <a:srgbClr val="5D74D1"/>
                </a:gs>
                <a:gs pos="68853">
                  <a:srgbClr val="5C74D1"/>
                </a:gs>
                <a:gs pos="69399">
                  <a:srgbClr val="5B74D1"/>
                </a:gs>
                <a:gs pos="69945">
                  <a:srgbClr val="5975D1"/>
                </a:gs>
                <a:gs pos="70492">
                  <a:srgbClr val="5875D1"/>
                </a:gs>
                <a:gs pos="71038">
                  <a:srgbClr val="5775D1"/>
                </a:gs>
                <a:gs pos="71585">
                  <a:srgbClr val="5575D1"/>
                </a:gs>
                <a:gs pos="72131">
                  <a:srgbClr val="5475D1"/>
                </a:gs>
                <a:gs pos="72678">
                  <a:srgbClr val="5275D1"/>
                </a:gs>
                <a:gs pos="73224">
                  <a:srgbClr val="5175D1"/>
                </a:gs>
                <a:gs pos="73770">
                  <a:srgbClr val="4F75D2"/>
                </a:gs>
                <a:gs pos="74317">
                  <a:srgbClr val="4E75D2"/>
                </a:gs>
                <a:gs pos="74863">
                  <a:srgbClr val="4D75D2"/>
                </a:gs>
                <a:gs pos="75410">
                  <a:srgbClr val="4B75D2"/>
                </a:gs>
                <a:gs pos="75956">
                  <a:srgbClr val="4A76D2"/>
                </a:gs>
                <a:gs pos="76503">
                  <a:srgbClr val="4876D2"/>
                </a:gs>
                <a:gs pos="77049">
                  <a:srgbClr val="4776D2"/>
                </a:gs>
                <a:gs pos="77596">
                  <a:srgbClr val="4576D2"/>
                </a:gs>
                <a:gs pos="78142">
                  <a:srgbClr val="4476D2"/>
                </a:gs>
                <a:gs pos="78689">
                  <a:srgbClr val="4276D2"/>
                </a:gs>
                <a:gs pos="79235">
                  <a:srgbClr val="4176D2"/>
                </a:gs>
                <a:gs pos="79781">
                  <a:srgbClr val="3F76D2"/>
                </a:gs>
                <a:gs pos="80328">
                  <a:srgbClr val="3D76D2"/>
                </a:gs>
                <a:gs pos="80874">
                  <a:srgbClr val="3C76D2"/>
                </a:gs>
                <a:gs pos="81421">
                  <a:srgbClr val="3A76D2"/>
                </a:gs>
                <a:gs pos="81967">
                  <a:srgbClr val="3976D3"/>
                </a:gs>
                <a:gs pos="82514">
                  <a:srgbClr val="3776D3"/>
                </a:gs>
                <a:gs pos="83060">
                  <a:srgbClr val="3676D3"/>
                </a:gs>
                <a:gs pos="83607">
                  <a:srgbClr val="3477D3"/>
                </a:gs>
                <a:gs pos="84153">
                  <a:srgbClr val="3277D3"/>
                </a:gs>
                <a:gs pos="84699">
                  <a:srgbClr val="3177D3"/>
                </a:gs>
                <a:gs pos="85246">
                  <a:srgbClr val="2F77D3"/>
                </a:gs>
                <a:gs pos="85792">
                  <a:srgbClr val="2D77D3"/>
                </a:gs>
                <a:gs pos="86339">
                  <a:srgbClr val="2C77D3"/>
                </a:gs>
                <a:gs pos="86885">
                  <a:srgbClr val="2A77D3"/>
                </a:gs>
                <a:gs pos="87432">
                  <a:srgbClr val="2877D3"/>
                </a:gs>
                <a:gs pos="87978">
                  <a:srgbClr val="2777D3"/>
                </a:gs>
                <a:gs pos="88525">
                  <a:srgbClr val="2577D3"/>
                </a:gs>
                <a:gs pos="89071">
                  <a:srgbClr val="2377D3"/>
                </a:gs>
                <a:gs pos="89618">
                  <a:srgbClr val="2277D3"/>
                </a:gs>
                <a:gs pos="90164">
                  <a:srgbClr val="2077D3"/>
                </a:gs>
                <a:gs pos="90710">
                  <a:srgbClr val="1E77D3"/>
                </a:gs>
                <a:gs pos="91257">
                  <a:srgbClr val="1D77D3"/>
                </a:gs>
                <a:gs pos="91803">
                  <a:srgbClr val="1B77D3"/>
                </a:gs>
                <a:gs pos="92350">
                  <a:srgbClr val="1977D3"/>
                </a:gs>
                <a:gs pos="92896">
                  <a:srgbClr val="1777D3"/>
                </a:gs>
                <a:gs pos="93443">
                  <a:srgbClr val="1577D3"/>
                </a:gs>
                <a:gs pos="93989">
                  <a:srgbClr val="1477D3"/>
                </a:gs>
                <a:gs pos="94535">
                  <a:srgbClr val="1277D3"/>
                </a:gs>
                <a:gs pos="95082">
                  <a:srgbClr val="1077D3"/>
                </a:gs>
                <a:gs pos="95628">
                  <a:srgbClr val="0E77D3"/>
                </a:gs>
                <a:gs pos="96175">
                  <a:srgbClr val="0C77D3"/>
                </a:gs>
                <a:gs pos="96721">
                  <a:srgbClr val="0B77D3"/>
                </a:gs>
                <a:gs pos="97268">
                  <a:srgbClr val="0977D3"/>
                </a:gs>
                <a:gs pos="97814">
                  <a:srgbClr val="0777D3"/>
                </a:gs>
                <a:gs pos="98361">
                  <a:srgbClr val="0577D3"/>
                </a:gs>
                <a:gs pos="98907">
                  <a:srgbClr val="0377D3"/>
                </a:gs>
                <a:gs pos="99454">
                  <a:srgbClr val="0177D3"/>
                </a:gs>
                <a:gs pos="100000">
                  <a:srgbClr val="0078D4"/>
                </a:gs>
              </a:gsLst>
              <a:lin ang="1379994" scaled="1"/>
            </a:gradFill>
            <a:ln w="11471" cap="flat">
              <a:noFill/>
              <a:prstDash val="solid"/>
              <a:miter/>
            </a:ln>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Segoe UI"/>
              </a:endParaRPr>
            </a:p>
          </p:txBody>
        </p:sp>
        <p:sp>
          <p:nvSpPr>
            <p:cNvPr id="182" name="Rounded Rectangle 38">
              <a:extLst>
                <a:ext uri="{FF2B5EF4-FFF2-40B4-BE49-F238E27FC236}">
                  <a16:creationId xmlns:a16="http://schemas.microsoft.com/office/drawing/2014/main" id="{528BEBED-2E25-59B6-B157-DC95EFA8272C}"/>
                </a:ext>
                <a:ext uri="{C183D7F6-B498-43B3-948B-1728B52AA6E4}">
                  <adec:decorative xmlns:adec="http://schemas.microsoft.com/office/drawing/2017/decorative" val="1"/>
                </a:ext>
              </a:extLst>
            </p:cNvPr>
            <p:cNvSpPr/>
            <p:nvPr/>
          </p:nvSpPr>
          <p:spPr bwMode="auto">
            <a:xfrm>
              <a:off x="4704477" y="2048134"/>
              <a:ext cx="2783047" cy="276999"/>
            </a:xfrm>
            <a:prstGeom prst="rect">
              <a:avLst/>
            </a:prstGeom>
            <a:no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32472" eaLnBrk="1" fontAlgn="base" latinLnBrk="0" hangingPunct="1">
                <a:lnSpc>
                  <a:spcPct val="100000"/>
                </a:lnSpc>
                <a:spcBef>
                  <a:spcPct val="0"/>
                </a:spcBef>
                <a:spcAft>
                  <a:spcPct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Segoe UI Semibold"/>
                  <a:cs typeface="Segoe UI" pitchFamily="34" charset="0"/>
                </a:rPr>
                <a:t>But these </a:t>
              </a:r>
              <a:r>
                <a:rPr kumimoji="0" lang="en-GB" sz="1800" b="0" i="0" u="none" strike="noStrike" kern="0" cap="none" spc="0" normalizeH="0" baseline="0" noProof="0">
                  <a:ln>
                    <a:noFill/>
                  </a:ln>
                  <a:solidFill>
                    <a:srgbClr val="C5B4E3">
                      <a:lumMod val="60000"/>
                      <a:lumOff val="40000"/>
                    </a:srgbClr>
                  </a:solidFill>
                  <a:effectLst/>
                  <a:uLnTx/>
                  <a:uFillTx/>
                  <a:latin typeface="Segoe UI Semibold"/>
                  <a:cs typeface="Segoe UI" pitchFamily="34" charset="0"/>
                </a:rPr>
                <a:t>APIs</a:t>
              </a:r>
              <a:r>
                <a:rPr kumimoji="0" lang="en-GB" sz="1800" b="0" i="0" u="none" strike="noStrike" kern="0" cap="none" spc="0" normalizeH="0" baseline="0" noProof="0">
                  <a:ln>
                    <a:noFill/>
                  </a:ln>
                  <a:solidFill>
                    <a:srgbClr val="FFFFFF"/>
                  </a:solidFill>
                  <a:effectLst/>
                  <a:uLnTx/>
                  <a:uFillTx/>
                  <a:latin typeface="Segoe UI Semibold"/>
                  <a:cs typeface="Segoe UI" pitchFamily="34" charset="0"/>
                </a:rPr>
                <a:t> must be</a:t>
              </a:r>
            </a:p>
          </p:txBody>
        </p:sp>
        <p:pic>
          <p:nvPicPr>
            <p:cNvPr id="183" name="Graphic 182">
              <a:extLst>
                <a:ext uri="{FF2B5EF4-FFF2-40B4-BE49-F238E27FC236}">
                  <a16:creationId xmlns:a16="http://schemas.microsoft.com/office/drawing/2014/main" id="{4FA67665-92BB-147F-2516-38F6D371C6A7}"/>
                </a:ext>
              </a:extLst>
            </p:cNvPr>
            <p:cNvPicPr>
              <a:picLocks/>
            </p:cNvPicPr>
            <p:nvPr/>
          </p:nvPicPr>
          <p:blipFill>
            <a:blip>
              <a:extLst>
                <a:ext uri="{96DAC541-7B7A-43D3-8B79-37D633B846F1}">
                  <asvg:svgBlip xmlns:asvg="http://schemas.microsoft.com/office/drawing/2016/SVG/main" r:embed="rId3"/>
                </a:ext>
              </a:extLst>
            </a:blip>
            <a:srcRect l="7079" t="67795" r="7079"/>
            <a:stretch>
              <a:fillRect/>
            </a:stretch>
          </p:blipFill>
          <p:spPr>
            <a:xfrm>
              <a:off x="4570031" y="5257662"/>
              <a:ext cx="3051938" cy="755064"/>
            </a:xfrm>
            <a:custGeom>
              <a:avLst/>
              <a:gdLst>
                <a:gd name="connsiteX0" fmla="*/ 3051938 w 3051938"/>
                <a:gd name="connsiteY0" fmla="*/ 0 h 755064"/>
                <a:gd name="connsiteX1" fmla="*/ 3051938 w 3051938"/>
                <a:gd name="connsiteY1" fmla="*/ 657033 h 755064"/>
                <a:gd name="connsiteX2" fmla="*/ 3040054 w 3051938"/>
                <a:gd name="connsiteY2" fmla="*/ 715897 h 755064"/>
                <a:gd name="connsiteX3" fmla="*/ 3013647 w 3051938"/>
                <a:gd name="connsiteY3" fmla="*/ 755064 h 755064"/>
                <a:gd name="connsiteX4" fmla="*/ 38292 w 3051938"/>
                <a:gd name="connsiteY4" fmla="*/ 755064 h 755064"/>
                <a:gd name="connsiteX5" fmla="*/ 11884 w 3051938"/>
                <a:gd name="connsiteY5" fmla="*/ 715897 h 755064"/>
                <a:gd name="connsiteX6" fmla="*/ 0 w 3051938"/>
                <a:gd name="connsiteY6" fmla="*/ 657033 h 755064"/>
                <a:gd name="connsiteX7" fmla="*/ 0 w 3051938"/>
                <a:gd name="connsiteY7" fmla="*/ 195925 h 755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938" h="755064">
                  <a:moveTo>
                    <a:pt x="3051938" y="0"/>
                  </a:moveTo>
                  <a:lnTo>
                    <a:pt x="3051938" y="657033"/>
                  </a:lnTo>
                  <a:cubicBezTo>
                    <a:pt x="3051938" y="677913"/>
                    <a:pt x="3047707" y="697804"/>
                    <a:pt x="3040054" y="715897"/>
                  </a:cubicBezTo>
                  <a:lnTo>
                    <a:pt x="3013647" y="755064"/>
                  </a:lnTo>
                  <a:lnTo>
                    <a:pt x="38292" y="755064"/>
                  </a:lnTo>
                  <a:lnTo>
                    <a:pt x="11884" y="715897"/>
                  </a:lnTo>
                  <a:cubicBezTo>
                    <a:pt x="4232" y="697804"/>
                    <a:pt x="0" y="677913"/>
                    <a:pt x="0" y="657033"/>
                  </a:cubicBezTo>
                  <a:lnTo>
                    <a:pt x="0" y="195925"/>
                  </a:lnTo>
                  <a:close/>
                </a:path>
              </a:pathLst>
            </a:custGeom>
          </p:spPr>
        </p:pic>
        <p:sp>
          <p:nvSpPr>
            <p:cNvPr id="184" name="Rectangle: Rounded Corners 183">
              <a:extLst>
                <a:ext uri="{FF2B5EF4-FFF2-40B4-BE49-F238E27FC236}">
                  <a16:creationId xmlns:a16="http://schemas.microsoft.com/office/drawing/2014/main" id="{EAF89010-285E-9613-11D1-18E31EC88C65}"/>
                </a:ext>
              </a:extLst>
            </p:cNvPr>
            <p:cNvSpPr/>
            <p:nvPr/>
          </p:nvSpPr>
          <p:spPr bwMode="auto">
            <a:xfrm>
              <a:off x="4704477" y="4863331"/>
              <a:ext cx="2783047" cy="1057351"/>
            </a:xfrm>
            <a:prstGeom prst="roundRect">
              <a:avLst>
                <a:gd name="adj" fmla="val 5900"/>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Segoe UI Semibold"/>
                  <a:ea typeface="+mn-ea"/>
                  <a:cs typeface="+mn-cs"/>
                </a:rPr>
                <a:t>Governed</a:t>
              </a:r>
            </a:p>
          </p:txBody>
        </p:sp>
        <p:sp>
          <p:nvSpPr>
            <p:cNvPr id="185" name="Rectangle: Rounded Corners 184">
              <a:extLst>
                <a:ext uri="{FF2B5EF4-FFF2-40B4-BE49-F238E27FC236}">
                  <a16:creationId xmlns:a16="http://schemas.microsoft.com/office/drawing/2014/main" id="{E2AC1489-F32D-1044-2FDF-E1912BCEEBA3}"/>
                </a:ext>
              </a:extLst>
            </p:cNvPr>
            <p:cNvSpPr/>
            <p:nvPr/>
          </p:nvSpPr>
          <p:spPr bwMode="auto">
            <a:xfrm>
              <a:off x="4704477" y="3682607"/>
              <a:ext cx="2783047" cy="1057351"/>
            </a:xfrm>
            <a:prstGeom prst="roundRect">
              <a:avLst>
                <a:gd name="adj" fmla="val 5900"/>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Segoe UI Semibold"/>
                  <a:ea typeface="+mn-ea"/>
                  <a:cs typeface="+mn-cs"/>
                </a:rPr>
                <a:t>Secured</a:t>
              </a:r>
            </a:p>
          </p:txBody>
        </p:sp>
        <p:sp>
          <p:nvSpPr>
            <p:cNvPr id="186" name="Rectangle: Rounded Corners 185">
              <a:extLst>
                <a:ext uri="{FF2B5EF4-FFF2-40B4-BE49-F238E27FC236}">
                  <a16:creationId xmlns:a16="http://schemas.microsoft.com/office/drawing/2014/main" id="{E4D1B212-6A8F-8668-D9F3-D302186E48F1}"/>
                </a:ext>
              </a:extLst>
            </p:cNvPr>
            <p:cNvSpPr/>
            <p:nvPr/>
          </p:nvSpPr>
          <p:spPr bwMode="auto">
            <a:xfrm>
              <a:off x="4704477" y="2501884"/>
              <a:ext cx="2783047" cy="1057351"/>
            </a:xfrm>
            <a:prstGeom prst="roundRect">
              <a:avLst>
                <a:gd name="adj" fmla="val 5896"/>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FFFFFF"/>
                  </a:solidFill>
                  <a:effectLst/>
                  <a:uLnTx/>
                  <a:uFillTx/>
                  <a:latin typeface="Segoe UI Semibold"/>
                  <a:ea typeface="+mn-ea"/>
                  <a:cs typeface="+mn-cs"/>
                </a:rPr>
                <a:t>Managed</a:t>
              </a:r>
            </a:p>
          </p:txBody>
        </p:sp>
        <p:pic>
          <p:nvPicPr>
            <p:cNvPr id="187" name="Graphic 186">
              <a:extLst>
                <a:ext uri="{FF2B5EF4-FFF2-40B4-BE49-F238E27FC236}">
                  <a16:creationId xmlns:a16="http://schemas.microsoft.com/office/drawing/2014/main" id="{8D04F9F0-AD92-573D-FB70-19BE12843A10}"/>
                </a:ext>
              </a:extLst>
            </p:cNvPr>
            <p:cNvPicPr>
              <a:picLocks/>
            </p:cNvPicPr>
            <p:nvPr/>
          </p:nvPicPr>
          <p:blipFill>
            <a:blip>
              <a:extLst>
                <a:ext uri="{96DAC541-7B7A-43D3-8B79-37D633B846F1}">
                  <asvg:svgBlip xmlns:asvg="http://schemas.microsoft.com/office/drawing/2016/SVG/main" r:embed="rId4"/>
                </a:ext>
              </a:extLst>
            </a:blip>
            <a:srcRect l="7079" t="67795" r="7079"/>
            <a:stretch>
              <a:fillRect/>
            </a:stretch>
          </p:blipFill>
          <p:spPr>
            <a:xfrm flipV="1">
              <a:off x="4570031" y="1830671"/>
              <a:ext cx="3051938" cy="755064"/>
            </a:xfrm>
            <a:custGeom>
              <a:avLst/>
              <a:gdLst>
                <a:gd name="connsiteX0" fmla="*/ 3051938 w 3051938"/>
                <a:gd name="connsiteY0" fmla="*/ 0 h 755064"/>
                <a:gd name="connsiteX1" fmla="*/ 3051938 w 3051938"/>
                <a:gd name="connsiteY1" fmla="*/ 657033 h 755064"/>
                <a:gd name="connsiteX2" fmla="*/ 3040054 w 3051938"/>
                <a:gd name="connsiteY2" fmla="*/ 715897 h 755064"/>
                <a:gd name="connsiteX3" fmla="*/ 3013647 w 3051938"/>
                <a:gd name="connsiteY3" fmla="*/ 755064 h 755064"/>
                <a:gd name="connsiteX4" fmla="*/ 38292 w 3051938"/>
                <a:gd name="connsiteY4" fmla="*/ 755064 h 755064"/>
                <a:gd name="connsiteX5" fmla="*/ 11884 w 3051938"/>
                <a:gd name="connsiteY5" fmla="*/ 715897 h 755064"/>
                <a:gd name="connsiteX6" fmla="*/ 0 w 3051938"/>
                <a:gd name="connsiteY6" fmla="*/ 657033 h 755064"/>
                <a:gd name="connsiteX7" fmla="*/ 0 w 3051938"/>
                <a:gd name="connsiteY7" fmla="*/ 195925 h 755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938" h="755064">
                  <a:moveTo>
                    <a:pt x="3051938" y="0"/>
                  </a:moveTo>
                  <a:lnTo>
                    <a:pt x="3051938" y="657033"/>
                  </a:lnTo>
                  <a:cubicBezTo>
                    <a:pt x="3051938" y="677913"/>
                    <a:pt x="3047707" y="697804"/>
                    <a:pt x="3040054" y="715897"/>
                  </a:cubicBezTo>
                  <a:lnTo>
                    <a:pt x="3013647" y="755064"/>
                  </a:lnTo>
                  <a:lnTo>
                    <a:pt x="38292" y="755064"/>
                  </a:lnTo>
                  <a:lnTo>
                    <a:pt x="11884" y="715897"/>
                  </a:lnTo>
                  <a:cubicBezTo>
                    <a:pt x="4232" y="697804"/>
                    <a:pt x="0" y="677913"/>
                    <a:pt x="0" y="657033"/>
                  </a:cubicBezTo>
                  <a:lnTo>
                    <a:pt x="0" y="195925"/>
                  </a:lnTo>
                  <a:close/>
                </a:path>
              </a:pathLst>
            </a:custGeom>
          </p:spPr>
        </p:pic>
      </p:grpSp>
      <p:grpSp>
        <p:nvGrpSpPr>
          <p:cNvPr id="188" name="Group 187">
            <a:extLst>
              <a:ext uri="{FF2B5EF4-FFF2-40B4-BE49-F238E27FC236}">
                <a16:creationId xmlns:a16="http://schemas.microsoft.com/office/drawing/2014/main" id="{32AC6A4E-9DC3-8251-04F9-908E4DC1A19E}"/>
              </a:ext>
            </a:extLst>
          </p:cNvPr>
          <p:cNvGrpSpPr/>
          <p:nvPr/>
        </p:nvGrpSpPr>
        <p:grpSpPr>
          <a:xfrm>
            <a:off x="656511" y="1723688"/>
            <a:ext cx="2417148" cy="4166270"/>
            <a:chOff x="656511" y="1723688"/>
            <a:chExt cx="2417148" cy="4166270"/>
          </a:xfrm>
        </p:grpSpPr>
        <p:sp>
          <p:nvSpPr>
            <p:cNvPr id="189" name="Rectangle: Rounded Corners 188">
              <a:extLst>
                <a:ext uri="{FF2B5EF4-FFF2-40B4-BE49-F238E27FC236}">
                  <a16:creationId xmlns:a16="http://schemas.microsoft.com/office/drawing/2014/main" id="{D4F01D41-F2A0-8C96-8AFC-AC02E83F98CF}"/>
                </a:ext>
              </a:extLst>
            </p:cNvPr>
            <p:cNvSpPr/>
            <p:nvPr/>
          </p:nvSpPr>
          <p:spPr bwMode="auto">
            <a:xfrm>
              <a:off x="656511" y="2201878"/>
              <a:ext cx="2417148" cy="3688080"/>
            </a:xfrm>
            <a:prstGeom prst="roundRect">
              <a:avLst>
                <a:gd name="adj" fmla="val 6300"/>
              </a:avLst>
            </a:prstGeom>
            <a:gradFill flip="none" rotWithShape="1">
              <a:gsLst>
                <a:gs pos="0">
                  <a:srgbClr val="FFFFFF">
                    <a:alpha val="70000"/>
                  </a:srgbClr>
                </a:gs>
                <a:gs pos="55132">
                  <a:srgbClr val="FFFFFF"/>
                </a:gs>
                <a:gs pos="21000">
                  <a:srgbClr val="FFFFFF"/>
                </a:gs>
                <a:gs pos="89000">
                  <a:srgbClr val="FCF5FC"/>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90" name="Rectangle: Rounded Corners 189">
              <a:extLst>
                <a:ext uri="{FF2B5EF4-FFF2-40B4-BE49-F238E27FC236}">
                  <a16:creationId xmlns:a16="http://schemas.microsoft.com/office/drawing/2014/main" id="{581B0A74-BD3B-220B-AB27-1B34E9A3BB13}"/>
                </a:ext>
              </a:extLst>
            </p:cNvPr>
            <p:cNvSpPr/>
            <p:nvPr/>
          </p:nvSpPr>
          <p:spPr bwMode="auto">
            <a:xfrm>
              <a:off x="787659" y="2339038"/>
              <a:ext cx="2154852" cy="3550920"/>
            </a:xfrm>
            <a:prstGeom prst="roundRect">
              <a:avLst>
                <a:gd name="adj" fmla="val 6300"/>
              </a:avLst>
            </a:prstGeom>
            <a:gradFill flip="none" rotWithShape="1">
              <a:gsLst>
                <a:gs pos="0">
                  <a:srgbClr val="FFFFFF">
                    <a:alpha val="70000"/>
                  </a:srgbClr>
                </a:gs>
                <a:gs pos="55132">
                  <a:srgbClr val="FFFFFF">
                    <a:alpha val="28000"/>
                  </a:srgbClr>
                </a:gs>
                <a:gs pos="21000">
                  <a:srgbClr val="FFFFFF">
                    <a:alpha val="50000"/>
                  </a:srgbClr>
                </a:gs>
                <a:gs pos="89000">
                  <a:srgbClr val="FCF5FC">
                    <a:alpha val="0"/>
                  </a:srgbClr>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91" name="TextBox 190">
              <a:extLst>
                <a:ext uri="{FF2B5EF4-FFF2-40B4-BE49-F238E27FC236}">
                  <a16:creationId xmlns:a16="http://schemas.microsoft.com/office/drawing/2014/main" id="{90125AA3-5AA5-2CC8-32D4-63C6F0381910}"/>
                </a:ext>
                <a:ext uri="{C183D7F6-B498-43B3-948B-1728B52AA6E4}">
                  <adec:decorative xmlns:adec="http://schemas.microsoft.com/office/drawing/2017/decorative" val="1"/>
                </a:ext>
              </a:extLst>
            </p:cNvPr>
            <p:cNvSpPr txBox="1"/>
            <p:nvPr/>
          </p:nvSpPr>
          <p:spPr>
            <a:xfrm>
              <a:off x="856919" y="2957449"/>
              <a:ext cx="101513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Conversational Agents</a:t>
              </a:r>
            </a:p>
          </p:txBody>
        </p:sp>
        <p:sp>
          <p:nvSpPr>
            <p:cNvPr id="192" name="TextBox 191">
              <a:extLst>
                <a:ext uri="{FF2B5EF4-FFF2-40B4-BE49-F238E27FC236}">
                  <a16:creationId xmlns:a16="http://schemas.microsoft.com/office/drawing/2014/main" id="{03EC7E8B-30D8-C268-8AE1-73DB8ED8A92B}"/>
                </a:ext>
                <a:ext uri="{C183D7F6-B498-43B3-948B-1728B52AA6E4}">
                  <adec:decorative xmlns:adec="http://schemas.microsoft.com/office/drawing/2017/decorative" val="1"/>
                </a:ext>
              </a:extLst>
            </p:cNvPr>
            <p:cNvSpPr txBox="1"/>
            <p:nvPr/>
          </p:nvSpPr>
          <p:spPr>
            <a:xfrm>
              <a:off x="856919" y="4106512"/>
              <a:ext cx="101513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Personalized Content</a:t>
              </a:r>
            </a:p>
          </p:txBody>
        </p:sp>
        <p:sp>
          <p:nvSpPr>
            <p:cNvPr id="193" name="TextBox 192">
              <a:extLst>
                <a:ext uri="{FF2B5EF4-FFF2-40B4-BE49-F238E27FC236}">
                  <a16:creationId xmlns:a16="http://schemas.microsoft.com/office/drawing/2014/main" id="{18DB2FDF-6B21-6F41-3A2A-7C204133C384}"/>
                </a:ext>
                <a:ext uri="{C183D7F6-B498-43B3-948B-1728B52AA6E4}">
                  <adec:decorative xmlns:adec="http://schemas.microsoft.com/office/drawing/2017/decorative" val="1"/>
                </a:ext>
              </a:extLst>
            </p:cNvPr>
            <p:cNvSpPr txBox="1"/>
            <p:nvPr/>
          </p:nvSpPr>
          <p:spPr>
            <a:xfrm>
              <a:off x="1930005" y="4106512"/>
              <a:ext cx="97397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Voice Assistants</a:t>
              </a:r>
            </a:p>
          </p:txBody>
        </p:sp>
        <p:sp>
          <p:nvSpPr>
            <p:cNvPr id="194" name="TextBox 193">
              <a:extLst>
                <a:ext uri="{FF2B5EF4-FFF2-40B4-BE49-F238E27FC236}">
                  <a16:creationId xmlns:a16="http://schemas.microsoft.com/office/drawing/2014/main" id="{B8A6362B-18D1-C93B-7187-A0100F4AF265}"/>
                </a:ext>
                <a:ext uri="{C183D7F6-B498-43B3-948B-1728B52AA6E4}">
                  <adec:decorative xmlns:adec="http://schemas.microsoft.com/office/drawing/2017/decorative" val="1"/>
                </a:ext>
              </a:extLst>
            </p:cNvPr>
            <p:cNvSpPr txBox="1"/>
            <p:nvPr/>
          </p:nvSpPr>
          <p:spPr>
            <a:xfrm>
              <a:off x="1930005" y="2957449"/>
              <a:ext cx="97397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Chat on your Data</a:t>
              </a:r>
            </a:p>
          </p:txBody>
        </p:sp>
        <p:sp>
          <p:nvSpPr>
            <p:cNvPr id="195" name="TextBox 194">
              <a:extLst>
                <a:ext uri="{FF2B5EF4-FFF2-40B4-BE49-F238E27FC236}">
                  <a16:creationId xmlns:a16="http://schemas.microsoft.com/office/drawing/2014/main" id="{3A5AF890-F279-2853-A87B-7FC4A2024E7B}"/>
                </a:ext>
                <a:ext uri="{C183D7F6-B498-43B3-948B-1728B52AA6E4}">
                  <adec:decorative xmlns:adec="http://schemas.microsoft.com/office/drawing/2017/decorative" val="1"/>
                </a:ext>
              </a:extLst>
            </p:cNvPr>
            <p:cNvSpPr txBox="1"/>
            <p:nvPr/>
          </p:nvSpPr>
          <p:spPr>
            <a:xfrm>
              <a:off x="856919" y="5255574"/>
              <a:ext cx="101513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Content Generation</a:t>
              </a:r>
            </a:p>
          </p:txBody>
        </p:sp>
        <p:sp>
          <p:nvSpPr>
            <p:cNvPr id="196" name="TextBox 195">
              <a:extLst>
                <a:ext uri="{FF2B5EF4-FFF2-40B4-BE49-F238E27FC236}">
                  <a16:creationId xmlns:a16="http://schemas.microsoft.com/office/drawing/2014/main" id="{07F159BF-11F6-7F91-60DE-BF329A13B3BF}"/>
                </a:ext>
                <a:ext uri="{C183D7F6-B498-43B3-948B-1728B52AA6E4}">
                  <adec:decorative xmlns:adec="http://schemas.microsoft.com/office/drawing/2017/decorative" val="1"/>
                </a:ext>
              </a:extLst>
            </p:cNvPr>
            <p:cNvSpPr txBox="1"/>
            <p:nvPr/>
          </p:nvSpPr>
          <p:spPr>
            <a:xfrm>
              <a:off x="1930005" y="5248765"/>
              <a:ext cx="97397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Your own Copilot</a:t>
              </a:r>
            </a:p>
          </p:txBody>
        </p:sp>
        <p:grpSp>
          <p:nvGrpSpPr>
            <p:cNvPr id="197" name="Group 196">
              <a:extLst>
                <a:ext uri="{FF2B5EF4-FFF2-40B4-BE49-F238E27FC236}">
                  <a16:creationId xmlns:a16="http://schemas.microsoft.com/office/drawing/2014/main" id="{8F989E25-709F-62D7-B474-2EE39423D110}"/>
                </a:ext>
              </a:extLst>
            </p:cNvPr>
            <p:cNvGrpSpPr/>
            <p:nvPr/>
          </p:nvGrpSpPr>
          <p:grpSpPr>
            <a:xfrm>
              <a:off x="1244483" y="2493247"/>
              <a:ext cx="240010" cy="310522"/>
              <a:chOff x="1244483" y="2493247"/>
              <a:chExt cx="240010" cy="310522"/>
            </a:xfrm>
          </p:grpSpPr>
          <p:sp>
            <p:nvSpPr>
              <p:cNvPr id="226" name="Freeform: Shape 225">
                <a:extLst>
                  <a:ext uri="{FF2B5EF4-FFF2-40B4-BE49-F238E27FC236}">
                    <a16:creationId xmlns:a16="http://schemas.microsoft.com/office/drawing/2014/main" id="{A1E71406-DE9E-FA8F-C3F2-455CFC0E54F7}"/>
                  </a:ext>
                </a:extLst>
              </p:cNvPr>
              <p:cNvSpPr/>
              <p:nvPr/>
            </p:nvSpPr>
            <p:spPr>
              <a:xfrm>
                <a:off x="1244483" y="2524462"/>
                <a:ext cx="240010" cy="279307"/>
              </a:xfrm>
              <a:custGeom>
                <a:avLst/>
                <a:gdLst>
                  <a:gd name="connsiteX0" fmla="*/ 3365760 w 3392437"/>
                  <a:gd name="connsiteY0" fmla="*/ 3147190 h 3947912"/>
                  <a:gd name="connsiteX1" fmla="*/ 2596981 w 3392437"/>
                  <a:gd name="connsiteY1" fmla="*/ 2549246 h 3947912"/>
                  <a:gd name="connsiteX2" fmla="*/ 2148559 w 3392437"/>
                  <a:gd name="connsiteY2" fmla="*/ 2282436 h 3947912"/>
                  <a:gd name="connsiteX3" fmla="*/ 2147974 w 3392437"/>
                  <a:gd name="connsiteY3" fmla="*/ 2141253 h 3947912"/>
                  <a:gd name="connsiteX4" fmla="*/ 2096426 w 3392437"/>
                  <a:gd name="connsiteY4" fmla="*/ 2146373 h 3947912"/>
                  <a:gd name="connsiteX5" fmla="*/ 1914570 w 3392437"/>
                  <a:gd name="connsiteY5" fmla="*/ 2146373 h 3947912"/>
                  <a:gd name="connsiteX6" fmla="*/ 1651418 w 3392437"/>
                  <a:gd name="connsiteY6" fmla="*/ 1883173 h 3947912"/>
                  <a:gd name="connsiteX7" fmla="*/ 1914570 w 3392437"/>
                  <a:gd name="connsiteY7" fmla="*/ 1620313 h 3947912"/>
                  <a:gd name="connsiteX8" fmla="*/ 2096426 w 3392437"/>
                  <a:gd name="connsiteY8" fmla="*/ 1620313 h 3947912"/>
                  <a:gd name="connsiteX9" fmla="*/ 2259409 w 3392437"/>
                  <a:gd name="connsiteY9" fmla="*/ 1676933 h 3947912"/>
                  <a:gd name="connsiteX10" fmla="*/ 2452286 w 3392437"/>
                  <a:gd name="connsiteY10" fmla="*/ 1634700 h 3947912"/>
                  <a:gd name="connsiteX11" fmla="*/ 2607759 w 3392437"/>
                  <a:gd name="connsiteY11" fmla="*/ 1097276 h 3947912"/>
                  <a:gd name="connsiteX12" fmla="*/ 1572170 w 3392437"/>
                  <a:gd name="connsiteY12" fmla="*/ 8287 h 3947912"/>
                  <a:gd name="connsiteX13" fmla="*/ 792711 w 3392437"/>
                  <a:gd name="connsiteY13" fmla="*/ 862214 h 3947912"/>
                  <a:gd name="connsiteX14" fmla="*/ 1112970 w 3392437"/>
                  <a:gd name="connsiteY14" fmla="*/ 1908678 h 3947912"/>
                  <a:gd name="connsiteX15" fmla="*/ 1262493 w 3392437"/>
                  <a:gd name="connsiteY15" fmla="*/ 2218258 h 3947912"/>
                  <a:gd name="connsiteX16" fmla="*/ 963594 w 3392437"/>
                  <a:gd name="connsiteY16" fmla="*/ 2463902 h 3947912"/>
                  <a:gd name="connsiteX17" fmla="*/ 600663 w 3392437"/>
                  <a:gd name="connsiteY17" fmla="*/ 2645368 h 3947912"/>
                  <a:gd name="connsiteX18" fmla="*/ 24127 w 3392437"/>
                  <a:gd name="connsiteY18" fmla="*/ 3168502 h 3947912"/>
                  <a:gd name="connsiteX19" fmla="*/ 718096 w 3392437"/>
                  <a:gd name="connsiteY19" fmla="*/ 3883929 h 3947912"/>
                  <a:gd name="connsiteX20" fmla="*/ 1700235 w 3392437"/>
                  <a:gd name="connsiteY20" fmla="*/ 3947912 h 3947912"/>
                  <a:gd name="connsiteX21" fmla="*/ 3365760 w 3392437"/>
                  <a:gd name="connsiteY21" fmla="*/ 3520900 h 3947912"/>
                  <a:gd name="connsiteX22" fmla="*/ 3365760 w 3392437"/>
                  <a:gd name="connsiteY22" fmla="*/ 3147190 h 394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92437" h="3947912">
                    <a:moveTo>
                      <a:pt x="3365760" y="3147190"/>
                    </a:moveTo>
                    <a:cubicBezTo>
                      <a:pt x="3267541" y="2854875"/>
                      <a:pt x="2876080" y="2671897"/>
                      <a:pt x="2596981" y="2549246"/>
                    </a:cubicBezTo>
                    <a:cubicBezTo>
                      <a:pt x="2487643" y="2501356"/>
                      <a:pt x="2184940" y="2420108"/>
                      <a:pt x="2148559" y="2282436"/>
                    </a:cubicBezTo>
                    <a:cubicBezTo>
                      <a:pt x="2135538" y="2232839"/>
                      <a:pt x="2137293" y="2186071"/>
                      <a:pt x="2147974" y="2141253"/>
                    </a:cubicBezTo>
                    <a:cubicBezTo>
                      <a:pt x="2131149" y="2144472"/>
                      <a:pt x="2114080" y="2146373"/>
                      <a:pt x="2096426" y="2146373"/>
                    </a:cubicBezTo>
                    <a:lnTo>
                      <a:pt x="1914570" y="2146373"/>
                    </a:lnTo>
                    <a:cubicBezTo>
                      <a:pt x="1769388" y="2146373"/>
                      <a:pt x="1651418" y="2028257"/>
                      <a:pt x="1651418" y="1883173"/>
                    </a:cubicBezTo>
                    <a:cubicBezTo>
                      <a:pt x="1651418" y="1738185"/>
                      <a:pt x="1769436" y="1620313"/>
                      <a:pt x="1914570" y="1620313"/>
                    </a:cubicBezTo>
                    <a:lnTo>
                      <a:pt x="2096426" y="1620313"/>
                    </a:lnTo>
                    <a:cubicBezTo>
                      <a:pt x="2156508" y="1620313"/>
                      <a:pt x="2213469" y="1640649"/>
                      <a:pt x="2259409" y="1676933"/>
                    </a:cubicBezTo>
                    <a:cubicBezTo>
                      <a:pt x="2326757" y="1667959"/>
                      <a:pt x="2391716" y="1653573"/>
                      <a:pt x="2452286" y="1634700"/>
                    </a:cubicBezTo>
                    <a:cubicBezTo>
                      <a:pt x="2531827" y="1468059"/>
                      <a:pt x="2593859" y="1268793"/>
                      <a:pt x="2607759" y="1097276"/>
                    </a:cubicBezTo>
                    <a:cubicBezTo>
                      <a:pt x="2667109" y="363415"/>
                      <a:pt x="2217224" y="-65938"/>
                      <a:pt x="1572170" y="8287"/>
                    </a:cubicBezTo>
                    <a:cubicBezTo>
                      <a:pt x="1103168" y="62273"/>
                      <a:pt x="822996" y="411988"/>
                      <a:pt x="792711" y="862214"/>
                    </a:cubicBezTo>
                    <a:cubicBezTo>
                      <a:pt x="762085" y="1321121"/>
                      <a:pt x="932236" y="1660059"/>
                      <a:pt x="1112970" y="1908678"/>
                    </a:cubicBezTo>
                    <a:cubicBezTo>
                      <a:pt x="1192121" y="2017382"/>
                      <a:pt x="1275270" y="2087267"/>
                      <a:pt x="1262493" y="2218258"/>
                    </a:cubicBezTo>
                    <a:cubicBezTo>
                      <a:pt x="1247668" y="2373145"/>
                      <a:pt x="1082051" y="2416305"/>
                      <a:pt x="963594" y="2463902"/>
                    </a:cubicBezTo>
                    <a:cubicBezTo>
                      <a:pt x="823240" y="2520278"/>
                      <a:pt x="672059" y="2605817"/>
                      <a:pt x="600663" y="2645368"/>
                    </a:cubicBezTo>
                    <a:cubicBezTo>
                      <a:pt x="354726" y="2781186"/>
                      <a:pt x="84795" y="2944754"/>
                      <a:pt x="24127" y="3168502"/>
                    </a:cubicBezTo>
                    <a:cubicBezTo>
                      <a:pt x="-110229" y="3664375"/>
                      <a:pt x="343509" y="3814580"/>
                      <a:pt x="718096" y="3883929"/>
                    </a:cubicBezTo>
                    <a:cubicBezTo>
                      <a:pt x="1039575" y="3943230"/>
                      <a:pt x="1402067" y="3947912"/>
                      <a:pt x="1700235" y="3947912"/>
                    </a:cubicBezTo>
                    <a:cubicBezTo>
                      <a:pt x="2239560" y="3947912"/>
                      <a:pt x="3209361" y="3926308"/>
                      <a:pt x="3365760" y="3520900"/>
                    </a:cubicBezTo>
                    <a:cubicBezTo>
                      <a:pt x="3410236" y="3405856"/>
                      <a:pt x="3391167" y="3222537"/>
                      <a:pt x="3365760" y="3147190"/>
                    </a:cubicBezTo>
                    <a:close/>
                  </a:path>
                </a:pathLst>
              </a:custGeom>
              <a:solidFill>
                <a:srgbClr val="0078D4"/>
              </a:solidFill>
              <a:ln w="48768"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27" name="Freeform: Shape 226">
                <a:extLst>
                  <a:ext uri="{FF2B5EF4-FFF2-40B4-BE49-F238E27FC236}">
                    <a16:creationId xmlns:a16="http://schemas.microsoft.com/office/drawing/2014/main" id="{B40A8E5A-CC62-5623-83E2-F115D269A755}"/>
                  </a:ext>
                </a:extLst>
              </p:cNvPr>
              <p:cNvSpPr/>
              <p:nvPr/>
            </p:nvSpPr>
            <p:spPr>
              <a:xfrm>
                <a:off x="1257441" y="2493247"/>
                <a:ext cx="214092" cy="174161"/>
              </a:xfrm>
              <a:custGeom>
                <a:avLst/>
                <a:gdLst>
                  <a:gd name="connsiteX0" fmla="*/ 2028359 w 3026103"/>
                  <a:gd name="connsiteY0" fmla="*/ 2250302 h 2461711"/>
                  <a:gd name="connsiteX1" fmla="*/ 1913364 w 3026103"/>
                  <a:gd name="connsiteY1" fmla="*/ 2187733 h 2461711"/>
                  <a:gd name="connsiteX2" fmla="*/ 1731508 w 3026103"/>
                  <a:gd name="connsiteY2" fmla="*/ 2187733 h 2461711"/>
                  <a:gd name="connsiteX3" fmla="*/ 1594421 w 3026103"/>
                  <a:gd name="connsiteY3" fmla="*/ 2324527 h 2461711"/>
                  <a:gd name="connsiteX4" fmla="*/ 1731508 w 3026103"/>
                  <a:gd name="connsiteY4" fmla="*/ 2461711 h 2461711"/>
                  <a:gd name="connsiteX5" fmla="*/ 1913364 w 3026103"/>
                  <a:gd name="connsiteY5" fmla="*/ 2461711 h 2461711"/>
                  <a:gd name="connsiteX6" fmla="*/ 2034260 w 3026103"/>
                  <a:gd name="connsiteY6" fmla="*/ 2387633 h 2461711"/>
                  <a:gd name="connsiteX7" fmla="*/ 2663123 w 3026103"/>
                  <a:gd name="connsiteY7" fmla="*/ 2175882 h 2461711"/>
                  <a:gd name="connsiteX8" fmla="*/ 2786067 w 3026103"/>
                  <a:gd name="connsiteY8" fmla="*/ 2212214 h 2461711"/>
                  <a:gd name="connsiteX9" fmla="*/ 2797479 w 3026103"/>
                  <a:gd name="connsiteY9" fmla="*/ 2212214 h 2461711"/>
                  <a:gd name="connsiteX10" fmla="*/ 3026103 w 3026103"/>
                  <a:gd name="connsiteY10" fmla="*/ 1983346 h 2461711"/>
                  <a:gd name="connsiteX11" fmla="*/ 3026103 w 3026103"/>
                  <a:gd name="connsiteY11" fmla="*/ 1526487 h 2461711"/>
                  <a:gd name="connsiteX12" fmla="*/ 2895795 w 3026103"/>
                  <a:gd name="connsiteY12" fmla="*/ 1320491 h 2461711"/>
                  <a:gd name="connsiteX13" fmla="*/ 1513076 w 3026103"/>
                  <a:gd name="connsiteY13" fmla="*/ 0 h 2461711"/>
                  <a:gd name="connsiteX14" fmla="*/ 130406 w 3026103"/>
                  <a:gd name="connsiteY14" fmla="*/ 1320491 h 2461711"/>
                  <a:gd name="connsiteX15" fmla="*/ 0 w 3026103"/>
                  <a:gd name="connsiteY15" fmla="*/ 1526487 h 2461711"/>
                  <a:gd name="connsiteX16" fmla="*/ 0 w 3026103"/>
                  <a:gd name="connsiteY16" fmla="*/ 1983346 h 2461711"/>
                  <a:gd name="connsiteX17" fmla="*/ 228429 w 3026103"/>
                  <a:gd name="connsiteY17" fmla="*/ 2212214 h 2461711"/>
                  <a:gd name="connsiteX18" fmla="*/ 239987 w 3026103"/>
                  <a:gd name="connsiteY18" fmla="*/ 2212214 h 2461711"/>
                  <a:gd name="connsiteX19" fmla="*/ 468563 w 3026103"/>
                  <a:gd name="connsiteY19" fmla="*/ 1983346 h 2461711"/>
                  <a:gd name="connsiteX20" fmla="*/ 468563 w 3026103"/>
                  <a:gd name="connsiteY20" fmla="*/ 1526487 h 2461711"/>
                  <a:gd name="connsiteX21" fmla="*/ 341376 w 3026103"/>
                  <a:gd name="connsiteY21" fmla="*/ 1322052 h 2461711"/>
                  <a:gd name="connsiteX22" fmla="*/ 1513076 w 3026103"/>
                  <a:gd name="connsiteY22" fmla="*/ 211214 h 2461711"/>
                  <a:gd name="connsiteX23" fmla="*/ 2684630 w 3026103"/>
                  <a:gd name="connsiteY23" fmla="*/ 1322052 h 2461711"/>
                  <a:gd name="connsiteX24" fmla="*/ 2557589 w 3026103"/>
                  <a:gd name="connsiteY24" fmla="*/ 1526487 h 2461711"/>
                  <a:gd name="connsiteX25" fmla="*/ 2557589 w 3026103"/>
                  <a:gd name="connsiteY25" fmla="*/ 1983346 h 2461711"/>
                  <a:gd name="connsiteX26" fmla="*/ 2573878 w 3026103"/>
                  <a:gd name="connsiteY26" fmla="*/ 2068300 h 2461711"/>
                  <a:gd name="connsiteX27" fmla="*/ 2028359 w 3026103"/>
                  <a:gd name="connsiteY27" fmla="*/ 2250302 h 246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26103" h="2461711">
                    <a:moveTo>
                      <a:pt x="2028359" y="2250302"/>
                    </a:moveTo>
                    <a:cubicBezTo>
                      <a:pt x="2003682" y="2212702"/>
                      <a:pt x="1961498" y="2187733"/>
                      <a:pt x="1913364" y="2187733"/>
                    </a:cubicBezTo>
                    <a:lnTo>
                      <a:pt x="1731508" y="2187733"/>
                    </a:lnTo>
                    <a:cubicBezTo>
                      <a:pt x="1655625" y="2187733"/>
                      <a:pt x="1594421" y="2249034"/>
                      <a:pt x="1594421" y="2324527"/>
                    </a:cubicBezTo>
                    <a:cubicBezTo>
                      <a:pt x="1594421" y="2400312"/>
                      <a:pt x="1655625" y="2461711"/>
                      <a:pt x="1731508" y="2461711"/>
                    </a:cubicBezTo>
                    <a:lnTo>
                      <a:pt x="1913364" y="2461711"/>
                    </a:lnTo>
                    <a:cubicBezTo>
                      <a:pt x="1966472" y="2461711"/>
                      <a:pt x="2011534" y="2431426"/>
                      <a:pt x="2034260" y="2387633"/>
                    </a:cubicBezTo>
                    <a:cubicBezTo>
                      <a:pt x="2287805" y="2367686"/>
                      <a:pt x="2508333" y="2290243"/>
                      <a:pt x="2663123" y="2175882"/>
                    </a:cubicBezTo>
                    <a:cubicBezTo>
                      <a:pt x="2698675" y="2198803"/>
                      <a:pt x="2740713" y="2212214"/>
                      <a:pt x="2786067" y="2212214"/>
                    </a:cubicBezTo>
                    <a:lnTo>
                      <a:pt x="2797479" y="2212214"/>
                    </a:lnTo>
                    <a:cubicBezTo>
                      <a:pt x="2923886" y="2212214"/>
                      <a:pt x="3026103" y="2109899"/>
                      <a:pt x="3026103" y="1983346"/>
                    </a:cubicBezTo>
                    <a:lnTo>
                      <a:pt x="3026103" y="1526487"/>
                    </a:lnTo>
                    <a:cubicBezTo>
                      <a:pt x="3026103" y="1435486"/>
                      <a:pt x="2972751" y="1356970"/>
                      <a:pt x="2895795" y="1320491"/>
                    </a:cubicBezTo>
                    <a:cubicBezTo>
                      <a:pt x="2862243" y="586874"/>
                      <a:pt x="2254935" y="0"/>
                      <a:pt x="1513076" y="0"/>
                    </a:cubicBezTo>
                    <a:cubicBezTo>
                      <a:pt x="771217" y="0"/>
                      <a:pt x="163812" y="586874"/>
                      <a:pt x="130406" y="1320491"/>
                    </a:cubicBezTo>
                    <a:cubicBezTo>
                      <a:pt x="53303" y="1357018"/>
                      <a:pt x="0" y="1435486"/>
                      <a:pt x="0" y="1526487"/>
                    </a:cubicBezTo>
                    <a:lnTo>
                      <a:pt x="0" y="1983346"/>
                    </a:lnTo>
                    <a:cubicBezTo>
                      <a:pt x="0" y="2109899"/>
                      <a:pt x="102315" y="2212214"/>
                      <a:pt x="228429" y="2212214"/>
                    </a:cubicBezTo>
                    <a:lnTo>
                      <a:pt x="239987" y="2212214"/>
                    </a:lnTo>
                    <a:cubicBezTo>
                      <a:pt x="366199" y="2212214"/>
                      <a:pt x="468563" y="2109899"/>
                      <a:pt x="468563" y="1983346"/>
                    </a:cubicBezTo>
                    <a:lnTo>
                      <a:pt x="468563" y="1526487"/>
                    </a:lnTo>
                    <a:cubicBezTo>
                      <a:pt x="468563" y="1436803"/>
                      <a:pt x="416722" y="1359457"/>
                      <a:pt x="341376" y="1322052"/>
                    </a:cubicBezTo>
                    <a:cubicBezTo>
                      <a:pt x="374002" y="703917"/>
                      <a:pt x="886944" y="211214"/>
                      <a:pt x="1513076" y="211214"/>
                    </a:cubicBezTo>
                    <a:cubicBezTo>
                      <a:pt x="2138965" y="211214"/>
                      <a:pt x="2652150" y="703917"/>
                      <a:pt x="2684630" y="1322052"/>
                    </a:cubicBezTo>
                    <a:cubicBezTo>
                      <a:pt x="2609381" y="1359506"/>
                      <a:pt x="2557589" y="1436803"/>
                      <a:pt x="2557589" y="1526487"/>
                    </a:cubicBezTo>
                    <a:lnTo>
                      <a:pt x="2557589" y="1983346"/>
                    </a:lnTo>
                    <a:cubicBezTo>
                      <a:pt x="2557589" y="2013680"/>
                      <a:pt x="2563490" y="2041916"/>
                      <a:pt x="2573878" y="2068300"/>
                    </a:cubicBezTo>
                    <a:cubicBezTo>
                      <a:pt x="2440643" y="2163641"/>
                      <a:pt x="2246693" y="2231575"/>
                      <a:pt x="2028359" y="2250302"/>
                    </a:cubicBezTo>
                    <a:close/>
                  </a:path>
                </a:pathLst>
              </a:custGeom>
              <a:solidFill>
                <a:srgbClr val="AA67C4"/>
              </a:solidFill>
              <a:ln w="48768"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198" name="Group 197">
              <a:extLst>
                <a:ext uri="{FF2B5EF4-FFF2-40B4-BE49-F238E27FC236}">
                  <a16:creationId xmlns:a16="http://schemas.microsoft.com/office/drawing/2014/main" id="{80717540-A0DA-BA58-6B56-84BACDA34CED}"/>
                </a:ext>
              </a:extLst>
            </p:cNvPr>
            <p:cNvGrpSpPr/>
            <p:nvPr/>
          </p:nvGrpSpPr>
          <p:grpSpPr>
            <a:xfrm>
              <a:off x="2302536" y="2498246"/>
              <a:ext cx="228918" cy="300522"/>
              <a:chOff x="2302536" y="2498246"/>
              <a:chExt cx="228918" cy="300522"/>
            </a:xfrm>
          </p:grpSpPr>
          <p:sp>
            <p:nvSpPr>
              <p:cNvPr id="222" name="Freeform: Shape 221">
                <a:extLst>
                  <a:ext uri="{FF2B5EF4-FFF2-40B4-BE49-F238E27FC236}">
                    <a16:creationId xmlns:a16="http://schemas.microsoft.com/office/drawing/2014/main" id="{A099BA97-660C-79C0-2012-9098490CC419}"/>
                  </a:ext>
                </a:extLst>
              </p:cNvPr>
              <p:cNvSpPr/>
              <p:nvPr/>
            </p:nvSpPr>
            <p:spPr>
              <a:xfrm>
                <a:off x="2302536" y="2498246"/>
                <a:ext cx="228918" cy="87370"/>
              </a:xfrm>
              <a:custGeom>
                <a:avLst/>
                <a:gdLst>
                  <a:gd name="connsiteX0" fmla="*/ 1857375 w 3714749"/>
                  <a:gd name="connsiteY0" fmla="*/ 1417799 h 1417798"/>
                  <a:gd name="connsiteX1" fmla="*/ 3714750 w 3714749"/>
                  <a:gd name="connsiteY1" fmla="*/ 703424 h 1417798"/>
                  <a:gd name="connsiteX2" fmla="*/ 0 w 3714749"/>
                  <a:gd name="connsiteY2" fmla="*/ 703424 h 1417798"/>
                  <a:gd name="connsiteX3" fmla="*/ 1857375 w 3714749"/>
                  <a:gd name="connsiteY3" fmla="*/ 1417799 h 1417798"/>
                </a:gdLst>
                <a:ahLst/>
                <a:cxnLst>
                  <a:cxn ang="0">
                    <a:pos x="connsiteX0" y="connsiteY0"/>
                  </a:cxn>
                  <a:cxn ang="0">
                    <a:pos x="connsiteX1" y="connsiteY1"/>
                  </a:cxn>
                  <a:cxn ang="0">
                    <a:pos x="connsiteX2" y="connsiteY2"/>
                  </a:cxn>
                  <a:cxn ang="0">
                    <a:pos x="connsiteX3" y="connsiteY3"/>
                  </a:cxn>
                </a:cxnLst>
                <a:rect l="l" t="t" r="r" b="b"/>
                <a:pathLst>
                  <a:path w="3714749" h="1417798">
                    <a:moveTo>
                      <a:pt x="1857375" y="1417799"/>
                    </a:moveTo>
                    <a:cubicBezTo>
                      <a:pt x="2780338" y="1417799"/>
                      <a:pt x="3714750" y="1172368"/>
                      <a:pt x="3714750" y="703424"/>
                    </a:cubicBezTo>
                    <a:cubicBezTo>
                      <a:pt x="3714750" y="-234475"/>
                      <a:pt x="0" y="-234475"/>
                      <a:pt x="0" y="703424"/>
                    </a:cubicBezTo>
                    <a:cubicBezTo>
                      <a:pt x="0" y="1172368"/>
                      <a:pt x="934412" y="1417799"/>
                      <a:pt x="1857375" y="1417799"/>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23" name="Freeform: Shape 222">
                <a:extLst>
                  <a:ext uri="{FF2B5EF4-FFF2-40B4-BE49-F238E27FC236}">
                    <a16:creationId xmlns:a16="http://schemas.microsoft.com/office/drawing/2014/main" id="{7E20C6AB-36FA-0F46-8971-00BFB8C26716}"/>
                  </a:ext>
                </a:extLst>
              </p:cNvPr>
              <p:cNvSpPr/>
              <p:nvPr/>
            </p:nvSpPr>
            <p:spPr>
              <a:xfrm>
                <a:off x="2302536" y="2653549"/>
                <a:ext cx="228918" cy="74639"/>
              </a:xfrm>
              <a:custGeom>
                <a:avLst/>
                <a:gdLst>
                  <a:gd name="connsiteX0" fmla="*/ 3709026 w 3714749"/>
                  <a:gd name="connsiteY0" fmla="*/ 850630 h 1211208"/>
                  <a:gd name="connsiteX1" fmla="*/ 3714750 w 3714749"/>
                  <a:gd name="connsiteY1" fmla="*/ 847801 h 1211208"/>
                  <a:gd name="connsiteX2" fmla="*/ 3714750 w 3714749"/>
                  <a:gd name="connsiteY2" fmla="*/ 0 h 1211208"/>
                  <a:gd name="connsiteX3" fmla="*/ 0 w 3714749"/>
                  <a:gd name="connsiteY3" fmla="*/ 1467 h 1211208"/>
                  <a:gd name="connsiteX4" fmla="*/ 0 w 3714749"/>
                  <a:gd name="connsiteY4" fmla="*/ 844906 h 1211208"/>
                  <a:gd name="connsiteX5" fmla="*/ 5725 w 3714749"/>
                  <a:gd name="connsiteY5" fmla="*/ 847763 h 1211208"/>
                  <a:gd name="connsiteX6" fmla="*/ 3709026 w 3714749"/>
                  <a:gd name="connsiteY6" fmla="*/ 850630 h 121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14749" h="1211208">
                    <a:moveTo>
                      <a:pt x="3709026" y="850630"/>
                    </a:moveTo>
                    <a:cubicBezTo>
                      <a:pt x="3710978" y="849744"/>
                      <a:pt x="3712798" y="848697"/>
                      <a:pt x="3714750" y="847801"/>
                    </a:cubicBezTo>
                    <a:lnTo>
                      <a:pt x="3714750" y="0"/>
                    </a:lnTo>
                    <a:cubicBezTo>
                      <a:pt x="2630243" y="438969"/>
                      <a:pt x="1161745" y="472012"/>
                      <a:pt x="0" y="1467"/>
                    </a:cubicBezTo>
                    <a:lnTo>
                      <a:pt x="0" y="844906"/>
                    </a:lnTo>
                    <a:cubicBezTo>
                      <a:pt x="1953" y="845763"/>
                      <a:pt x="3772" y="846915"/>
                      <a:pt x="5725" y="847763"/>
                    </a:cubicBezTo>
                    <a:cubicBezTo>
                      <a:pt x="1118454" y="1343187"/>
                      <a:pt x="2635987" y="1320470"/>
                      <a:pt x="3709026" y="850630"/>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24" name="Freeform: Shape 223">
                <a:extLst>
                  <a:ext uri="{FF2B5EF4-FFF2-40B4-BE49-F238E27FC236}">
                    <a16:creationId xmlns:a16="http://schemas.microsoft.com/office/drawing/2014/main" id="{0F04BD64-57AE-ED9D-59A6-A7B929F9C398}"/>
                  </a:ext>
                </a:extLst>
              </p:cNvPr>
              <p:cNvSpPr/>
              <p:nvPr/>
            </p:nvSpPr>
            <p:spPr>
              <a:xfrm>
                <a:off x="2302536" y="2724409"/>
                <a:ext cx="228918" cy="74359"/>
              </a:xfrm>
              <a:custGeom>
                <a:avLst/>
                <a:gdLst>
                  <a:gd name="connsiteX0" fmla="*/ 1857375 w 3714749"/>
                  <a:gd name="connsiteY0" fmla="*/ 1206655 h 1206655"/>
                  <a:gd name="connsiteX1" fmla="*/ 3714750 w 3714749"/>
                  <a:gd name="connsiteY1" fmla="*/ 492280 h 1206655"/>
                  <a:gd name="connsiteX2" fmla="*/ 3714750 w 3714749"/>
                  <a:gd name="connsiteY2" fmla="*/ 0 h 1206655"/>
                  <a:gd name="connsiteX3" fmla="*/ 0 w 3714749"/>
                  <a:gd name="connsiteY3" fmla="*/ 4115 h 1206655"/>
                  <a:gd name="connsiteX4" fmla="*/ 0 w 3714749"/>
                  <a:gd name="connsiteY4" fmla="*/ 492280 h 1206655"/>
                  <a:gd name="connsiteX5" fmla="*/ 1857375 w 3714749"/>
                  <a:gd name="connsiteY5" fmla="*/ 1206655 h 1206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4749" h="1206655">
                    <a:moveTo>
                      <a:pt x="1857375" y="1206655"/>
                    </a:moveTo>
                    <a:cubicBezTo>
                      <a:pt x="2780338" y="1206655"/>
                      <a:pt x="3714750" y="961225"/>
                      <a:pt x="3714750" y="492280"/>
                    </a:cubicBezTo>
                    <a:lnTo>
                      <a:pt x="3714750" y="0"/>
                    </a:lnTo>
                    <a:cubicBezTo>
                      <a:pt x="2525687" y="480393"/>
                      <a:pt x="1079840" y="441179"/>
                      <a:pt x="0" y="4115"/>
                    </a:cubicBezTo>
                    <a:lnTo>
                      <a:pt x="0" y="492280"/>
                    </a:lnTo>
                    <a:cubicBezTo>
                      <a:pt x="0" y="961234"/>
                      <a:pt x="934412" y="1206655"/>
                      <a:pt x="1857375" y="1206655"/>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25" name="Freeform: Shape 224">
                <a:extLst>
                  <a:ext uri="{FF2B5EF4-FFF2-40B4-BE49-F238E27FC236}">
                    <a16:creationId xmlns:a16="http://schemas.microsoft.com/office/drawing/2014/main" id="{54127CFF-79D0-275A-A3C0-530D15C2E4D4}"/>
                  </a:ext>
                </a:extLst>
              </p:cNvPr>
              <p:cNvSpPr/>
              <p:nvPr/>
            </p:nvSpPr>
            <p:spPr>
              <a:xfrm>
                <a:off x="2302536" y="2575375"/>
                <a:ext cx="228918" cy="81768"/>
              </a:xfrm>
              <a:custGeom>
                <a:avLst/>
                <a:gdLst>
                  <a:gd name="connsiteX0" fmla="*/ 3709026 w 3714749"/>
                  <a:gd name="connsiteY0" fmla="*/ 958101 h 1326892"/>
                  <a:gd name="connsiteX1" fmla="*/ 3714750 w 3714749"/>
                  <a:gd name="connsiteY1" fmla="*/ 955539 h 1326892"/>
                  <a:gd name="connsiteX2" fmla="*/ 3714750 w 3714749"/>
                  <a:gd name="connsiteY2" fmla="*/ 0 h 1326892"/>
                  <a:gd name="connsiteX3" fmla="*/ 1857375 w 3714749"/>
                  <a:gd name="connsiteY3" fmla="*/ 451942 h 1326892"/>
                  <a:gd name="connsiteX4" fmla="*/ 0 w 3714749"/>
                  <a:gd name="connsiteY4" fmla="*/ 0 h 1326892"/>
                  <a:gd name="connsiteX5" fmla="*/ 0 w 3714749"/>
                  <a:gd name="connsiteY5" fmla="*/ 960949 h 1326892"/>
                  <a:gd name="connsiteX6" fmla="*/ 5725 w 3714749"/>
                  <a:gd name="connsiteY6" fmla="*/ 963806 h 1326892"/>
                  <a:gd name="connsiteX7" fmla="*/ 3709026 w 3714749"/>
                  <a:gd name="connsiteY7" fmla="*/ 958101 h 132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4749" h="1326892">
                    <a:moveTo>
                      <a:pt x="3709026" y="958101"/>
                    </a:moveTo>
                    <a:cubicBezTo>
                      <a:pt x="3710959" y="957329"/>
                      <a:pt x="3712807" y="956301"/>
                      <a:pt x="3714750" y="955539"/>
                    </a:cubicBezTo>
                    <a:lnTo>
                      <a:pt x="3714750" y="0"/>
                    </a:lnTo>
                    <a:cubicBezTo>
                      <a:pt x="3310662" y="324936"/>
                      <a:pt x="2544451" y="451942"/>
                      <a:pt x="1857375" y="451942"/>
                    </a:cubicBezTo>
                    <a:cubicBezTo>
                      <a:pt x="1170299" y="451942"/>
                      <a:pt x="404089" y="324936"/>
                      <a:pt x="0" y="0"/>
                    </a:cubicBezTo>
                    <a:lnTo>
                      <a:pt x="0" y="960949"/>
                    </a:lnTo>
                    <a:cubicBezTo>
                      <a:pt x="1953" y="961806"/>
                      <a:pt x="3772" y="962959"/>
                      <a:pt x="5725" y="963806"/>
                    </a:cubicBezTo>
                    <a:cubicBezTo>
                      <a:pt x="1089898" y="1449305"/>
                      <a:pt x="2631929" y="1448429"/>
                      <a:pt x="3709026" y="958101"/>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199" name="Group 198">
              <a:extLst>
                <a:ext uri="{FF2B5EF4-FFF2-40B4-BE49-F238E27FC236}">
                  <a16:creationId xmlns:a16="http://schemas.microsoft.com/office/drawing/2014/main" id="{3660ED46-86CD-291B-DB07-879E987FA503}"/>
                </a:ext>
              </a:extLst>
            </p:cNvPr>
            <p:cNvGrpSpPr/>
            <p:nvPr/>
          </p:nvGrpSpPr>
          <p:grpSpPr>
            <a:xfrm>
              <a:off x="1239885" y="4813377"/>
              <a:ext cx="249206" cy="266510"/>
              <a:chOff x="1239885" y="4813377"/>
              <a:chExt cx="249206" cy="266510"/>
            </a:xfrm>
          </p:grpSpPr>
          <p:sp>
            <p:nvSpPr>
              <p:cNvPr id="220" name="Freeform: Shape 219">
                <a:extLst>
                  <a:ext uri="{FF2B5EF4-FFF2-40B4-BE49-F238E27FC236}">
                    <a16:creationId xmlns:a16="http://schemas.microsoft.com/office/drawing/2014/main" id="{079C5B91-F739-B5EC-FEA7-62CE79645FED}"/>
                  </a:ext>
                </a:extLst>
              </p:cNvPr>
              <p:cNvSpPr/>
              <p:nvPr/>
            </p:nvSpPr>
            <p:spPr>
              <a:xfrm>
                <a:off x="1239885" y="4813377"/>
                <a:ext cx="212435" cy="251060"/>
              </a:xfrm>
              <a:custGeom>
                <a:avLst/>
                <a:gdLst>
                  <a:gd name="connsiteX0" fmla="*/ 457200 w 3352800"/>
                  <a:gd name="connsiteY0" fmla="*/ 0 h 3962400"/>
                  <a:gd name="connsiteX1" fmla="*/ 2895600 w 3352800"/>
                  <a:gd name="connsiteY1" fmla="*/ 0 h 3962400"/>
                  <a:gd name="connsiteX2" fmla="*/ 3352800 w 3352800"/>
                  <a:gd name="connsiteY2" fmla="*/ 457200 h 3962400"/>
                  <a:gd name="connsiteX3" fmla="*/ 3352800 w 3352800"/>
                  <a:gd name="connsiteY3" fmla="*/ 1325118 h 3962400"/>
                  <a:gd name="connsiteX4" fmla="*/ 3155747 w 3352800"/>
                  <a:gd name="connsiteY4" fmla="*/ 1356208 h 3962400"/>
                  <a:gd name="connsiteX5" fmla="*/ 2806294 w 3352800"/>
                  <a:gd name="connsiteY5" fmla="*/ 1665275 h 3962400"/>
                  <a:gd name="connsiteX6" fmla="*/ 1993087 w 3352800"/>
                  <a:gd name="connsiteY6" fmla="*/ 3331769 h 3962400"/>
                  <a:gd name="connsiteX7" fmla="*/ 1956968 w 3352800"/>
                  <a:gd name="connsiteY7" fmla="*/ 3914547 h 3962400"/>
                  <a:gd name="connsiteX8" fmla="*/ 1973428 w 3352800"/>
                  <a:gd name="connsiteY8" fmla="*/ 3962400 h 3962400"/>
                  <a:gd name="connsiteX9" fmla="*/ 457200 w 3352800"/>
                  <a:gd name="connsiteY9" fmla="*/ 3962400 h 3962400"/>
                  <a:gd name="connsiteX10" fmla="*/ 0 w 3352800"/>
                  <a:gd name="connsiteY10" fmla="*/ 3505200 h 3962400"/>
                  <a:gd name="connsiteX11" fmla="*/ 0 w 3352800"/>
                  <a:gd name="connsiteY11" fmla="*/ 457200 h 3962400"/>
                  <a:gd name="connsiteX12" fmla="*/ 457200 w 3352800"/>
                  <a:gd name="connsiteY12" fmla="*/ 0 h 3962400"/>
                  <a:gd name="connsiteX13" fmla="*/ 609600 w 3352800"/>
                  <a:gd name="connsiteY13" fmla="*/ 914400 h 3962400"/>
                  <a:gd name="connsiteX14" fmla="*/ 457200 w 3352800"/>
                  <a:gd name="connsiteY14" fmla="*/ 1066800 h 3962400"/>
                  <a:gd name="connsiteX15" fmla="*/ 609600 w 3352800"/>
                  <a:gd name="connsiteY15" fmla="*/ 1219200 h 3962400"/>
                  <a:gd name="connsiteX16" fmla="*/ 2438400 w 3352800"/>
                  <a:gd name="connsiteY16" fmla="*/ 1219200 h 3962400"/>
                  <a:gd name="connsiteX17" fmla="*/ 2590800 w 3352800"/>
                  <a:gd name="connsiteY17" fmla="*/ 1066800 h 3962400"/>
                  <a:gd name="connsiteX18" fmla="*/ 2438400 w 3352800"/>
                  <a:gd name="connsiteY18" fmla="*/ 914400 h 3962400"/>
                  <a:gd name="connsiteX19" fmla="*/ 609600 w 3352800"/>
                  <a:gd name="connsiteY19" fmla="*/ 914400 h 3962400"/>
                  <a:gd name="connsiteX20" fmla="*/ 609600 w 3352800"/>
                  <a:gd name="connsiteY20" fmla="*/ 1524000 h 3962400"/>
                  <a:gd name="connsiteX21" fmla="*/ 457200 w 3352800"/>
                  <a:gd name="connsiteY21" fmla="*/ 1676400 h 3962400"/>
                  <a:gd name="connsiteX22" fmla="*/ 609600 w 3352800"/>
                  <a:gd name="connsiteY22" fmla="*/ 1828800 h 3962400"/>
                  <a:gd name="connsiteX23" fmla="*/ 2286000 w 3352800"/>
                  <a:gd name="connsiteY23" fmla="*/ 1828800 h 3962400"/>
                  <a:gd name="connsiteX24" fmla="*/ 2438400 w 3352800"/>
                  <a:gd name="connsiteY24" fmla="*/ 1676400 h 3962400"/>
                  <a:gd name="connsiteX25" fmla="*/ 2286000 w 3352800"/>
                  <a:gd name="connsiteY25" fmla="*/ 1524000 h 3962400"/>
                  <a:gd name="connsiteX26" fmla="*/ 609600 w 3352800"/>
                  <a:gd name="connsiteY26" fmla="*/ 1524000 h 3962400"/>
                  <a:gd name="connsiteX27" fmla="*/ 609600 w 3352800"/>
                  <a:gd name="connsiteY27" fmla="*/ 2133600 h 3962400"/>
                  <a:gd name="connsiteX28" fmla="*/ 457200 w 3352800"/>
                  <a:gd name="connsiteY28" fmla="*/ 2286000 h 3962400"/>
                  <a:gd name="connsiteX29" fmla="*/ 609600 w 3352800"/>
                  <a:gd name="connsiteY29" fmla="*/ 2438400 h 3962400"/>
                  <a:gd name="connsiteX30" fmla="*/ 1981200 w 3352800"/>
                  <a:gd name="connsiteY30" fmla="*/ 2438400 h 3962400"/>
                  <a:gd name="connsiteX31" fmla="*/ 2133600 w 3352800"/>
                  <a:gd name="connsiteY31" fmla="*/ 2286000 h 3962400"/>
                  <a:gd name="connsiteX32" fmla="*/ 1981200 w 3352800"/>
                  <a:gd name="connsiteY32" fmla="*/ 2133600 h 3962400"/>
                  <a:gd name="connsiteX33" fmla="*/ 609600 w 3352800"/>
                  <a:gd name="connsiteY33" fmla="*/ 2133600 h 3962400"/>
                  <a:gd name="connsiteX34" fmla="*/ 609600 w 3352800"/>
                  <a:gd name="connsiteY34" fmla="*/ 2743200 h 3962400"/>
                  <a:gd name="connsiteX35" fmla="*/ 457200 w 3352800"/>
                  <a:gd name="connsiteY35" fmla="*/ 2895600 h 3962400"/>
                  <a:gd name="connsiteX36" fmla="*/ 609600 w 3352800"/>
                  <a:gd name="connsiteY36" fmla="*/ 3048000 h 3962400"/>
                  <a:gd name="connsiteX37" fmla="*/ 1676400 w 3352800"/>
                  <a:gd name="connsiteY37" fmla="*/ 3048000 h 3962400"/>
                  <a:gd name="connsiteX38" fmla="*/ 1828800 w 3352800"/>
                  <a:gd name="connsiteY38" fmla="*/ 2895600 h 3962400"/>
                  <a:gd name="connsiteX39" fmla="*/ 1676400 w 3352800"/>
                  <a:gd name="connsiteY39" fmla="*/ 2743200 h 3962400"/>
                  <a:gd name="connsiteX40" fmla="*/ 609600 w 3352800"/>
                  <a:gd name="connsiteY40" fmla="*/ 2743200 h 39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52800" h="3962400">
                    <a:moveTo>
                      <a:pt x="457200" y="0"/>
                    </a:moveTo>
                    <a:lnTo>
                      <a:pt x="2895600" y="0"/>
                    </a:lnTo>
                    <a:cubicBezTo>
                      <a:pt x="3147670" y="0"/>
                      <a:pt x="3352800" y="205130"/>
                      <a:pt x="3352800" y="457200"/>
                    </a:cubicBezTo>
                    <a:lnTo>
                      <a:pt x="3352800" y="1325118"/>
                    </a:lnTo>
                    <a:cubicBezTo>
                      <a:pt x="3286659" y="1325423"/>
                      <a:pt x="3220212" y="1333957"/>
                      <a:pt x="3155747" y="1356208"/>
                    </a:cubicBezTo>
                    <a:cubicBezTo>
                      <a:pt x="3001670" y="1409243"/>
                      <a:pt x="2877769" y="1519123"/>
                      <a:pt x="2806294" y="1665275"/>
                    </a:cubicBezTo>
                    <a:lnTo>
                      <a:pt x="1993087" y="3331769"/>
                    </a:lnTo>
                    <a:cubicBezTo>
                      <a:pt x="1903628" y="3514497"/>
                      <a:pt x="1890674" y="3721151"/>
                      <a:pt x="1956968" y="3914547"/>
                    </a:cubicBezTo>
                    <a:lnTo>
                      <a:pt x="1973428" y="3962400"/>
                    </a:lnTo>
                    <a:lnTo>
                      <a:pt x="457200" y="3962400"/>
                    </a:lnTo>
                    <a:cubicBezTo>
                      <a:pt x="205130" y="3962400"/>
                      <a:pt x="0" y="3757270"/>
                      <a:pt x="0" y="3505200"/>
                    </a:cubicBezTo>
                    <a:lnTo>
                      <a:pt x="0" y="457200"/>
                    </a:lnTo>
                    <a:cubicBezTo>
                      <a:pt x="0" y="205130"/>
                      <a:pt x="205130" y="0"/>
                      <a:pt x="457200" y="0"/>
                    </a:cubicBezTo>
                    <a:close/>
                    <a:moveTo>
                      <a:pt x="609600" y="914400"/>
                    </a:moveTo>
                    <a:cubicBezTo>
                      <a:pt x="525323" y="914400"/>
                      <a:pt x="457200" y="982675"/>
                      <a:pt x="457200" y="1066800"/>
                    </a:cubicBezTo>
                    <a:cubicBezTo>
                      <a:pt x="457200" y="1150925"/>
                      <a:pt x="525323" y="1219200"/>
                      <a:pt x="609600" y="1219200"/>
                    </a:cubicBezTo>
                    <a:lnTo>
                      <a:pt x="2438400" y="1219200"/>
                    </a:lnTo>
                    <a:cubicBezTo>
                      <a:pt x="2522677" y="1219200"/>
                      <a:pt x="2590800" y="1150925"/>
                      <a:pt x="2590800" y="1066800"/>
                    </a:cubicBezTo>
                    <a:cubicBezTo>
                      <a:pt x="2590800" y="982675"/>
                      <a:pt x="2522677" y="914400"/>
                      <a:pt x="2438400" y="914400"/>
                    </a:cubicBezTo>
                    <a:lnTo>
                      <a:pt x="609600" y="914400"/>
                    </a:lnTo>
                    <a:close/>
                    <a:moveTo>
                      <a:pt x="609600" y="1524000"/>
                    </a:moveTo>
                    <a:cubicBezTo>
                      <a:pt x="525323" y="1524000"/>
                      <a:pt x="457200" y="1592275"/>
                      <a:pt x="457200" y="1676400"/>
                    </a:cubicBezTo>
                    <a:cubicBezTo>
                      <a:pt x="457200" y="1760525"/>
                      <a:pt x="525323" y="1828800"/>
                      <a:pt x="609600" y="1828800"/>
                    </a:cubicBezTo>
                    <a:lnTo>
                      <a:pt x="2286000" y="1828800"/>
                    </a:lnTo>
                    <a:cubicBezTo>
                      <a:pt x="2370277" y="1828800"/>
                      <a:pt x="2438400" y="1760525"/>
                      <a:pt x="2438400" y="1676400"/>
                    </a:cubicBezTo>
                    <a:cubicBezTo>
                      <a:pt x="2438400" y="1592275"/>
                      <a:pt x="2370277" y="1524000"/>
                      <a:pt x="2286000" y="1524000"/>
                    </a:cubicBezTo>
                    <a:lnTo>
                      <a:pt x="609600" y="1524000"/>
                    </a:lnTo>
                    <a:close/>
                    <a:moveTo>
                      <a:pt x="609600" y="2133600"/>
                    </a:moveTo>
                    <a:cubicBezTo>
                      <a:pt x="525323" y="2133600"/>
                      <a:pt x="457200" y="2201875"/>
                      <a:pt x="457200" y="2286000"/>
                    </a:cubicBezTo>
                    <a:cubicBezTo>
                      <a:pt x="457200" y="2370125"/>
                      <a:pt x="525323" y="2438400"/>
                      <a:pt x="609600" y="2438400"/>
                    </a:cubicBezTo>
                    <a:lnTo>
                      <a:pt x="1981200" y="2438400"/>
                    </a:lnTo>
                    <a:cubicBezTo>
                      <a:pt x="2065477" y="2438400"/>
                      <a:pt x="2133600" y="2370125"/>
                      <a:pt x="2133600" y="2286000"/>
                    </a:cubicBezTo>
                    <a:cubicBezTo>
                      <a:pt x="2133600" y="2201875"/>
                      <a:pt x="2065477" y="2133600"/>
                      <a:pt x="1981200" y="2133600"/>
                    </a:cubicBezTo>
                    <a:lnTo>
                      <a:pt x="609600" y="2133600"/>
                    </a:lnTo>
                    <a:close/>
                    <a:moveTo>
                      <a:pt x="609600" y="2743200"/>
                    </a:moveTo>
                    <a:cubicBezTo>
                      <a:pt x="525323" y="2743200"/>
                      <a:pt x="457200" y="2811475"/>
                      <a:pt x="457200" y="2895600"/>
                    </a:cubicBezTo>
                    <a:cubicBezTo>
                      <a:pt x="457200" y="2979725"/>
                      <a:pt x="525323" y="3048000"/>
                      <a:pt x="609600" y="3048000"/>
                    </a:cubicBezTo>
                    <a:lnTo>
                      <a:pt x="1676400" y="3048000"/>
                    </a:lnTo>
                    <a:cubicBezTo>
                      <a:pt x="1760677" y="3048000"/>
                      <a:pt x="1828800" y="2979725"/>
                      <a:pt x="1828800" y="2895600"/>
                    </a:cubicBezTo>
                    <a:cubicBezTo>
                      <a:pt x="1828800" y="2811475"/>
                      <a:pt x="1760677" y="2743200"/>
                      <a:pt x="1676400" y="2743200"/>
                    </a:cubicBezTo>
                    <a:lnTo>
                      <a:pt x="609600" y="2743200"/>
                    </a:ln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21" name="Freeform: Shape 220">
                <a:extLst>
                  <a:ext uri="{FF2B5EF4-FFF2-40B4-BE49-F238E27FC236}">
                    <a16:creationId xmlns:a16="http://schemas.microsoft.com/office/drawing/2014/main" id="{42A5D126-47DA-CD83-9E6D-872FEAAB58DA}"/>
                  </a:ext>
                </a:extLst>
              </p:cNvPr>
              <p:cNvSpPr/>
              <p:nvPr/>
            </p:nvSpPr>
            <p:spPr>
              <a:xfrm>
                <a:off x="1380560" y="4916501"/>
                <a:ext cx="108531" cy="163386"/>
              </a:xfrm>
              <a:custGeom>
                <a:avLst/>
                <a:gdLst>
                  <a:gd name="connsiteX0" fmla="*/ 1152612 w 1712921"/>
                  <a:gd name="connsiteY0" fmla="*/ 552 h 2578665"/>
                  <a:gd name="connsiteX1" fmla="*/ 1267597 w 1712921"/>
                  <a:gd name="connsiteY1" fmla="*/ 31147 h 2578665"/>
                  <a:gd name="connsiteX2" fmla="*/ 1541613 w 1712921"/>
                  <a:gd name="connsiteY2" fmla="*/ 164801 h 2578665"/>
                  <a:gd name="connsiteX3" fmla="*/ 1696146 w 1712921"/>
                  <a:gd name="connsiteY3" fmla="*/ 339604 h 2578665"/>
                  <a:gd name="connsiteX4" fmla="*/ 1681821 w 1712921"/>
                  <a:gd name="connsiteY4" fmla="*/ 572319 h 2578665"/>
                  <a:gd name="connsiteX5" fmla="*/ 868310 w 1712921"/>
                  <a:gd name="connsiteY5" fmla="*/ 2239423 h 2578665"/>
                  <a:gd name="connsiteX6" fmla="*/ 606029 w 1712921"/>
                  <a:gd name="connsiteY6" fmla="*/ 2471223 h 2578665"/>
                  <a:gd name="connsiteX7" fmla="*/ 317841 w 1712921"/>
                  <a:gd name="connsiteY7" fmla="*/ 2570283 h 2578665"/>
                  <a:gd name="connsiteX8" fmla="*/ 268311 w 1712921"/>
                  <a:gd name="connsiteY8" fmla="*/ 2578665 h 2578665"/>
                  <a:gd name="connsiteX9" fmla="*/ 124293 w 1712921"/>
                  <a:gd name="connsiteY9" fmla="*/ 2475795 h 2578665"/>
                  <a:gd name="connsiteX10" fmla="*/ 25080 w 1712921"/>
                  <a:gd name="connsiteY10" fmla="*/ 2187607 h 2578665"/>
                  <a:gd name="connsiteX11" fmla="*/ 46721 w 1712921"/>
                  <a:gd name="connsiteY11" fmla="*/ 1838153 h 2578665"/>
                  <a:gd name="connsiteX12" fmla="*/ 860232 w 1712921"/>
                  <a:gd name="connsiteY12" fmla="*/ 171355 h 2578665"/>
                  <a:gd name="connsiteX13" fmla="*/ 1034883 w 1712921"/>
                  <a:gd name="connsiteY13" fmla="*/ 16821 h 2578665"/>
                  <a:gd name="connsiteX14" fmla="*/ 1152612 w 1712921"/>
                  <a:gd name="connsiteY14" fmla="*/ 552 h 257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2921" h="2578665">
                    <a:moveTo>
                      <a:pt x="1152612" y="552"/>
                    </a:moveTo>
                    <a:cubicBezTo>
                      <a:pt x="1192045" y="2952"/>
                      <a:pt x="1231022" y="13163"/>
                      <a:pt x="1267597" y="31147"/>
                    </a:cubicBezTo>
                    <a:lnTo>
                      <a:pt x="1541613" y="164801"/>
                    </a:lnTo>
                    <a:cubicBezTo>
                      <a:pt x="1614765" y="200463"/>
                      <a:pt x="1669629" y="262642"/>
                      <a:pt x="1696146" y="339604"/>
                    </a:cubicBezTo>
                    <a:cubicBezTo>
                      <a:pt x="1722664" y="416566"/>
                      <a:pt x="1717635" y="499167"/>
                      <a:pt x="1681821" y="572319"/>
                    </a:cubicBezTo>
                    <a:lnTo>
                      <a:pt x="868310" y="2239423"/>
                    </a:lnTo>
                    <a:cubicBezTo>
                      <a:pt x="814512" y="2349303"/>
                      <a:pt x="721396" y="2431599"/>
                      <a:pt x="606029" y="2471223"/>
                    </a:cubicBezTo>
                    <a:lnTo>
                      <a:pt x="317841" y="2570283"/>
                    </a:lnTo>
                    <a:cubicBezTo>
                      <a:pt x="301534" y="2575922"/>
                      <a:pt x="284618" y="2578665"/>
                      <a:pt x="268311" y="2578665"/>
                    </a:cubicBezTo>
                    <a:cubicBezTo>
                      <a:pt x="205065" y="2578665"/>
                      <a:pt x="145933" y="2539041"/>
                      <a:pt x="124293" y="2475795"/>
                    </a:cubicBezTo>
                    <a:lnTo>
                      <a:pt x="25080" y="2187607"/>
                    </a:lnTo>
                    <a:cubicBezTo>
                      <a:pt x="-14696" y="2071783"/>
                      <a:pt x="-6924" y="1947729"/>
                      <a:pt x="46721" y="1838153"/>
                    </a:cubicBezTo>
                    <a:lnTo>
                      <a:pt x="860232" y="171355"/>
                    </a:lnTo>
                    <a:cubicBezTo>
                      <a:pt x="895741" y="98203"/>
                      <a:pt x="957921" y="43339"/>
                      <a:pt x="1034883" y="16821"/>
                    </a:cubicBezTo>
                    <a:cubicBezTo>
                      <a:pt x="1073288" y="3562"/>
                      <a:pt x="1113178" y="-1848"/>
                      <a:pt x="1152612" y="552"/>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200" name="Group 199">
              <a:extLst>
                <a:ext uri="{FF2B5EF4-FFF2-40B4-BE49-F238E27FC236}">
                  <a16:creationId xmlns:a16="http://schemas.microsoft.com/office/drawing/2014/main" id="{5D17B8CA-A1DC-4460-8EF5-B2C1E0F1AEB9}"/>
                </a:ext>
              </a:extLst>
            </p:cNvPr>
            <p:cNvGrpSpPr/>
            <p:nvPr/>
          </p:nvGrpSpPr>
          <p:grpSpPr>
            <a:xfrm>
              <a:off x="2312835" y="3646551"/>
              <a:ext cx="208320" cy="302038"/>
              <a:chOff x="2312835" y="3646551"/>
              <a:chExt cx="208320" cy="302038"/>
            </a:xfrm>
          </p:grpSpPr>
          <p:sp>
            <p:nvSpPr>
              <p:cNvPr id="216" name="Freeform: Shape 215">
                <a:extLst>
                  <a:ext uri="{FF2B5EF4-FFF2-40B4-BE49-F238E27FC236}">
                    <a16:creationId xmlns:a16="http://schemas.microsoft.com/office/drawing/2014/main" id="{0DB3427A-8A3D-2DE9-1BA2-8FD56C7394B8}"/>
                  </a:ext>
                </a:extLst>
              </p:cNvPr>
              <p:cNvSpPr/>
              <p:nvPr/>
            </p:nvSpPr>
            <p:spPr>
              <a:xfrm>
                <a:off x="2312835" y="3789277"/>
                <a:ext cx="208320" cy="159312"/>
              </a:xfrm>
              <a:custGeom>
                <a:avLst/>
                <a:gdLst>
                  <a:gd name="connsiteX0" fmla="*/ 2575255 w 2575255"/>
                  <a:gd name="connsiteY0" fmla="*/ 74242 h 1969412"/>
                  <a:gd name="connsiteX1" fmla="*/ 2496221 w 2575255"/>
                  <a:gd name="connsiteY1" fmla="*/ 39 h 1969412"/>
                  <a:gd name="connsiteX2" fmla="*/ 2422017 w 2575255"/>
                  <a:gd name="connsiteY2" fmla="*/ 74242 h 1969412"/>
                  <a:gd name="connsiteX3" fmla="*/ 1287628 w 2575255"/>
                  <a:gd name="connsiteY3" fmla="*/ 1208632 h 1969412"/>
                  <a:gd name="connsiteX4" fmla="*/ 153238 w 2575255"/>
                  <a:gd name="connsiteY4" fmla="*/ 74242 h 1969412"/>
                  <a:gd name="connsiteX5" fmla="*/ 74204 w 2575255"/>
                  <a:gd name="connsiteY5" fmla="*/ 39 h 1969412"/>
                  <a:gd name="connsiteX6" fmla="*/ 0 w 2575255"/>
                  <a:gd name="connsiteY6" fmla="*/ 74242 h 1969412"/>
                  <a:gd name="connsiteX7" fmla="*/ 1211275 w 2575255"/>
                  <a:gd name="connsiteY7" fmla="*/ 1358060 h 1969412"/>
                  <a:gd name="connsiteX8" fmla="*/ 1211275 w 2575255"/>
                  <a:gd name="connsiteY8" fmla="*/ 1816174 h 1969412"/>
                  <a:gd name="connsiteX9" fmla="*/ 826922 w 2575255"/>
                  <a:gd name="connsiteY9" fmla="*/ 1816174 h 1969412"/>
                  <a:gd name="connsiteX10" fmla="*/ 752719 w 2575255"/>
                  <a:gd name="connsiteY10" fmla="*/ 1895209 h 1969412"/>
                  <a:gd name="connsiteX11" fmla="*/ 826922 w 2575255"/>
                  <a:gd name="connsiteY11" fmla="*/ 1969413 h 1969412"/>
                  <a:gd name="connsiteX12" fmla="*/ 1748028 w 2575255"/>
                  <a:gd name="connsiteY12" fmla="*/ 1969413 h 1969412"/>
                  <a:gd name="connsiteX13" fmla="*/ 1822232 w 2575255"/>
                  <a:gd name="connsiteY13" fmla="*/ 1890378 h 1969412"/>
                  <a:gd name="connsiteX14" fmla="*/ 1748028 w 2575255"/>
                  <a:gd name="connsiteY14" fmla="*/ 1816174 h 1969412"/>
                  <a:gd name="connsiteX15" fmla="*/ 1364056 w 2575255"/>
                  <a:gd name="connsiteY15" fmla="*/ 1816174 h 1969412"/>
                  <a:gd name="connsiteX16" fmla="*/ 1364056 w 2575255"/>
                  <a:gd name="connsiteY16" fmla="*/ 1358060 h 1969412"/>
                  <a:gd name="connsiteX17" fmla="*/ 2575255 w 2575255"/>
                  <a:gd name="connsiteY17" fmla="*/ 74242 h 196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5255" h="1969412">
                    <a:moveTo>
                      <a:pt x="2575255" y="74242"/>
                    </a:moveTo>
                    <a:cubicBezTo>
                      <a:pt x="2573922" y="31929"/>
                      <a:pt x="2538534" y="-1295"/>
                      <a:pt x="2496221" y="39"/>
                    </a:cubicBezTo>
                    <a:cubicBezTo>
                      <a:pt x="2455781" y="1319"/>
                      <a:pt x="2423290" y="33803"/>
                      <a:pt x="2422017" y="74242"/>
                    </a:cubicBezTo>
                    <a:cubicBezTo>
                      <a:pt x="2422017" y="700751"/>
                      <a:pt x="1914136" y="1208632"/>
                      <a:pt x="1287628" y="1208632"/>
                    </a:cubicBezTo>
                    <a:cubicBezTo>
                      <a:pt x="661119" y="1208632"/>
                      <a:pt x="153238" y="700751"/>
                      <a:pt x="153238" y="74242"/>
                    </a:cubicBezTo>
                    <a:cubicBezTo>
                      <a:pt x="151905" y="31929"/>
                      <a:pt x="116517" y="-1295"/>
                      <a:pt x="74204" y="39"/>
                    </a:cubicBezTo>
                    <a:cubicBezTo>
                      <a:pt x="33764" y="1319"/>
                      <a:pt x="1273" y="33803"/>
                      <a:pt x="0" y="74242"/>
                    </a:cubicBezTo>
                    <a:cubicBezTo>
                      <a:pt x="1120" y="755006"/>
                      <a:pt x="531724" y="1317392"/>
                      <a:pt x="1211275" y="1358060"/>
                    </a:cubicBezTo>
                    <a:lnTo>
                      <a:pt x="1211275" y="1816174"/>
                    </a:lnTo>
                    <a:lnTo>
                      <a:pt x="826922" y="1816174"/>
                    </a:lnTo>
                    <a:cubicBezTo>
                      <a:pt x="784609" y="1817508"/>
                      <a:pt x="751385" y="1852895"/>
                      <a:pt x="752719" y="1895209"/>
                    </a:cubicBezTo>
                    <a:cubicBezTo>
                      <a:pt x="753999" y="1935648"/>
                      <a:pt x="786483" y="1968140"/>
                      <a:pt x="826922" y="1969413"/>
                    </a:cubicBezTo>
                    <a:lnTo>
                      <a:pt x="1748028" y="1969413"/>
                    </a:lnTo>
                    <a:cubicBezTo>
                      <a:pt x="1790342" y="1968079"/>
                      <a:pt x="1823565" y="1932692"/>
                      <a:pt x="1822232" y="1890378"/>
                    </a:cubicBezTo>
                    <a:cubicBezTo>
                      <a:pt x="1820951" y="1849939"/>
                      <a:pt x="1788467" y="1817447"/>
                      <a:pt x="1748028" y="1816174"/>
                    </a:cubicBezTo>
                    <a:lnTo>
                      <a:pt x="1364056" y="1816174"/>
                    </a:lnTo>
                    <a:lnTo>
                      <a:pt x="1364056" y="1358060"/>
                    </a:lnTo>
                    <a:cubicBezTo>
                      <a:pt x="2043577" y="1317354"/>
                      <a:pt x="2574135" y="754983"/>
                      <a:pt x="2575255" y="74242"/>
                    </a:cubicBezTo>
                    <a:close/>
                  </a:path>
                </a:pathLst>
              </a:custGeom>
              <a:solidFill>
                <a:srgbClr val="AA67C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17" name="Freeform: Shape 216">
                <a:extLst>
                  <a:ext uri="{FF2B5EF4-FFF2-40B4-BE49-F238E27FC236}">
                    <a16:creationId xmlns:a16="http://schemas.microsoft.com/office/drawing/2014/main" id="{95DDD4EB-CE6A-269C-DDE0-E29893EFAF1F}"/>
                  </a:ext>
                </a:extLst>
              </p:cNvPr>
              <p:cNvSpPr/>
              <p:nvPr/>
            </p:nvSpPr>
            <p:spPr>
              <a:xfrm>
                <a:off x="2349936" y="3778344"/>
                <a:ext cx="134093" cy="89181"/>
              </a:xfrm>
              <a:custGeom>
                <a:avLst/>
                <a:gdLst>
                  <a:gd name="connsiteX0" fmla="*/ 828827 w 1657654"/>
                  <a:gd name="connsiteY0" fmla="*/ 1102462 h 1102461"/>
                  <a:gd name="connsiteX1" fmla="*/ 1657655 w 1657654"/>
                  <a:gd name="connsiteY1" fmla="*/ 273558 h 1102461"/>
                  <a:gd name="connsiteX2" fmla="*/ 1657655 w 1657654"/>
                  <a:gd name="connsiteY2" fmla="*/ 0 h 1102461"/>
                  <a:gd name="connsiteX3" fmla="*/ 0 w 1657654"/>
                  <a:gd name="connsiteY3" fmla="*/ 0 h 1102461"/>
                  <a:gd name="connsiteX4" fmla="*/ 0 w 1657654"/>
                  <a:gd name="connsiteY4" fmla="*/ 273558 h 1102461"/>
                  <a:gd name="connsiteX5" fmla="*/ 828827 w 1657654"/>
                  <a:gd name="connsiteY5" fmla="*/ 1102462 h 1102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7654" h="1102461">
                    <a:moveTo>
                      <a:pt x="828827" y="1102462"/>
                    </a:moveTo>
                    <a:cubicBezTo>
                      <a:pt x="1286469" y="1102126"/>
                      <a:pt x="1657358" y="731200"/>
                      <a:pt x="1657655" y="273558"/>
                    </a:cubicBezTo>
                    <a:lnTo>
                      <a:pt x="1657655" y="0"/>
                    </a:lnTo>
                    <a:lnTo>
                      <a:pt x="0" y="0"/>
                    </a:lnTo>
                    <a:lnTo>
                      <a:pt x="0" y="273558"/>
                    </a:lnTo>
                    <a:cubicBezTo>
                      <a:pt x="297" y="731200"/>
                      <a:pt x="371185" y="1102126"/>
                      <a:pt x="828827" y="1102462"/>
                    </a:cubicBezTo>
                    <a:close/>
                  </a:path>
                </a:pathLst>
              </a:custGeom>
              <a:solidFill>
                <a:srgbClr val="0078D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18" name="Freeform: Shape 217">
                <a:extLst>
                  <a:ext uri="{FF2B5EF4-FFF2-40B4-BE49-F238E27FC236}">
                    <a16:creationId xmlns:a16="http://schemas.microsoft.com/office/drawing/2014/main" id="{65ECC9E7-DE24-9E34-4052-F3AC1D758AB6}"/>
                  </a:ext>
                </a:extLst>
              </p:cNvPr>
              <p:cNvSpPr/>
              <p:nvPr/>
            </p:nvSpPr>
            <p:spPr>
              <a:xfrm>
                <a:off x="2349936" y="3741946"/>
                <a:ext cx="134099" cy="30198"/>
              </a:xfrm>
              <a:custGeom>
                <a:avLst/>
                <a:gdLst>
                  <a:gd name="connsiteX0" fmla="*/ 0 w 1657730"/>
                  <a:gd name="connsiteY0" fmla="*/ 0 h 373303"/>
                  <a:gd name="connsiteX1" fmla="*/ 1657731 w 1657730"/>
                  <a:gd name="connsiteY1" fmla="*/ 0 h 373303"/>
                  <a:gd name="connsiteX2" fmla="*/ 1657731 w 1657730"/>
                  <a:gd name="connsiteY2" fmla="*/ 373304 h 373303"/>
                  <a:gd name="connsiteX3" fmla="*/ 0 w 1657730"/>
                  <a:gd name="connsiteY3" fmla="*/ 373304 h 373303"/>
                </a:gdLst>
                <a:ahLst/>
                <a:cxnLst>
                  <a:cxn ang="0">
                    <a:pos x="connsiteX0" y="connsiteY0"/>
                  </a:cxn>
                  <a:cxn ang="0">
                    <a:pos x="connsiteX1" y="connsiteY1"/>
                  </a:cxn>
                  <a:cxn ang="0">
                    <a:pos x="connsiteX2" y="connsiteY2"/>
                  </a:cxn>
                  <a:cxn ang="0">
                    <a:pos x="connsiteX3" y="connsiteY3"/>
                  </a:cxn>
                </a:cxnLst>
                <a:rect l="l" t="t" r="r" b="b"/>
                <a:pathLst>
                  <a:path w="1657730" h="373303">
                    <a:moveTo>
                      <a:pt x="0" y="0"/>
                    </a:moveTo>
                    <a:lnTo>
                      <a:pt x="1657731" y="0"/>
                    </a:lnTo>
                    <a:lnTo>
                      <a:pt x="1657731" y="373304"/>
                    </a:lnTo>
                    <a:lnTo>
                      <a:pt x="0" y="373304"/>
                    </a:lnTo>
                    <a:close/>
                  </a:path>
                </a:pathLst>
              </a:custGeom>
              <a:solidFill>
                <a:srgbClr val="AA67C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19" name="Freeform: Shape 218">
                <a:extLst>
                  <a:ext uri="{FF2B5EF4-FFF2-40B4-BE49-F238E27FC236}">
                    <a16:creationId xmlns:a16="http://schemas.microsoft.com/office/drawing/2014/main" id="{8CFEDA5E-D178-1955-524A-6DBF6053ABA5}"/>
                  </a:ext>
                </a:extLst>
              </p:cNvPr>
              <p:cNvSpPr/>
              <p:nvPr/>
            </p:nvSpPr>
            <p:spPr>
              <a:xfrm>
                <a:off x="2349936" y="3646551"/>
                <a:ext cx="134093" cy="89200"/>
              </a:xfrm>
              <a:custGeom>
                <a:avLst/>
                <a:gdLst>
                  <a:gd name="connsiteX0" fmla="*/ 1657655 w 1657654"/>
                  <a:gd name="connsiteY0" fmla="*/ 1102690 h 1102690"/>
                  <a:gd name="connsiteX1" fmla="*/ 1657655 w 1657654"/>
                  <a:gd name="connsiteY1" fmla="*/ 828827 h 1102690"/>
                  <a:gd name="connsiteX2" fmla="*/ 828827 w 1657654"/>
                  <a:gd name="connsiteY2" fmla="*/ 0 h 1102690"/>
                  <a:gd name="connsiteX3" fmla="*/ 0 w 1657654"/>
                  <a:gd name="connsiteY3" fmla="*/ 828827 h 1102690"/>
                  <a:gd name="connsiteX4" fmla="*/ 0 w 1657654"/>
                  <a:gd name="connsiteY4" fmla="*/ 1102690 h 1102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654" h="1102690">
                    <a:moveTo>
                      <a:pt x="1657655" y="1102690"/>
                    </a:moveTo>
                    <a:lnTo>
                      <a:pt x="1657655" y="828827"/>
                    </a:lnTo>
                    <a:cubicBezTo>
                      <a:pt x="1657655" y="371079"/>
                      <a:pt x="1286576" y="0"/>
                      <a:pt x="828827" y="0"/>
                    </a:cubicBezTo>
                    <a:cubicBezTo>
                      <a:pt x="371079" y="0"/>
                      <a:pt x="0" y="371079"/>
                      <a:pt x="0" y="828827"/>
                    </a:cubicBezTo>
                    <a:lnTo>
                      <a:pt x="0" y="1102690"/>
                    </a:lnTo>
                    <a:close/>
                  </a:path>
                </a:pathLst>
              </a:custGeom>
              <a:solidFill>
                <a:srgbClr val="0078D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201" name="Group 200">
              <a:extLst>
                <a:ext uri="{FF2B5EF4-FFF2-40B4-BE49-F238E27FC236}">
                  <a16:creationId xmlns:a16="http://schemas.microsoft.com/office/drawing/2014/main" id="{F2A7C3B9-5FFA-5BC2-A514-3220B8A0D61E}"/>
                </a:ext>
              </a:extLst>
            </p:cNvPr>
            <p:cNvGrpSpPr/>
            <p:nvPr/>
          </p:nvGrpSpPr>
          <p:grpSpPr>
            <a:xfrm>
              <a:off x="2270575" y="4803853"/>
              <a:ext cx="292840" cy="285558"/>
              <a:chOff x="2270575" y="4803853"/>
              <a:chExt cx="292840" cy="285558"/>
            </a:xfrm>
          </p:grpSpPr>
          <p:sp>
            <p:nvSpPr>
              <p:cNvPr id="207" name="Freeform: Shape 206">
                <a:extLst>
                  <a:ext uri="{FF2B5EF4-FFF2-40B4-BE49-F238E27FC236}">
                    <a16:creationId xmlns:a16="http://schemas.microsoft.com/office/drawing/2014/main" id="{DF7E5B8D-16DD-68CD-2BE5-3C61E5B7BE63}"/>
                  </a:ext>
                </a:extLst>
              </p:cNvPr>
              <p:cNvSpPr/>
              <p:nvPr/>
            </p:nvSpPr>
            <p:spPr>
              <a:xfrm>
                <a:off x="2364417" y="4809964"/>
                <a:ext cx="105156" cy="78096"/>
              </a:xfrm>
              <a:custGeom>
                <a:avLst/>
                <a:gdLst>
                  <a:gd name="connsiteX0" fmla="*/ 1641653 w 1641652"/>
                  <a:gd name="connsiteY0" fmla="*/ 1219200 h 1219200"/>
                  <a:gd name="connsiteX1" fmla="*/ 820826 w 1641652"/>
                  <a:gd name="connsiteY1" fmla="*/ 0 h 1219200"/>
                  <a:gd name="connsiteX2" fmla="*/ 0 w 1641652"/>
                  <a:gd name="connsiteY2" fmla="*/ 1219200 h 1219200"/>
                </a:gdLst>
                <a:ahLst/>
                <a:cxnLst>
                  <a:cxn ang="0">
                    <a:pos x="connsiteX0" y="connsiteY0"/>
                  </a:cxn>
                  <a:cxn ang="0">
                    <a:pos x="connsiteX1" y="connsiteY1"/>
                  </a:cxn>
                  <a:cxn ang="0">
                    <a:pos x="connsiteX2" y="connsiteY2"/>
                  </a:cxn>
                </a:cxnLst>
                <a:rect l="l" t="t" r="r" b="b"/>
                <a:pathLst>
                  <a:path w="1641652" h="1219200">
                    <a:moveTo>
                      <a:pt x="1641653" y="1219200"/>
                    </a:moveTo>
                    <a:cubicBezTo>
                      <a:pt x="1480871" y="472440"/>
                      <a:pt x="1137971" y="0"/>
                      <a:pt x="820826" y="0"/>
                    </a:cubicBezTo>
                    <a:cubicBezTo>
                      <a:pt x="503682" y="0"/>
                      <a:pt x="160782" y="472440"/>
                      <a:pt x="0" y="1219200"/>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08" name="Freeform: Shape 207">
                <a:extLst>
                  <a:ext uri="{FF2B5EF4-FFF2-40B4-BE49-F238E27FC236}">
                    <a16:creationId xmlns:a16="http://schemas.microsoft.com/office/drawing/2014/main" id="{488445E4-C648-4908-20EA-2820FFC99C58}"/>
                  </a:ext>
                </a:extLst>
              </p:cNvPr>
              <p:cNvSpPr/>
              <p:nvPr/>
            </p:nvSpPr>
            <p:spPr>
              <a:xfrm>
                <a:off x="2358423" y="4907584"/>
                <a:ext cx="117144" cy="78096"/>
              </a:xfrm>
              <a:custGeom>
                <a:avLst/>
                <a:gdLst>
                  <a:gd name="connsiteX0" fmla="*/ 0 w 1828800"/>
                  <a:gd name="connsiteY0" fmla="*/ 609600 h 1219200"/>
                  <a:gd name="connsiteX1" fmla="*/ 40691 w 1828800"/>
                  <a:gd name="connsiteY1" fmla="*/ 1219200 h 1219200"/>
                  <a:gd name="connsiteX2" fmla="*/ 1788109 w 1828800"/>
                  <a:gd name="connsiteY2" fmla="*/ 1219200 h 1219200"/>
                  <a:gd name="connsiteX3" fmla="*/ 1828800 w 1828800"/>
                  <a:gd name="connsiteY3" fmla="*/ 609600 h 1219200"/>
                  <a:gd name="connsiteX4" fmla="*/ 1788109 w 1828800"/>
                  <a:gd name="connsiteY4" fmla="*/ 0 h 1219200"/>
                  <a:gd name="connsiteX5" fmla="*/ 40691 w 1828800"/>
                  <a:gd name="connsiteY5" fmla="*/ 0 h 1219200"/>
                  <a:gd name="connsiteX6" fmla="*/ 0 w 1828800"/>
                  <a:gd name="connsiteY6" fmla="*/ 6096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219200">
                    <a:moveTo>
                      <a:pt x="0" y="609600"/>
                    </a:moveTo>
                    <a:cubicBezTo>
                      <a:pt x="-38" y="813481"/>
                      <a:pt x="13564" y="1017133"/>
                      <a:pt x="40691" y="1219200"/>
                    </a:cubicBezTo>
                    <a:lnTo>
                      <a:pt x="1788109" y="1219200"/>
                    </a:lnTo>
                    <a:cubicBezTo>
                      <a:pt x="1815236" y="1017133"/>
                      <a:pt x="1828831" y="813481"/>
                      <a:pt x="1828800" y="609600"/>
                    </a:cubicBezTo>
                    <a:cubicBezTo>
                      <a:pt x="1828831" y="405719"/>
                      <a:pt x="1815236" y="202067"/>
                      <a:pt x="1788109" y="0"/>
                    </a:cubicBezTo>
                    <a:lnTo>
                      <a:pt x="40691" y="0"/>
                    </a:lnTo>
                    <a:cubicBezTo>
                      <a:pt x="13564" y="202067"/>
                      <a:pt x="-38" y="405719"/>
                      <a:pt x="0" y="609600"/>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09" name="Freeform: Shape 208">
                <a:extLst>
                  <a:ext uri="{FF2B5EF4-FFF2-40B4-BE49-F238E27FC236}">
                    <a16:creationId xmlns:a16="http://schemas.microsoft.com/office/drawing/2014/main" id="{EE45B6CD-B556-8B22-B5FC-EB28B1490C8A}"/>
                  </a:ext>
                </a:extLst>
              </p:cNvPr>
              <p:cNvSpPr/>
              <p:nvPr/>
            </p:nvSpPr>
            <p:spPr>
              <a:xfrm>
                <a:off x="2364417" y="5005204"/>
                <a:ext cx="105156" cy="78096"/>
              </a:xfrm>
              <a:custGeom>
                <a:avLst/>
                <a:gdLst>
                  <a:gd name="connsiteX0" fmla="*/ 0 w 1641652"/>
                  <a:gd name="connsiteY0" fmla="*/ 0 h 1219200"/>
                  <a:gd name="connsiteX1" fmla="*/ 820826 w 1641652"/>
                  <a:gd name="connsiteY1" fmla="*/ 1219200 h 1219200"/>
                  <a:gd name="connsiteX2" fmla="*/ 1641653 w 1641652"/>
                  <a:gd name="connsiteY2" fmla="*/ 0 h 1219200"/>
                </a:gdLst>
                <a:ahLst/>
                <a:cxnLst>
                  <a:cxn ang="0">
                    <a:pos x="connsiteX0" y="connsiteY0"/>
                  </a:cxn>
                  <a:cxn ang="0">
                    <a:pos x="connsiteX1" y="connsiteY1"/>
                  </a:cxn>
                  <a:cxn ang="0">
                    <a:pos x="connsiteX2" y="connsiteY2"/>
                  </a:cxn>
                </a:cxnLst>
                <a:rect l="l" t="t" r="r" b="b"/>
                <a:pathLst>
                  <a:path w="1641652" h="1219200">
                    <a:moveTo>
                      <a:pt x="0" y="0"/>
                    </a:moveTo>
                    <a:cubicBezTo>
                      <a:pt x="160782" y="746760"/>
                      <a:pt x="503682" y="1219200"/>
                      <a:pt x="820826" y="1219200"/>
                    </a:cubicBezTo>
                    <a:cubicBezTo>
                      <a:pt x="1137971" y="1219200"/>
                      <a:pt x="1480871" y="746760"/>
                      <a:pt x="1641653" y="0"/>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10" name="Freeform: Shape 209">
                <a:extLst>
                  <a:ext uri="{FF2B5EF4-FFF2-40B4-BE49-F238E27FC236}">
                    <a16:creationId xmlns:a16="http://schemas.microsoft.com/office/drawing/2014/main" id="{07B6F4AC-678A-4D39-6F24-A77E0AF847DB}"/>
                  </a:ext>
                </a:extLst>
              </p:cNvPr>
              <p:cNvSpPr/>
              <p:nvPr/>
            </p:nvSpPr>
            <p:spPr>
              <a:xfrm>
                <a:off x="2449063" y="4803853"/>
                <a:ext cx="102003" cy="84207"/>
              </a:xfrm>
              <a:custGeom>
                <a:avLst/>
                <a:gdLst>
                  <a:gd name="connsiteX0" fmla="*/ 632308 w 1592427"/>
                  <a:gd name="connsiteY0" fmla="*/ 1314602 h 1314602"/>
                  <a:gd name="connsiteX1" fmla="*/ 1592428 w 1592427"/>
                  <a:gd name="connsiteY1" fmla="*/ 1314602 h 1314602"/>
                  <a:gd name="connsiteX2" fmla="*/ 0 w 1592427"/>
                  <a:gd name="connsiteY2" fmla="*/ 0 h 1314602"/>
                  <a:gd name="connsiteX3" fmla="*/ 632308 w 1592427"/>
                  <a:gd name="connsiteY3" fmla="*/ 1314602 h 1314602"/>
                </a:gdLst>
                <a:ahLst/>
                <a:cxnLst>
                  <a:cxn ang="0">
                    <a:pos x="connsiteX0" y="connsiteY0"/>
                  </a:cxn>
                  <a:cxn ang="0">
                    <a:pos x="connsiteX1" y="connsiteY1"/>
                  </a:cxn>
                  <a:cxn ang="0">
                    <a:pos x="connsiteX2" y="connsiteY2"/>
                  </a:cxn>
                  <a:cxn ang="0">
                    <a:pos x="connsiteX3" y="connsiteY3"/>
                  </a:cxn>
                </a:cxnLst>
                <a:rect l="l" t="t" r="r" b="b"/>
                <a:pathLst>
                  <a:path w="1592427" h="1314602">
                    <a:moveTo>
                      <a:pt x="632308" y="1314602"/>
                    </a:moveTo>
                    <a:lnTo>
                      <a:pt x="1592428" y="1314602"/>
                    </a:lnTo>
                    <a:cubicBezTo>
                      <a:pt x="1299881" y="648846"/>
                      <a:pt x="709117" y="161143"/>
                      <a:pt x="0" y="0"/>
                    </a:cubicBezTo>
                    <a:cubicBezTo>
                      <a:pt x="289103" y="254356"/>
                      <a:pt x="515874" y="724662"/>
                      <a:pt x="632308" y="1314602"/>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11" name="Freeform: Shape 210">
                <a:extLst>
                  <a:ext uri="{FF2B5EF4-FFF2-40B4-BE49-F238E27FC236}">
                    <a16:creationId xmlns:a16="http://schemas.microsoft.com/office/drawing/2014/main" id="{DCE6DC21-EDBE-71E5-8307-4F21F2F07BEB}"/>
                  </a:ext>
                </a:extLst>
              </p:cNvPr>
              <p:cNvSpPr/>
              <p:nvPr/>
            </p:nvSpPr>
            <p:spPr>
              <a:xfrm>
                <a:off x="2492670" y="4907584"/>
                <a:ext cx="70745" cy="78096"/>
              </a:xfrm>
              <a:custGeom>
                <a:avLst/>
                <a:gdLst>
                  <a:gd name="connsiteX0" fmla="*/ 1021232 w 1104438"/>
                  <a:gd name="connsiteY0" fmla="*/ 0 h 1219200"/>
                  <a:gd name="connsiteX1" fmla="*/ 152 w 1104438"/>
                  <a:gd name="connsiteY1" fmla="*/ 0 h 1219200"/>
                  <a:gd name="connsiteX2" fmla="*/ 37795 w 1104438"/>
                  <a:gd name="connsiteY2" fmla="*/ 609600 h 1219200"/>
                  <a:gd name="connsiteX3" fmla="*/ 0 w 1104438"/>
                  <a:gd name="connsiteY3" fmla="*/ 1219200 h 1219200"/>
                  <a:gd name="connsiteX4" fmla="*/ 1021080 w 1104438"/>
                  <a:gd name="connsiteY4" fmla="*/ 1219200 h 1219200"/>
                  <a:gd name="connsiteX5" fmla="*/ 1021080 w 1104438"/>
                  <a:gd name="connsiteY5" fmla="*/ 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4438" h="1219200">
                    <a:moveTo>
                      <a:pt x="1021232" y="0"/>
                    </a:moveTo>
                    <a:lnTo>
                      <a:pt x="152" y="0"/>
                    </a:lnTo>
                    <a:cubicBezTo>
                      <a:pt x="25298" y="202219"/>
                      <a:pt x="37871" y="405811"/>
                      <a:pt x="37795" y="609600"/>
                    </a:cubicBezTo>
                    <a:cubicBezTo>
                      <a:pt x="37810" y="813389"/>
                      <a:pt x="25191" y="1016980"/>
                      <a:pt x="0" y="1219200"/>
                    </a:cubicBezTo>
                    <a:lnTo>
                      <a:pt x="1021080" y="1219200"/>
                    </a:lnTo>
                    <a:cubicBezTo>
                      <a:pt x="1132225" y="820400"/>
                      <a:pt x="1132225" y="398800"/>
                      <a:pt x="1021080" y="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12" name="Freeform: Shape 211">
                <a:extLst>
                  <a:ext uri="{FF2B5EF4-FFF2-40B4-BE49-F238E27FC236}">
                    <a16:creationId xmlns:a16="http://schemas.microsoft.com/office/drawing/2014/main" id="{E96D57A1-C37D-0006-B212-B0FBD8048661}"/>
                  </a:ext>
                </a:extLst>
              </p:cNvPr>
              <p:cNvSpPr/>
              <p:nvPr/>
            </p:nvSpPr>
            <p:spPr>
              <a:xfrm>
                <a:off x="2449063" y="5005204"/>
                <a:ext cx="102023" cy="84207"/>
              </a:xfrm>
              <a:custGeom>
                <a:avLst/>
                <a:gdLst>
                  <a:gd name="connsiteX0" fmla="*/ 0 w 1592732"/>
                  <a:gd name="connsiteY0" fmla="*/ 1314602 h 1314602"/>
                  <a:gd name="connsiteX1" fmla="*/ 1592732 w 1592732"/>
                  <a:gd name="connsiteY1" fmla="*/ 0 h 1314602"/>
                  <a:gd name="connsiteX2" fmla="*/ 632613 w 1592732"/>
                  <a:gd name="connsiteY2" fmla="*/ 0 h 1314602"/>
                  <a:gd name="connsiteX3" fmla="*/ 0 w 1592732"/>
                  <a:gd name="connsiteY3" fmla="*/ 1314602 h 1314602"/>
                </a:gdLst>
                <a:ahLst/>
                <a:cxnLst>
                  <a:cxn ang="0">
                    <a:pos x="connsiteX0" y="connsiteY0"/>
                  </a:cxn>
                  <a:cxn ang="0">
                    <a:pos x="connsiteX1" y="connsiteY1"/>
                  </a:cxn>
                  <a:cxn ang="0">
                    <a:pos x="connsiteX2" y="connsiteY2"/>
                  </a:cxn>
                  <a:cxn ang="0">
                    <a:pos x="connsiteX3" y="connsiteY3"/>
                  </a:cxn>
                </a:cxnLst>
                <a:rect l="l" t="t" r="r" b="b"/>
                <a:pathLst>
                  <a:path w="1592732" h="1314602">
                    <a:moveTo>
                      <a:pt x="0" y="1314602"/>
                    </a:moveTo>
                    <a:cubicBezTo>
                      <a:pt x="709224" y="1153546"/>
                      <a:pt x="1300124" y="665836"/>
                      <a:pt x="1592732" y="0"/>
                    </a:cubicBezTo>
                    <a:lnTo>
                      <a:pt x="632613" y="0"/>
                    </a:lnTo>
                    <a:cubicBezTo>
                      <a:pt x="515874" y="589940"/>
                      <a:pt x="289103" y="1060247"/>
                      <a:pt x="0" y="1314602"/>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13" name="Freeform: Shape 212">
                <a:extLst>
                  <a:ext uri="{FF2B5EF4-FFF2-40B4-BE49-F238E27FC236}">
                    <a16:creationId xmlns:a16="http://schemas.microsoft.com/office/drawing/2014/main" id="{1CE26BCE-3F5D-61E1-7547-6B9780478876}"/>
                  </a:ext>
                </a:extLst>
              </p:cNvPr>
              <p:cNvSpPr/>
              <p:nvPr/>
            </p:nvSpPr>
            <p:spPr>
              <a:xfrm>
                <a:off x="2282923" y="5005204"/>
                <a:ext cx="102023" cy="84207"/>
              </a:xfrm>
              <a:custGeom>
                <a:avLst/>
                <a:gdLst>
                  <a:gd name="connsiteX0" fmla="*/ 960120 w 1592732"/>
                  <a:gd name="connsiteY0" fmla="*/ 0 h 1314602"/>
                  <a:gd name="connsiteX1" fmla="*/ 0 w 1592732"/>
                  <a:gd name="connsiteY1" fmla="*/ 0 h 1314602"/>
                  <a:gd name="connsiteX2" fmla="*/ 1592732 w 1592732"/>
                  <a:gd name="connsiteY2" fmla="*/ 1314602 h 1314602"/>
                  <a:gd name="connsiteX3" fmla="*/ 960120 w 1592732"/>
                  <a:gd name="connsiteY3" fmla="*/ 0 h 1314602"/>
                </a:gdLst>
                <a:ahLst/>
                <a:cxnLst>
                  <a:cxn ang="0">
                    <a:pos x="connsiteX0" y="connsiteY0"/>
                  </a:cxn>
                  <a:cxn ang="0">
                    <a:pos x="connsiteX1" y="connsiteY1"/>
                  </a:cxn>
                  <a:cxn ang="0">
                    <a:pos x="connsiteX2" y="connsiteY2"/>
                  </a:cxn>
                  <a:cxn ang="0">
                    <a:pos x="connsiteX3" y="connsiteY3"/>
                  </a:cxn>
                </a:cxnLst>
                <a:rect l="l" t="t" r="r" b="b"/>
                <a:pathLst>
                  <a:path w="1592732" h="1314602">
                    <a:moveTo>
                      <a:pt x="960120" y="0"/>
                    </a:moveTo>
                    <a:lnTo>
                      <a:pt x="0" y="0"/>
                    </a:lnTo>
                    <a:cubicBezTo>
                      <a:pt x="292602" y="665836"/>
                      <a:pt x="883502" y="1153546"/>
                      <a:pt x="1592732" y="1314602"/>
                    </a:cubicBezTo>
                    <a:cubicBezTo>
                      <a:pt x="1303325" y="1060247"/>
                      <a:pt x="1076554" y="589940"/>
                      <a:pt x="960120" y="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14" name="Freeform: Shape 213">
                <a:extLst>
                  <a:ext uri="{FF2B5EF4-FFF2-40B4-BE49-F238E27FC236}">
                    <a16:creationId xmlns:a16="http://schemas.microsoft.com/office/drawing/2014/main" id="{F3878075-D4E3-60FC-AAF1-D4FE59F44024}"/>
                  </a:ext>
                </a:extLst>
              </p:cNvPr>
              <p:cNvSpPr/>
              <p:nvPr/>
            </p:nvSpPr>
            <p:spPr>
              <a:xfrm>
                <a:off x="2282904" y="4803853"/>
                <a:ext cx="102023" cy="84207"/>
              </a:xfrm>
              <a:custGeom>
                <a:avLst/>
                <a:gdLst>
                  <a:gd name="connsiteX0" fmla="*/ 1592732 w 1592732"/>
                  <a:gd name="connsiteY0" fmla="*/ 0 h 1314602"/>
                  <a:gd name="connsiteX1" fmla="*/ 0 w 1592732"/>
                  <a:gd name="connsiteY1" fmla="*/ 1314602 h 1314602"/>
                  <a:gd name="connsiteX2" fmla="*/ 960120 w 1592732"/>
                  <a:gd name="connsiteY2" fmla="*/ 1314602 h 1314602"/>
                  <a:gd name="connsiteX3" fmla="*/ 1592732 w 1592732"/>
                  <a:gd name="connsiteY3" fmla="*/ 0 h 1314602"/>
                </a:gdLst>
                <a:ahLst/>
                <a:cxnLst>
                  <a:cxn ang="0">
                    <a:pos x="connsiteX0" y="connsiteY0"/>
                  </a:cxn>
                  <a:cxn ang="0">
                    <a:pos x="connsiteX1" y="connsiteY1"/>
                  </a:cxn>
                  <a:cxn ang="0">
                    <a:pos x="connsiteX2" y="connsiteY2"/>
                  </a:cxn>
                  <a:cxn ang="0">
                    <a:pos x="connsiteX3" y="connsiteY3"/>
                  </a:cxn>
                </a:cxnLst>
                <a:rect l="l" t="t" r="r" b="b"/>
                <a:pathLst>
                  <a:path w="1592732" h="1314602">
                    <a:moveTo>
                      <a:pt x="1592732" y="0"/>
                    </a:moveTo>
                    <a:cubicBezTo>
                      <a:pt x="883502" y="161056"/>
                      <a:pt x="292602" y="648773"/>
                      <a:pt x="0" y="1314602"/>
                    </a:cubicBezTo>
                    <a:lnTo>
                      <a:pt x="960120" y="1314602"/>
                    </a:lnTo>
                    <a:cubicBezTo>
                      <a:pt x="1076858" y="724662"/>
                      <a:pt x="1303630" y="254356"/>
                      <a:pt x="1592732" y="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15" name="Freeform: Shape 214">
                <a:extLst>
                  <a:ext uri="{FF2B5EF4-FFF2-40B4-BE49-F238E27FC236}">
                    <a16:creationId xmlns:a16="http://schemas.microsoft.com/office/drawing/2014/main" id="{BB9B9BFD-D524-01F5-54E6-8785EB1FC444}"/>
                  </a:ext>
                </a:extLst>
              </p:cNvPr>
              <p:cNvSpPr/>
              <p:nvPr/>
            </p:nvSpPr>
            <p:spPr>
              <a:xfrm>
                <a:off x="2270575" y="4907584"/>
                <a:ext cx="70745" cy="78096"/>
              </a:xfrm>
              <a:custGeom>
                <a:avLst/>
                <a:gdLst>
                  <a:gd name="connsiteX0" fmla="*/ 1066640 w 1104435"/>
                  <a:gd name="connsiteY0" fmla="*/ 609600 h 1219200"/>
                  <a:gd name="connsiteX1" fmla="*/ 1104436 w 1104435"/>
                  <a:gd name="connsiteY1" fmla="*/ 0 h 1219200"/>
                  <a:gd name="connsiteX2" fmla="*/ 83355 w 1104435"/>
                  <a:gd name="connsiteY2" fmla="*/ 0 h 1219200"/>
                  <a:gd name="connsiteX3" fmla="*/ 83355 w 1104435"/>
                  <a:gd name="connsiteY3" fmla="*/ 1219200 h 1219200"/>
                  <a:gd name="connsiteX4" fmla="*/ 1104436 w 1104435"/>
                  <a:gd name="connsiteY4" fmla="*/ 1219200 h 1219200"/>
                  <a:gd name="connsiteX5" fmla="*/ 1066640 w 1104435"/>
                  <a:gd name="connsiteY5" fmla="*/ 6096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4435" h="1219200">
                    <a:moveTo>
                      <a:pt x="1066640" y="609600"/>
                    </a:moveTo>
                    <a:cubicBezTo>
                      <a:pt x="1066620" y="405811"/>
                      <a:pt x="1079244" y="202219"/>
                      <a:pt x="1104436" y="0"/>
                    </a:cubicBezTo>
                    <a:lnTo>
                      <a:pt x="83355" y="0"/>
                    </a:lnTo>
                    <a:cubicBezTo>
                      <a:pt x="-27785" y="398800"/>
                      <a:pt x="-27785" y="820400"/>
                      <a:pt x="83355" y="1219200"/>
                    </a:cubicBezTo>
                    <a:lnTo>
                      <a:pt x="1104436" y="1219200"/>
                    </a:lnTo>
                    <a:cubicBezTo>
                      <a:pt x="1079244" y="1016980"/>
                      <a:pt x="1066620" y="813389"/>
                      <a:pt x="1066640" y="60960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202" name="Group 201">
              <a:extLst>
                <a:ext uri="{FF2B5EF4-FFF2-40B4-BE49-F238E27FC236}">
                  <a16:creationId xmlns:a16="http://schemas.microsoft.com/office/drawing/2014/main" id="{67123678-4257-8B6C-328A-8CE833666E2F}"/>
                </a:ext>
              </a:extLst>
            </p:cNvPr>
            <p:cNvGrpSpPr/>
            <p:nvPr/>
          </p:nvGrpSpPr>
          <p:grpSpPr>
            <a:xfrm>
              <a:off x="1193038" y="3626120"/>
              <a:ext cx="342900" cy="342900"/>
              <a:chOff x="1193038" y="3626120"/>
              <a:chExt cx="342900" cy="342900"/>
            </a:xfrm>
          </p:grpSpPr>
          <p:sp>
            <p:nvSpPr>
              <p:cNvPr id="204" name="Freeform: Shape 203">
                <a:extLst>
                  <a:ext uri="{FF2B5EF4-FFF2-40B4-BE49-F238E27FC236}">
                    <a16:creationId xmlns:a16="http://schemas.microsoft.com/office/drawing/2014/main" id="{BB9ADFDB-39E9-1E59-AEFD-C8CDE23BD9A7}"/>
                  </a:ext>
                </a:extLst>
              </p:cNvPr>
              <p:cNvSpPr/>
              <p:nvPr/>
            </p:nvSpPr>
            <p:spPr>
              <a:xfrm>
                <a:off x="1314259" y="3727249"/>
                <a:ext cx="100459" cy="100459"/>
              </a:xfrm>
              <a:custGeom>
                <a:avLst/>
                <a:gdLst>
                  <a:gd name="connsiteX0" fmla="*/ 714375 w 1428750"/>
                  <a:gd name="connsiteY0" fmla="*/ 0 h 1428750"/>
                  <a:gd name="connsiteX1" fmla="*/ 0 w 1428750"/>
                  <a:gd name="connsiteY1" fmla="*/ 714375 h 1428750"/>
                  <a:gd name="connsiteX2" fmla="*/ 714375 w 1428750"/>
                  <a:gd name="connsiteY2" fmla="*/ 1428750 h 1428750"/>
                  <a:gd name="connsiteX3" fmla="*/ 1428750 w 1428750"/>
                  <a:gd name="connsiteY3" fmla="*/ 714375 h 1428750"/>
                  <a:gd name="connsiteX4" fmla="*/ 714375 w 1428750"/>
                  <a:gd name="connsiteY4" fmla="*/ 0 h 1428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0" h="1428750">
                    <a:moveTo>
                      <a:pt x="714375" y="0"/>
                    </a:moveTo>
                    <a:cubicBezTo>
                      <a:pt x="320488" y="0"/>
                      <a:pt x="0" y="320488"/>
                      <a:pt x="0" y="714375"/>
                    </a:cubicBezTo>
                    <a:cubicBezTo>
                      <a:pt x="0" y="1108262"/>
                      <a:pt x="320488" y="1428750"/>
                      <a:pt x="714375" y="1428750"/>
                    </a:cubicBezTo>
                    <a:cubicBezTo>
                      <a:pt x="1108262" y="1428750"/>
                      <a:pt x="1428750" y="1108262"/>
                      <a:pt x="1428750" y="714375"/>
                    </a:cubicBezTo>
                    <a:cubicBezTo>
                      <a:pt x="1428750" y="320488"/>
                      <a:pt x="1108262" y="0"/>
                      <a:pt x="714375" y="0"/>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05" name="Freeform: Shape 204">
                <a:extLst>
                  <a:ext uri="{FF2B5EF4-FFF2-40B4-BE49-F238E27FC236}">
                    <a16:creationId xmlns:a16="http://schemas.microsoft.com/office/drawing/2014/main" id="{DEB3B835-4E89-020D-27CA-2DFC1853F907}"/>
                  </a:ext>
                </a:extLst>
              </p:cNvPr>
              <p:cNvSpPr/>
              <p:nvPr/>
            </p:nvSpPr>
            <p:spPr>
              <a:xfrm>
                <a:off x="1193038" y="3626120"/>
                <a:ext cx="342900" cy="342900"/>
              </a:xfrm>
              <a:custGeom>
                <a:avLst/>
                <a:gdLst>
                  <a:gd name="connsiteX0" fmla="*/ 4779131 w 4876800"/>
                  <a:gd name="connsiteY0" fmla="*/ 2017166 h 4876800"/>
                  <a:gd name="connsiteX1" fmla="*/ 4521527 w 4876800"/>
                  <a:gd name="connsiteY1" fmla="*/ 1934423 h 4876800"/>
                  <a:gd name="connsiteX2" fmla="*/ 4267591 w 4876800"/>
                  <a:gd name="connsiteY2" fmla="*/ 1322041 h 4876800"/>
                  <a:gd name="connsiteX3" fmla="*/ 4384653 w 4876800"/>
                  <a:gd name="connsiteY3" fmla="*/ 1087917 h 4876800"/>
                  <a:gd name="connsiteX4" fmla="*/ 4357859 w 4876800"/>
                  <a:gd name="connsiteY4" fmla="*/ 923001 h 4876800"/>
                  <a:gd name="connsiteX5" fmla="*/ 3953790 w 4876800"/>
                  <a:gd name="connsiteY5" fmla="*/ 518932 h 4876800"/>
                  <a:gd name="connsiteX6" fmla="*/ 3788874 w 4876800"/>
                  <a:gd name="connsiteY6" fmla="*/ 492138 h 4876800"/>
                  <a:gd name="connsiteX7" fmla="*/ 3554606 w 4876800"/>
                  <a:gd name="connsiteY7" fmla="*/ 609343 h 4876800"/>
                  <a:gd name="connsiteX8" fmla="*/ 2992450 w 4876800"/>
                  <a:gd name="connsiteY8" fmla="*/ 369637 h 4876800"/>
                  <a:gd name="connsiteX9" fmla="*/ 2851957 w 4876800"/>
                  <a:gd name="connsiteY9" fmla="*/ 78972 h 4876800"/>
                  <a:gd name="connsiteX10" fmla="*/ 2724150 w 4876800"/>
                  <a:gd name="connsiteY10" fmla="*/ 0 h 4876800"/>
                  <a:gd name="connsiteX11" fmla="*/ 2152650 w 4876800"/>
                  <a:gd name="connsiteY11" fmla="*/ 0 h 4876800"/>
                  <a:gd name="connsiteX12" fmla="*/ 2024844 w 4876800"/>
                  <a:gd name="connsiteY12" fmla="*/ 78972 h 4876800"/>
                  <a:gd name="connsiteX13" fmla="*/ 1884340 w 4876800"/>
                  <a:gd name="connsiteY13" fmla="*/ 369646 h 4876800"/>
                  <a:gd name="connsiteX14" fmla="*/ 1322184 w 4876800"/>
                  <a:gd name="connsiteY14" fmla="*/ 609352 h 4876800"/>
                  <a:gd name="connsiteX15" fmla="*/ 1087917 w 4876800"/>
                  <a:gd name="connsiteY15" fmla="*/ 492147 h 4876800"/>
                  <a:gd name="connsiteX16" fmla="*/ 923001 w 4876800"/>
                  <a:gd name="connsiteY16" fmla="*/ 518941 h 4876800"/>
                  <a:gd name="connsiteX17" fmla="*/ 518932 w 4876800"/>
                  <a:gd name="connsiteY17" fmla="*/ 923001 h 4876800"/>
                  <a:gd name="connsiteX18" fmla="*/ 492138 w 4876800"/>
                  <a:gd name="connsiteY18" fmla="*/ 1087917 h 4876800"/>
                  <a:gd name="connsiteX19" fmla="*/ 609343 w 4876800"/>
                  <a:gd name="connsiteY19" fmla="*/ 1322184 h 4876800"/>
                  <a:gd name="connsiteX20" fmla="*/ 369637 w 4876800"/>
                  <a:gd name="connsiteY20" fmla="*/ 1884340 h 4876800"/>
                  <a:gd name="connsiteX21" fmla="*/ 78972 w 4876800"/>
                  <a:gd name="connsiteY21" fmla="*/ 2024844 h 4876800"/>
                  <a:gd name="connsiteX22" fmla="*/ 0 w 4876800"/>
                  <a:gd name="connsiteY22" fmla="*/ 2152650 h 4876800"/>
                  <a:gd name="connsiteX23" fmla="*/ 0 w 4876800"/>
                  <a:gd name="connsiteY23" fmla="*/ 2724150 h 4876800"/>
                  <a:gd name="connsiteX24" fmla="*/ 78972 w 4876800"/>
                  <a:gd name="connsiteY24" fmla="*/ 2851957 h 4876800"/>
                  <a:gd name="connsiteX25" fmla="*/ 369646 w 4876800"/>
                  <a:gd name="connsiteY25" fmla="*/ 2992460 h 4876800"/>
                  <a:gd name="connsiteX26" fmla="*/ 583959 w 4876800"/>
                  <a:gd name="connsiteY26" fmla="*/ 3508848 h 4876800"/>
                  <a:gd name="connsiteX27" fmla="*/ 484337 w 4876800"/>
                  <a:gd name="connsiteY27" fmla="*/ 3807571 h 4876800"/>
                  <a:gd name="connsiteX28" fmla="*/ 518941 w 4876800"/>
                  <a:gd name="connsiteY28" fmla="*/ 3953799 h 4876800"/>
                  <a:gd name="connsiteX29" fmla="*/ 923011 w 4876800"/>
                  <a:gd name="connsiteY29" fmla="*/ 4357869 h 4876800"/>
                  <a:gd name="connsiteX30" fmla="*/ 1069238 w 4876800"/>
                  <a:gd name="connsiteY30" fmla="*/ 4392473 h 4876800"/>
                  <a:gd name="connsiteX31" fmla="*/ 1367961 w 4876800"/>
                  <a:gd name="connsiteY31" fmla="*/ 4292851 h 4876800"/>
                  <a:gd name="connsiteX32" fmla="*/ 1934442 w 4876800"/>
                  <a:gd name="connsiteY32" fmla="*/ 4521394 h 4876800"/>
                  <a:gd name="connsiteX33" fmla="*/ 2017186 w 4876800"/>
                  <a:gd name="connsiteY33" fmla="*/ 4779141 h 4876800"/>
                  <a:gd name="connsiteX34" fmla="*/ 2152650 w 4876800"/>
                  <a:gd name="connsiteY34" fmla="*/ 4876800 h 4876800"/>
                  <a:gd name="connsiteX35" fmla="*/ 2724150 w 4876800"/>
                  <a:gd name="connsiteY35" fmla="*/ 4876800 h 4876800"/>
                  <a:gd name="connsiteX36" fmla="*/ 2859634 w 4876800"/>
                  <a:gd name="connsiteY36" fmla="*/ 4779131 h 4876800"/>
                  <a:gd name="connsiteX37" fmla="*/ 2942378 w 4876800"/>
                  <a:gd name="connsiteY37" fmla="*/ 4521384 h 4876800"/>
                  <a:gd name="connsiteX38" fmla="*/ 3508858 w 4876800"/>
                  <a:gd name="connsiteY38" fmla="*/ 4292841 h 4876800"/>
                  <a:gd name="connsiteX39" fmla="*/ 3807581 w 4876800"/>
                  <a:gd name="connsiteY39" fmla="*/ 4392464 h 4876800"/>
                  <a:gd name="connsiteX40" fmla="*/ 3953808 w 4876800"/>
                  <a:gd name="connsiteY40" fmla="*/ 4357859 h 4876800"/>
                  <a:gd name="connsiteX41" fmla="*/ 4357878 w 4876800"/>
                  <a:gd name="connsiteY41" fmla="*/ 3953790 h 4876800"/>
                  <a:gd name="connsiteX42" fmla="*/ 4392483 w 4876800"/>
                  <a:gd name="connsiteY42" fmla="*/ 3807562 h 4876800"/>
                  <a:gd name="connsiteX43" fmla="*/ 4292861 w 4876800"/>
                  <a:gd name="connsiteY43" fmla="*/ 3508839 h 4876800"/>
                  <a:gd name="connsiteX44" fmla="*/ 4521403 w 4876800"/>
                  <a:gd name="connsiteY44" fmla="*/ 2942358 h 4876800"/>
                  <a:gd name="connsiteX45" fmla="*/ 4779150 w 4876800"/>
                  <a:gd name="connsiteY45" fmla="*/ 2859615 h 4876800"/>
                  <a:gd name="connsiteX46" fmla="*/ 4876800 w 4876800"/>
                  <a:gd name="connsiteY46" fmla="*/ 2724150 h 4876800"/>
                  <a:gd name="connsiteX47" fmla="*/ 4876800 w 4876800"/>
                  <a:gd name="connsiteY47" fmla="*/ 2152650 h 4876800"/>
                  <a:gd name="connsiteX48" fmla="*/ 4779131 w 4876800"/>
                  <a:gd name="connsiteY48" fmla="*/ 2017166 h 4876800"/>
                  <a:gd name="connsiteX49" fmla="*/ 2438400 w 4876800"/>
                  <a:gd name="connsiteY49" fmla="*/ 4010025 h 4876800"/>
                  <a:gd name="connsiteX50" fmla="*/ 866775 w 4876800"/>
                  <a:gd name="connsiteY50" fmla="*/ 2438400 h 4876800"/>
                  <a:gd name="connsiteX51" fmla="*/ 2438400 w 4876800"/>
                  <a:gd name="connsiteY51" fmla="*/ 866775 h 4876800"/>
                  <a:gd name="connsiteX52" fmla="*/ 4010025 w 4876800"/>
                  <a:gd name="connsiteY52" fmla="*/ 2438400 h 4876800"/>
                  <a:gd name="connsiteX53" fmla="*/ 2438400 w 4876800"/>
                  <a:gd name="connsiteY53" fmla="*/ 4010025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876800" h="4876800">
                    <a:moveTo>
                      <a:pt x="4779131" y="2017166"/>
                    </a:moveTo>
                    <a:lnTo>
                      <a:pt x="4521527" y="1934423"/>
                    </a:lnTo>
                    <a:cubicBezTo>
                      <a:pt x="4469340" y="1717881"/>
                      <a:pt x="4384234" y="1512494"/>
                      <a:pt x="4267591" y="1322041"/>
                    </a:cubicBezTo>
                    <a:lnTo>
                      <a:pt x="4384653" y="1087917"/>
                    </a:lnTo>
                    <a:cubicBezTo>
                      <a:pt x="4412142" y="1032948"/>
                      <a:pt x="4401398" y="966530"/>
                      <a:pt x="4357859" y="923001"/>
                    </a:cubicBezTo>
                    <a:lnTo>
                      <a:pt x="3953790" y="518932"/>
                    </a:lnTo>
                    <a:cubicBezTo>
                      <a:pt x="3910117" y="475259"/>
                      <a:pt x="3843985" y="464791"/>
                      <a:pt x="3788874" y="492138"/>
                    </a:cubicBezTo>
                    <a:lnTo>
                      <a:pt x="3554606" y="609343"/>
                    </a:lnTo>
                    <a:cubicBezTo>
                      <a:pt x="3380756" y="503168"/>
                      <a:pt x="3192256" y="422796"/>
                      <a:pt x="2992450" y="369637"/>
                    </a:cubicBezTo>
                    <a:lnTo>
                      <a:pt x="2851957" y="78972"/>
                    </a:lnTo>
                    <a:cubicBezTo>
                      <a:pt x="2827677" y="30556"/>
                      <a:pt x="2778290" y="0"/>
                      <a:pt x="2724150" y="0"/>
                    </a:cubicBezTo>
                    <a:lnTo>
                      <a:pt x="2152650" y="0"/>
                    </a:lnTo>
                    <a:cubicBezTo>
                      <a:pt x="2098510" y="0"/>
                      <a:pt x="2049123" y="30556"/>
                      <a:pt x="2024844" y="78972"/>
                    </a:cubicBezTo>
                    <a:lnTo>
                      <a:pt x="1884340" y="369646"/>
                    </a:lnTo>
                    <a:cubicBezTo>
                      <a:pt x="1684534" y="422805"/>
                      <a:pt x="1496035" y="503177"/>
                      <a:pt x="1322184" y="609352"/>
                    </a:cubicBezTo>
                    <a:lnTo>
                      <a:pt x="1087917" y="492147"/>
                    </a:lnTo>
                    <a:cubicBezTo>
                      <a:pt x="1032662" y="464382"/>
                      <a:pt x="966673" y="475126"/>
                      <a:pt x="923001" y="518941"/>
                    </a:cubicBezTo>
                    <a:lnTo>
                      <a:pt x="518932" y="923001"/>
                    </a:lnTo>
                    <a:cubicBezTo>
                      <a:pt x="475402" y="966530"/>
                      <a:pt x="464658" y="1032948"/>
                      <a:pt x="492138" y="1087917"/>
                    </a:cubicBezTo>
                    <a:lnTo>
                      <a:pt x="609343" y="1322184"/>
                    </a:lnTo>
                    <a:cubicBezTo>
                      <a:pt x="503168" y="1496035"/>
                      <a:pt x="422796" y="1684534"/>
                      <a:pt x="369637" y="1884340"/>
                    </a:cubicBezTo>
                    <a:lnTo>
                      <a:pt x="78972" y="2024844"/>
                    </a:lnTo>
                    <a:cubicBezTo>
                      <a:pt x="30556" y="2049123"/>
                      <a:pt x="0" y="2098510"/>
                      <a:pt x="0" y="2152650"/>
                    </a:cubicBezTo>
                    <a:lnTo>
                      <a:pt x="0" y="2724150"/>
                    </a:lnTo>
                    <a:cubicBezTo>
                      <a:pt x="0" y="2778290"/>
                      <a:pt x="30556" y="2827677"/>
                      <a:pt x="78972" y="2851957"/>
                    </a:cubicBezTo>
                    <a:lnTo>
                      <a:pt x="369646" y="2992460"/>
                    </a:lnTo>
                    <a:cubicBezTo>
                      <a:pt x="417919" y="3172863"/>
                      <a:pt x="489775" y="3346018"/>
                      <a:pt x="583959" y="3508848"/>
                    </a:cubicBezTo>
                    <a:lnTo>
                      <a:pt x="484337" y="3807571"/>
                    </a:lnTo>
                    <a:cubicBezTo>
                      <a:pt x="467316" y="3858920"/>
                      <a:pt x="480708" y="3915566"/>
                      <a:pt x="518941" y="3953799"/>
                    </a:cubicBezTo>
                    <a:lnTo>
                      <a:pt x="923011" y="4357869"/>
                    </a:lnTo>
                    <a:cubicBezTo>
                      <a:pt x="961377" y="4396102"/>
                      <a:pt x="1017746" y="4409494"/>
                      <a:pt x="1069238" y="4392473"/>
                    </a:cubicBezTo>
                    <a:lnTo>
                      <a:pt x="1367961" y="4292851"/>
                    </a:lnTo>
                    <a:cubicBezTo>
                      <a:pt x="1547536" y="4397074"/>
                      <a:pt x="1737427" y="4473674"/>
                      <a:pt x="1934442" y="4521394"/>
                    </a:cubicBezTo>
                    <a:lnTo>
                      <a:pt x="2017186" y="4779141"/>
                    </a:lnTo>
                    <a:cubicBezTo>
                      <a:pt x="2036569" y="4837452"/>
                      <a:pt x="2091118" y="4876800"/>
                      <a:pt x="2152650" y="4876800"/>
                    </a:cubicBezTo>
                    <a:lnTo>
                      <a:pt x="2724150" y="4876800"/>
                    </a:lnTo>
                    <a:cubicBezTo>
                      <a:pt x="2785682" y="4876800"/>
                      <a:pt x="2840241" y="4837452"/>
                      <a:pt x="2859634" y="4779131"/>
                    </a:cubicBezTo>
                    <a:lnTo>
                      <a:pt x="2942378" y="4521384"/>
                    </a:lnTo>
                    <a:cubicBezTo>
                      <a:pt x="3139393" y="4473664"/>
                      <a:pt x="3329283" y="4397064"/>
                      <a:pt x="3508858" y="4292841"/>
                    </a:cubicBezTo>
                    <a:lnTo>
                      <a:pt x="3807581" y="4392464"/>
                    </a:lnTo>
                    <a:cubicBezTo>
                      <a:pt x="3859063" y="4409485"/>
                      <a:pt x="3915718" y="4396093"/>
                      <a:pt x="3953808" y="4357859"/>
                    </a:cubicBezTo>
                    <a:lnTo>
                      <a:pt x="4357878" y="3953790"/>
                    </a:lnTo>
                    <a:cubicBezTo>
                      <a:pt x="4396112" y="3915556"/>
                      <a:pt x="4409504" y="3858911"/>
                      <a:pt x="4392483" y="3807562"/>
                    </a:cubicBezTo>
                    <a:lnTo>
                      <a:pt x="4292861" y="3508839"/>
                    </a:lnTo>
                    <a:cubicBezTo>
                      <a:pt x="4397083" y="3329264"/>
                      <a:pt x="4473683" y="3139373"/>
                      <a:pt x="4521403" y="2942358"/>
                    </a:cubicBezTo>
                    <a:lnTo>
                      <a:pt x="4779150" y="2859615"/>
                    </a:lnTo>
                    <a:cubicBezTo>
                      <a:pt x="4837452" y="2840241"/>
                      <a:pt x="4876800" y="2785682"/>
                      <a:pt x="4876800" y="2724150"/>
                    </a:cubicBezTo>
                    <a:lnTo>
                      <a:pt x="4876800" y="2152650"/>
                    </a:lnTo>
                    <a:cubicBezTo>
                      <a:pt x="4876800" y="2091118"/>
                      <a:pt x="4837452" y="2036569"/>
                      <a:pt x="4779131" y="2017166"/>
                    </a:cubicBezTo>
                    <a:close/>
                    <a:moveTo>
                      <a:pt x="2438400" y="4010025"/>
                    </a:moveTo>
                    <a:cubicBezTo>
                      <a:pt x="1571806" y="4010025"/>
                      <a:pt x="866775" y="3304994"/>
                      <a:pt x="866775" y="2438400"/>
                    </a:cubicBezTo>
                    <a:cubicBezTo>
                      <a:pt x="866775" y="1571806"/>
                      <a:pt x="1571806" y="866775"/>
                      <a:pt x="2438400" y="866775"/>
                    </a:cubicBezTo>
                    <a:cubicBezTo>
                      <a:pt x="3304994" y="866775"/>
                      <a:pt x="4010025" y="1571806"/>
                      <a:pt x="4010025" y="2438400"/>
                    </a:cubicBezTo>
                    <a:cubicBezTo>
                      <a:pt x="4010025" y="3304994"/>
                      <a:pt x="3304994" y="4010025"/>
                      <a:pt x="2438400" y="4010025"/>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206" name="Freeform: Shape 205">
                <a:extLst>
                  <a:ext uri="{FF2B5EF4-FFF2-40B4-BE49-F238E27FC236}">
                    <a16:creationId xmlns:a16="http://schemas.microsoft.com/office/drawing/2014/main" id="{5BDCF59C-BF62-6635-120A-6C0AC7350DF8}"/>
                  </a:ext>
                </a:extLst>
              </p:cNvPr>
              <p:cNvSpPr/>
              <p:nvPr/>
            </p:nvSpPr>
            <p:spPr>
              <a:xfrm>
                <a:off x="1297485" y="3827873"/>
                <a:ext cx="133997" cy="60110"/>
              </a:xfrm>
              <a:custGeom>
                <a:avLst/>
                <a:gdLst>
                  <a:gd name="connsiteX0" fmla="*/ 1647787 w 1905733"/>
                  <a:gd name="connsiteY0" fmla="*/ 0 h 854897"/>
                  <a:gd name="connsiteX1" fmla="*/ 952929 w 1905733"/>
                  <a:gd name="connsiteY1" fmla="*/ 283397 h 854897"/>
                  <a:gd name="connsiteX2" fmla="*/ 258051 w 1905733"/>
                  <a:gd name="connsiteY2" fmla="*/ 0 h 854897"/>
                  <a:gd name="connsiteX3" fmla="*/ 0 w 1905733"/>
                  <a:gd name="connsiteY3" fmla="*/ 424453 h 854897"/>
                  <a:gd name="connsiteX4" fmla="*/ 952929 w 1905733"/>
                  <a:gd name="connsiteY4" fmla="*/ 854897 h 854897"/>
                  <a:gd name="connsiteX5" fmla="*/ 1905734 w 1905733"/>
                  <a:gd name="connsiteY5" fmla="*/ 424596 h 854897"/>
                  <a:gd name="connsiteX6" fmla="*/ 1647787 w 1905733"/>
                  <a:gd name="connsiteY6" fmla="*/ 0 h 854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5733" h="854897">
                    <a:moveTo>
                      <a:pt x="1647787" y="0"/>
                    </a:moveTo>
                    <a:cubicBezTo>
                      <a:pt x="1467622" y="174688"/>
                      <a:pt x="1223048" y="283397"/>
                      <a:pt x="952929" y="283397"/>
                    </a:cubicBezTo>
                    <a:cubicBezTo>
                      <a:pt x="682809" y="283397"/>
                      <a:pt x="438198" y="174688"/>
                      <a:pt x="258051" y="0"/>
                    </a:cubicBezTo>
                    <a:cubicBezTo>
                      <a:pt x="140008" y="116700"/>
                      <a:pt x="49425" y="261337"/>
                      <a:pt x="0" y="424453"/>
                    </a:cubicBezTo>
                    <a:cubicBezTo>
                      <a:pt x="235572" y="686629"/>
                      <a:pt x="573519" y="854897"/>
                      <a:pt x="952929" y="854897"/>
                    </a:cubicBezTo>
                    <a:cubicBezTo>
                      <a:pt x="1332262" y="854897"/>
                      <a:pt x="1670180" y="686695"/>
                      <a:pt x="1905734" y="424596"/>
                    </a:cubicBezTo>
                    <a:cubicBezTo>
                      <a:pt x="1856356" y="261404"/>
                      <a:pt x="1765802" y="116710"/>
                      <a:pt x="1647787" y="0"/>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sp>
          <p:nvSpPr>
            <p:cNvPr id="203" name="Freeform: Shape 202">
              <a:extLst>
                <a:ext uri="{FF2B5EF4-FFF2-40B4-BE49-F238E27FC236}">
                  <a16:creationId xmlns:a16="http://schemas.microsoft.com/office/drawing/2014/main" id="{0BB0AE15-8513-397A-A72E-219C46305D06}"/>
                </a:ext>
              </a:extLst>
            </p:cNvPr>
            <p:cNvSpPr/>
            <p:nvPr/>
          </p:nvSpPr>
          <p:spPr bwMode="auto">
            <a:xfrm>
              <a:off x="787659" y="1723688"/>
              <a:ext cx="2154852" cy="482457"/>
            </a:xfrm>
            <a:custGeom>
              <a:avLst/>
              <a:gdLst>
                <a:gd name="connsiteX0" fmla="*/ 135756 w 2154852"/>
                <a:gd name="connsiteY0" fmla="*/ 0 h 482457"/>
                <a:gd name="connsiteX1" fmla="*/ 2019096 w 2154852"/>
                <a:gd name="connsiteY1" fmla="*/ 0 h 482457"/>
                <a:gd name="connsiteX2" fmla="*/ 2154852 w 2154852"/>
                <a:gd name="connsiteY2" fmla="*/ 135756 h 482457"/>
                <a:gd name="connsiteX3" fmla="*/ 2154852 w 2154852"/>
                <a:gd name="connsiteY3" fmla="*/ 482457 h 482457"/>
                <a:gd name="connsiteX4" fmla="*/ 2133720 w 2154852"/>
                <a:gd name="connsiteY4" fmla="*/ 478190 h 482457"/>
                <a:gd name="connsiteX5" fmla="*/ 21132 w 2154852"/>
                <a:gd name="connsiteY5" fmla="*/ 478190 h 482457"/>
                <a:gd name="connsiteX6" fmla="*/ 0 w 2154852"/>
                <a:gd name="connsiteY6" fmla="*/ 482457 h 482457"/>
                <a:gd name="connsiteX7" fmla="*/ 0 w 2154852"/>
                <a:gd name="connsiteY7" fmla="*/ 135756 h 482457"/>
                <a:gd name="connsiteX8" fmla="*/ 135756 w 2154852"/>
                <a:gd name="connsiteY8" fmla="*/ 0 h 48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852" h="482457">
                  <a:moveTo>
                    <a:pt x="135756" y="0"/>
                  </a:moveTo>
                  <a:lnTo>
                    <a:pt x="2019096" y="0"/>
                  </a:lnTo>
                  <a:cubicBezTo>
                    <a:pt x="2094072" y="0"/>
                    <a:pt x="2154852" y="60780"/>
                    <a:pt x="2154852" y="135756"/>
                  </a:cubicBezTo>
                  <a:lnTo>
                    <a:pt x="2154852" y="482457"/>
                  </a:lnTo>
                  <a:lnTo>
                    <a:pt x="2133720" y="478190"/>
                  </a:lnTo>
                  <a:lnTo>
                    <a:pt x="21132" y="478190"/>
                  </a:lnTo>
                  <a:lnTo>
                    <a:pt x="0" y="482457"/>
                  </a:lnTo>
                  <a:lnTo>
                    <a:pt x="0" y="135756"/>
                  </a:lnTo>
                  <a:cubicBezTo>
                    <a:pt x="0" y="60780"/>
                    <a:pt x="60780" y="0"/>
                    <a:pt x="135756" y="0"/>
                  </a:cubicBezTo>
                  <a:close/>
                </a:path>
              </a:pathLst>
            </a:custGeom>
            <a:solidFill>
              <a:srgbClr val="C03BC4">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Segoe UI Semibold"/>
                  <a:ea typeface="+mn-ea"/>
                  <a:cs typeface="+mn-cs"/>
                </a:rPr>
                <a:t>Intelligent Apps</a:t>
              </a:r>
            </a:p>
          </p:txBody>
        </p:sp>
      </p:grpSp>
      <p:grpSp>
        <p:nvGrpSpPr>
          <p:cNvPr id="228" name="Group 227">
            <a:extLst>
              <a:ext uri="{FF2B5EF4-FFF2-40B4-BE49-F238E27FC236}">
                <a16:creationId xmlns:a16="http://schemas.microsoft.com/office/drawing/2014/main" id="{805FC3DB-EB4A-5473-3B16-C1578AB6F60F}"/>
              </a:ext>
            </a:extLst>
          </p:cNvPr>
          <p:cNvGrpSpPr/>
          <p:nvPr/>
        </p:nvGrpSpPr>
        <p:grpSpPr>
          <a:xfrm>
            <a:off x="9118341" y="1723688"/>
            <a:ext cx="2417148" cy="4166270"/>
            <a:chOff x="9118341" y="1723688"/>
            <a:chExt cx="2417148" cy="4166270"/>
          </a:xfrm>
        </p:grpSpPr>
        <p:sp>
          <p:nvSpPr>
            <p:cNvPr id="229" name="Rectangle: Rounded Corners 228">
              <a:extLst>
                <a:ext uri="{FF2B5EF4-FFF2-40B4-BE49-F238E27FC236}">
                  <a16:creationId xmlns:a16="http://schemas.microsoft.com/office/drawing/2014/main" id="{2C16881C-718A-3E59-E258-3F251DDA45D0}"/>
                </a:ext>
              </a:extLst>
            </p:cNvPr>
            <p:cNvSpPr/>
            <p:nvPr/>
          </p:nvSpPr>
          <p:spPr bwMode="auto">
            <a:xfrm>
              <a:off x="9118341" y="2201878"/>
              <a:ext cx="2417148" cy="3688080"/>
            </a:xfrm>
            <a:prstGeom prst="roundRect">
              <a:avLst>
                <a:gd name="adj" fmla="val 6300"/>
              </a:avLst>
            </a:prstGeom>
            <a:gradFill flip="none" rotWithShape="1">
              <a:gsLst>
                <a:gs pos="0">
                  <a:srgbClr val="FFFFFF">
                    <a:alpha val="70000"/>
                  </a:srgbClr>
                </a:gs>
                <a:gs pos="55132">
                  <a:srgbClr val="FFFFFF"/>
                </a:gs>
                <a:gs pos="21000">
                  <a:srgbClr val="FFFFFF"/>
                </a:gs>
                <a:gs pos="89000">
                  <a:srgbClr val="FCF5FC"/>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230" name="Rectangle: Rounded Corners 229">
              <a:extLst>
                <a:ext uri="{FF2B5EF4-FFF2-40B4-BE49-F238E27FC236}">
                  <a16:creationId xmlns:a16="http://schemas.microsoft.com/office/drawing/2014/main" id="{7EBBB369-4415-8DE4-E200-C1EE7ECF7D26}"/>
                </a:ext>
              </a:extLst>
            </p:cNvPr>
            <p:cNvSpPr/>
            <p:nvPr/>
          </p:nvSpPr>
          <p:spPr bwMode="auto">
            <a:xfrm>
              <a:off x="9249489" y="2339038"/>
              <a:ext cx="2154852" cy="3550920"/>
            </a:xfrm>
            <a:prstGeom prst="roundRect">
              <a:avLst>
                <a:gd name="adj" fmla="val 6300"/>
              </a:avLst>
            </a:prstGeom>
            <a:gradFill flip="none" rotWithShape="1">
              <a:gsLst>
                <a:gs pos="0">
                  <a:srgbClr val="FFFFFF">
                    <a:alpha val="70000"/>
                  </a:srgbClr>
                </a:gs>
                <a:gs pos="55132">
                  <a:srgbClr val="FFFFFF">
                    <a:alpha val="28000"/>
                  </a:srgbClr>
                </a:gs>
                <a:gs pos="21000">
                  <a:srgbClr val="FFFFFF">
                    <a:alpha val="50000"/>
                  </a:srgbClr>
                </a:gs>
                <a:gs pos="78000">
                  <a:srgbClr val="FCF5FC"/>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231" name="TextBox 230">
              <a:extLst>
                <a:ext uri="{FF2B5EF4-FFF2-40B4-BE49-F238E27FC236}">
                  <a16:creationId xmlns:a16="http://schemas.microsoft.com/office/drawing/2014/main" id="{91AA65A4-046D-6F16-2508-6F29B7E76BBE}"/>
                </a:ext>
                <a:ext uri="{C183D7F6-B498-43B3-948B-1728B52AA6E4}">
                  <adec:decorative xmlns:adec="http://schemas.microsoft.com/office/drawing/2017/decorative" val="1"/>
                </a:ext>
              </a:extLst>
            </p:cNvPr>
            <p:cNvSpPr txBox="1"/>
            <p:nvPr/>
          </p:nvSpPr>
          <p:spPr>
            <a:xfrm>
              <a:off x="10238121" y="5513137"/>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and more!</a:t>
              </a:r>
            </a:p>
          </p:txBody>
        </p:sp>
        <p:grpSp>
          <p:nvGrpSpPr>
            <p:cNvPr id="232" name="Group 231">
              <a:extLst>
                <a:ext uri="{FF2B5EF4-FFF2-40B4-BE49-F238E27FC236}">
                  <a16:creationId xmlns:a16="http://schemas.microsoft.com/office/drawing/2014/main" id="{A8726F3B-D8EA-F5BA-CE9B-DA97388EFBEB}"/>
                </a:ext>
              </a:extLst>
            </p:cNvPr>
            <p:cNvGrpSpPr/>
            <p:nvPr/>
          </p:nvGrpSpPr>
          <p:grpSpPr>
            <a:xfrm>
              <a:off x="9312926" y="4290695"/>
              <a:ext cx="1107277" cy="664753"/>
              <a:chOff x="9442597" y="3284277"/>
              <a:chExt cx="1107277" cy="664753"/>
            </a:xfrm>
          </p:grpSpPr>
          <p:pic>
            <p:nvPicPr>
              <p:cNvPr id="254" name="Picture 4" descr="News | Mistral AI | Open-weight models">
                <a:extLst>
                  <a:ext uri="{FF2B5EF4-FFF2-40B4-BE49-F238E27FC236}">
                    <a16:creationId xmlns:a16="http://schemas.microsoft.com/office/drawing/2014/main" id="{D5C1ACDA-697A-413A-BCF5-0F1AA5E070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57717" y="3284277"/>
                <a:ext cx="625106" cy="400068"/>
              </a:xfrm>
              <a:prstGeom prst="rect">
                <a:avLst/>
              </a:prstGeom>
              <a:noFill/>
              <a:extLst>
                <a:ext uri="{909E8E84-426E-40DD-AFC4-6F175D3DCCD1}">
                  <a14:hiddenFill xmlns:a14="http://schemas.microsoft.com/office/drawing/2010/main">
                    <a:solidFill>
                      <a:srgbClr val="FFFFFF"/>
                    </a:solidFill>
                  </a14:hiddenFill>
                </a:ext>
              </a:extLst>
            </p:spPr>
          </p:pic>
          <p:sp>
            <p:nvSpPr>
              <p:cNvPr id="255" name="TextBox 254">
                <a:extLst>
                  <a:ext uri="{FF2B5EF4-FFF2-40B4-BE49-F238E27FC236}">
                    <a16:creationId xmlns:a16="http://schemas.microsoft.com/office/drawing/2014/main" id="{7BCF5356-CC21-81C0-7A87-CF0CAA4BB8F7}"/>
                  </a:ext>
                  <a:ext uri="{C183D7F6-B498-43B3-948B-1728B52AA6E4}">
                    <adec:decorative xmlns:adec="http://schemas.microsoft.com/office/drawing/2017/decorative" val="1"/>
                  </a:ext>
                </a:extLst>
              </p:cNvPr>
              <p:cNvSpPr txBox="1"/>
              <p:nvPr/>
            </p:nvSpPr>
            <p:spPr>
              <a:xfrm>
                <a:off x="9442597" y="3764364"/>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Mistral</a:t>
                </a:r>
              </a:p>
            </p:txBody>
          </p:sp>
        </p:grpSp>
        <p:grpSp>
          <p:nvGrpSpPr>
            <p:cNvPr id="233" name="Group 232">
              <a:extLst>
                <a:ext uri="{FF2B5EF4-FFF2-40B4-BE49-F238E27FC236}">
                  <a16:creationId xmlns:a16="http://schemas.microsoft.com/office/drawing/2014/main" id="{8EC8A9E1-A143-E27A-7A64-F1D4BB553381}"/>
                </a:ext>
              </a:extLst>
            </p:cNvPr>
            <p:cNvGrpSpPr/>
            <p:nvPr/>
          </p:nvGrpSpPr>
          <p:grpSpPr>
            <a:xfrm>
              <a:off x="10238121" y="3458279"/>
              <a:ext cx="1107277" cy="740681"/>
              <a:chOff x="9442597" y="4928726"/>
              <a:chExt cx="1107277" cy="740681"/>
            </a:xfrm>
          </p:grpSpPr>
          <p:pic>
            <p:nvPicPr>
              <p:cNvPr id="252" name="Picture 251" descr="A yellow emoji with hands on it  Description automatically generated">
                <a:extLst>
                  <a:ext uri="{FF2B5EF4-FFF2-40B4-BE49-F238E27FC236}">
                    <a16:creationId xmlns:a16="http://schemas.microsoft.com/office/drawing/2014/main" id="{3F1D51D4-BC41-489C-A2EE-41866C19C99D}"/>
                  </a:ext>
                </a:extLst>
              </p:cNvPr>
              <p:cNvPicPr>
                <a:picLocks noChangeAspect="1"/>
              </p:cNvPicPr>
              <p:nvPr/>
            </p:nvPicPr>
            <p:blipFill>
              <a:blip r:embed="rId6"/>
              <a:stretch>
                <a:fillRect/>
              </a:stretch>
            </p:blipFill>
            <p:spPr>
              <a:xfrm>
                <a:off x="9673538" y="4928726"/>
                <a:ext cx="593467" cy="551924"/>
              </a:xfrm>
              <a:prstGeom prst="rect">
                <a:avLst/>
              </a:prstGeom>
            </p:spPr>
          </p:pic>
          <p:sp>
            <p:nvSpPr>
              <p:cNvPr id="253" name="TextBox 252">
                <a:extLst>
                  <a:ext uri="{FF2B5EF4-FFF2-40B4-BE49-F238E27FC236}">
                    <a16:creationId xmlns:a16="http://schemas.microsoft.com/office/drawing/2014/main" id="{F9D0709D-7DCE-7DB3-7044-A79FEDF3AC0C}"/>
                  </a:ext>
                  <a:ext uri="{C183D7F6-B498-43B3-948B-1728B52AA6E4}">
                    <adec:decorative xmlns:adec="http://schemas.microsoft.com/office/drawing/2017/decorative" val="1"/>
                  </a:ext>
                </a:extLst>
              </p:cNvPr>
              <p:cNvSpPr txBox="1"/>
              <p:nvPr/>
            </p:nvSpPr>
            <p:spPr>
              <a:xfrm>
                <a:off x="9442597" y="5484741"/>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Hugging Face</a:t>
                </a:r>
              </a:p>
            </p:txBody>
          </p:sp>
        </p:grpSp>
        <p:grpSp>
          <p:nvGrpSpPr>
            <p:cNvPr id="234" name="Group 233">
              <a:extLst>
                <a:ext uri="{FF2B5EF4-FFF2-40B4-BE49-F238E27FC236}">
                  <a16:creationId xmlns:a16="http://schemas.microsoft.com/office/drawing/2014/main" id="{B0AC41AE-E9D2-C6F0-FB41-2B8CB3855A92}"/>
                </a:ext>
              </a:extLst>
            </p:cNvPr>
            <p:cNvGrpSpPr/>
            <p:nvPr/>
          </p:nvGrpSpPr>
          <p:grpSpPr>
            <a:xfrm>
              <a:off x="9312926" y="3504275"/>
              <a:ext cx="1107277" cy="691012"/>
              <a:chOff x="9442597" y="2497857"/>
              <a:chExt cx="1107277" cy="691012"/>
            </a:xfrm>
          </p:grpSpPr>
          <p:sp>
            <p:nvSpPr>
              <p:cNvPr id="250" name="TextBox 249">
                <a:extLst>
                  <a:ext uri="{FF2B5EF4-FFF2-40B4-BE49-F238E27FC236}">
                    <a16:creationId xmlns:a16="http://schemas.microsoft.com/office/drawing/2014/main" id="{B1D712D3-70E4-C550-D710-18CD4C4DF8FC}"/>
                  </a:ext>
                  <a:ext uri="{C183D7F6-B498-43B3-948B-1728B52AA6E4}">
                    <adec:decorative xmlns:adec="http://schemas.microsoft.com/office/drawing/2017/decorative" val="1"/>
                  </a:ext>
                </a:extLst>
              </p:cNvPr>
              <p:cNvSpPr txBox="1"/>
              <p:nvPr/>
            </p:nvSpPr>
            <p:spPr>
              <a:xfrm>
                <a:off x="9442597" y="3004203"/>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OpenAI</a:t>
                </a:r>
              </a:p>
            </p:txBody>
          </p:sp>
          <p:pic>
            <p:nvPicPr>
              <p:cNvPr id="251" name="Picture 250" descr="A black background with a black square  Description automatically generated with medium confidence">
                <a:extLst>
                  <a:ext uri="{FF2B5EF4-FFF2-40B4-BE49-F238E27FC236}">
                    <a16:creationId xmlns:a16="http://schemas.microsoft.com/office/drawing/2014/main" id="{F55D30FC-EA32-B6F7-6ACA-5D4B4FE7B1D1}"/>
                  </a:ext>
                </a:extLst>
              </p:cNvPr>
              <p:cNvPicPr>
                <a:picLocks noChangeAspect="1"/>
              </p:cNvPicPr>
              <p:nvPr/>
            </p:nvPicPr>
            <p:blipFill>
              <a:blip r:embed="rId7"/>
              <a:stretch>
                <a:fillRect/>
              </a:stretch>
            </p:blipFill>
            <p:spPr>
              <a:xfrm>
                <a:off x="9746850" y="2497857"/>
                <a:ext cx="446845" cy="452591"/>
              </a:xfrm>
              <a:prstGeom prst="rect">
                <a:avLst/>
              </a:prstGeom>
            </p:spPr>
          </p:pic>
        </p:grpSp>
        <p:grpSp>
          <p:nvGrpSpPr>
            <p:cNvPr id="235" name="Group 234">
              <a:extLst>
                <a:ext uri="{FF2B5EF4-FFF2-40B4-BE49-F238E27FC236}">
                  <a16:creationId xmlns:a16="http://schemas.microsoft.com/office/drawing/2014/main" id="{41938879-125D-CE7B-65F8-0A74D5F67923}"/>
                </a:ext>
              </a:extLst>
            </p:cNvPr>
            <p:cNvGrpSpPr/>
            <p:nvPr/>
          </p:nvGrpSpPr>
          <p:grpSpPr>
            <a:xfrm>
              <a:off x="9308430" y="5062454"/>
              <a:ext cx="1107277" cy="631423"/>
              <a:chOff x="10367792" y="2557446"/>
              <a:chExt cx="1107277" cy="631423"/>
            </a:xfrm>
          </p:grpSpPr>
          <p:sp>
            <p:nvSpPr>
              <p:cNvPr id="248" name="TextBox 247">
                <a:extLst>
                  <a:ext uri="{FF2B5EF4-FFF2-40B4-BE49-F238E27FC236}">
                    <a16:creationId xmlns:a16="http://schemas.microsoft.com/office/drawing/2014/main" id="{04BD57B9-5086-87BE-BDB3-473D1F5F0C80}"/>
                  </a:ext>
                  <a:ext uri="{C183D7F6-B498-43B3-948B-1728B52AA6E4}">
                    <adec:decorative xmlns:adec="http://schemas.microsoft.com/office/drawing/2017/decorative" val="1"/>
                  </a:ext>
                </a:extLst>
              </p:cNvPr>
              <p:cNvSpPr txBox="1"/>
              <p:nvPr/>
            </p:nvSpPr>
            <p:spPr>
              <a:xfrm>
                <a:off x="10367792" y="3004203"/>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err="1">
                    <a:ln w="3175">
                      <a:noFill/>
                    </a:ln>
                    <a:solidFill>
                      <a:srgbClr val="000000"/>
                    </a:solidFill>
                    <a:effectLst/>
                    <a:uLnTx/>
                    <a:uFillTx/>
                    <a:latin typeface="Segoe UI"/>
                    <a:cs typeface="Segoe UI" pitchFamily="34" charset="0"/>
                  </a:rPr>
                  <a:t>LLaMa</a:t>
                </a:r>
                <a:endParaRPr kumimoji="0" lang="en-GB" sz="1200" b="0" i="0" u="none" strike="noStrike" kern="0" cap="none" spc="0" normalizeH="0" baseline="0" noProof="0">
                  <a:ln w="3175">
                    <a:noFill/>
                  </a:ln>
                  <a:solidFill>
                    <a:srgbClr val="000000"/>
                  </a:solidFill>
                  <a:effectLst/>
                  <a:uLnTx/>
                  <a:uFillTx/>
                  <a:latin typeface="Segoe UI"/>
                  <a:cs typeface="Segoe UI" pitchFamily="34" charset="0"/>
                </a:endParaRPr>
              </a:p>
            </p:txBody>
          </p:sp>
          <p:pic>
            <p:nvPicPr>
              <p:cNvPr id="249" name="Picture 2" descr="Meta Logo and symbol, meaning, history, PNG">
                <a:extLst>
                  <a:ext uri="{FF2B5EF4-FFF2-40B4-BE49-F238E27FC236}">
                    <a16:creationId xmlns:a16="http://schemas.microsoft.com/office/drawing/2014/main" id="{C49D6CB2-E73E-0340-1523-E4D6E0668F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99104" y="2557446"/>
                <a:ext cx="592723" cy="3334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6" name="Group 235">
              <a:extLst>
                <a:ext uri="{FF2B5EF4-FFF2-40B4-BE49-F238E27FC236}">
                  <a16:creationId xmlns:a16="http://schemas.microsoft.com/office/drawing/2014/main" id="{D36AF6D3-00EC-0ABB-9CAC-F81D12CBA4F0}"/>
                </a:ext>
              </a:extLst>
            </p:cNvPr>
            <p:cNvGrpSpPr/>
            <p:nvPr/>
          </p:nvGrpSpPr>
          <p:grpSpPr>
            <a:xfrm>
              <a:off x="10238121" y="4160872"/>
              <a:ext cx="1107277" cy="794576"/>
              <a:chOff x="10367792" y="3154454"/>
              <a:chExt cx="1107277" cy="794576"/>
            </a:xfrm>
          </p:grpSpPr>
          <p:sp>
            <p:nvSpPr>
              <p:cNvPr id="246" name="TextBox 245">
                <a:extLst>
                  <a:ext uri="{FF2B5EF4-FFF2-40B4-BE49-F238E27FC236}">
                    <a16:creationId xmlns:a16="http://schemas.microsoft.com/office/drawing/2014/main" id="{144EC7F5-5CA1-9413-2230-AF1927C29E28}"/>
                  </a:ext>
                  <a:ext uri="{C183D7F6-B498-43B3-948B-1728B52AA6E4}">
                    <adec:decorative xmlns:adec="http://schemas.microsoft.com/office/drawing/2017/decorative" val="1"/>
                  </a:ext>
                </a:extLst>
              </p:cNvPr>
              <p:cNvSpPr txBox="1"/>
              <p:nvPr/>
            </p:nvSpPr>
            <p:spPr>
              <a:xfrm>
                <a:off x="10367792" y="3764364"/>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Cohere</a:t>
                </a:r>
              </a:p>
            </p:txBody>
          </p:sp>
          <p:pic>
            <p:nvPicPr>
              <p:cNvPr id="247" name="Picture 6" descr="AI Development Cloud Platform | Deploy &amp; Manage AI Logic">
                <a:extLst>
                  <a:ext uri="{FF2B5EF4-FFF2-40B4-BE49-F238E27FC236}">
                    <a16:creationId xmlns:a16="http://schemas.microsoft.com/office/drawing/2014/main" id="{A45707A1-C74D-EAF3-1471-CABD538D7E5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73931" y="3154454"/>
                <a:ext cx="643068" cy="6597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7" name="Group 236">
              <a:extLst>
                <a:ext uri="{FF2B5EF4-FFF2-40B4-BE49-F238E27FC236}">
                  <a16:creationId xmlns:a16="http://schemas.microsoft.com/office/drawing/2014/main" id="{20F94F52-C18A-5BF1-C69B-F1B8748DBFB1}"/>
                </a:ext>
              </a:extLst>
            </p:cNvPr>
            <p:cNvGrpSpPr/>
            <p:nvPr/>
          </p:nvGrpSpPr>
          <p:grpSpPr>
            <a:xfrm>
              <a:off x="9312926" y="2458839"/>
              <a:ext cx="2032472" cy="904032"/>
              <a:chOff x="9442597" y="3989824"/>
              <a:chExt cx="2032472" cy="904032"/>
            </a:xfrm>
          </p:grpSpPr>
          <p:sp>
            <p:nvSpPr>
              <p:cNvPr id="242" name="TextBox 241">
                <a:extLst>
                  <a:ext uri="{FF2B5EF4-FFF2-40B4-BE49-F238E27FC236}">
                    <a16:creationId xmlns:a16="http://schemas.microsoft.com/office/drawing/2014/main" id="{FA6C8618-C3C9-BFE3-A4FE-19CEDD4A0342}"/>
                  </a:ext>
                  <a:ext uri="{C183D7F6-B498-43B3-948B-1728B52AA6E4}">
                    <adec:decorative xmlns:adec="http://schemas.microsoft.com/office/drawing/2017/decorative" val="1"/>
                  </a:ext>
                </a:extLst>
              </p:cNvPr>
              <p:cNvSpPr txBox="1"/>
              <p:nvPr/>
            </p:nvSpPr>
            <p:spPr>
              <a:xfrm>
                <a:off x="10367792" y="4524524"/>
                <a:ext cx="1107277"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Azure </a:t>
                </a:r>
                <a:br>
                  <a:rPr kumimoji="0" lang="en-GB" sz="1200" b="0" i="0" u="none" strike="noStrike" kern="0" cap="none" spc="0" normalizeH="0" baseline="0" noProof="0">
                    <a:ln w="3175">
                      <a:noFill/>
                    </a:ln>
                    <a:solidFill>
                      <a:srgbClr val="000000"/>
                    </a:solidFill>
                    <a:effectLst/>
                    <a:uLnTx/>
                    <a:uFillTx/>
                    <a:latin typeface="Segoe UI"/>
                    <a:cs typeface="Segoe UI" pitchFamily="34" charset="0"/>
                  </a:rPr>
                </a:br>
                <a:r>
                  <a:rPr kumimoji="0" lang="en-GB" sz="1200" b="0" i="0" u="none" strike="noStrike" kern="0" cap="none" spc="0" normalizeH="0" baseline="0" noProof="0">
                    <a:ln w="3175">
                      <a:noFill/>
                    </a:ln>
                    <a:solidFill>
                      <a:srgbClr val="000000"/>
                    </a:solidFill>
                    <a:effectLst/>
                    <a:uLnTx/>
                    <a:uFillTx/>
                    <a:latin typeface="Segoe UI"/>
                    <a:cs typeface="Segoe UI" pitchFamily="34" charset="0"/>
                  </a:rPr>
                  <a:t>AI Search</a:t>
                </a:r>
              </a:p>
            </p:txBody>
          </p:sp>
          <p:sp>
            <p:nvSpPr>
              <p:cNvPr id="244" name="TextBox 243">
                <a:extLst>
                  <a:ext uri="{FF2B5EF4-FFF2-40B4-BE49-F238E27FC236}">
                    <a16:creationId xmlns:a16="http://schemas.microsoft.com/office/drawing/2014/main" id="{4A73B084-8524-8CC9-7799-E28324306F1F}"/>
                  </a:ext>
                  <a:ext uri="{C183D7F6-B498-43B3-948B-1728B52AA6E4}">
                    <adec:decorative xmlns:adec="http://schemas.microsoft.com/office/drawing/2017/decorative" val="1"/>
                  </a:ext>
                </a:extLst>
              </p:cNvPr>
              <p:cNvSpPr txBox="1"/>
              <p:nvPr/>
            </p:nvSpPr>
            <p:spPr>
              <a:xfrm>
                <a:off x="9442597" y="4524524"/>
                <a:ext cx="1107277"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lang="en-GB" sz="1200" kern="0" noProof="0">
                    <a:ln w="3175">
                      <a:noFill/>
                    </a:ln>
                    <a:solidFill>
                      <a:srgbClr val="000000"/>
                    </a:solidFill>
                    <a:latin typeface="Segoe UI"/>
                    <a:cs typeface="Segoe UI" pitchFamily="34" charset="0"/>
                  </a:rPr>
                  <a:t>Microsoft Foundry</a:t>
                </a:r>
                <a:endParaRPr kumimoji="0" lang="en-GB" sz="1200" b="0" i="0" u="none" strike="noStrike" kern="0" cap="none" spc="0" normalizeH="0" baseline="0" noProof="0">
                  <a:ln w="3175">
                    <a:noFill/>
                  </a:ln>
                  <a:solidFill>
                    <a:srgbClr val="000000"/>
                  </a:solidFill>
                  <a:effectLst/>
                  <a:uLnTx/>
                  <a:uFillTx/>
                  <a:latin typeface="Segoe UI"/>
                  <a:cs typeface="Segoe UI" pitchFamily="34" charset="0"/>
                </a:endParaRPr>
              </a:p>
            </p:txBody>
          </p:sp>
          <p:pic>
            <p:nvPicPr>
              <p:cNvPr id="245" name="Picture 2" descr="Azure AI search logo">
                <a:extLst>
                  <a:ext uri="{FF2B5EF4-FFF2-40B4-BE49-F238E27FC236}">
                    <a16:creationId xmlns:a16="http://schemas.microsoft.com/office/drawing/2014/main" id="{8AF363CB-A9AA-B431-0A12-3D3020612A2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9412" r="19412"/>
              <a:stretch/>
            </p:blipFill>
            <p:spPr bwMode="auto">
              <a:xfrm>
                <a:off x="10598733" y="3989824"/>
                <a:ext cx="593467" cy="5092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8" name="Group 237">
              <a:extLst>
                <a:ext uri="{FF2B5EF4-FFF2-40B4-BE49-F238E27FC236}">
                  <a16:creationId xmlns:a16="http://schemas.microsoft.com/office/drawing/2014/main" id="{457DD85D-99B5-4396-1118-5E4FDAC9C282}"/>
                </a:ext>
              </a:extLst>
            </p:cNvPr>
            <p:cNvGrpSpPr/>
            <p:nvPr/>
          </p:nvGrpSpPr>
          <p:grpSpPr>
            <a:xfrm>
              <a:off x="10611050" y="5078351"/>
              <a:ext cx="309488" cy="309488"/>
              <a:chOff x="3721100" y="3446945"/>
              <a:chExt cx="309488" cy="309488"/>
            </a:xfrm>
            <a:solidFill>
              <a:srgbClr val="0078D4"/>
            </a:solidFill>
          </p:grpSpPr>
          <p:sp>
            <p:nvSpPr>
              <p:cNvPr id="240" name="Rectangle: Rounded Corners 239">
                <a:extLst>
                  <a:ext uri="{FF2B5EF4-FFF2-40B4-BE49-F238E27FC236}">
                    <a16:creationId xmlns:a16="http://schemas.microsoft.com/office/drawing/2014/main" id="{9163B008-5F2D-6F60-DFBE-313E39A7B116}"/>
                  </a:ext>
                </a:extLst>
              </p:cNvPr>
              <p:cNvSpPr/>
              <p:nvPr/>
            </p:nvSpPr>
            <p:spPr bwMode="auto">
              <a:xfrm>
                <a:off x="3721100" y="3567208"/>
                <a:ext cx="309488" cy="68961"/>
              </a:xfrm>
              <a:prstGeom prst="roundRect">
                <a:avLst>
                  <a:gd name="adj" fmla="val 50000"/>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241" name="Rectangle: Rounded Corners 240">
                <a:extLst>
                  <a:ext uri="{FF2B5EF4-FFF2-40B4-BE49-F238E27FC236}">
                    <a16:creationId xmlns:a16="http://schemas.microsoft.com/office/drawing/2014/main" id="{EEA82C91-7D80-9A7F-9A89-D392AD86C9E5}"/>
                  </a:ext>
                </a:extLst>
              </p:cNvPr>
              <p:cNvSpPr/>
              <p:nvPr/>
            </p:nvSpPr>
            <p:spPr bwMode="auto">
              <a:xfrm rot="5400000">
                <a:off x="3721100" y="3567208"/>
                <a:ext cx="309488" cy="68961"/>
              </a:xfrm>
              <a:prstGeom prst="roundRect">
                <a:avLst>
                  <a:gd name="adj" fmla="val 50000"/>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grpSp>
        <p:sp>
          <p:nvSpPr>
            <p:cNvPr id="239" name="Freeform: Shape 238">
              <a:extLst>
                <a:ext uri="{FF2B5EF4-FFF2-40B4-BE49-F238E27FC236}">
                  <a16:creationId xmlns:a16="http://schemas.microsoft.com/office/drawing/2014/main" id="{C427C900-ECDB-378F-B608-F6FDFE50F877}"/>
                </a:ext>
              </a:extLst>
            </p:cNvPr>
            <p:cNvSpPr/>
            <p:nvPr/>
          </p:nvSpPr>
          <p:spPr bwMode="auto">
            <a:xfrm>
              <a:off x="9249489" y="1723688"/>
              <a:ext cx="2154852" cy="482457"/>
            </a:xfrm>
            <a:custGeom>
              <a:avLst/>
              <a:gdLst>
                <a:gd name="connsiteX0" fmla="*/ 135756 w 2154852"/>
                <a:gd name="connsiteY0" fmla="*/ 0 h 482457"/>
                <a:gd name="connsiteX1" fmla="*/ 2019096 w 2154852"/>
                <a:gd name="connsiteY1" fmla="*/ 0 h 482457"/>
                <a:gd name="connsiteX2" fmla="*/ 2154852 w 2154852"/>
                <a:gd name="connsiteY2" fmla="*/ 135756 h 482457"/>
                <a:gd name="connsiteX3" fmla="*/ 2154852 w 2154852"/>
                <a:gd name="connsiteY3" fmla="*/ 482457 h 482457"/>
                <a:gd name="connsiteX4" fmla="*/ 2133720 w 2154852"/>
                <a:gd name="connsiteY4" fmla="*/ 478190 h 482457"/>
                <a:gd name="connsiteX5" fmla="*/ 21132 w 2154852"/>
                <a:gd name="connsiteY5" fmla="*/ 478190 h 482457"/>
                <a:gd name="connsiteX6" fmla="*/ 0 w 2154852"/>
                <a:gd name="connsiteY6" fmla="*/ 482457 h 482457"/>
                <a:gd name="connsiteX7" fmla="*/ 0 w 2154852"/>
                <a:gd name="connsiteY7" fmla="*/ 135756 h 482457"/>
                <a:gd name="connsiteX8" fmla="*/ 135756 w 2154852"/>
                <a:gd name="connsiteY8" fmla="*/ 0 h 48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852" h="482457">
                  <a:moveTo>
                    <a:pt x="135756" y="0"/>
                  </a:moveTo>
                  <a:lnTo>
                    <a:pt x="2019096" y="0"/>
                  </a:lnTo>
                  <a:cubicBezTo>
                    <a:pt x="2094072" y="0"/>
                    <a:pt x="2154852" y="60780"/>
                    <a:pt x="2154852" y="135756"/>
                  </a:cubicBezTo>
                  <a:lnTo>
                    <a:pt x="2154852" y="482457"/>
                  </a:lnTo>
                  <a:lnTo>
                    <a:pt x="2133720" y="478190"/>
                  </a:lnTo>
                  <a:lnTo>
                    <a:pt x="21132" y="478190"/>
                  </a:lnTo>
                  <a:lnTo>
                    <a:pt x="0" y="482457"/>
                  </a:lnTo>
                  <a:lnTo>
                    <a:pt x="0" y="135756"/>
                  </a:lnTo>
                  <a:cubicBezTo>
                    <a:pt x="0" y="60780"/>
                    <a:pt x="60780" y="0"/>
                    <a:pt x="135756" y="0"/>
                  </a:cubicBezTo>
                  <a:close/>
                </a:path>
              </a:pathLst>
            </a:custGeom>
            <a:solidFill>
              <a:srgbClr val="0078D4">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Segoe UI Semibold"/>
                  <a:ea typeface="+mn-ea"/>
                  <a:cs typeface="+mn-cs"/>
                </a:rPr>
                <a:t>AI Services</a:t>
              </a:r>
            </a:p>
          </p:txBody>
        </p:sp>
      </p:grpSp>
      <p:pic>
        <p:nvPicPr>
          <p:cNvPr id="256" name="!! Logo Foundry">
            <a:extLst>
              <a:ext uri="{FF2B5EF4-FFF2-40B4-BE49-F238E27FC236}">
                <a16:creationId xmlns:a16="http://schemas.microsoft.com/office/drawing/2014/main" id="{09DFC04F-1C43-BFD3-44DE-8F2A383E64A8}"/>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9625087" y="2502063"/>
            <a:ext cx="438937" cy="460046"/>
          </a:xfrm>
          <a:prstGeom prst="rect">
            <a:avLst/>
          </a:prstGeom>
          <a:effectLst>
            <a:outerShdw blurRad="330200" sx="102000" sy="102000" algn="ctr" rotWithShape="0">
              <a:schemeClr val="bg1">
                <a:alpha val="40000"/>
              </a:schemeClr>
            </a:outerShdw>
          </a:effectLst>
        </p:spPr>
      </p:pic>
    </p:spTree>
    <p:extLst>
      <p:ext uri="{BB962C8B-B14F-4D97-AF65-F5344CB8AC3E}">
        <p14:creationId xmlns:p14="http://schemas.microsoft.com/office/powerpoint/2010/main" val="1151348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5EC50-65A6-A1FD-8DF4-6864E53B4CF1}"/>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4CEB3A98-1D2E-3A87-4EE6-BD42E23EE56A}"/>
              </a:ext>
            </a:extLst>
          </p:cNvPr>
          <p:cNvSpPr txBox="1">
            <a:spLocks/>
          </p:cNvSpPr>
          <p:nvPr/>
        </p:nvSpPr>
        <p:spPr>
          <a:xfrm>
            <a:off x="461818" y="457200"/>
            <a:ext cx="11787989" cy="4924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200" b="0" i="0" u="none" strike="noStrike" kern="1200" cap="none" spc="-50" normalizeH="0" baseline="0" noProof="0">
                <a:ln w="3175">
                  <a:noFill/>
                </a:ln>
                <a:solidFill>
                  <a:srgbClr val="0F6FC6"/>
                </a:solidFill>
                <a:effectLst/>
                <a:uLnTx/>
                <a:uFillTx/>
                <a:latin typeface="Segoe Semibold"/>
                <a:ea typeface="+mj-ea"/>
                <a:cs typeface="Segoe UI" pitchFamily="34" charset="0"/>
              </a:rPr>
              <a:t>AI APIs operate on tokens, and managing these tokens is crucial</a:t>
            </a:r>
          </a:p>
        </p:txBody>
      </p:sp>
      <p:cxnSp>
        <p:nvCxnSpPr>
          <p:cNvPr id="330" name="Straight Connector 329">
            <a:extLst>
              <a:ext uri="{FF2B5EF4-FFF2-40B4-BE49-F238E27FC236}">
                <a16:creationId xmlns:a16="http://schemas.microsoft.com/office/drawing/2014/main" id="{3A78C22C-6C4B-ED22-7E9B-1E11AC4C65EF}"/>
              </a:ext>
            </a:extLst>
          </p:cNvPr>
          <p:cNvCxnSpPr>
            <a:cxnSpLocks/>
          </p:cNvCxnSpPr>
          <p:nvPr/>
        </p:nvCxnSpPr>
        <p:spPr>
          <a:xfrm>
            <a:off x="3073659" y="3638343"/>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cxnSp>
        <p:nvCxnSpPr>
          <p:cNvPr id="331" name="Straight Connector 330">
            <a:extLst>
              <a:ext uri="{FF2B5EF4-FFF2-40B4-BE49-F238E27FC236}">
                <a16:creationId xmlns:a16="http://schemas.microsoft.com/office/drawing/2014/main" id="{610DB3AA-5825-4556-297E-D041397449D4}"/>
              </a:ext>
            </a:extLst>
          </p:cNvPr>
          <p:cNvCxnSpPr>
            <a:cxnSpLocks/>
          </p:cNvCxnSpPr>
          <p:nvPr/>
        </p:nvCxnSpPr>
        <p:spPr>
          <a:xfrm>
            <a:off x="3073659" y="4427125"/>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cxnSp>
        <p:nvCxnSpPr>
          <p:cNvPr id="332" name="Straight Connector 331">
            <a:extLst>
              <a:ext uri="{FF2B5EF4-FFF2-40B4-BE49-F238E27FC236}">
                <a16:creationId xmlns:a16="http://schemas.microsoft.com/office/drawing/2014/main" id="{8AE5A2EB-3D02-7317-6189-E4C1E11C34AA}"/>
              </a:ext>
            </a:extLst>
          </p:cNvPr>
          <p:cNvCxnSpPr>
            <a:cxnSpLocks/>
          </p:cNvCxnSpPr>
          <p:nvPr/>
        </p:nvCxnSpPr>
        <p:spPr>
          <a:xfrm>
            <a:off x="3073659" y="5215906"/>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cxnSp>
        <p:nvCxnSpPr>
          <p:cNvPr id="333" name="Straight Connector 332">
            <a:extLst>
              <a:ext uri="{FF2B5EF4-FFF2-40B4-BE49-F238E27FC236}">
                <a16:creationId xmlns:a16="http://schemas.microsoft.com/office/drawing/2014/main" id="{F9971F8D-20F0-D792-DF83-D17DE47BC60A}"/>
              </a:ext>
            </a:extLst>
          </p:cNvPr>
          <p:cNvCxnSpPr>
            <a:cxnSpLocks/>
          </p:cNvCxnSpPr>
          <p:nvPr/>
        </p:nvCxnSpPr>
        <p:spPr>
          <a:xfrm>
            <a:off x="3073659" y="2849561"/>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sp>
        <p:nvSpPr>
          <p:cNvPr id="334" name="Oval 333">
            <a:extLst>
              <a:ext uri="{FF2B5EF4-FFF2-40B4-BE49-F238E27FC236}">
                <a16:creationId xmlns:a16="http://schemas.microsoft.com/office/drawing/2014/main" id="{2F4B5928-9848-3A4D-B2DE-166D2E4DC6B6}"/>
              </a:ext>
            </a:extLst>
          </p:cNvPr>
          <p:cNvSpPr>
            <a:spLocks/>
          </p:cNvSpPr>
          <p:nvPr/>
        </p:nvSpPr>
        <p:spPr>
          <a:xfrm flipV="1">
            <a:off x="2540129" y="2793269"/>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335" name="Oval 334">
            <a:extLst>
              <a:ext uri="{FF2B5EF4-FFF2-40B4-BE49-F238E27FC236}">
                <a16:creationId xmlns:a16="http://schemas.microsoft.com/office/drawing/2014/main" id="{74CA0132-5FC6-6423-07B7-98CC40FF79FE}"/>
              </a:ext>
            </a:extLst>
          </p:cNvPr>
          <p:cNvSpPr>
            <a:spLocks/>
          </p:cNvSpPr>
          <p:nvPr/>
        </p:nvSpPr>
        <p:spPr>
          <a:xfrm flipV="1">
            <a:off x="2540129" y="3582051"/>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336" name="Oval 335">
            <a:extLst>
              <a:ext uri="{FF2B5EF4-FFF2-40B4-BE49-F238E27FC236}">
                <a16:creationId xmlns:a16="http://schemas.microsoft.com/office/drawing/2014/main" id="{1977FEEC-C84A-5428-70E9-EC435781FF0C}"/>
              </a:ext>
            </a:extLst>
          </p:cNvPr>
          <p:cNvSpPr>
            <a:spLocks/>
          </p:cNvSpPr>
          <p:nvPr/>
        </p:nvSpPr>
        <p:spPr>
          <a:xfrm flipV="1">
            <a:off x="2540129" y="4370833"/>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337" name="Oval 336">
            <a:extLst>
              <a:ext uri="{FF2B5EF4-FFF2-40B4-BE49-F238E27FC236}">
                <a16:creationId xmlns:a16="http://schemas.microsoft.com/office/drawing/2014/main" id="{06044BA3-7857-3C15-03CE-0BAE70CC95F3}"/>
              </a:ext>
            </a:extLst>
          </p:cNvPr>
          <p:cNvSpPr>
            <a:spLocks/>
          </p:cNvSpPr>
          <p:nvPr/>
        </p:nvSpPr>
        <p:spPr>
          <a:xfrm flipV="1">
            <a:off x="2540129" y="5159614"/>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342" name="Rectangle: Rounded Corners 341">
            <a:extLst>
              <a:ext uri="{FF2B5EF4-FFF2-40B4-BE49-F238E27FC236}">
                <a16:creationId xmlns:a16="http://schemas.microsoft.com/office/drawing/2014/main" id="{2048832F-FC72-DA14-A017-3F11492A68F9}"/>
              </a:ext>
            </a:extLst>
          </p:cNvPr>
          <p:cNvSpPr/>
          <p:nvPr/>
        </p:nvSpPr>
        <p:spPr bwMode="auto">
          <a:xfrm>
            <a:off x="4570031" y="1603709"/>
            <a:ext cx="3051938" cy="4332368"/>
          </a:xfrm>
          <a:prstGeom prst="roundRect">
            <a:avLst>
              <a:gd name="adj" fmla="val 4955"/>
            </a:avLst>
          </a:prstGeom>
          <a:gradFill>
            <a:gsLst>
              <a:gs pos="0">
                <a:srgbClr val="B85CBC"/>
              </a:gs>
              <a:gs pos="546">
                <a:srgbClr val="B75CBC"/>
              </a:gs>
              <a:gs pos="1093">
                <a:srgbClr val="B75CBC"/>
              </a:gs>
              <a:gs pos="1639">
                <a:srgbClr val="B75CBC"/>
              </a:gs>
              <a:gs pos="2186">
                <a:srgbClr val="B75DBC"/>
              </a:gs>
              <a:gs pos="2732">
                <a:srgbClr val="B75DBD"/>
              </a:gs>
              <a:gs pos="3279">
                <a:srgbClr val="B75DBD"/>
              </a:gs>
              <a:gs pos="3825">
                <a:srgbClr val="B75DBD"/>
              </a:gs>
              <a:gs pos="4372">
                <a:srgbClr val="B75EBD"/>
              </a:gs>
              <a:gs pos="4918">
                <a:srgbClr val="B75EBE"/>
              </a:gs>
              <a:gs pos="5464">
                <a:srgbClr val="B75EBE"/>
              </a:gs>
              <a:gs pos="6011">
                <a:srgbClr val="B75FBE"/>
              </a:gs>
              <a:gs pos="6557">
                <a:srgbClr val="B65FBE"/>
              </a:gs>
              <a:gs pos="7104">
                <a:srgbClr val="B65FBF"/>
              </a:gs>
              <a:gs pos="7650">
                <a:srgbClr val="B65FBF"/>
              </a:gs>
              <a:gs pos="8197">
                <a:srgbClr val="B660BF"/>
              </a:gs>
              <a:gs pos="8743">
                <a:srgbClr val="B660BF"/>
              </a:gs>
              <a:gs pos="9290">
                <a:srgbClr val="B560C0"/>
              </a:gs>
              <a:gs pos="9836">
                <a:srgbClr val="B560C0"/>
              </a:gs>
              <a:gs pos="10383">
                <a:srgbClr val="B561C0"/>
              </a:gs>
              <a:gs pos="10929">
                <a:srgbClr val="B561C0"/>
              </a:gs>
              <a:gs pos="11475">
                <a:srgbClr val="B461C0"/>
              </a:gs>
              <a:gs pos="12022">
                <a:srgbClr val="B461C1"/>
              </a:gs>
              <a:gs pos="12568">
                <a:srgbClr val="B462C1"/>
              </a:gs>
              <a:gs pos="13115">
                <a:srgbClr val="B362C1"/>
              </a:gs>
              <a:gs pos="13661">
                <a:srgbClr val="B362C1"/>
              </a:gs>
              <a:gs pos="14208">
                <a:srgbClr val="B362C1"/>
              </a:gs>
              <a:gs pos="14754">
                <a:srgbClr val="B263C2"/>
              </a:gs>
              <a:gs pos="15301">
                <a:srgbClr val="B263C2"/>
              </a:gs>
              <a:gs pos="15847">
                <a:srgbClr val="B263C2"/>
              </a:gs>
              <a:gs pos="16393">
                <a:srgbClr val="B163C2"/>
              </a:gs>
              <a:gs pos="16940">
                <a:srgbClr val="B164C3"/>
              </a:gs>
              <a:gs pos="17486">
                <a:srgbClr val="B164C3"/>
              </a:gs>
              <a:gs pos="18033">
                <a:srgbClr val="B064C3"/>
              </a:gs>
              <a:gs pos="18579">
                <a:srgbClr val="B064C3"/>
              </a:gs>
              <a:gs pos="19126">
                <a:srgbClr val="AF65C3"/>
              </a:gs>
              <a:gs pos="19672">
                <a:srgbClr val="AF65C4"/>
              </a:gs>
              <a:gs pos="20219">
                <a:srgbClr val="AE65C4"/>
              </a:gs>
              <a:gs pos="20765">
                <a:srgbClr val="AE65C4"/>
              </a:gs>
              <a:gs pos="21312">
                <a:srgbClr val="AD66C4"/>
              </a:gs>
              <a:gs pos="21858">
                <a:srgbClr val="AD66C4"/>
              </a:gs>
              <a:gs pos="22404">
                <a:srgbClr val="AC66C5"/>
              </a:gs>
              <a:gs pos="22951">
                <a:srgbClr val="AC66C5"/>
              </a:gs>
              <a:gs pos="23497">
                <a:srgbClr val="AB67C5"/>
              </a:gs>
              <a:gs pos="24044">
                <a:srgbClr val="AB67C5"/>
              </a:gs>
              <a:gs pos="24590">
                <a:srgbClr val="AA67C5"/>
              </a:gs>
              <a:gs pos="25137">
                <a:srgbClr val="AA67C6"/>
              </a:gs>
              <a:gs pos="25683">
                <a:srgbClr val="A967C6"/>
              </a:gs>
              <a:gs pos="26230">
                <a:srgbClr val="A968C6"/>
              </a:gs>
              <a:gs pos="26776">
                <a:srgbClr val="A868C6"/>
              </a:gs>
              <a:gs pos="27322">
                <a:srgbClr val="A768C6"/>
              </a:gs>
              <a:gs pos="27869">
                <a:srgbClr val="A768C6"/>
              </a:gs>
              <a:gs pos="28415">
                <a:srgbClr val="A669C7"/>
              </a:gs>
              <a:gs pos="28962">
                <a:srgbClr val="A569C7"/>
              </a:gs>
              <a:gs pos="29508">
                <a:srgbClr val="A569C7"/>
              </a:gs>
              <a:gs pos="30055">
                <a:srgbClr val="A469C7"/>
              </a:gs>
              <a:gs pos="30601">
                <a:srgbClr val="A469C7"/>
              </a:gs>
              <a:gs pos="31148">
                <a:srgbClr val="A36AC8"/>
              </a:gs>
              <a:gs pos="31694">
                <a:srgbClr val="A26AC8"/>
              </a:gs>
              <a:gs pos="32240">
                <a:srgbClr val="A16AC8"/>
              </a:gs>
              <a:gs pos="32787">
                <a:srgbClr val="A16AC8"/>
              </a:gs>
              <a:gs pos="33333">
                <a:srgbClr val="A06AC8"/>
              </a:gs>
              <a:gs pos="33880">
                <a:srgbClr val="9F6BC8"/>
              </a:gs>
              <a:gs pos="34426">
                <a:srgbClr val="9F6BC9"/>
              </a:gs>
              <a:gs pos="34973">
                <a:srgbClr val="9E6BC9"/>
              </a:gs>
              <a:gs pos="35519">
                <a:srgbClr val="9D6BC9"/>
              </a:gs>
              <a:gs pos="36066">
                <a:srgbClr val="9C6BC9"/>
              </a:gs>
              <a:gs pos="36612">
                <a:srgbClr val="9C6CC9"/>
              </a:gs>
              <a:gs pos="37159">
                <a:srgbClr val="9B6CC9"/>
              </a:gs>
              <a:gs pos="37705">
                <a:srgbClr val="9A6CCA"/>
              </a:gs>
              <a:gs pos="38251">
                <a:srgbClr val="996CCA"/>
              </a:gs>
              <a:gs pos="38798">
                <a:srgbClr val="986CCA"/>
              </a:gs>
              <a:gs pos="39344">
                <a:srgbClr val="976DCA"/>
              </a:gs>
              <a:gs pos="39891">
                <a:srgbClr val="976DCA"/>
              </a:gs>
              <a:gs pos="40437">
                <a:srgbClr val="966DCA"/>
              </a:gs>
              <a:gs pos="40984">
                <a:srgbClr val="956DCB"/>
              </a:gs>
              <a:gs pos="41530">
                <a:srgbClr val="946DCB"/>
              </a:gs>
              <a:gs pos="42077">
                <a:srgbClr val="936DCB"/>
              </a:gs>
              <a:gs pos="42623">
                <a:srgbClr val="926ECB"/>
              </a:gs>
              <a:gs pos="43169">
                <a:srgbClr val="916ECB"/>
              </a:gs>
              <a:gs pos="43716">
                <a:srgbClr val="916ECB"/>
              </a:gs>
              <a:gs pos="44262">
                <a:srgbClr val="906ECB"/>
              </a:gs>
              <a:gs pos="44809">
                <a:srgbClr val="8F6ECC"/>
              </a:gs>
              <a:gs pos="45355">
                <a:srgbClr val="8E6ECC"/>
              </a:gs>
              <a:gs pos="45902">
                <a:srgbClr val="8D6FCC"/>
              </a:gs>
              <a:gs pos="46448">
                <a:srgbClr val="8C6FCC"/>
              </a:gs>
              <a:gs pos="46995">
                <a:srgbClr val="8B6FCC"/>
              </a:gs>
              <a:gs pos="47541">
                <a:srgbClr val="8A6FCC"/>
              </a:gs>
              <a:gs pos="48087">
                <a:srgbClr val="896FCC"/>
              </a:gs>
              <a:gs pos="48634">
                <a:srgbClr val="886FCD"/>
              </a:gs>
              <a:gs pos="49180">
                <a:srgbClr val="8770CD"/>
              </a:gs>
              <a:gs pos="49727">
                <a:srgbClr val="8670CD"/>
              </a:gs>
              <a:gs pos="50273">
                <a:srgbClr val="8570CD"/>
              </a:gs>
              <a:gs pos="50820">
                <a:srgbClr val="8470CD"/>
              </a:gs>
              <a:gs pos="51366">
                <a:srgbClr val="8370CD"/>
              </a:gs>
              <a:gs pos="51913">
                <a:srgbClr val="8270CD"/>
              </a:gs>
              <a:gs pos="52459">
                <a:srgbClr val="8171CE"/>
              </a:gs>
              <a:gs pos="53005">
                <a:srgbClr val="8071CE"/>
              </a:gs>
              <a:gs pos="53552">
                <a:srgbClr val="7E71CE"/>
              </a:gs>
              <a:gs pos="54098">
                <a:srgbClr val="7D71CE"/>
              </a:gs>
              <a:gs pos="54645">
                <a:srgbClr val="7C71CE"/>
              </a:gs>
              <a:gs pos="55191">
                <a:srgbClr val="7B71CE"/>
              </a:gs>
              <a:gs pos="55738">
                <a:srgbClr val="7A71CE"/>
              </a:gs>
              <a:gs pos="56284">
                <a:srgbClr val="7972CE"/>
              </a:gs>
              <a:gs pos="56831">
                <a:srgbClr val="7872CF"/>
              </a:gs>
              <a:gs pos="57377">
                <a:srgbClr val="7772CF"/>
              </a:gs>
              <a:gs pos="57924">
                <a:srgbClr val="7572CF"/>
              </a:gs>
              <a:gs pos="58470">
                <a:srgbClr val="7472CF"/>
              </a:gs>
              <a:gs pos="59016">
                <a:srgbClr val="7372CF"/>
              </a:gs>
              <a:gs pos="59563">
                <a:srgbClr val="7272CF"/>
              </a:gs>
              <a:gs pos="60109">
                <a:srgbClr val="7173CF"/>
              </a:gs>
              <a:gs pos="60656">
                <a:srgbClr val="6F73CF"/>
              </a:gs>
              <a:gs pos="61202">
                <a:srgbClr val="6E73CF"/>
              </a:gs>
              <a:gs pos="61749">
                <a:srgbClr val="6D73D0"/>
              </a:gs>
              <a:gs pos="62295">
                <a:srgbClr val="6C73D0"/>
              </a:gs>
              <a:gs pos="62841">
                <a:srgbClr val="6A73D0"/>
              </a:gs>
              <a:gs pos="63388">
                <a:srgbClr val="6973D0"/>
              </a:gs>
              <a:gs pos="63934">
                <a:srgbClr val="6873D0"/>
              </a:gs>
              <a:gs pos="64481">
                <a:srgbClr val="6773D0"/>
              </a:gs>
              <a:gs pos="65027">
                <a:srgbClr val="6574D0"/>
              </a:gs>
              <a:gs pos="65574">
                <a:srgbClr val="6474D0"/>
              </a:gs>
              <a:gs pos="66120">
                <a:srgbClr val="6374D0"/>
              </a:gs>
              <a:gs pos="66667">
                <a:srgbClr val="6174D0"/>
              </a:gs>
              <a:gs pos="67213">
                <a:srgbClr val="6074D1"/>
              </a:gs>
              <a:gs pos="67760">
                <a:srgbClr val="5F74D1"/>
              </a:gs>
              <a:gs pos="68306">
                <a:srgbClr val="5D74D1"/>
              </a:gs>
              <a:gs pos="68853">
                <a:srgbClr val="5C74D1"/>
              </a:gs>
              <a:gs pos="69399">
                <a:srgbClr val="5B74D1"/>
              </a:gs>
              <a:gs pos="69945">
                <a:srgbClr val="5975D1"/>
              </a:gs>
              <a:gs pos="70492">
                <a:srgbClr val="5875D1"/>
              </a:gs>
              <a:gs pos="71038">
                <a:srgbClr val="5775D1"/>
              </a:gs>
              <a:gs pos="71585">
                <a:srgbClr val="5575D1"/>
              </a:gs>
              <a:gs pos="72131">
                <a:srgbClr val="5475D1"/>
              </a:gs>
              <a:gs pos="72678">
                <a:srgbClr val="5275D1"/>
              </a:gs>
              <a:gs pos="73224">
                <a:srgbClr val="5175D1"/>
              </a:gs>
              <a:gs pos="73770">
                <a:srgbClr val="4F75D2"/>
              </a:gs>
              <a:gs pos="74317">
                <a:srgbClr val="4E75D2"/>
              </a:gs>
              <a:gs pos="74863">
                <a:srgbClr val="4D75D2"/>
              </a:gs>
              <a:gs pos="75410">
                <a:srgbClr val="4B75D2"/>
              </a:gs>
              <a:gs pos="75956">
                <a:srgbClr val="4A76D2"/>
              </a:gs>
              <a:gs pos="76503">
                <a:srgbClr val="4876D2"/>
              </a:gs>
              <a:gs pos="77049">
                <a:srgbClr val="4776D2"/>
              </a:gs>
              <a:gs pos="77596">
                <a:srgbClr val="4576D2"/>
              </a:gs>
              <a:gs pos="78142">
                <a:srgbClr val="4476D2"/>
              </a:gs>
              <a:gs pos="78689">
                <a:srgbClr val="4276D2"/>
              </a:gs>
              <a:gs pos="79235">
                <a:srgbClr val="4176D2"/>
              </a:gs>
              <a:gs pos="79781">
                <a:srgbClr val="3F76D2"/>
              </a:gs>
              <a:gs pos="80328">
                <a:srgbClr val="3D76D2"/>
              </a:gs>
              <a:gs pos="80874">
                <a:srgbClr val="3C76D2"/>
              </a:gs>
              <a:gs pos="81421">
                <a:srgbClr val="3A76D2"/>
              </a:gs>
              <a:gs pos="81967">
                <a:srgbClr val="3976D3"/>
              </a:gs>
              <a:gs pos="82514">
                <a:srgbClr val="3776D3"/>
              </a:gs>
              <a:gs pos="83060">
                <a:srgbClr val="3676D3"/>
              </a:gs>
              <a:gs pos="83607">
                <a:srgbClr val="3477D3"/>
              </a:gs>
              <a:gs pos="84153">
                <a:srgbClr val="3277D3"/>
              </a:gs>
              <a:gs pos="84699">
                <a:srgbClr val="3177D3"/>
              </a:gs>
              <a:gs pos="85246">
                <a:srgbClr val="2F77D3"/>
              </a:gs>
              <a:gs pos="85792">
                <a:srgbClr val="2D77D3"/>
              </a:gs>
              <a:gs pos="86339">
                <a:srgbClr val="2C77D3"/>
              </a:gs>
              <a:gs pos="86885">
                <a:srgbClr val="2A77D3"/>
              </a:gs>
              <a:gs pos="87432">
                <a:srgbClr val="2877D3"/>
              </a:gs>
              <a:gs pos="87978">
                <a:srgbClr val="2777D3"/>
              </a:gs>
              <a:gs pos="88525">
                <a:srgbClr val="2577D3"/>
              </a:gs>
              <a:gs pos="89071">
                <a:srgbClr val="2377D3"/>
              </a:gs>
              <a:gs pos="89618">
                <a:srgbClr val="2277D3"/>
              </a:gs>
              <a:gs pos="90164">
                <a:srgbClr val="2077D3"/>
              </a:gs>
              <a:gs pos="90710">
                <a:srgbClr val="1E77D3"/>
              </a:gs>
              <a:gs pos="91257">
                <a:srgbClr val="1D77D3"/>
              </a:gs>
              <a:gs pos="91803">
                <a:srgbClr val="1B77D3"/>
              </a:gs>
              <a:gs pos="92350">
                <a:srgbClr val="1977D3"/>
              </a:gs>
              <a:gs pos="92896">
                <a:srgbClr val="1777D3"/>
              </a:gs>
              <a:gs pos="93443">
                <a:srgbClr val="1577D3"/>
              </a:gs>
              <a:gs pos="93989">
                <a:srgbClr val="1477D3"/>
              </a:gs>
              <a:gs pos="94535">
                <a:srgbClr val="1277D3"/>
              </a:gs>
              <a:gs pos="95082">
                <a:srgbClr val="1077D3"/>
              </a:gs>
              <a:gs pos="95628">
                <a:srgbClr val="0E77D3"/>
              </a:gs>
              <a:gs pos="96175">
                <a:srgbClr val="0C77D3"/>
              </a:gs>
              <a:gs pos="96721">
                <a:srgbClr val="0B77D3"/>
              </a:gs>
              <a:gs pos="97268">
                <a:srgbClr val="0977D3"/>
              </a:gs>
              <a:gs pos="97814">
                <a:srgbClr val="0777D3"/>
              </a:gs>
              <a:gs pos="98361">
                <a:srgbClr val="0577D3"/>
              </a:gs>
              <a:gs pos="98907">
                <a:srgbClr val="0377D3"/>
              </a:gs>
              <a:gs pos="99454">
                <a:srgbClr val="0177D3"/>
              </a:gs>
              <a:gs pos="100000">
                <a:srgbClr val="0078D4"/>
              </a:gs>
            </a:gsLst>
            <a:lin ang="1379994" scaled="1"/>
          </a:gradFill>
          <a:ln w="11471" cap="flat">
            <a:noFill/>
            <a:prstDash val="solid"/>
            <a:miter/>
          </a:ln>
        </p:spPr>
        <p:txBody>
          <a:bodyPr wrap="square" rtlCol="0" anchor="ctr">
            <a:noAutofit/>
          </a:bodyPr>
          <a:lstStyle/>
          <a:p>
            <a:pPr algn="ctr">
              <a:defRPr/>
            </a:pPr>
            <a:endParaRPr lang="en-GB" sz="1600" noProof="0">
              <a:solidFill>
                <a:srgbClr val="FFFFFF"/>
              </a:solidFill>
              <a:latin typeface="Segoe UI"/>
            </a:endParaRPr>
          </a:p>
        </p:txBody>
      </p:sp>
      <p:pic>
        <p:nvPicPr>
          <p:cNvPr id="343" name="Graphic 342">
            <a:extLst>
              <a:ext uri="{FF2B5EF4-FFF2-40B4-BE49-F238E27FC236}">
                <a16:creationId xmlns:a16="http://schemas.microsoft.com/office/drawing/2014/main" id="{5521ACC9-A223-A7EE-D3AD-0DDC7E3CFE4A}"/>
              </a:ext>
            </a:extLst>
          </p:cNvPr>
          <p:cNvPicPr>
            <a:picLocks/>
          </p:cNvPicPr>
          <p:nvPr/>
        </p:nvPicPr>
        <p:blipFill>
          <a:blip>
            <a:extLst>
              <a:ext uri="{96DAC541-7B7A-43D3-8B79-37D633B846F1}">
                <asvg:svgBlip xmlns:asvg="http://schemas.microsoft.com/office/drawing/2016/SVG/main" r:embed="rId3"/>
              </a:ext>
            </a:extLst>
          </a:blip>
          <a:srcRect l="7079" t="67795" r="7079"/>
          <a:stretch>
            <a:fillRect/>
          </a:stretch>
        </p:blipFill>
        <p:spPr>
          <a:xfrm>
            <a:off x="4570031" y="5127820"/>
            <a:ext cx="3051938" cy="755064"/>
          </a:xfrm>
          <a:custGeom>
            <a:avLst/>
            <a:gdLst>
              <a:gd name="connsiteX0" fmla="*/ 3051938 w 3051938"/>
              <a:gd name="connsiteY0" fmla="*/ 0 h 755064"/>
              <a:gd name="connsiteX1" fmla="*/ 3051938 w 3051938"/>
              <a:gd name="connsiteY1" fmla="*/ 657033 h 755064"/>
              <a:gd name="connsiteX2" fmla="*/ 3040054 w 3051938"/>
              <a:gd name="connsiteY2" fmla="*/ 715897 h 755064"/>
              <a:gd name="connsiteX3" fmla="*/ 3013647 w 3051938"/>
              <a:gd name="connsiteY3" fmla="*/ 755064 h 755064"/>
              <a:gd name="connsiteX4" fmla="*/ 38292 w 3051938"/>
              <a:gd name="connsiteY4" fmla="*/ 755064 h 755064"/>
              <a:gd name="connsiteX5" fmla="*/ 11884 w 3051938"/>
              <a:gd name="connsiteY5" fmla="*/ 715897 h 755064"/>
              <a:gd name="connsiteX6" fmla="*/ 0 w 3051938"/>
              <a:gd name="connsiteY6" fmla="*/ 657033 h 755064"/>
              <a:gd name="connsiteX7" fmla="*/ 0 w 3051938"/>
              <a:gd name="connsiteY7" fmla="*/ 195925 h 755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938" h="755064">
                <a:moveTo>
                  <a:pt x="3051938" y="0"/>
                </a:moveTo>
                <a:lnTo>
                  <a:pt x="3051938" y="657033"/>
                </a:lnTo>
                <a:cubicBezTo>
                  <a:pt x="3051938" y="677913"/>
                  <a:pt x="3047707" y="697804"/>
                  <a:pt x="3040054" y="715897"/>
                </a:cubicBezTo>
                <a:lnTo>
                  <a:pt x="3013647" y="755064"/>
                </a:lnTo>
                <a:lnTo>
                  <a:pt x="38292" y="755064"/>
                </a:lnTo>
                <a:lnTo>
                  <a:pt x="11884" y="715897"/>
                </a:lnTo>
                <a:cubicBezTo>
                  <a:pt x="4232" y="697804"/>
                  <a:pt x="0" y="677913"/>
                  <a:pt x="0" y="657033"/>
                </a:cubicBezTo>
                <a:lnTo>
                  <a:pt x="0" y="195925"/>
                </a:lnTo>
                <a:close/>
              </a:path>
            </a:pathLst>
          </a:custGeom>
        </p:spPr>
      </p:pic>
      <p:pic>
        <p:nvPicPr>
          <p:cNvPr id="344" name="Graphic 343">
            <a:extLst>
              <a:ext uri="{FF2B5EF4-FFF2-40B4-BE49-F238E27FC236}">
                <a16:creationId xmlns:a16="http://schemas.microsoft.com/office/drawing/2014/main" id="{C5798AF2-7D61-93D8-CA66-AA2F02BDFF49}"/>
              </a:ext>
            </a:extLst>
          </p:cNvPr>
          <p:cNvPicPr>
            <a:picLocks/>
          </p:cNvPicPr>
          <p:nvPr/>
        </p:nvPicPr>
        <p:blipFill>
          <a:blip>
            <a:extLst>
              <a:ext uri="{96DAC541-7B7A-43D3-8B79-37D633B846F1}">
                <asvg:svgBlip xmlns:asvg="http://schemas.microsoft.com/office/drawing/2016/SVG/main" r:embed="rId4"/>
              </a:ext>
            </a:extLst>
          </a:blip>
          <a:srcRect l="7079" t="67795" r="7079"/>
          <a:stretch>
            <a:fillRect/>
          </a:stretch>
        </p:blipFill>
        <p:spPr>
          <a:xfrm flipV="1">
            <a:off x="4570031" y="1700829"/>
            <a:ext cx="3051938" cy="755064"/>
          </a:xfrm>
          <a:custGeom>
            <a:avLst/>
            <a:gdLst>
              <a:gd name="connsiteX0" fmla="*/ 3051938 w 3051938"/>
              <a:gd name="connsiteY0" fmla="*/ 0 h 755064"/>
              <a:gd name="connsiteX1" fmla="*/ 3051938 w 3051938"/>
              <a:gd name="connsiteY1" fmla="*/ 657033 h 755064"/>
              <a:gd name="connsiteX2" fmla="*/ 3040054 w 3051938"/>
              <a:gd name="connsiteY2" fmla="*/ 715897 h 755064"/>
              <a:gd name="connsiteX3" fmla="*/ 3013647 w 3051938"/>
              <a:gd name="connsiteY3" fmla="*/ 755064 h 755064"/>
              <a:gd name="connsiteX4" fmla="*/ 38292 w 3051938"/>
              <a:gd name="connsiteY4" fmla="*/ 755064 h 755064"/>
              <a:gd name="connsiteX5" fmla="*/ 11884 w 3051938"/>
              <a:gd name="connsiteY5" fmla="*/ 715897 h 755064"/>
              <a:gd name="connsiteX6" fmla="*/ 0 w 3051938"/>
              <a:gd name="connsiteY6" fmla="*/ 657033 h 755064"/>
              <a:gd name="connsiteX7" fmla="*/ 0 w 3051938"/>
              <a:gd name="connsiteY7" fmla="*/ 195925 h 755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938" h="755064">
                <a:moveTo>
                  <a:pt x="3051938" y="0"/>
                </a:moveTo>
                <a:lnTo>
                  <a:pt x="3051938" y="657033"/>
                </a:lnTo>
                <a:cubicBezTo>
                  <a:pt x="3051938" y="677913"/>
                  <a:pt x="3047707" y="697804"/>
                  <a:pt x="3040054" y="715897"/>
                </a:cubicBezTo>
                <a:lnTo>
                  <a:pt x="3013647" y="755064"/>
                </a:lnTo>
                <a:lnTo>
                  <a:pt x="38292" y="755064"/>
                </a:lnTo>
                <a:lnTo>
                  <a:pt x="11884" y="715897"/>
                </a:lnTo>
                <a:cubicBezTo>
                  <a:pt x="4232" y="697804"/>
                  <a:pt x="0" y="677913"/>
                  <a:pt x="0" y="657033"/>
                </a:cubicBezTo>
                <a:lnTo>
                  <a:pt x="0" y="195925"/>
                </a:lnTo>
                <a:close/>
              </a:path>
            </a:pathLst>
          </a:custGeom>
        </p:spPr>
      </p:pic>
      <p:grpSp>
        <p:nvGrpSpPr>
          <p:cNvPr id="345" name="Group 344">
            <a:extLst>
              <a:ext uri="{FF2B5EF4-FFF2-40B4-BE49-F238E27FC236}">
                <a16:creationId xmlns:a16="http://schemas.microsoft.com/office/drawing/2014/main" id="{FC2AADFD-773A-4910-BB4C-B846D9F8DAF5}"/>
              </a:ext>
            </a:extLst>
          </p:cNvPr>
          <p:cNvGrpSpPr>
            <a:grpSpLocks/>
          </p:cNvGrpSpPr>
          <p:nvPr/>
        </p:nvGrpSpPr>
        <p:grpSpPr>
          <a:xfrm>
            <a:off x="4983481" y="5175707"/>
            <a:ext cx="492557" cy="492556"/>
            <a:chOff x="5242198" y="4035817"/>
            <a:chExt cx="608482" cy="608480"/>
          </a:xfrm>
        </p:grpSpPr>
        <p:sp>
          <p:nvSpPr>
            <p:cNvPr id="346" name="Freeform: Shape 345">
              <a:extLst>
                <a:ext uri="{FF2B5EF4-FFF2-40B4-BE49-F238E27FC236}">
                  <a16:creationId xmlns:a16="http://schemas.microsoft.com/office/drawing/2014/main" id="{1EB16E3F-C447-DE20-DC3F-A5FC4761E8F0}"/>
                </a:ext>
              </a:extLst>
            </p:cNvPr>
            <p:cNvSpPr/>
            <p:nvPr/>
          </p:nvSpPr>
          <p:spPr>
            <a:xfrm flipV="1">
              <a:off x="5242198" y="4035817"/>
              <a:ext cx="608482" cy="178266"/>
            </a:xfrm>
            <a:custGeom>
              <a:avLst/>
              <a:gdLst>
                <a:gd name="connsiteX0" fmla="*/ 5550409 w 6502383"/>
                <a:gd name="connsiteY0" fmla="*/ 762083 h 1904995"/>
                <a:gd name="connsiteX1" fmla="*/ 4026412 w 6502383"/>
                <a:gd name="connsiteY1" fmla="*/ 762083 h 1904995"/>
                <a:gd name="connsiteX2" fmla="*/ 3835913 w 6502383"/>
                <a:gd name="connsiteY2" fmla="*/ 952583 h 1904995"/>
                <a:gd name="connsiteX3" fmla="*/ 4026412 w 6502383"/>
                <a:gd name="connsiteY3" fmla="*/ 1143082 h 1904995"/>
                <a:gd name="connsiteX4" fmla="*/ 5550409 w 6502383"/>
                <a:gd name="connsiteY4" fmla="*/ 1143082 h 1904995"/>
                <a:gd name="connsiteX5" fmla="*/ 5740908 w 6502383"/>
                <a:gd name="connsiteY5" fmla="*/ 952583 h 1904995"/>
                <a:gd name="connsiteX6" fmla="*/ 5550409 w 6502383"/>
                <a:gd name="connsiteY6" fmla="*/ 762083 h 1904995"/>
                <a:gd name="connsiteX7" fmla="*/ 2477016 w 6502383"/>
                <a:gd name="connsiteY7" fmla="*/ 762083 h 1904995"/>
                <a:gd name="connsiteX8" fmla="*/ 2286517 w 6502383"/>
                <a:gd name="connsiteY8" fmla="*/ 952583 h 1904995"/>
                <a:gd name="connsiteX9" fmla="*/ 2477016 w 6502383"/>
                <a:gd name="connsiteY9" fmla="*/ 1143082 h 1904995"/>
                <a:gd name="connsiteX10" fmla="*/ 2667516 w 6502383"/>
                <a:gd name="connsiteY10" fmla="*/ 952583 h 1904995"/>
                <a:gd name="connsiteX11" fmla="*/ 2477016 w 6502383"/>
                <a:gd name="connsiteY11" fmla="*/ 762083 h 1904995"/>
                <a:gd name="connsiteX12" fmla="*/ 1715018 w 6502383"/>
                <a:gd name="connsiteY12" fmla="*/ 762083 h 1904995"/>
                <a:gd name="connsiteX13" fmla="*/ 1524519 w 6502383"/>
                <a:gd name="connsiteY13" fmla="*/ 952583 h 1904995"/>
                <a:gd name="connsiteX14" fmla="*/ 1715018 w 6502383"/>
                <a:gd name="connsiteY14" fmla="*/ 1143082 h 1904995"/>
                <a:gd name="connsiteX15" fmla="*/ 1905518 w 6502383"/>
                <a:gd name="connsiteY15" fmla="*/ 952583 h 1904995"/>
                <a:gd name="connsiteX16" fmla="*/ 1715018 w 6502383"/>
                <a:gd name="connsiteY16" fmla="*/ 762083 h 1904995"/>
                <a:gd name="connsiteX17" fmla="*/ 953020 w 6502383"/>
                <a:gd name="connsiteY17" fmla="*/ 762083 h 1904995"/>
                <a:gd name="connsiteX18" fmla="*/ 762520 w 6502383"/>
                <a:gd name="connsiteY18" fmla="*/ 952583 h 1904995"/>
                <a:gd name="connsiteX19" fmla="*/ 953020 w 6502383"/>
                <a:gd name="connsiteY19" fmla="*/ 1143082 h 1904995"/>
                <a:gd name="connsiteX20" fmla="*/ 1143520 w 6502383"/>
                <a:gd name="connsiteY20" fmla="*/ 952583 h 1904995"/>
                <a:gd name="connsiteX21" fmla="*/ 953020 w 6502383"/>
                <a:gd name="connsiteY21" fmla="*/ 762083 h 1904995"/>
                <a:gd name="connsiteX22" fmla="*/ 5931408 w 6502383"/>
                <a:gd name="connsiteY22" fmla="*/ 1905080 h 1904995"/>
                <a:gd name="connsiteX23" fmla="*/ 572021 w 6502383"/>
                <a:gd name="connsiteY23" fmla="*/ 1905080 h 1904995"/>
                <a:gd name="connsiteX24" fmla="*/ 522 w 6502383"/>
                <a:gd name="connsiteY24" fmla="*/ 1333582 h 1904995"/>
                <a:gd name="connsiteX25" fmla="*/ 522 w 6502383"/>
                <a:gd name="connsiteY25" fmla="*/ 571584 h 1904995"/>
                <a:gd name="connsiteX26" fmla="*/ 572021 w 6502383"/>
                <a:gd name="connsiteY26" fmla="*/ 85 h 1904995"/>
                <a:gd name="connsiteX27" fmla="*/ 5931408 w 6502383"/>
                <a:gd name="connsiteY27" fmla="*/ 85 h 1904995"/>
                <a:gd name="connsiteX28" fmla="*/ 6502906 w 6502383"/>
                <a:gd name="connsiteY28" fmla="*/ 571584 h 1904995"/>
                <a:gd name="connsiteX29" fmla="*/ 6502906 w 6502383"/>
                <a:gd name="connsiteY29" fmla="*/ 1333582 h 1904995"/>
                <a:gd name="connsiteX30" fmla="*/ 5931408 w 6502383"/>
                <a:gd name="connsiteY30" fmla="*/ 1905080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083"/>
                  </a:moveTo>
                  <a:lnTo>
                    <a:pt x="4026412" y="762083"/>
                  </a:lnTo>
                  <a:cubicBezTo>
                    <a:pt x="3921117" y="762083"/>
                    <a:pt x="3835913" y="847287"/>
                    <a:pt x="3835913" y="952583"/>
                  </a:cubicBezTo>
                  <a:cubicBezTo>
                    <a:pt x="3835913" y="1057878"/>
                    <a:pt x="3921117" y="1143082"/>
                    <a:pt x="4026412" y="1143082"/>
                  </a:cubicBezTo>
                  <a:lnTo>
                    <a:pt x="5550409" y="1143082"/>
                  </a:lnTo>
                  <a:cubicBezTo>
                    <a:pt x="5655704" y="1143082"/>
                    <a:pt x="5740908" y="1057878"/>
                    <a:pt x="5740908" y="952583"/>
                  </a:cubicBezTo>
                  <a:cubicBezTo>
                    <a:pt x="5740908" y="847287"/>
                    <a:pt x="5655704" y="762083"/>
                    <a:pt x="5550409" y="762083"/>
                  </a:cubicBezTo>
                  <a:moveTo>
                    <a:pt x="2477016" y="762083"/>
                  </a:moveTo>
                  <a:cubicBezTo>
                    <a:pt x="2371810" y="762083"/>
                    <a:pt x="2286517" y="847376"/>
                    <a:pt x="2286517" y="952583"/>
                  </a:cubicBezTo>
                  <a:cubicBezTo>
                    <a:pt x="2286517" y="1057815"/>
                    <a:pt x="2371810" y="1143082"/>
                    <a:pt x="2477016" y="1143082"/>
                  </a:cubicBezTo>
                  <a:cubicBezTo>
                    <a:pt x="2582223" y="1143082"/>
                    <a:pt x="2667516" y="1057815"/>
                    <a:pt x="2667516" y="952583"/>
                  </a:cubicBezTo>
                  <a:cubicBezTo>
                    <a:pt x="2667516" y="847376"/>
                    <a:pt x="2582223" y="762083"/>
                    <a:pt x="2477016" y="762083"/>
                  </a:cubicBezTo>
                  <a:moveTo>
                    <a:pt x="1715018" y="762083"/>
                  </a:moveTo>
                  <a:cubicBezTo>
                    <a:pt x="1609812" y="762083"/>
                    <a:pt x="1524519" y="847376"/>
                    <a:pt x="1524519" y="952583"/>
                  </a:cubicBezTo>
                  <a:cubicBezTo>
                    <a:pt x="1524519" y="1057815"/>
                    <a:pt x="1609812" y="1143082"/>
                    <a:pt x="1715018" y="1143082"/>
                  </a:cubicBezTo>
                  <a:cubicBezTo>
                    <a:pt x="1820225" y="1143082"/>
                    <a:pt x="1905518" y="1057815"/>
                    <a:pt x="1905518" y="952583"/>
                  </a:cubicBezTo>
                  <a:cubicBezTo>
                    <a:pt x="1905518" y="847376"/>
                    <a:pt x="1820225" y="762083"/>
                    <a:pt x="1715018" y="762083"/>
                  </a:cubicBezTo>
                  <a:moveTo>
                    <a:pt x="953020" y="762083"/>
                  </a:moveTo>
                  <a:cubicBezTo>
                    <a:pt x="847813" y="762083"/>
                    <a:pt x="762520" y="847376"/>
                    <a:pt x="762520" y="952583"/>
                  </a:cubicBezTo>
                  <a:cubicBezTo>
                    <a:pt x="762520" y="1057815"/>
                    <a:pt x="847813" y="1143082"/>
                    <a:pt x="953020" y="1143082"/>
                  </a:cubicBezTo>
                  <a:cubicBezTo>
                    <a:pt x="1058227" y="1143082"/>
                    <a:pt x="1143520" y="1057815"/>
                    <a:pt x="1143520" y="952583"/>
                  </a:cubicBezTo>
                  <a:cubicBezTo>
                    <a:pt x="1143520" y="847376"/>
                    <a:pt x="1058227" y="762083"/>
                    <a:pt x="953020" y="762083"/>
                  </a:cubicBezTo>
                  <a:moveTo>
                    <a:pt x="5931408" y="1905080"/>
                  </a:moveTo>
                  <a:lnTo>
                    <a:pt x="572021" y="1905080"/>
                  </a:lnTo>
                  <a:cubicBezTo>
                    <a:pt x="256884" y="1905080"/>
                    <a:pt x="522" y="1648719"/>
                    <a:pt x="522" y="1333582"/>
                  </a:cubicBezTo>
                  <a:lnTo>
                    <a:pt x="522" y="571584"/>
                  </a:lnTo>
                  <a:cubicBezTo>
                    <a:pt x="522" y="256447"/>
                    <a:pt x="256884" y="85"/>
                    <a:pt x="572021" y="85"/>
                  </a:cubicBezTo>
                  <a:lnTo>
                    <a:pt x="5931408" y="85"/>
                  </a:lnTo>
                  <a:cubicBezTo>
                    <a:pt x="6246545" y="85"/>
                    <a:pt x="6502906" y="256447"/>
                    <a:pt x="6502906" y="571584"/>
                  </a:cubicBezTo>
                  <a:lnTo>
                    <a:pt x="6502906" y="1333582"/>
                  </a:lnTo>
                  <a:cubicBezTo>
                    <a:pt x="6502906" y="1648719"/>
                    <a:pt x="6246545" y="1905080"/>
                    <a:pt x="5931408" y="1905080"/>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47" name="Freeform: Shape 346">
              <a:extLst>
                <a:ext uri="{FF2B5EF4-FFF2-40B4-BE49-F238E27FC236}">
                  <a16:creationId xmlns:a16="http://schemas.microsoft.com/office/drawing/2014/main" id="{A0A35E13-64FD-D477-1622-F9168F87F180}"/>
                </a:ext>
              </a:extLst>
            </p:cNvPr>
            <p:cNvSpPr/>
            <p:nvPr/>
          </p:nvSpPr>
          <p:spPr>
            <a:xfrm flipV="1">
              <a:off x="5242198" y="4250924"/>
              <a:ext cx="608482" cy="178266"/>
            </a:xfrm>
            <a:custGeom>
              <a:avLst/>
              <a:gdLst>
                <a:gd name="connsiteX0" fmla="*/ 5550409 w 6502383"/>
                <a:gd name="connsiteY0" fmla="*/ 762324 h 1904995"/>
                <a:gd name="connsiteX1" fmla="*/ 4026412 w 6502383"/>
                <a:gd name="connsiteY1" fmla="*/ 762324 h 1904995"/>
                <a:gd name="connsiteX2" fmla="*/ 3835913 w 6502383"/>
                <a:gd name="connsiteY2" fmla="*/ 952824 h 1904995"/>
                <a:gd name="connsiteX3" fmla="*/ 4026412 w 6502383"/>
                <a:gd name="connsiteY3" fmla="*/ 1143324 h 1904995"/>
                <a:gd name="connsiteX4" fmla="*/ 5550409 w 6502383"/>
                <a:gd name="connsiteY4" fmla="*/ 1143324 h 1904995"/>
                <a:gd name="connsiteX5" fmla="*/ 5740908 w 6502383"/>
                <a:gd name="connsiteY5" fmla="*/ 952824 h 1904995"/>
                <a:gd name="connsiteX6" fmla="*/ 5550409 w 6502383"/>
                <a:gd name="connsiteY6" fmla="*/ 762324 h 1904995"/>
                <a:gd name="connsiteX7" fmla="*/ 2477016 w 6502383"/>
                <a:gd name="connsiteY7" fmla="*/ 762324 h 1904995"/>
                <a:gd name="connsiteX8" fmla="*/ 2286517 w 6502383"/>
                <a:gd name="connsiteY8" fmla="*/ 952824 h 1904995"/>
                <a:gd name="connsiteX9" fmla="*/ 2477016 w 6502383"/>
                <a:gd name="connsiteY9" fmla="*/ 1143324 h 1904995"/>
                <a:gd name="connsiteX10" fmla="*/ 2667516 w 6502383"/>
                <a:gd name="connsiteY10" fmla="*/ 952824 h 1904995"/>
                <a:gd name="connsiteX11" fmla="*/ 2477016 w 6502383"/>
                <a:gd name="connsiteY11" fmla="*/ 762324 h 1904995"/>
                <a:gd name="connsiteX12" fmla="*/ 1715018 w 6502383"/>
                <a:gd name="connsiteY12" fmla="*/ 762324 h 1904995"/>
                <a:gd name="connsiteX13" fmla="*/ 1524519 w 6502383"/>
                <a:gd name="connsiteY13" fmla="*/ 952824 h 1904995"/>
                <a:gd name="connsiteX14" fmla="*/ 1715018 w 6502383"/>
                <a:gd name="connsiteY14" fmla="*/ 1143324 h 1904995"/>
                <a:gd name="connsiteX15" fmla="*/ 1905518 w 6502383"/>
                <a:gd name="connsiteY15" fmla="*/ 952824 h 1904995"/>
                <a:gd name="connsiteX16" fmla="*/ 1715018 w 6502383"/>
                <a:gd name="connsiteY16" fmla="*/ 762324 h 1904995"/>
                <a:gd name="connsiteX17" fmla="*/ 953020 w 6502383"/>
                <a:gd name="connsiteY17" fmla="*/ 762324 h 1904995"/>
                <a:gd name="connsiteX18" fmla="*/ 762520 w 6502383"/>
                <a:gd name="connsiteY18" fmla="*/ 952824 h 1904995"/>
                <a:gd name="connsiteX19" fmla="*/ 953020 w 6502383"/>
                <a:gd name="connsiteY19" fmla="*/ 1143324 h 1904995"/>
                <a:gd name="connsiteX20" fmla="*/ 1143520 w 6502383"/>
                <a:gd name="connsiteY20" fmla="*/ 952824 h 1904995"/>
                <a:gd name="connsiteX21" fmla="*/ 953020 w 6502383"/>
                <a:gd name="connsiteY21" fmla="*/ 762324 h 1904995"/>
                <a:gd name="connsiteX22" fmla="*/ 5931408 w 6502383"/>
                <a:gd name="connsiteY22" fmla="*/ 1905322 h 1904995"/>
                <a:gd name="connsiteX23" fmla="*/ 572021 w 6502383"/>
                <a:gd name="connsiteY23" fmla="*/ 1905322 h 1904995"/>
                <a:gd name="connsiteX24" fmla="*/ 522 w 6502383"/>
                <a:gd name="connsiteY24" fmla="*/ 1333823 h 1904995"/>
                <a:gd name="connsiteX25" fmla="*/ 522 w 6502383"/>
                <a:gd name="connsiteY25" fmla="*/ 571825 h 1904995"/>
                <a:gd name="connsiteX26" fmla="*/ 572021 w 6502383"/>
                <a:gd name="connsiteY26" fmla="*/ 326 h 1904995"/>
                <a:gd name="connsiteX27" fmla="*/ 5931408 w 6502383"/>
                <a:gd name="connsiteY27" fmla="*/ 326 h 1904995"/>
                <a:gd name="connsiteX28" fmla="*/ 6502906 w 6502383"/>
                <a:gd name="connsiteY28" fmla="*/ 571825 h 1904995"/>
                <a:gd name="connsiteX29" fmla="*/ 6502906 w 6502383"/>
                <a:gd name="connsiteY29" fmla="*/ 1333823 h 1904995"/>
                <a:gd name="connsiteX30" fmla="*/ 5931408 w 6502383"/>
                <a:gd name="connsiteY30" fmla="*/ 1905322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324"/>
                  </a:moveTo>
                  <a:lnTo>
                    <a:pt x="4026412" y="762324"/>
                  </a:lnTo>
                  <a:cubicBezTo>
                    <a:pt x="3921117" y="762324"/>
                    <a:pt x="3835913" y="847529"/>
                    <a:pt x="3835913" y="952824"/>
                  </a:cubicBezTo>
                  <a:cubicBezTo>
                    <a:pt x="3835913" y="1058119"/>
                    <a:pt x="3921117" y="1143324"/>
                    <a:pt x="4026412" y="1143324"/>
                  </a:cubicBezTo>
                  <a:lnTo>
                    <a:pt x="5550409" y="1143324"/>
                  </a:lnTo>
                  <a:cubicBezTo>
                    <a:pt x="5655704" y="1143324"/>
                    <a:pt x="5740908" y="1058119"/>
                    <a:pt x="5740908" y="952824"/>
                  </a:cubicBezTo>
                  <a:cubicBezTo>
                    <a:pt x="5740908" y="847529"/>
                    <a:pt x="5655704" y="762324"/>
                    <a:pt x="5550409" y="762324"/>
                  </a:cubicBezTo>
                  <a:moveTo>
                    <a:pt x="2477016" y="762324"/>
                  </a:moveTo>
                  <a:cubicBezTo>
                    <a:pt x="2371810" y="762324"/>
                    <a:pt x="2286517" y="847617"/>
                    <a:pt x="2286517" y="952824"/>
                  </a:cubicBezTo>
                  <a:cubicBezTo>
                    <a:pt x="2286517" y="1058056"/>
                    <a:pt x="2371810" y="1143324"/>
                    <a:pt x="2477016" y="1143324"/>
                  </a:cubicBezTo>
                  <a:cubicBezTo>
                    <a:pt x="2582223" y="1143324"/>
                    <a:pt x="2667516" y="1058056"/>
                    <a:pt x="2667516" y="952824"/>
                  </a:cubicBezTo>
                  <a:cubicBezTo>
                    <a:pt x="2667516" y="847617"/>
                    <a:pt x="2582223" y="762324"/>
                    <a:pt x="2477016" y="762324"/>
                  </a:cubicBezTo>
                  <a:moveTo>
                    <a:pt x="1715018" y="762324"/>
                  </a:moveTo>
                  <a:cubicBezTo>
                    <a:pt x="1609812" y="762324"/>
                    <a:pt x="1524519" y="847617"/>
                    <a:pt x="1524519" y="952824"/>
                  </a:cubicBezTo>
                  <a:cubicBezTo>
                    <a:pt x="1524519" y="1058056"/>
                    <a:pt x="1609812" y="1143324"/>
                    <a:pt x="1715018" y="1143324"/>
                  </a:cubicBezTo>
                  <a:cubicBezTo>
                    <a:pt x="1820225" y="1143324"/>
                    <a:pt x="1905518" y="1058056"/>
                    <a:pt x="1905518" y="952824"/>
                  </a:cubicBezTo>
                  <a:cubicBezTo>
                    <a:pt x="1905518" y="847617"/>
                    <a:pt x="1820225" y="762324"/>
                    <a:pt x="1715018" y="762324"/>
                  </a:cubicBezTo>
                  <a:moveTo>
                    <a:pt x="953020" y="762324"/>
                  </a:moveTo>
                  <a:cubicBezTo>
                    <a:pt x="847813" y="762324"/>
                    <a:pt x="762520" y="847617"/>
                    <a:pt x="762520" y="952824"/>
                  </a:cubicBezTo>
                  <a:cubicBezTo>
                    <a:pt x="762520" y="1058056"/>
                    <a:pt x="847813" y="1143324"/>
                    <a:pt x="953020" y="1143324"/>
                  </a:cubicBezTo>
                  <a:cubicBezTo>
                    <a:pt x="1058227" y="1143324"/>
                    <a:pt x="1143520" y="1058056"/>
                    <a:pt x="1143520" y="952824"/>
                  </a:cubicBezTo>
                  <a:cubicBezTo>
                    <a:pt x="1143520" y="847617"/>
                    <a:pt x="1058227" y="762324"/>
                    <a:pt x="953020" y="762324"/>
                  </a:cubicBezTo>
                  <a:moveTo>
                    <a:pt x="5931408" y="1905322"/>
                  </a:moveTo>
                  <a:lnTo>
                    <a:pt x="572021" y="1905322"/>
                  </a:lnTo>
                  <a:cubicBezTo>
                    <a:pt x="256884" y="1905322"/>
                    <a:pt x="522" y="1648960"/>
                    <a:pt x="522" y="1333823"/>
                  </a:cubicBezTo>
                  <a:lnTo>
                    <a:pt x="522" y="571825"/>
                  </a:lnTo>
                  <a:cubicBezTo>
                    <a:pt x="522" y="256688"/>
                    <a:pt x="256884" y="326"/>
                    <a:pt x="572021" y="326"/>
                  </a:cubicBezTo>
                  <a:lnTo>
                    <a:pt x="5931408" y="326"/>
                  </a:lnTo>
                  <a:cubicBezTo>
                    <a:pt x="6246545" y="326"/>
                    <a:pt x="6502906" y="256688"/>
                    <a:pt x="6502906" y="571825"/>
                  </a:cubicBezTo>
                  <a:lnTo>
                    <a:pt x="6502906" y="1333823"/>
                  </a:lnTo>
                  <a:cubicBezTo>
                    <a:pt x="6502906" y="1648960"/>
                    <a:pt x="6246545" y="1905322"/>
                    <a:pt x="5931408" y="1905322"/>
                  </a:cubicBezTo>
                </a:path>
              </a:pathLst>
            </a:custGeom>
            <a:solidFill>
              <a:srgbClr val="C03BC4">
                <a:lumMod val="20000"/>
                <a:lumOff val="80000"/>
              </a:srgbClr>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48" name="Freeform: Shape 347">
              <a:extLst>
                <a:ext uri="{FF2B5EF4-FFF2-40B4-BE49-F238E27FC236}">
                  <a16:creationId xmlns:a16="http://schemas.microsoft.com/office/drawing/2014/main" id="{9205CA4D-C536-C274-F943-B9911F57FEEC}"/>
                </a:ext>
              </a:extLst>
            </p:cNvPr>
            <p:cNvSpPr/>
            <p:nvPr/>
          </p:nvSpPr>
          <p:spPr>
            <a:xfrm flipV="1">
              <a:off x="5242198" y="4466031"/>
              <a:ext cx="608482" cy="178266"/>
            </a:xfrm>
            <a:custGeom>
              <a:avLst/>
              <a:gdLst>
                <a:gd name="connsiteX0" fmla="*/ 5550409 w 6502383"/>
                <a:gd name="connsiteY0" fmla="*/ 762566 h 1904995"/>
                <a:gd name="connsiteX1" fmla="*/ 4026412 w 6502383"/>
                <a:gd name="connsiteY1" fmla="*/ 762566 h 1904995"/>
                <a:gd name="connsiteX2" fmla="*/ 3835913 w 6502383"/>
                <a:gd name="connsiteY2" fmla="*/ 953065 h 1904995"/>
                <a:gd name="connsiteX3" fmla="*/ 4026412 w 6502383"/>
                <a:gd name="connsiteY3" fmla="*/ 1143565 h 1904995"/>
                <a:gd name="connsiteX4" fmla="*/ 5550409 w 6502383"/>
                <a:gd name="connsiteY4" fmla="*/ 1143565 h 1904995"/>
                <a:gd name="connsiteX5" fmla="*/ 5740908 w 6502383"/>
                <a:gd name="connsiteY5" fmla="*/ 953065 h 1904995"/>
                <a:gd name="connsiteX6" fmla="*/ 5550409 w 6502383"/>
                <a:gd name="connsiteY6" fmla="*/ 762566 h 1904995"/>
                <a:gd name="connsiteX7" fmla="*/ 2477016 w 6502383"/>
                <a:gd name="connsiteY7" fmla="*/ 762566 h 1904995"/>
                <a:gd name="connsiteX8" fmla="*/ 2286517 w 6502383"/>
                <a:gd name="connsiteY8" fmla="*/ 953065 h 1904995"/>
                <a:gd name="connsiteX9" fmla="*/ 2477016 w 6502383"/>
                <a:gd name="connsiteY9" fmla="*/ 1143565 h 1904995"/>
                <a:gd name="connsiteX10" fmla="*/ 2667516 w 6502383"/>
                <a:gd name="connsiteY10" fmla="*/ 953065 h 1904995"/>
                <a:gd name="connsiteX11" fmla="*/ 2477016 w 6502383"/>
                <a:gd name="connsiteY11" fmla="*/ 762566 h 1904995"/>
                <a:gd name="connsiteX12" fmla="*/ 1715018 w 6502383"/>
                <a:gd name="connsiteY12" fmla="*/ 762566 h 1904995"/>
                <a:gd name="connsiteX13" fmla="*/ 1524519 w 6502383"/>
                <a:gd name="connsiteY13" fmla="*/ 953065 h 1904995"/>
                <a:gd name="connsiteX14" fmla="*/ 1715018 w 6502383"/>
                <a:gd name="connsiteY14" fmla="*/ 1143565 h 1904995"/>
                <a:gd name="connsiteX15" fmla="*/ 1905518 w 6502383"/>
                <a:gd name="connsiteY15" fmla="*/ 953065 h 1904995"/>
                <a:gd name="connsiteX16" fmla="*/ 1715018 w 6502383"/>
                <a:gd name="connsiteY16" fmla="*/ 762566 h 1904995"/>
                <a:gd name="connsiteX17" fmla="*/ 953020 w 6502383"/>
                <a:gd name="connsiteY17" fmla="*/ 762566 h 1904995"/>
                <a:gd name="connsiteX18" fmla="*/ 762520 w 6502383"/>
                <a:gd name="connsiteY18" fmla="*/ 953065 h 1904995"/>
                <a:gd name="connsiteX19" fmla="*/ 953020 w 6502383"/>
                <a:gd name="connsiteY19" fmla="*/ 1143565 h 1904995"/>
                <a:gd name="connsiteX20" fmla="*/ 1143520 w 6502383"/>
                <a:gd name="connsiteY20" fmla="*/ 953065 h 1904995"/>
                <a:gd name="connsiteX21" fmla="*/ 953020 w 6502383"/>
                <a:gd name="connsiteY21" fmla="*/ 762566 h 1904995"/>
                <a:gd name="connsiteX22" fmla="*/ 5931408 w 6502383"/>
                <a:gd name="connsiteY22" fmla="*/ 1905563 h 1904995"/>
                <a:gd name="connsiteX23" fmla="*/ 572021 w 6502383"/>
                <a:gd name="connsiteY23" fmla="*/ 1905563 h 1904995"/>
                <a:gd name="connsiteX24" fmla="*/ 522 w 6502383"/>
                <a:gd name="connsiteY24" fmla="*/ 1334064 h 1904995"/>
                <a:gd name="connsiteX25" fmla="*/ 522 w 6502383"/>
                <a:gd name="connsiteY25" fmla="*/ 572066 h 1904995"/>
                <a:gd name="connsiteX26" fmla="*/ 572021 w 6502383"/>
                <a:gd name="connsiteY26" fmla="*/ 568 h 1904995"/>
                <a:gd name="connsiteX27" fmla="*/ 5931408 w 6502383"/>
                <a:gd name="connsiteY27" fmla="*/ 568 h 1904995"/>
                <a:gd name="connsiteX28" fmla="*/ 6502906 w 6502383"/>
                <a:gd name="connsiteY28" fmla="*/ 572066 h 1904995"/>
                <a:gd name="connsiteX29" fmla="*/ 6502906 w 6502383"/>
                <a:gd name="connsiteY29" fmla="*/ 1334064 h 1904995"/>
                <a:gd name="connsiteX30" fmla="*/ 5931408 w 6502383"/>
                <a:gd name="connsiteY30" fmla="*/ 1905563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566"/>
                  </a:moveTo>
                  <a:lnTo>
                    <a:pt x="4026412" y="762566"/>
                  </a:lnTo>
                  <a:cubicBezTo>
                    <a:pt x="3921117" y="762566"/>
                    <a:pt x="3835913" y="847770"/>
                    <a:pt x="3835913" y="953065"/>
                  </a:cubicBezTo>
                  <a:cubicBezTo>
                    <a:pt x="3835913" y="1058361"/>
                    <a:pt x="3921117" y="1143565"/>
                    <a:pt x="4026412" y="1143565"/>
                  </a:cubicBezTo>
                  <a:lnTo>
                    <a:pt x="5550409" y="1143565"/>
                  </a:lnTo>
                  <a:cubicBezTo>
                    <a:pt x="5655704" y="1143565"/>
                    <a:pt x="5740908" y="1058361"/>
                    <a:pt x="5740908" y="953065"/>
                  </a:cubicBezTo>
                  <a:cubicBezTo>
                    <a:pt x="5740908" y="847770"/>
                    <a:pt x="5655704" y="762566"/>
                    <a:pt x="5550409" y="762566"/>
                  </a:cubicBezTo>
                  <a:moveTo>
                    <a:pt x="2477016" y="762566"/>
                  </a:moveTo>
                  <a:cubicBezTo>
                    <a:pt x="2371810" y="762566"/>
                    <a:pt x="2286517" y="847859"/>
                    <a:pt x="2286517" y="953065"/>
                  </a:cubicBezTo>
                  <a:cubicBezTo>
                    <a:pt x="2286517" y="1058297"/>
                    <a:pt x="2371810" y="1143565"/>
                    <a:pt x="2477016" y="1143565"/>
                  </a:cubicBezTo>
                  <a:cubicBezTo>
                    <a:pt x="2582223" y="1143565"/>
                    <a:pt x="2667516" y="1058297"/>
                    <a:pt x="2667516" y="953065"/>
                  </a:cubicBezTo>
                  <a:cubicBezTo>
                    <a:pt x="2667516" y="847859"/>
                    <a:pt x="2582223" y="762566"/>
                    <a:pt x="2477016" y="762566"/>
                  </a:cubicBezTo>
                  <a:moveTo>
                    <a:pt x="1715018" y="762566"/>
                  </a:moveTo>
                  <a:cubicBezTo>
                    <a:pt x="1609812" y="762566"/>
                    <a:pt x="1524519" y="847859"/>
                    <a:pt x="1524519" y="953065"/>
                  </a:cubicBezTo>
                  <a:cubicBezTo>
                    <a:pt x="1524519" y="1058297"/>
                    <a:pt x="1609812" y="1143565"/>
                    <a:pt x="1715018" y="1143565"/>
                  </a:cubicBezTo>
                  <a:cubicBezTo>
                    <a:pt x="1820225" y="1143565"/>
                    <a:pt x="1905518" y="1058297"/>
                    <a:pt x="1905518" y="953065"/>
                  </a:cubicBezTo>
                  <a:cubicBezTo>
                    <a:pt x="1905518" y="847859"/>
                    <a:pt x="1820225" y="762566"/>
                    <a:pt x="1715018" y="762566"/>
                  </a:cubicBezTo>
                  <a:moveTo>
                    <a:pt x="953020" y="762566"/>
                  </a:moveTo>
                  <a:cubicBezTo>
                    <a:pt x="847813" y="762566"/>
                    <a:pt x="762520" y="847859"/>
                    <a:pt x="762520" y="953065"/>
                  </a:cubicBezTo>
                  <a:cubicBezTo>
                    <a:pt x="762520" y="1058297"/>
                    <a:pt x="847813" y="1143565"/>
                    <a:pt x="953020" y="1143565"/>
                  </a:cubicBezTo>
                  <a:cubicBezTo>
                    <a:pt x="1058227" y="1143565"/>
                    <a:pt x="1143520" y="1058297"/>
                    <a:pt x="1143520" y="953065"/>
                  </a:cubicBezTo>
                  <a:cubicBezTo>
                    <a:pt x="1143520" y="847859"/>
                    <a:pt x="1058227" y="762566"/>
                    <a:pt x="953020" y="762566"/>
                  </a:cubicBezTo>
                  <a:moveTo>
                    <a:pt x="5931408" y="1905563"/>
                  </a:moveTo>
                  <a:lnTo>
                    <a:pt x="572021" y="1905563"/>
                  </a:lnTo>
                  <a:cubicBezTo>
                    <a:pt x="256884" y="1905563"/>
                    <a:pt x="522" y="1649201"/>
                    <a:pt x="522" y="1334064"/>
                  </a:cubicBezTo>
                  <a:lnTo>
                    <a:pt x="522" y="572066"/>
                  </a:lnTo>
                  <a:cubicBezTo>
                    <a:pt x="522" y="256929"/>
                    <a:pt x="256884" y="568"/>
                    <a:pt x="572021" y="568"/>
                  </a:cubicBezTo>
                  <a:lnTo>
                    <a:pt x="5931408" y="568"/>
                  </a:lnTo>
                  <a:cubicBezTo>
                    <a:pt x="6246545" y="568"/>
                    <a:pt x="6502906" y="256929"/>
                    <a:pt x="6502906" y="572066"/>
                  </a:cubicBezTo>
                  <a:lnTo>
                    <a:pt x="6502906" y="1334064"/>
                  </a:lnTo>
                  <a:cubicBezTo>
                    <a:pt x="6502906" y="1649201"/>
                    <a:pt x="6246545" y="1905563"/>
                    <a:pt x="5931408" y="1905563"/>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349" name="Group 348">
            <a:extLst>
              <a:ext uri="{FF2B5EF4-FFF2-40B4-BE49-F238E27FC236}">
                <a16:creationId xmlns:a16="http://schemas.microsoft.com/office/drawing/2014/main" id="{CF5B278B-8C24-135E-4396-CD0CF6306986}"/>
              </a:ext>
            </a:extLst>
          </p:cNvPr>
          <p:cNvGrpSpPr>
            <a:grpSpLocks/>
          </p:cNvGrpSpPr>
          <p:nvPr/>
        </p:nvGrpSpPr>
        <p:grpSpPr>
          <a:xfrm>
            <a:off x="5849721" y="5175708"/>
            <a:ext cx="492557" cy="492556"/>
            <a:chOff x="5242198" y="4035817"/>
            <a:chExt cx="608482" cy="608480"/>
          </a:xfrm>
        </p:grpSpPr>
        <p:sp>
          <p:nvSpPr>
            <p:cNvPr id="350" name="Freeform: Shape 349">
              <a:extLst>
                <a:ext uri="{FF2B5EF4-FFF2-40B4-BE49-F238E27FC236}">
                  <a16:creationId xmlns:a16="http://schemas.microsoft.com/office/drawing/2014/main" id="{7EFBA28A-D102-267A-6272-656401B6301E}"/>
                </a:ext>
              </a:extLst>
            </p:cNvPr>
            <p:cNvSpPr/>
            <p:nvPr/>
          </p:nvSpPr>
          <p:spPr>
            <a:xfrm flipV="1">
              <a:off x="5242198" y="4035817"/>
              <a:ext cx="608482" cy="178266"/>
            </a:xfrm>
            <a:custGeom>
              <a:avLst/>
              <a:gdLst>
                <a:gd name="connsiteX0" fmla="*/ 5550409 w 6502383"/>
                <a:gd name="connsiteY0" fmla="*/ 762083 h 1904995"/>
                <a:gd name="connsiteX1" fmla="*/ 4026412 w 6502383"/>
                <a:gd name="connsiteY1" fmla="*/ 762083 h 1904995"/>
                <a:gd name="connsiteX2" fmla="*/ 3835913 w 6502383"/>
                <a:gd name="connsiteY2" fmla="*/ 952583 h 1904995"/>
                <a:gd name="connsiteX3" fmla="*/ 4026412 w 6502383"/>
                <a:gd name="connsiteY3" fmla="*/ 1143082 h 1904995"/>
                <a:gd name="connsiteX4" fmla="*/ 5550409 w 6502383"/>
                <a:gd name="connsiteY4" fmla="*/ 1143082 h 1904995"/>
                <a:gd name="connsiteX5" fmla="*/ 5740908 w 6502383"/>
                <a:gd name="connsiteY5" fmla="*/ 952583 h 1904995"/>
                <a:gd name="connsiteX6" fmla="*/ 5550409 w 6502383"/>
                <a:gd name="connsiteY6" fmla="*/ 762083 h 1904995"/>
                <a:gd name="connsiteX7" fmla="*/ 2477016 w 6502383"/>
                <a:gd name="connsiteY7" fmla="*/ 762083 h 1904995"/>
                <a:gd name="connsiteX8" fmla="*/ 2286517 w 6502383"/>
                <a:gd name="connsiteY8" fmla="*/ 952583 h 1904995"/>
                <a:gd name="connsiteX9" fmla="*/ 2477016 w 6502383"/>
                <a:gd name="connsiteY9" fmla="*/ 1143082 h 1904995"/>
                <a:gd name="connsiteX10" fmla="*/ 2667516 w 6502383"/>
                <a:gd name="connsiteY10" fmla="*/ 952583 h 1904995"/>
                <a:gd name="connsiteX11" fmla="*/ 2477016 w 6502383"/>
                <a:gd name="connsiteY11" fmla="*/ 762083 h 1904995"/>
                <a:gd name="connsiteX12" fmla="*/ 1715018 w 6502383"/>
                <a:gd name="connsiteY12" fmla="*/ 762083 h 1904995"/>
                <a:gd name="connsiteX13" fmla="*/ 1524519 w 6502383"/>
                <a:gd name="connsiteY13" fmla="*/ 952583 h 1904995"/>
                <a:gd name="connsiteX14" fmla="*/ 1715018 w 6502383"/>
                <a:gd name="connsiteY14" fmla="*/ 1143082 h 1904995"/>
                <a:gd name="connsiteX15" fmla="*/ 1905518 w 6502383"/>
                <a:gd name="connsiteY15" fmla="*/ 952583 h 1904995"/>
                <a:gd name="connsiteX16" fmla="*/ 1715018 w 6502383"/>
                <a:gd name="connsiteY16" fmla="*/ 762083 h 1904995"/>
                <a:gd name="connsiteX17" fmla="*/ 953020 w 6502383"/>
                <a:gd name="connsiteY17" fmla="*/ 762083 h 1904995"/>
                <a:gd name="connsiteX18" fmla="*/ 762520 w 6502383"/>
                <a:gd name="connsiteY18" fmla="*/ 952583 h 1904995"/>
                <a:gd name="connsiteX19" fmla="*/ 953020 w 6502383"/>
                <a:gd name="connsiteY19" fmla="*/ 1143082 h 1904995"/>
                <a:gd name="connsiteX20" fmla="*/ 1143520 w 6502383"/>
                <a:gd name="connsiteY20" fmla="*/ 952583 h 1904995"/>
                <a:gd name="connsiteX21" fmla="*/ 953020 w 6502383"/>
                <a:gd name="connsiteY21" fmla="*/ 762083 h 1904995"/>
                <a:gd name="connsiteX22" fmla="*/ 5931408 w 6502383"/>
                <a:gd name="connsiteY22" fmla="*/ 1905080 h 1904995"/>
                <a:gd name="connsiteX23" fmla="*/ 572021 w 6502383"/>
                <a:gd name="connsiteY23" fmla="*/ 1905080 h 1904995"/>
                <a:gd name="connsiteX24" fmla="*/ 522 w 6502383"/>
                <a:gd name="connsiteY24" fmla="*/ 1333582 h 1904995"/>
                <a:gd name="connsiteX25" fmla="*/ 522 w 6502383"/>
                <a:gd name="connsiteY25" fmla="*/ 571584 h 1904995"/>
                <a:gd name="connsiteX26" fmla="*/ 572021 w 6502383"/>
                <a:gd name="connsiteY26" fmla="*/ 85 h 1904995"/>
                <a:gd name="connsiteX27" fmla="*/ 5931408 w 6502383"/>
                <a:gd name="connsiteY27" fmla="*/ 85 h 1904995"/>
                <a:gd name="connsiteX28" fmla="*/ 6502906 w 6502383"/>
                <a:gd name="connsiteY28" fmla="*/ 571584 h 1904995"/>
                <a:gd name="connsiteX29" fmla="*/ 6502906 w 6502383"/>
                <a:gd name="connsiteY29" fmla="*/ 1333582 h 1904995"/>
                <a:gd name="connsiteX30" fmla="*/ 5931408 w 6502383"/>
                <a:gd name="connsiteY30" fmla="*/ 1905080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083"/>
                  </a:moveTo>
                  <a:lnTo>
                    <a:pt x="4026412" y="762083"/>
                  </a:lnTo>
                  <a:cubicBezTo>
                    <a:pt x="3921117" y="762083"/>
                    <a:pt x="3835913" y="847287"/>
                    <a:pt x="3835913" y="952583"/>
                  </a:cubicBezTo>
                  <a:cubicBezTo>
                    <a:pt x="3835913" y="1057878"/>
                    <a:pt x="3921117" y="1143082"/>
                    <a:pt x="4026412" y="1143082"/>
                  </a:cubicBezTo>
                  <a:lnTo>
                    <a:pt x="5550409" y="1143082"/>
                  </a:lnTo>
                  <a:cubicBezTo>
                    <a:pt x="5655704" y="1143082"/>
                    <a:pt x="5740908" y="1057878"/>
                    <a:pt x="5740908" y="952583"/>
                  </a:cubicBezTo>
                  <a:cubicBezTo>
                    <a:pt x="5740908" y="847287"/>
                    <a:pt x="5655704" y="762083"/>
                    <a:pt x="5550409" y="762083"/>
                  </a:cubicBezTo>
                  <a:moveTo>
                    <a:pt x="2477016" y="762083"/>
                  </a:moveTo>
                  <a:cubicBezTo>
                    <a:pt x="2371810" y="762083"/>
                    <a:pt x="2286517" y="847376"/>
                    <a:pt x="2286517" y="952583"/>
                  </a:cubicBezTo>
                  <a:cubicBezTo>
                    <a:pt x="2286517" y="1057815"/>
                    <a:pt x="2371810" y="1143082"/>
                    <a:pt x="2477016" y="1143082"/>
                  </a:cubicBezTo>
                  <a:cubicBezTo>
                    <a:pt x="2582223" y="1143082"/>
                    <a:pt x="2667516" y="1057815"/>
                    <a:pt x="2667516" y="952583"/>
                  </a:cubicBezTo>
                  <a:cubicBezTo>
                    <a:pt x="2667516" y="847376"/>
                    <a:pt x="2582223" y="762083"/>
                    <a:pt x="2477016" y="762083"/>
                  </a:cubicBezTo>
                  <a:moveTo>
                    <a:pt x="1715018" y="762083"/>
                  </a:moveTo>
                  <a:cubicBezTo>
                    <a:pt x="1609812" y="762083"/>
                    <a:pt x="1524519" y="847376"/>
                    <a:pt x="1524519" y="952583"/>
                  </a:cubicBezTo>
                  <a:cubicBezTo>
                    <a:pt x="1524519" y="1057815"/>
                    <a:pt x="1609812" y="1143082"/>
                    <a:pt x="1715018" y="1143082"/>
                  </a:cubicBezTo>
                  <a:cubicBezTo>
                    <a:pt x="1820225" y="1143082"/>
                    <a:pt x="1905518" y="1057815"/>
                    <a:pt x="1905518" y="952583"/>
                  </a:cubicBezTo>
                  <a:cubicBezTo>
                    <a:pt x="1905518" y="847376"/>
                    <a:pt x="1820225" y="762083"/>
                    <a:pt x="1715018" y="762083"/>
                  </a:cubicBezTo>
                  <a:moveTo>
                    <a:pt x="953020" y="762083"/>
                  </a:moveTo>
                  <a:cubicBezTo>
                    <a:pt x="847813" y="762083"/>
                    <a:pt x="762520" y="847376"/>
                    <a:pt x="762520" y="952583"/>
                  </a:cubicBezTo>
                  <a:cubicBezTo>
                    <a:pt x="762520" y="1057815"/>
                    <a:pt x="847813" y="1143082"/>
                    <a:pt x="953020" y="1143082"/>
                  </a:cubicBezTo>
                  <a:cubicBezTo>
                    <a:pt x="1058227" y="1143082"/>
                    <a:pt x="1143520" y="1057815"/>
                    <a:pt x="1143520" y="952583"/>
                  </a:cubicBezTo>
                  <a:cubicBezTo>
                    <a:pt x="1143520" y="847376"/>
                    <a:pt x="1058227" y="762083"/>
                    <a:pt x="953020" y="762083"/>
                  </a:cubicBezTo>
                  <a:moveTo>
                    <a:pt x="5931408" y="1905080"/>
                  </a:moveTo>
                  <a:lnTo>
                    <a:pt x="572021" y="1905080"/>
                  </a:lnTo>
                  <a:cubicBezTo>
                    <a:pt x="256884" y="1905080"/>
                    <a:pt x="522" y="1648719"/>
                    <a:pt x="522" y="1333582"/>
                  </a:cubicBezTo>
                  <a:lnTo>
                    <a:pt x="522" y="571584"/>
                  </a:lnTo>
                  <a:cubicBezTo>
                    <a:pt x="522" y="256447"/>
                    <a:pt x="256884" y="85"/>
                    <a:pt x="572021" y="85"/>
                  </a:cubicBezTo>
                  <a:lnTo>
                    <a:pt x="5931408" y="85"/>
                  </a:lnTo>
                  <a:cubicBezTo>
                    <a:pt x="6246545" y="85"/>
                    <a:pt x="6502906" y="256447"/>
                    <a:pt x="6502906" y="571584"/>
                  </a:cubicBezTo>
                  <a:lnTo>
                    <a:pt x="6502906" y="1333582"/>
                  </a:lnTo>
                  <a:cubicBezTo>
                    <a:pt x="6502906" y="1648719"/>
                    <a:pt x="6246545" y="1905080"/>
                    <a:pt x="5931408" y="1905080"/>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51" name="Freeform: Shape 350">
              <a:extLst>
                <a:ext uri="{FF2B5EF4-FFF2-40B4-BE49-F238E27FC236}">
                  <a16:creationId xmlns:a16="http://schemas.microsoft.com/office/drawing/2014/main" id="{95863004-9418-1ACB-3F25-630A17613317}"/>
                </a:ext>
              </a:extLst>
            </p:cNvPr>
            <p:cNvSpPr/>
            <p:nvPr/>
          </p:nvSpPr>
          <p:spPr>
            <a:xfrm flipV="1">
              <a:off x="5242198" y="4250924"/>
              <a:ext cx="608482" cy="178266"/>
            </a:xfrm>
            <a:custGeom>
              <a:avLst/>
              <a:gdLst>
                <a:gd name="connsiteX0" fmla="*/ 5550409 w 6502383"/>
                <a:gd name="connsiteY0" fmla="*/ 762324 h 1904995"/>
                <a:gd name="connsiteX1" fmla="*/ 4026412 w 6502383"/>
                <a:gd name="connsiteY1" fmla="*/ 762324 h 1904995"/>
                <a:gd name="connsiteX2" fmla="*/ 3835913 w 6502383"/>
                <a:gd name="connsiteY2" fmla="*/ 952824 h 1904995"/>
                <a:gd name="connsiteX3" fmla="*/ 4026412 w 6502383"/>
                <a:gd name="connsiteY3" fmla="*/ 1143324 h 1904995"/>
                <a:gd name="connsiteX4" fmla="*/ 5550409 w 6502383"/>
                <a:gd name="connsiteY4" fmla="*/ 1143324 h 1904995"/>
                <a:gd name="connsiteX5" fmla="*/ 5740908 w 6502383"/>
                <a:gd name="connsiteY5" fmla="*/ 952824 h 1904995"/>
                <a:gd name="connsiteX6" fmla="*/ 5550409 w 6502383"/>
                <a:gd name="connsiteY6" fmla="*/ 762324 h 1904995"/>
                <a:gd name="connsiteX7" fmla="*/ 2477016 w 6502383"/>
                <a:gd name="connsiteY7" fmla="*/ 762324 h 1904995"/>
                <a:gd name="connsiteX8" fmla="*/ 2286517 w 6502383"/>
                <a:gd name="connsiteY8" fmla="*/ 952824 h 1904995"/>
                <a:gd name="connsiteX9" fmla="*/ 2477016 w 6502383"/>
                <a:gd name="connsiteY9" fmla="*/ 1143324 h 1904995"/>
                <a:gd name="connsiteX10" fmla="*/ 2667516 w 6502383"/>
                <a:gd name="connsiteY10" fmla="*/ 952824 h 1904995"/>
                <a:gd name="connsiteX11" fmla="*/ 2477016 w 6502383"/>
                <a:gd name="connsiteY11" fmla="*/ 762324 h 1904995"/>
                <a:gd name="connsiteX12" fmla="*/ 1715018 w 6502383"/>
                <a:gd name="connsiteY12" fmla="*/ 762324 h 1904995"/>
                <a:gd name="connsiteX13" fmla="*/ 1524519 w 6502383"/>
                <a:gd name="connsiteY13" fmla="*/ 952824 h 1904995"/>
                <a:gd name="connsiteX14" fmla="*/ 1715018 w 6502383"/>
                <a:gd name="connsiteY14" fmla="*/ 1143324 h 1904995"/>
                <a:gd name="connsiteX15" fmla="*/ 1905518 w 6502383"/>
                <a:gd name="connsiteY15" fmla="*/ 952824 h 1904995"/>
                <a:gd name="connsiteX16" fmla="*/ 1715018 w 6502383"/>
                <a:gd name="connsiteY16" fmla="*/ 762324 h 1904995"/>
                <a:gd name="connsiteX17" fmla="*/ 953020 w 6502383"/>
                <a:gd name="connsiteY17" fmla="*/ 762324 h 1904995"/>
                <a:gd name="connsiteX18" fmla="*/ 762520 w 6502383"/>
                <a:gd name="connsiteY18" fmla="*/ 952824 h 1904995"/>
                <a:gd name="connsiteX19" fmla="*/ 953020 w 6502383"/>
                <a:gd name="connsiteY19" fmla="*/ 1143324 h 1904995"/>
                <a:gd name="connsiteX20" fmla="*/ 1143520 w 6502383"/>
                <a:gd name="connsiteY20" fmla="*/ 952824 h 1904995"/>
                <a:gd name="connsiteX21" fmla="*/ 953020 w 6502383"/>
                <a:gd name="connsiteY21" fmla="*/ 762324 h 1904995"/>
                <a:gd name="connsiteX22" fmla="*/ 5931408 w 6502383"/>
                <a:gd name="connsiteY22" fmla="*/ 1905322 h 1904995"/>
                <a:gd name="connsiteX23" fmla="*/ 572021 w 6502383"/>
                <a:gd name="connsiteY23" fmla="*/ 1905322 h 1904995"/>
                <a:gd name="connsiteX24" fmla="*/ 522 w 6502383"/>
                <a:gd name="connsiteY24" fmla="*/ 1333823 h 1904995"/>
                <a:gd name="connsiteX25" fmla="*/ 522 w 6502383"/>
                <a:gd name="connsiteY25" fmla="*/ 571825 h 1904995"/>
                <a:gd name="connsiteX26" fmla="*/ 572021 w 6502383"/>
                <a:gd name="connsiteY26" fmla="*/ 326 h 1904995"/>
                <a:gd name="connsiteX27" fmla="*/ 5931408 w 6502383"/>
                <a:gd name="connsiteY27" fmla="*/ 326 h 1904995"/>
                <a:gd name="connsiteX28" fmla="*/ 6502906 w 6502383"/>
                <a:gd name="connsiteY28" fmla="*/ 571825 h 1904995"/>
                <a:gd name="connsiteX29" fmla="*/ 6502906 w 6502383"/>
                <a:gd name="connsiteY29" fmla="*/ 1333823 h 1904995"/>
                <a:gd name="connsiteX30" fmla="*/ 5931408 w 6502383"/>
                <a:gd name="connsiteY30" fmla="*/ 1905322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324"/>
                  </a:moveTo>
                  <a:lnTo>
                    <a:pt x="4026412" y="762324"/>
                  </a:lnTo>
                  <a:cubicBezTo>
                    <a:pt x="3921117" y="762324"/>
                    <a:pt x="3835913" y="847529"/>
                    <a:pt x="3835913" y="952824"/>
                  </a:cubicBezTo>
                  <a:cubicBezTo>
                    <a:pt x="3835913" y="1058119"/>
                    <a:pt x="3921117" y="1143324"/>
                    <a:pt x="4026412" y="1143324"/>
                  </a:cubicBezTo>
                  <a:lnTo>
                    <a:pt x="5550409" y="1143324"/>
                  </a:lnTo>
                  <a:cubicBezTo>
                    <a:pt x="5655704" y="1143324"/>
                    <a:pt x="5740908" y="1058119"/>
                    <a:pt x="5740908" y="952824"/>
                  </a:cubicBezTo>
                  <a:cubicBezTo>
                    <a:pt x="5740908" y="847529"/>
                    <a:pt x="5655704" y="762324"/>
                    <a:pt x="5550409" y="762324"/>
                  </a:cubicBezTo>
                  <a:moveTo>
                    <a:pt x="2477016" y="762324"/>
                  </a:moveTo>
                  <a:cubicBezTo>
                    <a:pt x="2371810" y="762324"/>
                    <a:pt x="2286517" y="847617"/>
                    <a:pt x="2286517" y="952824"/>
                  </a:cubicBezTo>
                  <a:cubicBezTo>
                    <a:pt x="2286517" y="1058056"/>
                    <a:pt x="2371810" y="1143324"/>
                    <a:pt x="2477016" y="1143324"/>
                  </a:cubicBezTo>
                  <a:cubicBezTo>
                    <a:pt x="2582223" y="1143324"/>
                    <a:pt x="2667516" y="1058056"/>
                    <a:pt x="2667516" y="952824"/>
                  </a:cubicBezTo>
                  <a:cubicBezTo>
                    <a:pt x="2667516" y="847617"/>
                    <a:pt x="2582223" y="762324"/>
                    <a:pt x="2477016" y="762324"/>
                  </a:cubicBezTo>
                  <a:moveTo>
                    <a:pt x="1715018" y="762324"/>
                  </a:moveTo>
                  <a:cubicBezTo>
                    <a:pt x="1609812" y="762324"/>
                    <a:pt x="1524519" y="847617"/>
                    <a:pt x="1524519" y="952824"/>
                  </a:cubicBezTo>
                  <a:cubicBezTo>
                    <a:pt x="1524519" y="1058056"/>
                    <a:pt x="1609812" y="1143324"/>
                    <a:pt x="1715018" y="1143324"/>
                  </a:cubicBezTo>
                  <a:cubicBezTo>
                    <a:pt x="1820225" y="1143324"/>
                    <a:pt x="1905518" y="1058056"/>
                    <a:pt x="1905518" y="952824"/>
                  </a:cubicBezTo>
                  <a:cubicBezTo>
                    <a:pt x="1905518" y="847617"/>
                    <a:pt x="1820225" y="762324"/>
                    <a:pt x="1715018" y="762324"/>
                  </a:cubicBezTo>
                  <a:moveTo>
                    <a:pt x="953020" y="762324"/>
                  </a:moveTo>
                  <a:cubicBezTo>
                    <a:pt x="847813" y="762324"/>
                    <a:pt x="762520" y="847617"/>
                    <a:pt x="762520" y="952824"/>
                  </a:cubicBezTo>
                  <a:cubicBezTo>
                    <a:pt x="762520" y="1058056"/>
                    <a:pt x="847813" y="1143324"/>
                    <a:pt x="953020" y="1143324"/>
                  </a:cubicBezTo>
                  <a:cubicBezTo>
                    <a:pt x="1058227" y="1143324"/>
                    <a:pt x="1143520" y="1058056"/>
                    <a:pt x="1143520" y="952824"/>
                  </a:cubicBezTo>
                  <a:cubicBezTo>
                    <a:pt x="1143520" y="847617"/>
                    <a:pt x="1058227" y="762324"/>
                    <a:pt x="953020" y="762324"/>
                  </a:cubicBezTo>
                  <a:moveTo>
                    <a:pt x="5931408" y="1905322"/>
                  </a:moveTo>
                  <a:lnTo>
                    <a:pt x="572021" y="1905322"/>
                  </a:lnTo>
                  <a:cubicBezTo>
                    <a:pt x="256884" y="1905322"/>
                    <a:pt x="522" y="1648960"/>
                    <a:pt x="522" y="1333823"/>
                  </a:cubicBezTo>
                  <a:lnTo>
                    <a:pt x="522" y="571825"/>
                  </a:lnTo>
                  <a:cubicBezTo>
                    <a:pt x="522" y="256688"/>
                    <a:pt x="256884" y="326"/>
                    <a:pt x="572021" y="326"/>
                  </a:cubicBezTo>
                  <a:lnTo>
                    <a:pt x="5931408" y="326"/>
                  </a:lnTo>
                  <a:cubicBezTo>
                    <a:pt x="6246545" y="326"/>
                    <a:pt x="6502906" y="256688"/>
                    <a:pt x="6502906" y="571825"/>
                  </a:cubicBezTo>
                  <a:lnTo>
                    <a:pt x="6502906" y="1333823"/>
                  </a:lnTo>
                  <a:cubicBezTo>
                    <a:pt x="6502906" y="1648960"/>
                    <a:pt x="6246545" y="1905322"/>
                    <a:pt x="5931408" y="1905322"/>
                  </a:cubicBezTo>
                </a:path>
              </a:pathLst>
            </a:custGeom>
            <a:solidFill>
              <a:srgbClr val="C03BC4">
                <a:lumMod val="20000"/>
                <a:lumOff val="80000"/>
              </a:srgbClr>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52" name="Freeform: Shape 351">
              <a:extLst>
                <a:ext uri="{FF2B5EF4-FFF2-40B4-BE49-F238E27FC236}">
                  <a16:creationId xmlns:a16="http://schemas.microsoft.com/office/drawing/2014/main" id="{12E9613D-33A2-1E0C-0EA1-77A9EAD39C30}"/>
                </a:ext>
              </a:extLst>
            </p:cNvPr>
            <p:cNvSpPr/>
            <p:nvPr/>
          </p:nvSpPr>
          <p:spPr>
            <a:xfrm flipV="1">
              <a:off x="5242198" y="4466031"/>
              <a:ext cx="608482" cy="178266"/>
            </a:xfrm>
            <a:custGeom>
              <a:avLst/>
              <a:gdLst>
                <a:gd name="connsiteX0" fmla="*/ 5550409 w 6502383"/>
                <a:gd name="connsiteY0" fmla="*/ 762566 h 1904995"/>
                <a:gd name="connsiteX1" fmla="*/ 4026412 w 6502383"/>
                <a:gd name="connsiteY1" fmla="*/ 762566 h 1904995"/>
                <a:gd name="connsiteX2" fmla="*/ 3835913 w 6502383"/>
                <a:gd name="connsiteY2" fmla="*/ 953065 h 1904995"/>
                <a:gd name="connsiteX3" fmla="*/ 4026412 w 6502383"/>
                <a:gd name="connsiteY3" fmla="*/ 1143565 h 1904995"/>
                <a:gd name="connsiteX4" fmla="*/ 5550409 w 6502383"/>
                <a:gd name="connsiteY4" fmla="*/ 1143565 h 1904995"/>
                <a:gd name="connsiteX5" fmla="*/ 5740908 w 6502383"/>
                <a:gd name="connsiteY5" fmla="*/ 953065 h 1904995"/>
                <a:gd name="connsiteX6" fmla="*/ 5550409 w 6502383"/>
                <a:gd name="connsiteY6" fmla="*/ 762566 h 1904995"/>
                <a:gd name="connsiteX7" fmla="*/ 2477016 w 6502383"/>
                <a:gd name="connsiteY7" fmla="*/ 762566 h 1904995"/>
                <a:gd name="connsiteX8" fmla="*/ 2286517 w 6502383"/>
                <a:gd name="connsiteY8" fmla="*/ 953065 h 1904995"/>
                <a:gd name="connsiteX9" fmla="*/ 2477016 w 6502383"/>
                <a:gd name="connsiteY9" fmla="*/ 1143565 h 1904995"/>
                <a:gd name="connsiteX10" fmla="*/ 2667516 w 6502383"/>
                <a:gd name="connsiteY10" fmla="*/ 953065 h 1904995"/>
                <a:gd name="connsiteX11" fmla="*/ 2477016 w 6502383"/>
                <a:gd name="connsiteY11" fmla="*/ 762566 h 1904995"/>
                <a:gd name="connsiteX12" fmla="*/ 1715018 w 6502383"/>
                <a:gd name="connsiteY12" fmla="*/ 762566 h 1904995"/>
                <a:gd name="connsiteX13" fmla="*/ 1524519 w 6502383"/>
                <a:gd name="connsiteY13" fmla="*/ 953065 h 1904995"/>
                <a:gd name="connsiteX14" fmla="*/ 1715018 w 6502383"/>
                <a:gd name="connsiteY14" fmla="*/ 1143565 h 1904995"/>
                <a:gd name="connsiteX15" fmla="*/ 1905518 w 6502383"/>
                <a:gd name="connsiteY15" fmla="*/ 953065 h 1904995"/>
                <a:gd name="connsiteX16" fmla="*/ 1715018 w 6502383"/>
                <a:gd name="connsiteY16" fmla="*/ 762566 h 1904995"/>
                <a:gd name="connsiteX17" fmla="*/ 953020 w 6502383"/>
                <a:gd name="connsiteY17" fmla="*/ 762566 h 1904995"/>
                <a:gd name="connsiteX18" fmla="*/ 762520 w 6502383"/>
                <a:gd name="connsiteY18" fmla="*/ 953065 h 1904995"/>
                <a:gd name="connsiteX19" fmla="*/ 953020 w 6502383"/>
                <a:gd name="connsiteY19" fmla="*/ 1143565 h 1904995"/>
                <a:gd name="connsiteX20" fmla="*/ 1143520 w 6502383"/>
                <a:gd name="connsiteY20" fmla="*/ 953065 h 1904995"/>
                <a:gd name="connsiteX21" fmla="*/ 953020 w 6502383"/>
                <a:gd name="connsiteY21" fmla="*/ 762566 h 1904995"/>
                <a:gd name="connsiteX22" fmla="*/ 5931408 w 6502383"/>
                <a:gd name="connsiteY22" fmla="*/ 1905563 h 1904995"/>
                <a:gd name="connsiteX23" fmla="*/ 572021 w 6502383"/>
                <a:gd name="connsiteY23" fmla="*/ 1905563 h 1904995"/>
                <a:gd name="connsiteX24" fmla="*/ 522 w 6502383"/>
                <a:gd name="connsiteY24" fmla="*/ 1334064 h 1904995"/>
                <a:gd name="connsiteX25" fmla="*/ 522 w 6502383"/>
                <a:gd name="connsiteY25" fmla="*/ 572066 h 1904995"/>
                <a:gd name="connsiteX26" fmla="*/ 572021 w 6502383"/>
                <a:gd name="connsiteY26" fmla="*/ 568 h 1904995"/>
                <a:gd name="connsiteX27" fmla="*/ 5931408 w 6502383"/>
                <a:gd name="connsiteY27" fmla="*/ 568 h 1904995"/>
                <a:gd name="connsiteX28" fmla="*/ 6502906 w 6502383"/>
                <a:gd name="connsiteY28" fmla="*/ 572066 h 1904995"/>
                <a:gd name="connsiteX29" fmla="*/ 6502906 w 6502383"/>
                <a:gd name="connsiteY29" fmla="*/ 1334064 h 1904995"/>
                <a:gd name="connsiteX30" fmla="*/ 5931408 w 6502383"/>
                <a:gd name="connsiteY30" fmla="*/ 1905563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566"/>
                  </a:moveTo>
                  <a:lnTo>
                    <a:pt x="4026412" y="762566"/>
                  </a:lnTo>
                  <a:cubicBezTo>
                    <a:pt x="3921117" y="762566"/>
                    <a:pt x="3835913" y="847770"/>
                    <a:pt x="3835913" y="953065"/>
                  </a:cubicBezTo>
                  <a:cubicBezTo>
                    <a:pt x="3835913" y="1058361"/>
                    <a:pt x="3921117" y="1143565"/>
                    <a:pt x="4026412" y="1143565"/>
                  </a:cubicBezTo>
                  <a:lnTo>
                    <a:pt x="5550409" y="1143565"/>
                  </a:lnTo>
                  <a:cubicBezTo>
                    <a:pt x="5655704" y="1143565"/>
                    <a:pt x="5740908" y="1058361"/>
                    <a:pt x="5740908" y="953065"/>
                  </a:cubicBezTo>
                  <a:cubicBezTo>
                    <a:pt x="5740908" y="847770"/>
                    <a:pt x="5655704" y="762566"/>
                    <a:pt x="5550409" y="762566"/>
                  </a:cubicBezTo>
                  <a:moveTo>
                    <a:pt x="2477016" y="762566"/>
                  </a:moveTo>
                  <a:cubicBezTo>
                    <a:pt x="2371810" y="762566"/>
                    <a:pt x="2286517" y="847859"/>
                    <a:pt x="2286517" y="953065"/>
                  </a:cubicBezTo>
                  <a:cubicBezTo>
                    <a:pt x="2286517" y="1058297"/>
                    <a:pt x="2371810" y="1143565"/>
                    <a:pt x="2477016" y="1143565"/>
                  </a:cubicBezTo>
                  <a:cubicBezTo>
                    <a:pt x="2582223" y="1143565"/>
                    <a:pt x="2667516" y="1058297"/>
                    <a:pt x="2667516" y="953065"/>
                  </a:cubicBezTo>
                  <a:cubicBezTo>
                    <a:pt x="2667516" y="847859"/>
                    <a:pt x="2582223" y="762566"/>
                    <a:pt x="2477016" y="762566"/>
                  </a:cubicBezTo>
                  <a:moveTo>
                    <a:pt x="1715018" y="762566"/>
                  </a:moveTo>
                  <a:cubicBezTo>
                    <a:pt x="1609812" y="762566"/>
                    <a:pt x="1524519" y="847859"/>
                    <a:pt x="1524519" y="953065"/>
                  </a:cubicBezTo>
                  <a:cubicBezTo>
                    <a:pt x="1524519" y="1058297"/>
                    <a:pt x="1609812" y="1143565"/>
                    <a:pt x="1715018" y="1143565"/>
                  </a:cubicBezTo>
                  <a:cubicBezTo>
                    <a:pt x="1820225" y="1143565"/>
                    <a:pt x="1905518" y="1058297"/>
                    <a:pt x="1905518" y="953065"/>
                  </a:cubicBezTo>
                  <a:cubicBezTo>
                    <a:pt x="1905518" y="847859"/>
                    <a:pt x="1820225" y="762566"/>
                    <a:pt x="1715018" y="762566"/>
                  </a:cubicBezTo>
                  <a:moveTo>
                    <a:pt x="953020" y="762566"/>
                  </a:moveTo>
                  <a:cubicBezTo>
                    <a:pt x="847813" y="762566"/>
                    <a:pt x="762520" y="847859"/>
                    <a:pt x="762520" y="953065"/>
                  </a:cubicBezTo>
                  <a:cubicBezTo>
                    <a:pt x="762520" y="1058297"/>
                    <a:pt x="847813" y="1143565"/>
                    <a:pt x="953020" y="1143565"/>
                  </a:cubicBezTo>
                  <a:cubicBezTo>
                    <a:pt x="1058227" y="1143565"/>
                    <a:pt x="1143520" y="1058297"/>
                    <a:pt x="1143520" y="953065"/>
                  </a:cubicBezTo>
                  <a:cubicBezTo>
                    <a:pt x="1143520" y="847859"/>
                    <a:pt x="1058227" y="762566"/>
                    <a:pt x="953020" y="762566"/>
                  </a:cubicBezTo>
                  <a:moveTo>
                    <a:pt x="5931408" y="1905563"/>
                  </a:moveTo>
                  <a:lnTo>
                    <a:pt x="572021" y="1905563"/>
                  </a:lnTo>
                  <a:cubicBezTo>
                    <a:pt x="256884" y="1905563"/>
                    <a:pt x="522" y="1649201"/>
                    <a:pt x="522" y="1334064"/>
                  </a:cubicBezTo>
                  <a:lnTo>
                    <a:pt x="522" y="572066"/>
                  </a:lnTo>
                  <a:cubicBezTo>
                    <a:pt x="522" y="256929"/>
                    <a:pt x="256884" y="568"/>
                    <a:pt x="572021" y="568"/>
                  </a:cubicBezTo>
                  <a:lnTo>
                    <a:pt x="5931408" y="568"/>
                  </a:lnTo>
                  <a:cubicBezTo>
                    <a:pt x="6246545" y="568"/>
                    <a:pt x="6502906" y="256929"/>
                    <a:pt x="6502906" y="572066"/>
                  </a:cubicBezTo>
                  <a:lnTo>
                    <a:pt x="6502906" y="1334064"/>
                  </a:lnTo>
                  <a:cubicBezTo>
                    <a:pt x="6502906" y="1649201"/>
                    <a:pt x="6246545" y="1905563"/>
                    <a:pt x="5931408" y="1905563"/>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353" name="Group 352">
            <a:extLst>
              <a:ext uri="{FF2B5EF4-FFF2-40B4-BE49-F238E27FC236}">
                <a16:creationId xmlns:a16="http://schemas.microsoft.com/office/drawing/2014/main" id="{726F0643-22FD-4E16-74AE-EBAB0DF81D81}"/>
              </a:ext>
            </a:extLst>
          </p:cNvPr>
          <p:cNvGrpSpPr>
            <a:grpSpLocks/>
          </p:cNvGrpSpPr>
          <p:nvPr/>
        </p:nvGrpSpPr>
        <p:grpSpPr>
          <a:xfrm>
            <a:off x="6715961" y="5175709"/>
            <a:ext cx="492557" cy="492556"/>
            <a:chOff x="5242198" y="4035817"/>
            <a:chExt cx="608482" cy="608480"/>
          </a:xfrm>
        </p:grpSpPr>
        <p:sp>
          <p:nvSpPr>
            <p:cNvPr id="354" name="Freeform: Shape 353">
              <a:extLst>
                <a:ext uri="{FF2B5EF4-FFF2-40B4-BE49-F238E27FC236}">
                  <a16:creationId xmlns:a16="http://schemas.microsoft.com/office/drawing/2014/main" id="{5CD7BF3F-E31B-FDDA-F308-97202F7F690F}"/>
                </a:ext>
              </a:extLst>
            </p:cNvPr>
            <p:cNvSpPr/>
            <p:nvPr/>
          </p:nvSpPr>
          <p:spPr>
            <a:xfrm flipV="1">
              <a:off x="5242198" y="4035817"/>
              <a:ext cx="608482" cy="178266"/>
            </a:xfrm>
            <a:custGeom>
              <a:avLst/>
              <a:gdLst>
                <a:gd name="connsiteX0" fmla="*/ 5550409 w 6502383"/>
                <a:gd name="connsiteY0" fmla="*/ 762083 h 1904995"/>
                <a:gd name="connsiteX1" fmla="*/ 4026412 w 6502383"/>
                <a:gd name="connsiteY1" fmla="*/ 762083 h 1904995"/>
                <a:gd name="connsiteX2" fmla="*/ 3835913 w 6502383"/>
                <a:gd name="connsiteY2" fmla="*/ 952583 h 1904995"/>
                <a:gd name="connsiteX3" fmla="*/ 4026412 w 6502383"/>
                <a:gd name="connsiteY3" fmla="*/ 1143082 h 1904995"/>
                <a:gd name="connsiteX4" fmla="*/ 5550409 w 6502383"/>
                <a:gd name="connsiteY4" fmla="*/ 1143082 h 1904995"/>
                <a:gd name="connsiteX5" fmla="*/ 5740908 w 6502383"/>
                <a:gd name="connsiteY5" fmla="*/ 952583 h 1904995"/>
                <a:gd name="connsiteX6" fmla="*/ 5550409 w 6502383"/>
                <a:gd name="connsiteY6" fmla="*/ 762083 h 1904995"/>
                <a:gd name="connsiteX7" fmla="*/ 2477016 w 6502383"/>
                <a:gd name="connsiteY7" fmla="*/ 762083 h 1904995"/>
                <a:gd name="connsiteX8" fmla="*/ 2286517 w 6502383"/>
                <a:gd name="connsiteY8" fmla="*/ 952583 h 1904995"/>
                <a:gd name="connsiteX9" fmla="*/ 2477016 w 6502383"/>
                <a:gd name="connsiteY9" fmla="*/ 1143082 h 1904995"/>
                <a:gd name="connsiteX10" fmla="*/ 2667516 w 6502383"/>
                <a:gd name="connsiteY10" fmla="*/ 952583 h 1904995"/>
                <a:gd name="connsiteX11" fmla="*/ 2477016 w 6502383"/>
                <a:gd name="connsiteY11" fmla="*/ 762083 h 1904995"/>
                <a:gd name="connsiteX12" fmla="*/ 1715018 w 6502383"/>
                <a:gd name="connsiteY12" fmla="*/ 762083 h 1904995"/>
                <a:gd name="connsiteX13" fmla="*/ 1524519 w 6502383"/>
                <a:gd name="connsiteY13" fmla="*/ 952583 h 1904995"/>
                <a:gd name="connsiteX14" fmla="*/ 1715018 w 6502383"/>
                <a:gd name="connsiteY14" fmla="*/ 1143082 h 1904995"/>
                <a:gd name="connsiteX15" fmla="*/ 1905518 w 6502383"/>
                <a:gd name="connsiteY15" fmla="*/ 952583 h 1904995"/>
                <a:gd name="connsiteX16" fmla="*/ 1715018 w 6502383"/>
                <a:gd name="connsiteY16" fmla="*/ 762083 h 1904995"/>
                <a:gd name="connsiteX17" fmla="*/ 953020 w 6502383"/>
                <a:gd name="connsiteY17" fmla="*/ 762083 h 1904995"/>
                <a:gd name="connsiteX18" fmla="*/ 762520 w 6502383"/>
                <a:gd name="connsiteY18" fmla="*/ 952583 h 1904995"/>
                <a:gd name="connsiteX19" fmla="*/ 953020 w 6502383"/>
                <a:gd name="connsiteY19" fmla="*/ 1143082 h 1904995"/>
                <a:gd name="connsiteX20" fmla="*/ 1143520 w 6502383"/>
                <a:gd name="connsiteY20" fmla="*/ 952583 h 1904995"/>
                <a:gd name="connsiteX21" fmla="*/ 953020 w 6502383"/>
                <a:gd name="connsiteY21" fmla="*/ 762083 h 1904995"/>
                <a:gd name="connsiteX22" fmla="*/ 5931408 w 6502383"/>
                <a:gd name="connsiteY22" fmla="*/ 1905080 h 1904995"/>
                <a:gd name="connsiteX23" fmla="*/ 572021 w 6502383"/>
                <a:gd name="connsiteY23" fmla="*/ 1905080 h 1904995"/>
                <a:gd name="connsiteX24" fmla="*/ 522 w 6502383"/>
                <a:gd name="connsiteY24" fmla="*/ 1333582 h 1904995"/>
                <a:gd name="connsiteX25" fmla="*/ 522 w 6502383"/>
                <a:gd name="connsiteY25" fmla="*/ 571584 h 1904995"/>
                <a:gd name="connsiteX26" fmla="*/ 572021 w 6502383"/>
                <a:gd name="connsiteY26" fmla="*/ 85 h 1904995"/>
                <a:gd name="connsiteX27" fmla="*/ 5931408 w 6502383"/>
                <a:gd name="connsiteY27" fmla="*/ 85 h 1904995"/>
                <a:gd name="connsiteX28" fmla="*/ 6502906 w 6502383"/>
                <a:gd name="connsiteY28" fmla="*/ 571584 h 1904995"/>
                <a:gd name="connsiteX29" fmla="*/ 6502906 w 6502383"/>
                <a:gd name="connsiteY29" fmla="*/ 1333582 h 1904995"/>
                <a:gd name="connsiteX30" fmla="*/ 5931408 w 6502383"/>
                <a:gd name="connsiteY30" fmla="*/ 1905080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083"/>
                  </a:moveTo>
                  <a:lnTo>
                    <a:pt x="4026412" y="762083"/>
                  </a:lnTo>
                  <a:cubicBezTo>
                    <a:pt x="3921117" y="762083"/>
                    <a:pt x="3835913" y="847287"/>
                    <a:pt x="3835913" y="952583"/>
                  </a:cubicBezTo>
                  <a:cubicBezTo>
                    <a:pt x="3835913" y="1057878"/>
                    <a:pt x="3921117" y="1143082"/>
                    <a:pt x="4026412" y="1143082"/>
                  </a:cubicBezTo>
                  <a:lnTo>
                    <a:pt x="5550409" y="1143082"/>
                  </a:lnTo>
                  <a:cubicBezTo>
                    <a:pt x="5655704" y="1143082"/>
                    <a:pt x="5740908" y="1057878"/>
                    <a:pt x="5740908" y="952583"/>
                  </a:cubicBezTo>
                  <a:cubicBezTo>
                    <a:pt x="5740908" y="847287"/>
                    <a:pt x="5655704" y="762083"/>
                    <a:pt x="5550409" y="762083"/>
                  </a:cubicBezTo>
                  <a:moveTo>
                    <a:pt x="2477016" y="762083"/>
                  </a:moveTo>
                  <a:cubicBezTo>
                    <a:pt x="2371810" y="762083"/>
                    <a:pt x="2286517" y="847376"/>
                    <a:pt x="2286517" y="952583"/>
                  </a:cubicBezTo>
                  <a:cubicBezTo>
                    <a:pt x="2286517" y="1057815"/>
                    <a:pt x="2371810" y="1143082"/>
                    <a:pt x="2477016" y="1143082"/>
                  </a:cubicBezTo>
                  <a:cubicBezTo>
                    <a:pt x="2582223" y="1143082"/>
                    <a:pt x="2667516" y="1057815"/>
                    <a:pt x="2667516" y="952583"/>
                  </a:cubicBezTo>
                  <a:cubicBezTo>
                    <a:pt x="2667516" y="847376"/>
                    <a:pt x="2582223" y="762083"/>
                    <a:pt x="2477016" y="762083"/>
                  </a:cubicBezTo>
                  <a:moveTo>
                    <a:pt x="1715018" y="762083"/>
                  </a:moveTo>
                  <a:cubicBezTo>
                    <a:pt x="1609812" y="762083"/>
                    <a:pt x="1524519" y="847376"/>
                    <a:pt x="1524519" y="952583"/>
                  </a:cubicBezTo>
                  <a:cubicBezTo>
                    <a:pt x="1524519" y="1057815"/>
                    <a:pt x="1609812" y="1143082"/>
                    <a:pt x="1715018" y="1143082"/>
                  </a:cubicBezTo>
                  <a:cubicBezTo>
                    <a:pt x="1820225" y="1143082"/>
                    <a:pt x="1905518" y="1057815"/>
                    <a:pt x="1905518" y="952583"/>
                  </a:cubicBezTo>
                  <a:cubicBezTo>
                    <a:pt x="1905518" y="847376"/>
                    <a:pt x="1820225" y="762083"/>
                    <a:pt x="1715018" y="762083"/>
                  </a:cubicBezTo>
                  <a:moveTo>
                    <a:pt x="953020" y="762083"/>
                  </a:moveTo>
                  <a:cubicBezTo>
                    <a:pt x="847813" y="762083"/>
                    <a:pt x="762520" y="847376"/>
                    <a:pt x="762520" y="952583"/>
                  </a:cubicBezTo>
                  <a:cubicBezTo>
                    <a:pt x="762520" y="1057815"/>
                    <a:pt x="847813" y="1143082"/>
                    <a:pt x="953020" y="1143082"/>
                  </a:cubicBezTo>
                  <a:cubicBezTo>
                    <a:pt x="1058227" y="1143082"/>
                    <a:pt x="1143520" y="1057815"/>
                    <a:pt x="1143520" y="952583"/>
                  </a:cubicBezTo>
                  <a:cubicBezTo>
                    <a:pt x="1143520" y="847376"/>
                    <a:pt x="1058227" y="762083"/>
                    <a:pt x="953020" y="762083"/>
                  </a:cubicBezTo>
                  <a:moveTo>
                    <a:pt x="5931408" y="1905080"/>
                  </a:moveTo>
                  <a:lnTo>
                    <a:pt x="572021" y="1905080"/>
                  </a:lnTo>
                  <a:cubicBezTo>
                    <a:pt x="256884" y="1905080"/>
                    <a:pt x="522" y="1648719"/>
                    <a:pt x="522" y="1333582"/>
                  </a:cubicBezTo>
                  <a:lnTo>
                    <a:pt x="522" y="571584"/>
                  </a:lnTo>
                  <a:cubicBezTo>
                    <a:pt x="522" y="256447"/>
                    <a:pt x="256884" y="85"/>
                    <a:pt x="572021" y="85"/>
                  </a:cubicBezTo>
                  <a:lnTo>
                    <a:pt x="5931408" y="85"/>
                  </a:lnTo>
                  <a:cubicBezTo>
                    <a:pt x="6246545" y="85"/>
                    <a:pt x="6502906" y="256447"/>
                    <a:pt x="6502906" y="571584"/>
                  </a:cubicBezTo>
                  <a:lnTo>
                    <a:pt x="6502906" y="1333582"/>
                  </a:lnTo>
                  <a:cubicBezTo>
                    <a:pt x="6502906" y="1648719"/>
                    <a:pt x="6246545" y="1905080"/>
                    <a:pt x="5931408" y="1905080"/>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55" name="Freeform: Shape 354">
              <a:extLst>
                <a:ext uri="{FF2B5EF4-FFF2-40B4-BE49-F238E27FC236}">
                  <a16:creationId xmlns:a16="http://schemas.microsoft.com/office/drawing/2014/main" id="{F99194BB-A481-9B2E-A1E9-B9E77B727182}"/>
                </a:ext>
              </a:extLst>
            </p:cNvPr>
            <p:cNvSpPr/>
            <p:nvPr/>
          </p:nvSpPr>
          <p:spPr>
            <a:xfrm flipV="1">
              <a:off x="5242198" y="4250924"/>
              <a:ext cx="608482" cy="178266"/>
            </a:xfrm>
            <a:custGeom>
              <a:avLst/>
              <a:gdLst>
                <a:gd name="connsiteX0" fmla="*/ 5550409 w 6502383"/>
                <a:gd name="connsiteY0" fmla="*/ 762324 h 1904995"/>
                <a:gd name="connsiteX1" fmla="*/ 4026412 w 6502383"/>
                <a:gd name="connsiteY1" fmla="*/ 762324 h 1904995"/>
                <a:gd name="connsiteX2" fmla="*/ 3835913 w 6502383"/>
                <a:gd name="connsiteY2" fmla="*/ 952824 h 1904995"/>
                <a:gd name="connsiteX3" fmla="*/ 4026412 w 6502383"/>
                <a:gd name="connsiteY3" fmla="*/ 1143324 h 1904995"/>
                <a:gd name="connsiteX4" fmla="*/ 5550409 w 6502383"/>
                <a:gd name="connsiteY4" fmla="*/ 1143324 h 1904995"/>
                <a:gd name="connsiteX5" fmla="*/ 5740908 w 6502383"/>
                <a:gd name="connsiteY5" fmla="*/ 952824 h 1904995"/>
                <a:gd name="connsiteX6" fmla="*/ 5550409 w 6502383"/>
                <a:gd name="connsiteY6" fmla="*/ 762324 h 1904995"/>
                <a:gd name="connsiteX7" fmla="*/ 2477016 w 6502383"/>
                <a:gd name="connsiteY7" fmla="*/ 762324 h 1904995"/>
                <a:gd name="connsiteX8" fmla="*/ 2286517 w 6502383"/>
                <a:gd name="connsiteY8" fmla="*/ 952824 h 1904995"/>
                <a:gd name="connsiteX9" fmla="*/ 2477016 w 6502383"/>
                <a:gd name="connsiteY9" fmla="*/ 1143324 h 1904995"/>
                <a:gd name="connsiteX10" fmla="*/ 2667516 w 6502383"/>
                <a:gd name="connsiteY10" fmla="*/ 952824 h 1904995"/>
                <a:gd name="connsiteX11" fmla="*/ 2477016 w 6502383"/>
                <a:gd name="connsiteY11" fmla="*/ 762324 h 1904995"/>
                <a:gd name="connsiteX12" fmla="*/ 1715018 w 6502383"/>
                <a:gd name="connsiteY12" fmla="*/ 762324 h 1904995"/>
                <a:gd name="connsiteX13" fmla="*/ 1524519 w 6502383"/>
                <a:gd name="connsiteY13" fmla="*/ 952824 h 1904995"/>
                <a:gd name="connsiteX14" fmla="*/ 1715018 w 6502383"/>
                <a:gd name="connsiteY14" fmla="*/ 1143324 h 1904995"/>
                <a:gd name="connsiteX15" fmla="*/ 1905518 w 6502383"/>
                <a:gd name="connsiteY15" fmla="*/ 952824 h 1904995"/>
                <a:gd name="connsiteX16" fmla="*/ 1715018 w 6502383"/>
                <a:gd name="connsiteY16" fmla="*/ 762324 h 1904995"/>
                <a:gd name="connsiteX17" fmla="*/ 953020 w 6502383"/>
                <a:gd name="connsiteY17" fmla="*/ 762324 h 1904995"/>
                <a:gd name="connsiteX18" fmla="*/ 762520 w 6502383"/>
                <a:gd name="connsiteY18" fmla="*/ 952824 h 1904995"/>
                <a:gd name="connsiteX19" fmla="*/ 953020 w 6502383"/>
                <a:gd name="connsiteY19" fmla="*/ 1143324 h 1904995"/>
                <a:gd name="connsiteX20" fmla="*/ 1143520 w 6502383"/>
                <a:gd name="connsiteY20" fmla="*/ 952824 h 1904995"/>
                <a:gd name="connsiteX21" fmla="*/ 953020 w 6502383"/>
                <a:gd name="connsiteY21" fmla="*/ 762324 h 1904995"/>
                <a:gd name="connsiteX22" fmla="*/ 5931408 w 6502383"/>
                <a:gd name="connsiteY22" fmla="*/ 1905322 h 1904995"/>
                <a:gd name="connsiteX23" fmla="*/ 572021 w 6502383"/>
                <a:gd name="connsiteY23" fmla="*/ 1905322 h 1904995"/>
                <a:gd name="connsiteX24" fmla="*/ 522 w 6502383"/>
                <a:gd name="connsiteY24" fmla="*/ 1333823 h 1904995"/>
                <a:gd name="connsiteX25" fmla="*/ 522 w 6502383"/>
                <a:gd name="connsiteY25" fmla="*/ 571825 h 1904995"/>
                <a:gd name="connsiteX26" fmla="*/ 572021 w 6502383"/>
                <a:gd name="connsiteY26" fmla="*/ 326 h 1904995"/>
                <a:gd name="connsiteX27" fmla="*/ 5931408 w 6502383"/>
                <a:gd name="connsiteY27" fmla="*/ 326 h 1904995"/>
                <a:gd name="connsiteX28" fmla="*/ 6502906 w 6502383"/>
                <a:gd name="connsiteY28" fmla="*/ 571825 h 1904995"/>
                <a:gd name="connsiteX29" fmla="*/ 6502906 w 6502383"/>
                <a:gd name="connsiteY29" fmla="*/ 1333823 h 1904995"/>
                <a:gd name="connsiteX30" fmla="*/ 5931408 w 6502383"/>
                <a:gd name="connsiteY30" fmla="*/ 1905322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324"/>
                  </a:moveTo>
                  <a:lnTo>
                    <a:pt x="4026412" y="762324"/>
                  </a:lnTo>
                  <a:cubicBezTo>
                    <a:pt x="3921117" y="762324"/>
                    <a:pt x="3835913" y="847529"/>
                    <a:pt x="3835913" y="952824"/>
                  </a:cubicBezTo>
                  <a:cubicBezTo>
                    <a:pt x="3835913" y="1058119"/>
                    <a:pt x="3921117" y="1143324"/>
                    <a:pt x="4026412" y="1143324"/>
                  </a:cubicBezTo>
                  <a:lnTo>
                    <a:pt x="5550409" y="1143324"/>
                  </a:lnTo>
                  <a:cubicBezTo>
                    <a:pt x="5655704" y="1143324"/>
                    <a:pt x="5740908" y="1058119"/>
                    <a:pt x="5740908" y="952824"/>
                  </a:cubicBezTo>
                  <a:cubicBezTo>
                    <a:pt x="5740908" y="847529"/>
                    <a:pt x="5655704" y="762324"/>
                    <a:pt x="5550409" y="762324"/>
                  </a:cubicBezTo>
                  <a:moveTo>
                    <a:pt x="2477016" y="762324"/>
                  </a:moveTo>
                  <a:cubicBezTo>
                    <a:pt x="2371810" y="762324"/>
                    <a:pt x="2286517" y="847617"/>
                    <a:pt x="2286517" y="952824"/>
                  </a:cubicBezTo>
                  <a:cubicBezTo>
                    <a:pt x="2286517" y="1058056"/>
                    <a:pt x="2371810" y="1143324"/>
                    <a:pt x="2477016" y="1143324"/>
                  </a:cubicBezTo>
                  <a:cubicBezTo>
                    <a:pt x="2582223" y="1143324"/>
                    <a:pt x="2667516" y="1058056"/>
                    <a:pt x="2667516" y="952824"/>
                  </a:cubicBezTo>
                  <a:cubicBezTo>
                    <a:pt x="2667516" y="847617"/>
                    <a:pt x="2582223" y="762324"/>
                    <a:pt x="2477016" y="762324"/>
                  </a:cubicBezTo>
                  <a:moveTo>
                    <a:pt x="1715018" y="762324"/>
                  </a:moveTo>
                  <a:cubicBezTo>
                    <a:pt x="1609812" y="762324"/>
                    <a:pt x="1524519" y="847617"/>
                    <a:pt x="1524519" y="952824"/>
                  </a:cubicBezTo>
                  <a:cubicBezTo>
                    <a:pt x="1524519" y="1058056"/>
                    <a:pt x="1609812" y="1143324"/>
                    <a:pt x="1715018" y="1143324"/>
                  </a:cubicBezTo>
                  <a:cubicBezTo>
                    <a:pt x="1820225" y="1143324"/>
                    <a:pt x="1905518" y="1058056"/>
                    <a:pt x="1905518" y="952824"/>
                  </a:cubicBezTo>
                  <a:cubicBezTo>
                    <a:pt x="1905518" y="847617"/>
                    <a:pt x="1820225" y="762324"/>
                    <a:pt x="1715018" y="762324"/>
                  </a:cubicBezTo>
                  <a:moveTo>
                    <a:pt x="953020" y="762324"/>
                  </a:moveTo>
                  <a:cubicBezTo>
                    <a:pt x="847813" y="762324"/>
                    <a:pt x="762520" y="847617"/>
                    <a:pt x="762520" y="952824"/>
                  </a:cubicBezTo>
                  <a:cubicBezTo>
                    <a:pt x="762520" y="1058056"/>
                    <a:pt x="847813" y="1143324"/>
                    <a:pt x="953020" y="1143324"/>
                  </a:cubicBezTo>
                  <a:cubicBezTo>
                    <a:pt x="1058227" y="1143324"/>
                    <a:pt x="1143520" y="1058056"/>
                    <a:pt x="1143520" y="952824"/>
                  </a:cubicBezTo>
                  <a:cubicBezTo>
                    <a:pt x="1143520" y="847617"/>
                    <a:pt x="1058227" y="762324"/>
                    <a:pt x="953020" y="762324"/>
                  </a:cubicBezTo>
                  <a:moveTo>
                    <a:pt x="5931408" y="1905322"/>
                  </a:moveTo>
                  <a:lnTo>
                    <a:pt x="572021" y="1905322"/>
                  </a:lnTo>
                  <a:cubicBezTo>
                    <a:pt x="256884" y="1905322"/>
                    <a:pt x="522" y="1648960"/>
                    <a:pt x="522" y="1333823"/>
                  </a:cubicBezTo>
                  <a:lnTo>
                    <a:pt x="522" y="571825"/>
                  </a:lnTo>
                  <a:cubicBezTo>
                    <a:pt x="522" y="256688"/>
                    <a:pt x="256884" y="326"/>
                    <a:pt x="572021" y="326"/>
                  </a:cubicBezTo>
                  <a:lnTo>
                    <a:pt x="5931408" y="326"/>
                  </a:lnTo>
                  <a:cubicBezTo>
                    <a:pt x="6246545" y="326"/>
                    <a:pt x="6502906" y="256688"/>
                    <a:pt x="6502906" y="571825"/>
                  </a:cubicBezTo>
                  <a:lnTo>
                    <a:pt x="6502906" y="1333823"/>
                  </a:lnTo>
                  <a:cubicBezTo>
                    <a:pt x="6502906" y="1648960"/>
                    <a:pt x="6246545" y="1905322"/>
                    <a:pt x="5931408" y="1905322"/>
                  </a:cubicBezTo>
                </a:path>
              </a:pathLst>
            </a:custGeom>
            <a:solidFill>
              <a:srgbClr val="C03BC4">
                <a:lumMod val="20000"/>
                <a:lumOff val="80000"/>
              </a:srgbClr>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56" name="Freeform: Shape 355">
              <a:extLst>
                <a:ext uri="{FF2B5EF4-FFF2-40B4-BE49-F238E27FC236}">
                  <a16:creationId xmlns:a16="http://schemas.microsoft.com/office/drawing/2014/main" id="{3348942A-1F14-6DD0-D807-0F81602951DC}"/>
                </a:ext>
              </a:extLst>
            </p:cNvPr>
            <p:cNvSpPr/>
            <p:nvPr/>
          </p:nvSpPr>
          <p:spPr>
            <a:xfrm flipV="1">
              <a:off x="5242198" y="4466031"/>
              <a:ext cx="608482" cy="178266"/>
            </a:xfrm>
            <a:custGeom>
              <a:avLst/>
              <a:gdLst>
                <a:gd name="connsiteX0" fmla="*/ 5550409 w 6502383"/>
                <a:gd name="connsiteY0" fmla="*/ 762566 h 1904995"/>
                <a:gd name="connsiteX1" fmla="*/ 4026412 w 6502383"/>
                <a:gd name="connsiteY1" fmla="*/ 762566 h 1904995"/>
                <a:gd name="connsiteX2" fmla="*/ 3835913 w 6502383"/>
                <a:gd name="connsiteY2" fmla="*/ 953065 h 1904995"/>
                <a:gd name="connsiteX3" fmla="*/ 4026412 w 6502383"/>
                <a:gd name="connsiteY3" fmla="*/ 1143565 h 1904995"/>
                <a:gd name="connsiteX4" fmla="*/ 5550409 w 6502383"/>
                <a:gd name="connsiteY4" fmla="*/ 1143565 h 1904995"/>
                <a:gd name="connsiteX5" fmla="*/ 5740908 w 6502383"/>
                <a:gd name="connsiteY5" fmla="*/ 953065 h 1904995"/>
                <a:gd name="connsiteX6" fmla="*/ 5550409 w 6502383"/>
                <a:gd name="connsiteY6" fmla="*/ 762566 h 1904995"/>
                <a:gd name="connsiteX7" fmla="*/ 2477016 w 6502383"/>
                <a:gd name="connsiteY7" fmla="*/ 762566 h 1904995"/>
                <a:gd name="connsiteX8" fmla="*/ 2286517 w 6502383"/>
                <a:gd name="connsiteY8" fmla="*/ 953065 h 1904995"/>
                <a:gd name="connsiteX9" fmla="*/ 2477016 w 6502383"/>
                <a:gd name="connsiteY9" fmla="*/ 1143565 h 1904995"/>
                <a:gd name="connsiteX10" fmla="*/ 2667516 w 6502383"/>
                <a:gd name="connsiteY10" fmla="*/ 953065 h 1904995"/>
                <a:gd name="connsiteX11" fmla="*/ 2477016 w 6502383"/>
                <a:gd name="connsiteY11" fmla="*/ 762566 h 1904995"/>
                <a:gd name="connsiteX12" fmla="*/ 1715018 w 6502383"/>
                <a:gd name="connsiteY12" fmla="*/ 762566 h 1904995"/>
                <a:gd name="connsiteX13" fmla="*/ 1524519 w 6502383"/>
                <a:gd name="connsiteY13" fmla="*/ 953065 h 1904995"/>
                <a:gd name="connsiteX14" fmla="*/ 1715018 w 6502383"/>
                <a:gd name="connsiteY14" fmla="*/ 1143565 h 1904995"/>
                <a:gd name="connsiteX15" fmla="*/ 1905518 w 6502383"/>
                <a:gd name="connsiteY15" fmla="*/ 953065 h 1904995"/>
                <a:gd name="connsiteX16" fmla="*/ 1715018 w 6502383"/>
                <a:gd name="connsiteY16" fmla="*/ 762566 h 1904995"/>
                <a:gd name="connsiteX17" fmla="*/ 953020 w 6502383"/>
                <a:gd name="connsiteY17" fmla="*/ 762566 h 1904995"/>
                <a:gd name="connsiteX18" fmla="*/ 762520 w 6502383"/>
                <a:gd name="connsiteY18" fmla="*/ 953065 h 1904995"/>
                <a:gd name="connsiteX19" fmla="*/ 953020 w 6502383"/>
                <a:gd name="connsiteY19" fmla="*/ 1143565 h 1904995"/>
                <a:gd name="connsiteX20" fmla="*/ 1143520 w 6502383"/>
                <a:gd name="connsiteY20" fmla="*/ 953065 h 1904995"/>
                <a:gd name="connsiteX21" fmla="*/ 953020 w 6502383"/>
                <a:gd name="connsiteY21" fmla="*/ 762566 h 1904995"/>
                <a:gd name="connsiteX22" fmla="*/ 5931408 w 6502383"/>
                <a:gd name="connsiteY22" fmla="*/ 1905563 h 1904995"/>
                <a:gd name="connsiteX23" fmla="*/ 572021 w 6502383"/>
                <a:gd name="connsiteY23" fmla="*/ 1905563 h 1904995"/>
                <a:gd name="connsiteX24" fmla="*/ 522 w 6502383"/>
                <a:gd name="connsiteY24" fmla="*/ 1334064 h 1904995"/>
                <a:gd name="connsiteX25" fmla="*/ 522 w 6502383"/>
                <a:gd name="connsiteY25" fmla="*/ 572066 h 1904995"/>
                <a:gd name="connsiteX26" fmla="*/ 572021 w 6502383"/>
                <a:gd name="connsiteY26" fmla="*/ 568 h 1904995"/>
                <a:gd name="connsiteX27" fmla="*/ 5931408 w 6502383"/>
                <a:gd name="connsiteY27" fmla="*/ 568 h 1904995"/>
                <a:gd name="connsiteX28" fmla="*/ 6502906 w 6502383"/>
                <a:gd name="connsiteY28" fmla="*/ 572066 h 1904995"/>
                <a:gd name="connsiteX29" fmla="*/ 6502906 w 6502383"/>
                <a:gd name="connsiteY29" fmla="*/ 1334064 h 1904995"/>
                <a:gd name="connsiteX30" fmla="*/ 5931408 w 6502383"/>
                <a:gd name="connsiteY30" fmla="*/ 1905563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566"/>
                  </a:moveTo>
                  <a:lnTo>
                    <a:pt x="4026412" y="762566"/>
                  </a:lnTo>
                  <a:cubicBezTo>
                    <a:pt x="3921117" y="762566"/>
                    <a:pt x="3835913" y="847770"/>
                    <a:pt x="3835913" y="953065"/>
                  </a:cubicBezTo>
                  <a:cubicBezTo>
                    <a:pt x="3835913" y="1058361"/>
                    <a:pt x="3921117" y="1143565"/>
                    <a:pt x="4026412" y="1143565"/>
                  </a:cubicBezTo>
                  <a:lnTo>
                    <a:pt x="5550409" y="1143565"/>
                  </a:lnTo>
                  <a:cubicBezTo>
                    <a:pt x="5655704" y="1143565"/>
                    <a:pt x="5740908" y="1058361"/>
                    <a:pt x="5740908" y="953065"/>
                  </a:cubicBezTo>
                  <a:cubicBezTo>
                    <a:pt x="5740908" y="847770"/>
                    <a:pt x="5655704" y="762566"/>
                    <a:pt x="5550409" y="762566"/>
                  </a:cubicBezTo>
                  <a:moveTo>
                    <a:pt x="2477016" y="762566"/>
                  </a:moveTo>
                  <a:cubicBezTo>
                    <a:pt x="2371810" y="762566"/>
                    <a:pt x="2286517" y="847859"/>
                    <a:pt x="2286517" y="953065"/>
                  </a:cubicBezTo>
                  <a:cubicBezTo>
                    <a:pt x="2286517" y="1058297"/>
                    <a:pt x="2371810" y="1143565"/>
                    <a:pt x="2477016" y="1143565"/>
                  </a:cubicBezTo>
                  <a:cubicBezTo>
                    <a:pt x="2582223" y="1143565"/>
                    <a:pt x="2667516" y="1058297"/>
                    <a:pt x="2667516" y="953065"/>
                  </a:cubicBezTo>
                  <a:cubicBezTo>
                    <a:pt x="2667516" y="847859"/>
                    <a:pt x="2582223" y="762566"/>
                    <a:pt x="2477016" y="762566"/>
                  </a:cubicBezTo>
                  <a:moveTo>
                    <a:pt x="1715018" y="762566"/>
                  </a:moveTo>
                  <a:cubicBezTo>
                    <a:pt x="1609812" y="762566"/>
                    <a:pt x="1524519" y="847859"/>
                    <a:pt x="1524519" y="953065"/>
                  </a:cubicBezTo>
                  <a:cubicBezTo>
                    <a:pt x="1524519" y="1058297"/>
                    <a:pt x="1609812" y="1143565"/>
                    <a:pt x="1715018" y="1143565"/>
                  </a:cubicBezTo>
                  <a:cubicBezTo>
                    <a:pt x="1820225" y="1143565"/>
                    <a:pt x="1905518" y="1058297"/>
                    <a:pt x="1905518" y="953065"/>
                  </a:cubicBezTo>
                  <a:cubicBezTo>
                    <a:pt x="1905518" y="847859"/>
                    <a:pt x="1820225" y="762566"/>
                    <a:pt x="1715018" y="762566"/>
                  </a:cubicBezTo>
                  <a:moveTo>
                    <a:pt x="953020" y="762566"/>
                  </a:moveTo>
                  <a:cubicBezTo>
                    <a:pt x="847813" y="762566"/>
                    <a:pt x="762520" y="847859"/>
                    <a:pt x="762520" y="953065"/>
                  </a:cubicBezTo>
                  <a:cubicBezTo>
                    <a:pt x="762520" y="1058297"/>
                    <a:pt x="847813" y="1143565"/>
                    <a:pt x="953020" y="1143565"/>
                  </a:cubicBezTo>
                  <a:cubicBezTo>
                    <a:pt x="1058227" y="1143565"/>
                    <a:pt x="1143520" y="1058297"/>
                    <a:pt x="1143520" y="953065"/>
                  </a:cubicBezTo>
                  <a:cubicBezTo>
                    <a:pt x="1143520" y="847859"/>
                    <a:pt x="1058227" y="762566"/>
                    <a:pt x="953020" y="762566"/>
                  </a:cubicBezTo>
                  <a:moveTo>
                    <a:pt x="5931408" y="1905563"/>
                  </a:moveTo>
                  <a:lnTo>
                    <a:pt x="572021" y="1905563"/>
                  </a:lnTo>
                  <a:cubicBezTo>
                    <a:pt x="256884" y="1905563"/>
                    <a:pt x="522" y="1649201"/>
                    <a:pt x="522" y="1334064"/>
                  </a:cubicBezTo>
                  <a:lnTo>
                    <a:pt x="522" y="572066"/>
                  </a:lnTo>
                  <a:cubicBezTo>
                    <a:pt x="522" y="256929"/>
                    <a:pt x="256884" y="568"/>
                    <a:pt x="572021" y="568"/>
                  </a:cubicBezTo>
                  <a:lnTo>
                    <a:pt x="5931408" y="568"/>
                  </a:lnTo>
                  <a:cubicBezTo>
                    <a:pt x="6246545" y="568"/>
                    <a:pt x="6502906" y="256929"/>
                    <a:pt x="6502906" y="572066"/>
                  </a:cubicBezTo>
                  <a:lnTo>
                    <a:pt x="6502906" y="1334064"/>
                  </a:lnTo>
                  <a:cubicBezTo>
                    <a:pt x="6502906" y="1649201"/>
                    <a:pt x="6246545" y="1905563"/>
                    <a:pt x="5931408" y="1905563"/>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sp>
        <p:nvSpPr>
          <p:cNvPr id="357" name="Plus Sign 356">
            <a:extLst>
              <a:ext uri="{FF2B5EF4-FFF2-40B4-BE49-F238E27FC236}">
                <a16:creationId xmlns:a16="http://schemas.microsoft.com/office/drawing/2014/main" id="{66693A9B-9330-1A5D-99C0-82D8148EE019}"/>
              </a:ext>
            </a:extLst>
          </p:cNvPr>
          <p:cNvSpPr/>
          <p:nvPr/>
        </p:nvSpPr>
        <p:spPr bwMode="auto">
          <a:xfrm>
            <a:off x="5522334" y="5281441"/>
            <a:ext cx="281083" cy="281080"/>
          </a:xfrm>
          <a:prstGeom prst="mathPlus">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58" name="Plus Sign 357">
            <a:extLst>
              <a:ext uri="{FF2B5EF4-FFF2-40B4-BE49-F238E27FC236}">
                <a16:creationId xmlns:a16="http://schemas.microsoft.com/office/drawing/2014/main" id="{35D4F216-3DDB-05C9-20B3-351CE7B99329}"/>
              </a:ext>
            </a:extLst>
          </p:cNvPr>
          <p:cNvSpPr/>
          <p:nvPr/>
        </p:nvSpPr>
        <p:spPr bwMode="auto">
          <a:xfrm>
            <a:off x="6388568" y="5281446"/>
            <a:ext cx="281083" cy="281080"/>
          </a:xfrm>
          <a:prstGeom prst="mathPlus">
            <a:avLst/>
          </a:prstGeom>
          <a:solidFill>
            <a:srgbClr val="FFFFFF"/>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359" name="Group 358">
            <a:extLst>
              <a:ext uri="{FF2B5EF4-FFF2-40B4-BE49-F238E27FC236}">
                <a16:creationId xmlns:a16="http://schemas.microsoft.com/office/drawing/2014/main" id="{017AFF80-52BC-FAD3-5D0A-F7C90D766D45}"/>
              </a:ext>
            </a:extLst>
          </p:cNvPr>
          <p:cNvGrpSpPr/>
          <p:nvPr/>
        </p:nvGrpSpPr>
        <p:grpSpPr>
          <a:xfrm>
            <a:off x="5242198" y="3905975"/>
            <a:ext cx="608482" cy="608480"/>
            <a:chOff x="5242198" y="4035817"/>
            <a:chExt cx="608482" cy="608480"/>
          </a:xfrm>
        </p:grpSpPr>
        <p:sp>
          <p:nvSpPr>
            <p:cNvPr id="360" name="Freeform: Shape 359">
              <a:extLst>
                <a:ext uri="{FF2B5EF4-FFF2-40B4-BE49-F238E27FC236}">
                  <a16:creationId xmlns:a16="http://schemas.microsoft.com/office/drawing/2014/main" id="{AEF3D164-ABE0-6D9D-D46F-7DF98FDB7A6B}"/>
                </a:ext>
              </a:extLst>
            </p:cNvPr>
            <p:cNvSpPr/>
            <p:nvPr/>
          </p:nvSpPr>
          <p:spPr>
            <a:xfrm flipV="1">
              <a:off x="5242198" y="4035817"/>
              <a:ext cx="608482" cy="178266"/>
            </a:xfrm>
            <a:custGeom>
              <a:avLst/>
              <a:gdLst>
                <a:gd name="connsiteX0" fmla="*/ 5550409 w 6502383"/>
                <a:gd name="connsiteY0" fmla="*/ 762083 h 1904995"/>
                <a:gd name="connsiteX1" fmla="*/ 4026412 w 6502383"/>
                <a:gd name="connsiteY1" fmla="*/ 762083 h 1904995"/>
                <a:gd name="connsiteX2" fmla="*/ 3835913 w 6502383"/>
                <a:gd name="connsiteY2" fmla="*/ 952583 h 1904995"/>
                <a:gd name="connsiteX3" fmla="*/ 4026412 w 6502383"/>
                <a:gd name="connsiteY3" fmla="*/ 1143082 h 1904995"/>
                <a:gd name="connsiteX4" fmla="*/ 5550409 w 6502383"/>
                <a:gd name="connsiteY4" fmla="*/ 1143082 h 1904995"/>
                <a:gd name="connsiteX5" fmla="*/ 5740908 w 6502383"/>
                <a:gd name="connsiteY5" fmla="*/ 952583 h 1904995"/>
                <a:gd name="connsiteX6" fmla="*/ 5550409 w 6502383"/>
                <a:gd name="connsiteY6" fmla="*/ 762083 h 1904995"/>
                <a:gd name="connsiteX7" fmla="*/ 2477016 w 6502383"/>
                <a:gd name="connsiteY7" fmla="*/ 762083 h 1904995"/>
                <a:gd name="connsiteX8" fmla="*/ 2286517 w 6502383"/>
                <a:gd name="connsiteY8" fmla="*/ 952583 h 1904995"/>
                <a:gd name="connsiteX9" fmla="*/ 2477016 w 6502383"/>
                <a:gd name="connsiteY9" fmla="*/ 1143082 h 1904995"/>
                <a:gd name="connsiteX10" fmla="*/ 2667516 w 6502383"/>
                <a:gd name="connsiteY10" fmla="*/ 952583 h 1904995"/>
                <a:gd name="connsiteX11" fmla="*/ 2477016 w 6502383"/>
                <a:gd name="connsiteY11" fmla="*/ 762083 h 1904995"/>
                <a:gd name="connsiteX12" fmla="*/ 1715018 w 6502383"/>
                <a:gd name="connsiteY12" fmla="*/ 762083 h 1904995"/>
                <a:gd name="connsiteX13" fmla="*/ 1524519 w 6502383"/>
                <a:gd name="connsiteY13" fmla="*/ 952583 h 1904995"/>
                <a:gd name="connsiteX14" fmla="*/ 1715018 w 6502383"/>
                <a:gd name="connsiteY14" fmla="*/ 1143082 h 1904995"/>
                <a:gd name="connsiteX15" fmla="*/ 1905518 w 6502383"/>
                <a:gd name="connsiteY15" fmla="*/ 952583 h 1904995"/>
                <a:gd name="connsiteX16" fmla="*/ 1715018 w 6502383"/>
                <a:gd name="connsiteY16" fmla="*/ 762083 h 1904995"/>
                <a:gd name="connsiteX17" fmla="*/ 953020 w 6502383"/>
                <a:gd name="connsiteY17" fmla="*/ 762083 h 1904995"/>
                <a:gd name="connsiteX18" fmla="*/ 762520 w 6502383"/>
                <a:gd name="connsiteY18" fmla="*/ 952583 h 1904995"/>
                <a:gd name="connsiteX19" fmla="*/ 953020 w 6502383"/>
                <a:gd name="connsiteY19" fmla="*/ 1143082 h 1904995"/>
                <a:gd name="connsiteX20" fmla="*/ 1143520 w 6502383"/>
                <a:gd name="connsiteY20" fmla="*/ 952583 h 1904995"/>
                <a:gd name="connsiteX21" fmla="*/ 953020 w 6502383"/>
                <a:gd name="connsiteY21" fmla="*/ 762083 h 1904995"/>
                <a:gd name="connsiteX22" fmla="*/ 5931408 w 6502383"/>
                <a:gd name="connsiteY22" fmla="*/ 1905080 h 1904995"/>
                <a:gd name="connsiteX23" fmla="*/ 572021 w 6502383"/>
                <a:gd name="connsiteY23" fmla="*/ 1905080 h 1904995"/>
                <a:gd name="connsiteX24" fmla="*/ 522 w 6502383"/>
                <a:gd name="connsiteY24" fmla="*/ 1333582 h 1904995"/>
                <a:gd name="connsiteX25" fmla="*/ 522 w 6502383"/>
                <a:gd name="connsiteY25" fmla="*/ 571584 h 1904995"/>
                <a:gd name="connsiteX26" fmla="*/ 572021 w 6502383"/>
                <a:gd name="connsiteY26" fmla="*/ 85 h 1904995"/>
                <a:gd name="connsiteX27" fmla="*/ 5931408 w 6502383"/>
                <a:gd name="connsiteY27" fmla="*/ 85 h 1904995"/>
                <a:gd name="connsiteX28" fmla="*/ 6502906 w 6502383"/>
                <a:gd name="connsiteY28" fmla="*/ 571584 h 1904995"/>
                <a:gd name="connsiteX29" fmla="*/ 6502906 w 6502383"/>
                <a:gd name="connsiteY29" fmla="*/ 1333582 h 1904995"/>
                <a:gd name="connsiteX30" fmla="*/ 5931408 w 6502383"/>
                <a:gd name="connsiteY30" fmla="*/ 1905080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083"/>
                  </a:moveTo>
                  <a:lnTo>
                    <a:pt x="4026412" y="762083"/>
                  </a:lnTo>
                  <a:cubicBezTo>
                    <a:pt x="3921117" y="762083"/>
                    <a:pt x="3835913" y="847287"/>
                    <a:pt x="3835913" y="952583"/>
                  </a:cubicBezTo>
                  <a:cubicBezTo>
                    <a:pt x="3835913" y="1057878"/>
                    <a:pt x="3921117" y="1143082"/>
                    <a:pt x="4026412" y="1143082"/>
                  </a:cubicBezTo>
                  <a:lnTo>
                    <a:pt x="5550409" y="1143082"/>
                  </a:lnTo>
                  <a:cubicBezTo>
                    <a:pt x="5655704" y="1143082"/>
                    <a:pt x="5740908" y="1057878"/>
                    <a:pt x="5740908" y="952583"/>
                  </a:cubicBezTo>
                  <a:cubicBezTo>
                    <a:pt x="5740908" y="847287"/>
                    <a:pt x="5655704" y="762083"/>
                    <a:pt x="5550409" y="762083"/>
                  </a:cubicBezTo>
                  <a:moveTo>
                    <a:pt x="2477016" y="762083"/>
                  </a:moveTo>
                  <a:cubicBezTo>
                    <a:pt x="2371810" y="762083"/>
                    <a:pt x="2286517" y="847376"/>
                    <a:pt x="2286517" y="952583"/>
                  </a:cubicBezTo>
                  <a:cubicBezTo>
                    <a:pt x="2286517" y="1057815"/>
                    <a:pt x="2371810" y="1143082"/>
                    <a:pt x="2477016" y="1143082"/>
                  </a:cubicBezTo>
                  <a:cubicBezTo>
                    <a:pt x="2582223" y="1143082"/>
                    <a:pt x="2667516" y="1057815"/>
                    <a:pt x="2667516" y="952583"/>
                  </a:cubicBezTo>
                  <a:cubicBezTo>
                    <a:pt x="2667516" y="847376"/>
                    <a:pt x="2582223" y="762083"/>
                    <a:pt x="2477016" y="762083"/>
                  </a:cubicBezTo>
                  <a:moveTo>
                    <a:pt x="1715018" y="762083"/>
                  </a:moveTo>
                  <a:cubicBezTo>
                    <a:pt x="1609812" y="762083"/>
                    <a:pt x="1524519" y="847376"/>
                    <a:pt x="1524519" y="952583"/>
                  </a:cubicBezTo>
                  <a:cubicBezTo>
                    <a:pt x="1524519" y="1057815"/>
                    <a:pt x="1609812" y="1143082"/>
                    <a:pt x="1715018" y="1143082"/>
                  </a:cubicBezTo>
                  <a:cubicBezTo>
                    <a:pt x="1820225" y="1143082"/>
                    <a:pt x="1905518" y="1057815"/>
                    <a:pt x="1905518" y="952583"/>
                  </a:cubicBezTo>
                  <a:cubicBezTo>
                    <a:pt x="1905518" y="847376"/>
                    <a:pt x="1820225" y="762083"/>
                    <a:pt x="1715018" y="762083"/>
                  </a:cubicBezTo>
                  <a:moveTo>
                    <a:pt x="953020" y="762083"/>
                  </a:moveTo>
                  <a:cubicBezTo>
                    <a:pt x="847813" y="762083"/>
                    <a:pt x="762520" y="847376"/>
                    <a:pt x="762520" y="952583"/>
                  </a:cubicBezTo>
                  <a:cubicBezTo>
                    <a:pt x="762520" y="1057815"/>
                    <a:pt x="847813" y="1143082"/>
                    <a:pt x="953020" y="1143082"/>
                  </a:cubicBezTo>
                  <a:cubicBezTo>
                    <a:pt x="1058227" y="1143082"/>
                    <a:pt x="1143520" y="1057815"/>
                    <a:pt x="1143520" y="952583"/>
                  </a:cubicBezTo>
                  <a:cubicBezTo>
                    <a:pt x="1143520" y="847376"/>
                    <a:pt x="1058227" y="762083"/>
                    <a:pt x="953020" y="762083"/>
                  </a:cubicBezTo>
                  <a:moveTo>
                    <a:pt x="5931408" y="1905080"/>
                  </a:moveTo>
                  <a:lnTo>
                    <a:pt x="572021" y="1905080"/>
                  </a:lnTo>
                  <a:cubicBezTo>
                    <a:pt x="256884" y="1905080"/>
                    <a:pt x="522" y="1648719"/>
                    <a:pt x="522" y="1333582"/>
                  </a:cubicBezTo>
                  <a:lnTo>
                    <a:pt x="522" y="571584"/>
                  </a:lnTo>
                  <a:cubicBezTo>
                    <a:pt x="522" y="256447"/>
                    <a:pt x="256884" y="85"/>
                    <a:pt x="572021" y="85"/>
                  </a:cubicBezTo>
                  <a:lnTo>
                    <a:pt x="5931408" y="85"/>
                  </a:lnTo>
                  <a:cubicBezTo>
                    <a:pt x="6246545" y="85"/>
                    <a:pt x="6502906" y="256447"/>
                    <a:pt x="6502906" y="571584"/>
                  </a:cubicBezTo>
                  <a:lnTo>
                    <a:pt x="6502906" y="1333582"/>
                  </a:lnTo>
                  <a:cubicBezTo>
                    <a:pt x="6502906" y="1648719"/>
                    <a:pt x="6246545" y="1905080"/>
                    <a:pt x="5931408" y="1905080"/>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61" name="Freeform: Shape 360">
              <a:extLst>
                <a:ext uri="{FF2B5EF4-FFF2-40B4-BE49-F238E27FC236}">
                  <a16:creationId xmlns:a16="http://schemas.microsoft.com/office/drawing/2014/main" id="{045A3E78-48C0-7136-A2AA-CA87D6AA9D3A}"/>
                </a:ext>
              </a:extLst>
            </p:cNvPr>
            <p:cNvSpPr/>
            <p:nvPr/>
          </p:nvSpPr>
          <p:spPr>
            <a:xfrm flipV="1">
              <a:off x="5242198" y="4250924"/>
              <a:ext cx="608482" cy="178266"/>
            </a:xfrm>
            <a:custGeom>
              <a:avLst/>
              <a:gdLst>
                <a:gd name="connsiteX0" fmla="*/ 5550409 w 6502383"/>
                <a:gd name="connsiteY0" fmla="*/ 762324 h 1904995"/>
                <a:gd name="connsiteX1" fmla="*/ 4026412 w 6502383"/>
                <a:gd name="connsiteY1" fmla="*/ 762324 h 1904995"/>
                <a:gd name="connsiteX2" fmla="*/ 3835913 w 6502383"/>
                <a:gd name="connsiteY2" fmla="*/ 952824 h 1904995"/>
                <a:gd name="connsiteX3" fmla="*/ 4026412 w 6502383"/>
                <a:gd name="connsiteY3" fmla="*/ 1143324 h 1904995"/>
                <a:gd name="connsiteX4" fmla="*/ 5550409 w 6502383"/>
                <a:gd name="connsiteY4" fmla="*/ 1143324 h 1904995"/>
                <a:gd name="connsiteX5" fmla="*/ 5740908 w 6502383"/>
                <a:gd name="connsiteY5" fmla="*/ 952824 h 1904995"/>
                <a:gd name="connsiteX6" fmla="*/ 5550409 w 6502383"/>
                <a:gd name="connsiteY6" fmla="*/ 762324 h 1904995"/>
                <a:gd name="connsiteX7" fmla="*/ 2477016 w 6502383"/>
                <a:gd name="connsiteY7" fmla="*/ 762324 h 1904995"/>
                <a:gd name="connsiteX8" fmla="*/ 2286517 w 6502383"/>
                <a:gd name="connsiteY8" fmla="*/ 952824 h 1904995"/>
                <a:gd name="connsiteX9" fmla="*/ 2477016 w 6502383"/>
                <a:gd name="connsiteY9" fmla="*/ 1143324 h 1904995"/>
                <a:gd name="connsiteX10" fmla="*/ 2667516 w 6502383"/>
                <a:gd name="connsiteY10" fmla="*/ 952824 h 1904995"/>
                <a:gd name="connsiteX11" fmla="*/ 2477016 w 6502383"/>
                <a:gd name="connsiteY11" fmla="*/ 762324 h 1904995"/>
                <a:gd name="connsiteX12" fmla="*/ 1715018 w 6502383"/>
                <a:gd name="connsiteY12" fmla="*/ 762324 h 1904995"/>
                <a:gd name="connsiteX13" fmla="*/ 1524519 w 6502383"/>
                <a:gd name="connsiteY13" fmla="*/ 952824 h 1904995"/>
                <a:gd name="connsiteX14" fmla="*/ 1715018 w 6502383"/>
                <a:gd name="connsiteY14" fmla="*/ 1143324 h 1904995"/>
                <a:gd name="connsiteX15" fmla="*/ 1905518 w 6502383"/>
                <a:gd name="connsiteY15" fmla="*/ 952824 h 1904995"/>
                <a:gd name="connsiteX16" fmla="*/ 1715018 w 6502383"/>
                <a:gd name="connsiteY16" fmla="*/ 762324 h 1904995"/>
                <a:gd name="connsiteX17" fmla="*/ 953020 w 6502383"/>
                <a:gd name="connsiteY17" fmla="*/ 762324 h 1904995"/>
                <a:gd name="connsiteX18" fmla="*/ 762520 w 6502383"/>
                <a:gd name="connsiteY18" fmla="*/ 952824 h 1904995"/>
                <a:gd name="connsiteX19" fmla="*/ 953020 w 6502383"/>
                <a:gd name="connsiteY19" fmla="*/ 1143324 h 1904995"/>
                <a:gd name="connsiteX20" fmla="*/ 1143520 w 6502383"/>
                <a:gd name="connsiteY20" fmla="*/ 952824 h 1904995"/>
                <a:gd name="connsiteX21" fmla="*/ 953020 w 6502383"/>
                <a:gd name="connsiteY21" fmla="*/ 762324 h 1904995"/>
                <a:gd name="connsiteX22" fmla="*/ 5931408 w 6502383"/>
                <a:gd name="connsiteY22" fmla="*/ 1905322 h 1904995"/>
                <a:gd name="connsiteX23" fmla="*/ 572021 w 6502383"/>
                <a:gd name="connsiteY23" fmla="*/ 1905322 h 1904995"/>
                <a:gd name="connsiteX24" fmla="*/ 522 w 6502383"/>
                <a:gd name="connsiteY24" fmla="*/ 1333823 h 1904995"/>
                <a:gd name="connsiteX25" fmla="*/ 522 w 6502383"/>
                <a:gd name="connsiteY25" fmla="*/ 571825 h 1904995"/>
                <a:gd name="connsiteX26" fmla="*/ 572021 w 6502383"/>
                <a:gd name="connsiteY26" fmla="*/ 326 h 1904995"/>
                <a:gd name="connsiteX27" fmla="*/ 5931408 w 6502383"/>
                <a:gd name="connsiteY27" fmla="*/ 326 h 1904995"/>
                <a:gd name="connsiteX28" fmla="*/ 6502906 w 6502383"/>
                <a:gd name="connsiteY28" fmla="*/ 571825 h 1904995"/>
                <a:gd name="connsiteX29" fmla="*/ 6502906 w 6502383"/>
                <a:gd name="connsiteY29" fmla="*/ 1333823 h 1904995"/>
                <a:gd name="connsiteX30" fmla="*/ 5931408 w 6502383"/>
                <a:gd name="connsiteY30" fmla="*/ 1905322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324"/>
                  </a:moveTo>
                  <a:lnTo>
                    <a:pt x="4026412" y="762324"/>
                  </a:lnTo>
                  <a:cubicBezTo>
                    <a:pt x="3921117" y="762324"/>
                    <a:pt x="3835913" y="847529"/>
                    <a:pt x="3835913" y="952824"/>
                  </a:cubicBezTo>
                  <a:cubicBezTo>
                    <a:pt x="3835913" y="1058119"/>
                    <a:pt x="3921117" y="1143324"/>
                    <a:pt x="4026412" y="1143324"/>
                  </a:cubicBezTo>
                  <a:lnTo>
                    <a:pt x="5550409" y="1143324"/>
                  </a:lnTo>
                  <a:cubicBezTo>
                    <a:pt x="5655704" y="1143324"/>
                    <a:pt x="5740908" y="1058119"/>
                    <a:pt x="5740908" y="952824"/>
                  </a:cubicBezTo>
                  <a:cubicBezTo>
                    <a:pt x="5740908" y="847529"/>
                    <a:pt x="5655704" y="762324"/>
                    <a:pt x="5550409" y="762324"/>
                  </a:cubicBezTo>
                  <a:moveTo>
                    <a:pt x="2477016" y="762324"/>
                  </a:moveTo>
                  <a:cubicBezTo>
                    <a:pt x="2371810" y="762324"/>
                    <a:pt x="2286517" y="847617"/>
                    <a:pt x="2286517" y="952824"/>
                  </a:cubicBezTo>
                  <a:cubicBezTo>
                    <a:pt x="2286517" y="1058056"/>
                    <a:pt x="2371810" y="1143324"/>
                    <a:pt x="2477016" y="1143324"/>
                  </a:cubicBezTo>
                  <a:cubicBezTo>
                    <a:pt x="2582223" y="1143324"/>
                    <a:pt x="2667516" y="1058056"/>
                    <a:pt x="2667516" y="952824"/>
                  </a:cubicBezTo>
                  <a:cubicBezTo>
                    <a:pt x="2667516" y="847617"/>
                    <a:pt x="2582223" y="762324"/>
                    <a:pt x="2477016" y="762324"/>
                  </a:cubicBezTo>
                  <a:moveTo>
                    <a:pt x="1715018" y="762324"/>
                  </a:moveTo>
                  <a:cubicBezTo>
                    <a:pt x="1609812" y="762324"/>
                    <a:pt x="1524519" y="847617"/>
                    <a:pt x="1524519" y="952824"/>
                  </a:cubicBezTo>
                  <a:cubicBezTo>
                    <a:pt x="1524519" y="1058056"/>
                    <a:pt x="1609812" y="1143324"/>
                    <a:pt x="1715018" y="1143324"/>
                  </a:cubicBezTo>
                  <a:cubicBezTo>
                    <a:pt x="1820225" y="1143324"/>
                    <a:pt x="1905518" y="1058056"/>
                    <a:pt x="1905518" y="952824"/>
                  </a:cubicBezTo>
                  <a:cubicBezTo>
                    <a:pt x="1905518" y="847617"/>
                    <a:pt x="1820225" y="762324"/>
                    <a:pt x="1715018" y="762324"/>
                  </a:cubicBezTo>
                  <a:moveTo>
                    <a:pt x="953020" y="762324"/>
                  </a:moveTo>
                  <a:cubicBezTo>
                    <a:pt x="847813" y="762324"/>
                    <a:pt x="762520" y="847617"/>
                    <a:pt x="762520" y="952824"/>
                  </a:cubicBezTo>
                  <a:cubicBezTo>
                    <a:pt x="762520" y="1058056"/>
                    <a:pt x="847813" y="1143324"/>
                    <a:pt x="953020" y="1143324"/>
                  </a:cubicBezTo>
                  <a:cubicBezTo>
                    <a:pt x="1058227" y="1143324"/>
                    <a:pt x="1143520" y="1058056"/>
                    <a:pt x="1143520" y="952824"/>
                  </a:cubicBezTo>
                  <a:cubicBezTo>
                    <a:pt x="1143520" y="847617"/>
                    <a:pt x="1058227" y="762324"/>
                    <a:pt x="953020" y="762324"/>
                  </a:cubicBezTo>
                  <a:moveTo>
                    <a:pt x="5931408" y="1905322"/>
                  </a:moveTo>
                  <a:lnTo>
                    <a:pt x="572021" y="1905322"/>
                  </a:lnTo>
                  <a:cubicBezTo>
                    <a:pt x="256884" y="1905322"/>
                    <a:pt x="522" y="1648960"/>
                    <a:pt x="522" y="1333823"/>
                  </a:cubicBezTo>
                  <a:lnTo>
                    <a:pt x="522" y="571825"/>
                  </a:lnTo>
                  <a:cubicBezTo>
                    <a:pt x="522" y="256688"/>
                    <a:pt x="256884" y="326"/>
                    <a:pt x="572021" y="326"/>
                  </a:cubicBezTo>
                  <a:lnTo>
                    <a:pt x="5931408" y="326"/>
                  </a:lnTo>
                  <a:cubicBezTo>
                    <a:pt x="6246545" y="326"/>
                    <a:pt x="6502906" y="256688"/>
                    <a:pt x="6502906" y="571825"/>
                  </a:cubicBezTo>
                  <a:lnTo>
                    <a:pt x="6502906" y="1333823"/>
                  </a:lnTo>
                  <a:cubicBezTo>
                    <a:pt x="6502906" y="1648960"/>
                    <a:pt x="6246545" y="1905322"/>
                    <a:pt x="5931408" y="1905322"/>
                  </a:cubicBezTo>
                </a:path>
              </a:pathLst>
            </a:custGeom>
            <a:solidFill>
              <a:srgbClr val="C03BC4">
                <a:lumMod val="20000"/>
                <a:lumOff val="80000"/>
              </a:srgbClr>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62" name="Freeform: Shape 361">
              <a:extLst>
                <a:ext uri="{FF2B5EF4-FFF2-40B4-BE49-F238E27FC236}">
                  <a16:creationId xmlns:a16="http://schemas.microsoft.com/office/drawing/2014/main" id="{FFA49412-3063-4478-C1B1-5380911536C2}"/>
                </a:ext>
              </a:extLst>
            </p:cNvPr>
            <p:cNvSpPr/>
            <p:nvPr/>
          </p:nvSpPr>
          <p:spPr>
            <a:xfrm flipV="1">
              <a:off x="5242198" y="4466031"/>
              <a:ext cx="608482" cy="178266"/>
            </a:xfrm>
            <a:custGeom>
              <a:avLst/>
              <a:gdLst>
                <a:gd name="connsiteX0" fmla="*/ 5550409 w 6502383"/>
                <a:gd name="connsiteY0" fmla="*/ 762566 h 1904995"/>
                <a:gd name="connsiteX1" fmla="*/ 4026412 w 6502383"/>
                <a:gd name="connsiteY1" fmla="*/ 762566 h 1904995"/>
                <a:gd name="connsiteX2" fmla="*/ 3835913 w 6502383"/>
                <a:gd name="connsiteY2" fmla="*/ 953065 h 1904995"/>
                <a:gd name="connsiteX3" fmla="*/ 4026412 w 6502383"/>
                <a:gd name="connsiteY3" fmla="*/ 1143565 h 1904995"/>
                <a:gd name="connsiteX4" fmla="*/ 5550409 w 6502383"/>
                <a:gd name="connsiteY4" fmla="*/ 1143565 h 1904995"/>
                <a:gd name="connsiteX5" fmla="*/ 5740908 w 6502383"/>
                <a:gd name="connsiteY5" fmla="*/ 953065 h 1904995"/>
                <a:gd name="connsiteX6" fmla="*/ 5550409 w 6502383"/>
                <a:gd name="connsiteY6" fmla="*/ 762566 h 1904995"/>
                <a:gd name="connsiteX7" fmla="*/ 2477016 w 6502383"/>
                <a:gd name="connsiteY7" fmla="*/ 762566 h 1904995"/>
                <a:gd name="connsiteX8" fmla="*/ 2286517 w 6502383"/>
                <a:gd name="connsiteY8" fmla="*/ 953065 h 1904995"/>
                <a:gd name="connsiteX9" fmla="*/ 2477016 w 6502383"/>
                <a:gd name="connsiteY9" fmla="*/ 1143565 h 1904995"/>
                <a:gd name="connsiteX10" fmla="*/ 2667516 w 6502383"/>
                <a:gd name="connsiteY10" fmla="*/ 953065 h 1904995"/>
                <a:gd name="connsiteX11" fmla="*/ 2477016 w 6502383"/>
                <a:gd name="connsiteY11" fmla="*/ 762566 h 1904995"/>
                <a:gd name="connsiteX12" fmla="*/ 1715018 w 6502383"/>
                <a:gd name="connsiteY12" fmla="*/ 762566 h 1904995"/>
                <a:gd name="connsiteX13" fmla="*/ 1524519 w 6502383"/>
                <a:gd name="connsiteY13" fmla="*/ 953065 h 1904995"/>
                <a:gd name="connsiteX14" fmla="*/ 1715018 w 6502383"/>
                <a:gd name="connsiteY14" fmla="*/ 1143565 h 1904995"/>
                <a:gd name="connsiteX15" fmla="*/ 1905518 w 6502383"/>
                <a:gd name="connsiteY15" fmla="*/ 953065 h 1904995"/>
                <a:gd name="connsiteX16" fmla="*/ 1715018 w 6502383"/>
                <a:gd name="connsiteY16" fmla="*/ 762566 h 1904995"/>
                <a:gd name="connsiteX17" fmla="*/ 953020 w 6502383"/>
                <a:gd name="connsiteY17" fmla="*/ 762566 h 1904995"/>
                <a:gd name="connsiteX18" fmla="*/ 762520 w 6502383"/>
                <a:gd name="connsiteY18" fmla="*/ 953065 h 1904995"/>
                <a:gd name="connsiteX19" fmla="*/ 953020 w 6502383"/>
                <a:gd name="connsiteY19" fmla="*/ 1143565 h 1904995"/>
                <a:gd name="connsiteX20" fmla="*/ 1143520 w 6502383"/>
                <a:gd name="connsiteY20" fmla="*/ 953065 h 1904995"/>
                <a:gd name="connsiteX21" fmla="*/ 953020 w 6502383"/>
                <a:gd name="connsiteY21" fmla="*/ 762566 h 1904995"/>
                <a:gd name="connsiteX22" fmla="*/ 5931408 w 6502383"/>
                <a:gd name="connsiteY22" fmla="*/ 1905563 h 1904995"/>
                <a:gd name="connsiteX23" fmla="*/ 572021 w 6502383"/>
                <a:gd name="connsiteY23" fmla="*/ 1905563 h 1904995"/>
                <a:gd name="connsiteX24" fmla="*/ 522 w 6502383"/>
                <a:gd name="connsiteY24" fmla="*/ 1334064 h 1904995"/>
                <a:gd name="connsiteX25" fmla="*/ 522 w 6502383"/>
                <a:gd name="connsiteY25" fmla="*/ 572066 h 1904995"/>
                <a:gd name="connsiteX26" fmla="*/ 572021 w 6502383"/>
                <a:gd name="connsiteY26" fmla="*/ 568 h 1904995"/>
                <a:gd name="connsiteX27" fmla="*/ 5931408 w 6502383"/>
                <a:gd name="connsiteY27" fmla="*/ 568 h 1904995"/>
                <a:gd name="connsiteX28" fmla="*/ 6502906 w 6502383"/>
                <a:gd name="connsiteY28" fmla="*/ 572066 h 1904995"/>
                <a:gd name="connsiteX29" fmla="*/ 6502906 w 6502383"/>
                <a:gd name="connsiteY29" fmla="*/ 1334064 h 1904995"/>
                <a:gd name="connsiteX30" fmla="*/ 5931408 w 6502383"/>
                <a:gd name="connsiteY30" fmla="*/ 1905563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566"/>
                  </a:moveTo>
                  <a:lnTo>
                    <a:pt x="4026412" y="762566"/>
                  </a:lnTo>
                  <a:cubicBezTo>
                    <a:pt x="3921117" y="762566"/>
                    <a:pt x="3835913" y="847770"/>
                    <a:pt x="3835913" y="953065"/>
                  </a:cubicBezTo>
                  <a:cubicBezTo>
                    <a:pt x="3835913" y="1058361"/>
                    <a:pt x="3921117" y="1143565"/>
                    <a:pt x="4026412" y="1143565"/>
                  </a:cubicBezTo>
                  <a:lnTo>
                    <a:pt x="5550409" y="1143565"/>
                  </a:lnTo>
                  <a:cubicBezTo>
                    <a:pt x="5655704" y="1143565"/>
                    <a:pt x="5740908" y="1058361"/>
                    <a:pt x="5740908" y="953065"/>
                  </a:cubicBezTo>
                  <a:cubicBezTo>
                    <a:pt x="5740908" y="847770"/>
                    <a:pt x="5655704" y="762566"/>
                    <a:pt x="5550409" y="762566"/>
                  </a:cubicBezTo>
                  <a:moveTo>
                    <a:pt x="2477016" y="762566"/>
                  </a:moveTo>
                  <a:cubicBezTo>
                    <a:pt x="2371810" y="762566"/>
                    <a:pt x="2286517" y="847859"/>
                    <a:pt x="2286517" y="953065"/>
                  </a:cubicBezTo>
                  <a:cubicBezTo>
                    <a:pt x="2286517" y="1058297"/>
                    <a:pt x="2371810" y="1143565"/>
                    <a:pt x="2477016" y="1143565"/>
                  </a:cubicBezTo>
                  <a:cubicBezTo>
                    <a:pt x="2582223" y="1143565"/>
                    <a:pt x="2667516" y="1058297"/>
                    <a:pt x="2667516" y="953065"/>
                  </a:cubicBezTo>
                  <a:cubicBezTo>
                    <a:pt x="2667516" y="847859"/>
                    <a:pt x="2582223" y="762566"/>
                    <a:pt x="2477016" y="762566"/>
                  </a:cubicBezTo>
                  <a:moveTo>
                    <a:pt x="1715018" y="762566"/>
                  </a:moveTo>
                  <a:cubicBezTo>
                    <a:pt x="1609812" y="762566"/>
                    <a:pt x="1524519" y="847859"/>
                    <a:pt x="1524519" y="953065"/>
                  </a:cubicBezTo>
                  <a:cubicBezTo>
                    <a:pt x="1524519" y="1058297"/>
                    <a:pt x="1609812" y="1143565"/>
                    <a:pt x="1715018" y="1143565"/>
                  </a:cubicBezTo>
                  <a:cubicBezTo>
                    <a:pt x="1820225" y="1143565"/>
                    <a:pt x="1905518" y="1058297"/>
                    <a:pt x="1905518" y="953065"/>
                  </a:cubicBezTo>
                  <a:cubicBezTo>
                    <a:pt x="1905518" y="847859"/>
                    <a:pt x="1820225" y="762566"/>
                    <a:pt x="1715018" y="762566"/>
                  </a:cubicBezTo>
                  <a:moveTo>
                    <a:pt x="953020" y="762566"/>
                  </a:moveTo>
                  <a:cubicBezTo>
                    <a:pt x="847813" y="762566"/>
                    <a:pt x="762520" y="847859"/>
                    <a:pt x="762520" y="953065"/>
                  </a:cubicBezTo>
                  <a:cubicBezTo>
                    <a:pt x="762520" y="1058297"/>
                    <a:pt x="847813" y="1143565"/>
                    <a:pt x="953020" y="1143565"/>
                  </a:cubicBezTo>
                  <a:cubicBezTo>
                    <a:pt x="1058227" y="1143565"/>
                    <a:pt x="1143520" y="1058297"/>
                    <a:pt x="1143520" y="953065"/>
                  </a:cubicBezTo>
                  <a:cubicBezTo>
                    <a:pt x="1143520" y="847859"/>
                    <a:pt x="1058227" y="762566"/>
                    <a:pt x="953020" y="762566"/>
                  </a:cubicBezTo>
                  <a:moveTo>
                    <a:pt x="5931408" y="1905563"/>
                  </a:moveTo>
                  <a:lnTo>
                    <a:pt x="572021" y="1905563"/>
                  </a:lnTo>
                  <a:cubicBezTo>
                    <a:pt x="256884" y="1905563"/>
                    <a:pt x="522" y="1649201"/>
                    <a:pt x="522" y="1334064"/>
                  </a:cubicBezTo>
                  <a:lnTo>
                    <a:pt x="522" y="572066"/>
                  </a:lnTo>
                  <a:cubicBezTo>
                    <a:pt x="522" y="256929"/>
                    <a:pt x="256884" y="568"/>
                    <a:pt x="572021" y="568"/>
                  </a:cubicBezTo>
                  <a:lnTo>
                    <a:pt x="5931408" y="568"/>
                  </a:lnTo>
                  <a:cubicBezTo>
                    <a:pt x="6246545" y="568"/>
                    <a:pt x="6502906" y="256929"/>
                    <a:pt x="6502906" y="572066"/>
                  </a:cubicBezTo>
                  <a:lnTo>
                    <a:pt x="6502906" y="1334064"/>
                  </a:lnTo>
                  <a:cubicBezTo>
                    <a:pt x="6502906" y="1649201"/>
                    <a:pt x="6246545" y="1905563"/>
                    <a:pt x="5931408" y="1905563"/>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sp>
        <p:nvSpPr>
          <p:cNvPr id="363" name="Freeform: Shape 362">
            <a:extLst>
              <a:ext uri="{FF2B5EF4-FFF2-40B4-BE49-F238E27FC236}">
                <a16:creationId xmlns:a16="http://schemas.microsoft.com/office/drawing/2014/main" id="{81C52D52-D1F8-1500-E53A-0C59E034DE1B}"/>
              </a:ext>
            </a:extLst>
          </p:cNvPr>
          <p:cNvSpPr/>
          <p:nvPr/>
        </p:nvSpPr>
        <p:spPr>
          <a:xfrm flipV="1">
            <a:off x="6342388" y="3905975"/>
            <a:ext cx="608482" cy="178266"/>
          </a:xfrm>
          <a:custGeom>
            <a:avLst/>
            <a:gdLst>
              <a:gd name="connsiteX0" fmla="*/ 5550409 w 6502383"/>
              <a:gd name="connsiteY0" fmla="*/ 762083 h 1904995"/>
              <a:gd name="connsiteX1" fmla="*/ 4026412 w 6502383"/>
              <a:gd name="connsiteY1" fmla="*/ 762083 h 1904995"/>
              <a:gd name="connsiteX2" fmla="*/ 3835913 w 6502383"/>
              <a:gd name="connsiteY2" fmla="*/ 952583 h 1904995"/>
              <a:gd name="connsiteX3" fmla="*/ 4026412 w 6502383"/>
              <a:gd name="connsiteY3" fmla="*/ 1143082 h 1904995"/>
              <a:gd name="connsiteX4" fmla="*/ 5550409 w 6502383"/>
              <a:gd name="connsiteY4" fmla="*/ 1143082 h 1904995"/>
              <a:gd name="connsiteX5" fmla="*/ 5740908 w 6502383"/>
              <a:gd name="connsiteY5" fmla="*/ 952583 h 1904995"/>
              <a:gd name="connsiteX6" fmla="*/ 5550409 w 6502383"/>
              <a:gd name="connsiteY6" fmla="*/ 762083 h 1904995"/>
              <a:gd name="connsiteX7" fmla="*/ 2477016 w 6502383"/>
              <a:gd name="connsiteY7" fmla="*/ 762083 h 1904995"/>
              <a:gd name="connsiteX8" fmla="*/ 2286517 w 6502383"/>
              <a:gd name="connsiteY8" fmla="*/ 952583 h 1904995"/>
              <a:gd name="connsiteX9" fmla="*/ 2477016 w 6502383"/>
              <a:gd name="connsiteY9" fmla="*/ 1143082 h 1904995"/>
              <a:gd name="connsiteX10" fmla="*/ 2667516 w 6502383"/>
              <a:gd name="connsiteY10" fmla="*/ 952583 h 1904995"/>
              <a:gd name="connsiteX11" fmla="*/ 2477016 w 6502383"/>
              <a:gd name="connsiteY11" fmla="*/ 762083 h 1904995"/>
              <a:gd name="connsiteX12" fmla="*/ 1715018 w 6502383"/>
              <a:gd name="connsiteY12" fmla="*/ 762083 h 1904995"/>
              <a:gd name="connsiteX13" fmla="*/ 1524519 w 6502383"/>
              <a:gd name="connsiteY13" fmla="*/ 952583 h 1904995"/>
              <a:gd name="connsiteX14" fmla="*/ 1715018 w 6502383"/>
              <a:gd name="connsiteY14" fmla="*/ 1143082 h 1904995"/>
              <a:gd name="connsiteX15" fmla="*/ 1905518 w 6502383"/>
              <a:gd name="connsiteY15" fmla="*/ 952583 h 1904995"/>
              <a:gd name="connsiteX16" fmla="*/ 1715018 w 6502383"/>
              <a:gd name="connsiteY16" fmla="*/ 762083 h 1904995"/>
              <a:gd name="connsiteX17" fmla="*/ 953020 w 6502383"/>
              <a:gd name="connsiteY17" fmla="*/ 762083 h 1904995"/>
              <a:gd name="connsiteX18" fmla="*/ 762520 w 6502383"/>
              <a:gd name="connsiteY18" fmla="*/ 952583 h 1904995"/>
              <a:gd name="connsiteX19" fmla="*/ 953020 w 6502383"/>
              <a:gd name="connsiteY19" fmla="*/ 1143082 h 1904995"/>
              <a:gd name="connsiteX20" fmla="*/ 1143520 w 6502383"/>
              <a:gd name="connsiteY20" fmla="*/ 952583 h 1904995"/>
              <a:gd name="connsiteX21" fmla="*/ 953020 w 6502383"/>
              <a:gd name="connsiteY21" fmla="*/ 762083 h 1904995"/>
              <a:gd name="connsiteX22" fmla="*/ 5931408 w 6502383"/>
              <a:gd name="connsiteY22" fmla="*/ 1905080 h 1904995"/>
              <a:gd name="connsiteX23" fmla="*/ 572021 w 6502383"/>
              <a:gd name="connsiteY23" fmla="*/ 1905080 h 1904995"/>
              <a:gd name="connsiteX24" fmla="*/ 522 w 6502383"/>
              <a:gd name="connsiteY24" fmla="*/ 1333582 h 1904995"/>
              <a:gd name="connsiteX25" fmla="*/ 522 w 6502383"/>
              <a:gd name="connsiteY25" fmla="*/ 571584 h 1904995"/>
              <a:gd name="connsiteX26" fmla="*/ 572021 w 6502383"/>
              <a:gd name="connsiteY26" fmla="*/ 85 h 1904995"/>
              <a:gd name="connsiteX27" fmla="*/ 5931408 w 6502383"/>
              <a:gd name="connsiteY27" fmla="*/ 85 h 1904995"/>
              <a:gd name="connsiteX28" fmla="*/ 6502906 w 6502383"/>
              <a:gd name="connsiteY28" fmla="*/ 571584 h 1904995"/>
              <a:gd name="connsiteX29" fmla="*/ 6502906 w 6502383"/>
              <a:gd name="connsiteY29" fmla="*/ 1333582 h 1904995"/>
              <a:gd name="connsiteX30" fmla="*/ 5931408 w 6502383"/>
              <a:gd name="connsiteY30" fmla="*/ 1905080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083"/>
                </a:moveTo>
                <a:lnTo>
                  <a:pt x="4026412" y="762083"/>
                </a:lnTo>
                <a:cubicBezTo>
                  <a:pt x="3921117" y="762083"/>
                  <a:pt x="3835913" y="847287"/>
                  <a:pt x="3835913" y="952583"/>
                </a:cubicBezTo>
                <a:cubicBezTo>
                  <a:pt x="3835913" y="1057878"/>
                  <a:pt x="3921117" y="1143082"/>
                  <a:pt x="4026412" y="1143082"/>
                </a:cubicBezTo>
                <a:lnTo>
                  <a:pt x="5550409" y="1143082"/>
                </a:lnTo>
                <a:cubicBezTo>
                  <a:pt x="5655704" y="1143082"/>
                  <a:pt x="5740908" y="1057878"/>
                  <a:pt x="5740908" y="952583"/>
                </a:cubicBezTo>
                <a:cubicBezTo>
                  <a:pt x="5740908" y="847287"/>
                  <a:pt x="5655704" y="762083"/>
                  <a:pt x="5550409" y="762083"/>
                </a:cubicBezTo>
                <a:moveTo>
                  <a:pt x="2477016" y="762083"/>
                </a:moveTo>
                <a:cubicBezTo>
                  <a:pt x="2371810" y="762083"/>
                  <a:pt x="2286517" y="847376"/>
                  <a:pt x="2286517" y="952583"/>
                </a:cubicBezTo>
                <a:cubicBezTo>
                  <a:pt x="2286517" y="1057815"/>
                  <a:pt x="2371810" y="1143082"/>
                  <a:pt x="2477016" y="1143082"/>
                </a:cubicBezTo>
                <a:cubicBezTo>
                  <a:pt x="2582223" y="1143082"/>
                  <a:pt x="2667516" y="1057815"/>
                  <a:pt x="2667516" y="952583"/>
                </a:cubicBezTo>
                <a:cubicBezTo>
                  <a:pt x="2667516" y="847376"/>
                  <a:pt x="2582223" y="762083"/>
                  <a:pt x="2477016" y="762083"/>
                </a:cubicBezTo>
                <a:moveTo>
                  <a:pt x="1715018" y="762083"/>
                </a:moveTo>
                <a:cubicBezTo>
                  <a:pt x="1609812" y="762083"/>
                  <a:pt x="1524519" y="847376"/>
                  <a:pt x="1524519" y="952583"/>
                </a:cubicBezTo>
                <a:cubicBezTo>
                  <a:pt x="1524519" y="1057815"/>
                  <a:pt x="1609812" y="1143082"/>
                  <a:pt x="1715018" y="1143082"/>
                </a:cubicBezTo>
                <a:cubicBezTo>
                  <a:pt x="1820225" y="1143082"/>
                  <a:pt x="1905518" y="1057815"/>
                  <a:pt x="1905518" y="952583"/>
                </a:cubicBezTo>
                <a:cubicBezTo>
                  <a:pt x="1905518" y="847376"/>
                  <a:pt x="1820225" y="762083"/>
                  <a:pt x="1715018" y="762083"/>
                </a:cubicBezTo>
                <a:moveTo>
                  <a:pt x="953020" y="762083"/>
                </a:moveTo>
                <a:cubicBezTo>
                  <a:pt x="847813" y="762083"/>
                  <a:pt x="762520" y="847376"/>
                  <a:pt x="762520" y="952583"/>
                </a:cubicBezTo>
                <a:cubicBezTo>
                  <a:pt x="762520" y="1057815"/>
                  <a:pt x="847813" y="1143082"/>
                  <a:pt x="953020" y="1143082"/>
                </a:cubicBezTo>
                <a:cubicBezTo>
                  <a:pt x="1058227" y="1143082"/>
                  <a:pt x="1143520" y="1057815"/>
                  <a:pt x="1143520" y="952583"/>
                </a:cubicBezTo>
                <a:cubicBezTo>
                  <a:pt x="1143520" y="847376"/>
                  <a:pt x="1058227" y="762083"/>
                  <a:pt x="953020" y="762083"/>
                </a:cubicBezTo>
                <a:moveTo>
                  <a:pt x="5931408" y="1905080"/>
                </a:moveTo>
                <a:lnTo>
                  <a:pt x="572021" y="1905080"/>
                </a:lnTo>
                <a:cubicBezTo>
                  <a:pt x="256884" y="1905080"/>
                  <a:pt x="522" y="1648719"/>
                  <a:pt x="522" y="1333582"/>
                </a:cubicBezTo>
                <a:lnTo>
                  <a:pt x="522" y="571584"/>
                </a:lnTo>
                <a:cubicBezTo>
                  <a:pt x="522" y="256447"/>
                  <a:pt x="256884" y="85"/>
                  <a:pt x="572021" y="85"/>
                </a:cubicBezTo>
                <a:lnTo>
                  <a:pt x="5931408" y="85"/>
                </a:lnTo>
                <a:cubicBezTo>
                  <a:pt x="6246545" y="85"/>
                  <a:pt x="6502906" y="256447"/>
                  <a:pt x="6502906" y="571584"/>
                </a:cubicBezTo>
                <a:lnTo>
                  <a:pt x="6502906" y="1333582"/>
                </a:lnTo>
                <a:cubicBezTo>
                  <a:pt x="6502906" y="1648719"/>
                  <a:pt x="6246545" y="1905080"/>
                  <a:pt x="5931408" y="1905080"/>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64" name="Freeform: Shape 363">
            <a:extLst>
              <a:ext uri="{FF2B5EF4-FFF2-40B4-BE49-F238E27FC236}">
                <a16:creationId xmlns:a16="http://schemas.microsoft.com/office/drawing/2014/main" id="{3F53F393-7B95-C686-DAF8-362830C825A4}"/>
              </a:ext>
            </a:extLst>
          </p:cNvPr>
          <p:cNvSpPr/>
          <p:nvPr/>
        </p:nvSpPr>
        <p:spPr>
          <a:xfrm flipV="1">
            <a:off x="6342388" y="4121082"/>
            <a:ext cx="608482" cy="178266"/>
          </a:xfrm>
          <a:custGeom>
            <a:avLst/>
            <a:gdLst>
              <a:gd name="connsiteX0" fmla="*/ 5550409 w 6502383"/>
              <a:gd name="connsiteY0" fmla="*/ 762324 h 1904995"/>
              <a:gd name="connsiteX1" fmla="*/ 4026412 w 6502383"/>
              <a:gd name="connsiteY1" fmla="*/ 762324 h 1904995"/>
              <a:gd name="connsiteX2" fmla="*/ 3835913 w 6502383"/>
              <a:gd name="connsiteY2" fmla="*/ 952824 h 1904995"/>
              <a:gd name="connsiteX3" fmla="*/ 4026412 w 6502383"/>
              <a:gd name="connsiteY3" fmla="*/ 1143324 h 1904995"/>
              <a:gd name="connsiteX4" fmla="*/ 5550409 w 6502383"/>
              <a:gd name="connsiteY4" fmla="*/ 1143324 h 1904995"/>
              <a:gd name="connsiteX5" fmla="*/ 5740908 w 6502383"/>
              <a:gd name="connsiteY5" fmla="*/ 952824 h 1904995"/>
              <a:gd name="connsiteX6" fmla="*/ 5550409 w 6502383"/>
              <a:gd name="connsiteY6" fmla="*/ 762324 h 1904995"/>
              <a:gd name="connsiteX7" fmla="*/ 2477016 w 6502383"/>
              <a:gd name="connsiteY7" fmla="*/ 762324 h 1904995"/>
              <a:gd name="connsiteX8" fmla="*/ 2286517 w 6502383"/>
              <a:gd name="connsiteY8" fmla="*/ 952824 h 1904995"/>
              <a:gd name="connsiteX9" fmla="*/ 2477016 w 6502383"/>
              <a:gd name="connsiteY9" fmla="*/ 1143324 h 1904995"/>
              <a:gd name="connsiteX10" fmla="*/ 2667516 w 6502383"/>
              <a:gd name="connsiteY10" fmla="*/ 952824 h 1904995"/>
              <a:gd name="connsiteX11" fmla="*/ 2477016 w 6502383"/>
              <a:gd name="connsiteY11" fmla="*/ 762324 h 1904995"/>
              <a:gd name="connsiteX12" fmla="*/ 1715018 w 6502383"/>
              <a:gd name="connsiteY12" fmla="*/ 762324 h 1904995"/>
              <a:gd name="connsiteX13" fmla="*/ 1524519 w 6502383"/>
              <a:gd name="connsiteY13" fmla="*/ 952824 h 1904995"/>
              <a:gd name="connsiteX14" fmla="*/ 1715018 w 6502383"/>
              <a:gd name="connsiteY14" fmla="*/ 1143324 h 1904995"/>
              <a:gd name="connsiteX15" fmla="*/ 1905518 w 6502383"/>
              <a:gd name="connsiteY15" fmla="*/ 952824 h 1904995"/>
              <a:gd name="connsiteX16" fmla="*/ 1715018 w 6502383"/>
              <a:gd name="connsiteY16" fmla="*/ 762324 h 1904995"/>
              <a:gd name="connsiteX17" fmla="*/ 953020 w 6502383"/>
              <a:gd name="connsiteY17" fmla="*/ 762324 h 1904995"/>
              <a:gd name="connsiteX18" fmla="*/ 762520 w 6502383"/>
              <a:gd name="connsiteY18" fmla="*/ 952824 h 1904995"/>
              <a:gd name="connsiteX19" fmla="*/ 953020 w 6502383"/>
              <a:gd name="connsiteY19" fmla="*/ 1143324 h 1904995"/>
              <a:gd name="connsiteX20" fmla="*/ 1143520 w 6502383"/>
              <a:gd name="connsiteY20" fmla="*/ 952824 h 1904995"/>
              <a:gd name="connsiteX21" fmla="*/ 953020 w 6502383"/>
              <a:gd name="connsiteY21" fmla="*/ 762324 h 1904995"/>
              <a:gd name="connsiteX22" fmla="*/ 5931408 w 6502383"/>
              <a:gd name="connsiteY22" fmla="*/ 1905322 h 1904995"/>
              <a:gd name="connsiteX23" fmla="*/ 572021 w 6502383"/>
              <a:gd name="connsiteY23" fmla="*/ 1905322 h 1904995"/>
              <a:gd name="connsiteX24" fmla="*/ 522 w 6502383"/>
              <a:gd name="connsiteY24" fmla="*/ 1333823 h 1904995"/>
              <a:gd name="connsiteX25" fmla="*/ 522 w 6502383"/>
              <a:gd name="connsiteY25" fmla="*/ 571825 h 1904995"/>
              <a:gd name="connsiteX26" fmla="*/ 572021 w 6502383"/>
              <a:gd name="connsiteY26" fmla="*/ 326 h 1904995"/>
              <a:gd name="connsiteX27" fmla="*/ 5931408 w 6502383"/>
              <a:gd name="connsiteY27" fmla="*/ 326 h 1904995"/>
              <a:gd name="connsiteX28" fmla="*/ 6502906 w 6502383"/>
              <a:gd name="connsiteY28" fmla="*/ 571825 h 1904995"/>
              <a:gd name="connsiteX29" fmla="*/ 6502906 w 6502383"/>
              <a:gd name="connsiteY29" fmla="*/ 1333823 h 1904995"/>
              <a:gd name="connsiteX30" fmla="*/ 5931408 w 6502383"/>
              <a:gd name="connsiteY30" fmla="*/ 1905322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324"/>
                </a:moveTo>
                <a:lnTo>
                  <a:pt x="4026412" y="762324"/>
                </a:lnTo>
                <a:cubicBezTo>
                  <a:pt x="3921117" y="762324"/>
                  <a:pt x="3835913" y="847529"/>
                  <a:pt x="3835913" y="952824"/>
                </a:cubicBezTo>
                <a:cubicBezTo>
                  <a:pt x="3835913" y="1058119"/>
                  <a:pt x="3921117" y="1143324"/>
                  <a:pt x="4026412" y="1143324"/>
                </a:cubicBezTo>
                <a:lnTo>
                  <a:pt x="5550409" y="1143324"/>
                </a:lnTo>
                <a:cubicBezTo>
                  <a:pt x="5655704" y="1143324"/>
                  <a:pt x="5740908" y="1058119"/>
                  <a:pt x="5740908" y="952824"/>
                </a:cubicBezTo>
                <a:cubicBezTo>
                  <a:pt x="5740908" y="847529"/>
                  <a:pt x="5655704" y="762324"/>
                  <a:pt x="5550409" y="762324"/>
                </a:cubicBezTo>
                <a:moveTo>
                  <a:pt x="2477016" y="762324"/>
                </a:moveTo>
                <a:cubicBezTo>
                  <a:pt x="2371810" y="762324"/>
                  <a:pt x="2286517" y="847617"/>
                  <a:pt x="2286517" y="952824"/>
                </a:cubicBezTo>
                <a:cubicBezTo>
                  <a:pt x="2286517" y="1058056"/>
                  <a:pt x="2371810" y="1143324"/>
                  <a:pt x="2477016" y="1143324"/>
                </a:cubicBezTo>
                <a:cubicBezTo>
                  <a:pt x="2582223" y="1143324"/>
                  <a:pt x="2667516" y="1058056"/>
                  <a:pt x="2667516" y="952824"/>
                </a:cubicBezTo>
                <a:cubicBezTo>
                  <a:pt x="2667516" y="847617"/>
                  <a:pt x="2582223" y="762324"/>
                  <a:pt x="2477016" y="762324"/>
                </a:cubicBezTo>
                <a:moveTo>
                  <a:pt x="1715018" y="762324"/>
                </a:moveTo>
                <a:cubicBezTo>
                  <a:pt x="1609812" y="762324"/>
                  <a:pt x="1524519" y="847617"/>
                  <a:pt x="1524519" y="952824"/>
                </a:cubicBezTo>
                <a:cubicBezTo>
                  <a:pt x="1524519" y="1058056"/>
                  <a:pt x="1609812" y="1143324"/>
                  <a:pt x="1715018" y="1143324"/>
                </a:cubicBezTo>
                <a:cubicBezTo>
                  <a:pt x="1820225" y="1143324"/>
                  <a:pt x="1905518" y="1058056"/>
                  <a:pt x="1905518" y="952824"/>
                </a:cubicBezTo>
                <a:cubicBezTo>
                  <a:pt x="1905518" y="847617"/>
                  <a:pt x="1820225" y="762324"/>
                  <a:pt x="1715018" y="762324"/>
                </a:cubicBezTo>
                <a:moveTo>
                  <a:pt x="953020" y="762324"/>
                </a:moveTo>
                <a:cubicBezTo>
                  <a:pt x="847813" y="762324"/>
                  <a:pt x="762520" y="847617"/>
                  <a:pt x="762520" y="952824"/>
                </a:cubicBezTo>
                <a:cubicBezTo>
                  <a:pt x="762520" y="1058056"/>
                  <a:pt x="847813" y="1143324"/>
                  <a:pt x="953020" y="1143324"/>
                </a:cubicBezTo>
                <a:cubicBezTo>
                  <a:pt x="1058227" y="1143324"/>
                  <a:pt x="1143520" y="1058056"/>
                  <a:pt x="1143520" y="952824"/>
                </a:cubicBezTo>
                <a:cubicBezTo>
                  <a:pt x="1143520" y="847617"/>
                  <a:pt x="1058227" y="762324"/>
                  <a:pt x="953020" y="762324"/>
                </a:cubicBezTo>
                <a:moveTo>
                  <a:pt x="5931408" y="1905322"/>
                </a:moveTo>
                <a:lnTo>
                  <a:pt x="572021" y="1905322"/>
                </a:lnTo>
                <a:cubicBezTo>
                  <a:pt x="256884" y="1905322"/>
                  <a:pt x="522" y="1648960"/>
                  <a:pt x="522" y="1333823"/>
                </a:cubicBezTo>
                <a:lnTo>
                  <a:pt x="522" y="571825"/>
                </a:lnTo>
                <a:cubicBezTo>
                  <a:pt x="522" y="256688"/>
                  <a:pt x="256884" y="326"/>
                  <a:pt x="572021" y="326"/>
                </a:cubicBezTo>
                <a:lnTo>
                  <a:pt x="5931408" y="326"/>
                </a:lnTo>
                <a:cubicBezTo>
                  <a:pt x="6246545" y="326"/>
                  <a:pt x="6502906" y="256688"/>
                  <a:pt x="6502906" y="571825"/>
                </a:cubicBezTo>
                <a:lnTo>
                  <a:pt x="6502906" y="1333823"/>
                </a:lnTo>
                <a:cubicBezTo>
                  <a:pt x="6502906" y="1648960"/>
                  <a:pt x="6246545" y="1905322"/>
                  <a:pt x="5931408" y="1905322"/>
                </a:cubicBezTo>
              </a:path>
            </a:pathLst>
          </a:custGeom>
          <a:solidFill>
            <a:srgbClr val="C03BC4">
              <a:lumMod val="20000"/>
              <a:lumOff val="80000"/>
            </a:srgbClr>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65" name="Freeform: Shape 364">
            <a:extLst>
              <a:ext uri="{FF2B5EF4-FFF2-40B4-BE49-F238E27FC236}">
                <a16:creationId xmlns:a16="http://schemas.microsoft.com/office/drawing/2014/main" id="{BA8BEFFD-3757-54A1-CCB3-211183E7D606}"/>
              </a:ext>
            </a:extLst>
          </p:cNvPr>
          <p:cNvSpPr/>
          <p:nvPr/>
        </p:nvSpPr>
        <p:spPr>
          <a:xfrm flipV="1">
            <a:off x="6342388" y="4336189"/>
            <a:ext cx="608482" cy="178266"/>
          </a:xfrm>
          <a:custGeom>
            <a:avLst/>
            <a:gdLst>
              <a:gd name="connsiteX0" fmla="*/ 5550409 w 6502383"/>
              <a:gd name="connsiteY0" fmla="*/ 762566 h 1904995"/>
              <a:gd name="connsiteX1" fmla="*/ 4026412 w 6502383"/>
              <a:gd name="connsiteY1" fmla="*/ 762566 h 1904995"/>
              <a:gd name="connsiteX2" fmla="*/ 3835913 w 6502383"/>
              <a:gd name="connsiteY2" fmla="*/ 953065 h 1904995"/>
              <a:gd name="connsiteX3" fmla="*/ 4026412 w 6502383"/>
              <a:gd name="connsiteY3" fmla="*/ 1143565 h 1904995"/>
              <a:gd name="connsiteX4" fmla="*/ 5550409 w 6502383"/>
              <a:gd name="connsiteY4" fmla="*/ 1143565 h 1904995"/>
              <a:gd name="connsiteX5" fmla="*/ 5740908 w 6502383"/>
              <a:gd name="connsiteY5" fmla="*/ 953065 h 1904995"/>
              <a:gd name="connsiteX6" fmla="*/ 5550409 w 6502383"/>
              <a:gd name="connsiteY6" fmla="*/ 762566 h 1904995"/>
              <a:gd name="connsiteX7" fmla="*/ 2477016 w 6502383"/>
              <a:gd name="connsiteY7" fmla="*/ 762566 h 1904995"/>
              <a:gd name="connsiteX8" fmla="*/ 2286517 w 6502383"/>
              <a:gd name="connsiteY8" fmla="*/ 953065 h 1904995"/>
              <a:gd name="connsiteX9" fmla="*/ 2477016 w 6502383"/>
              <a:gd name="connsiteY9" fmla="*/ 1143565 h 1904995"/>
              <a:gd name="connsiteX10" fmla="*/ 2667516 w 6502383"/>
              <a:gd name="connsiteY10" fmla="*/ 953065 h 1904995"/>
              <a:gd name="connsiteX11" fmla="*/ 2477016 w 6502383"/>
              <a:gd name="connsiteY11" fmla="*/ 762566 h 1904995"/>
              <a:gd name="connsiteX12" fmla="*/ 1715018 w 6502383"/>
              <a:gd name="connsiteY12" fmla="*/ 762566 h 1904995"/>
              <a:gd name="connsiteX13" fmla="*/ 1524519 w 6502383"/>
              <a:gd name="connsiteY13" fmla="*/ 953065 h 1904995"/>
              <a:gd name="connsiteX14" fmla="*/ 1715018 w 6502383"/>
              <a:gd name="connsiteY14" fmla="*/ 1143565 h 1904995"/>
              <a:gd name="connsiteX15" fmla="*/ 1905518 w 6502383"/>
              <a:gd name="connsiteY15" fmla="*/ 953065 h 1904995"/>
              <a:gd name="connsiteX16" fmla="*/ 1715018 w 6502383"/>
              <a:gd name="connsiteY16" fmla="*/ 762566 h 1904995"/>
              <a:gd name="connsiteX17" fmla="*/ 953020 w 6502383"/>
              <a:gd name="connsiteY17" fmla="*/ 762566 h 1904995"/>
              <a:gd name="connsiteX18" fmla="*/ 762520 w 6502383"/>
              <a:gd name="connsiteY18" fmla="*/ 953065 h 1904995"/>
              <a:gd name="connsiteX19" fmla="*/ 953020 w 6502383"/>
              <a:gd name="connsiteY19" fmla="*/ 1143565 h 1904995"/>
              <a:gd name="connsiteX20" fmla="*/ 1143520 w 6502383"/>
              <a:gd name="connsiteY20" fmla="*/ 953065 h 1904995"/>
              <a:gd name="connsiteX21" fmla="*/ 953020 w 6502383"/>
              <a:gd name="connsiteY21" fmla="*/ 762566 h 1904995"/>
              <a:gd name="connsiteX22" fmla="*/ 5931408 w 6502383"/>
              <a:gd name="connsiteY22" fmla="*/ 1905563 h 1904995"/>
              <a:gd name="connsiteX23" fmla="*/ 572021 w 6502383"/>
              <a:gd name="connsiteY23" fmla="*/ 1905563 h 1904995"/>
              <a:gd name="connsiteX24" fmla="*/ 522 w 6502383"/>
              <a:gd name="connsiteY24" fmla="*/ 1334064 h 1904995"/>
              <a:gd name="connsiteX25" fmla="*/ 522 w 6502383"/>
              <a:gd name="connsiteY25" fmla="*/ 572066 h 1904995"/>
              <a:gd name="connsiteX26" fmla="*/ 572021 w 6502383"/>
              <a:gd name="connsiteY26" fmla="*/ 568 h 1904995"/>
              <a:gd name="connsiteX27" fmla="*/ 5931408 w 6502383"/>
              <a:gd name="connsiteY27" fmla="*/ 568 h 1904995"/>
              <a:gd name="connsiteX28" fmla="*/ 6502906 w 6502383"/>
              <a:gd name="connsiteY28" fmla="*/ 572066 h 1904995"/>
              <a:gd name="connsiteX29" fmla="*/ 6502906 w 6502383"/>
              <a:gd name="connsiteY29" fmla="*/ 1334064 h 1904995"/>
              <a:gd name="connsiteX30" fmla="*/ 5931408 w 6502383"/>
              <a:gd name="connsiteY30" fmla="*/ 1905563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566"/>
                </a:moveTo>
                <a:lnTo>
                  <a:pt x="4026412" y="762566"/>
                </a:lnTo>
                <a:cubicBezTo>
                  <a:pt x="3921117" y="762566"/>
                  <a:pt x="3835913" y="847770"/>
                  <a:pt x="3835913" y="953065"/>
                </a:cubicBezTo>
                <a:cubicBezTo>
                  <a:pt x="3835913" y="1058361"/>
                  <a:pt x="3921117" y="1143565"/>
                  <a:pt x="4026412" y="1143565"/>
                </a:cubicBezTo>
                <a:lnTo>
                  <a:pt x="5550409" y="1143565"/>
                </a:lnTo>
                <a:cubicBezTo>
                  <a:pt x="5655704" y="1143565"/>
                  <a:pt x="5740908" y="1058361"/>
                  <a:pt x="5740908" y="953065"/>
                </a:cubicBezTo>
                <a:cubicBezTo>
                  <a:pt x="5740908" y="847770"/>
                  <a:pt x="5655704" y="762566"/>
                  <a:pt x="5550409" y="762566"/>
                </a:cubicBezTo>
                <a:moveTo>
                  <a:pt x="2477016" y="762566"/>
                </a:moveTo>
                <a:cubicBezTo>
                  <a:pt x="2371810" y="762566"/>
                  <a:pt x="2286517" y="847859"/>
                  <a:pt x="2286517" y="953065"/>
                </a:cubicBezTo>
                <a:cubicBezTo>
                  <a:pt x="2286517" y="1058297"/>
                  <a:pt x="2371810" y="1143565"/>
                  <a:pt x="2477016" y="1143565"/>
                </a:cubicBezTo>
                <a:cubicBezTo>
                  <a:pt x="2582223" y="1143565"/>
                  <a:pt x="2667516" y="1058297"/>
                  <a:pt x="2667516" y="953065"/>
                </a:cubicBezTo>
                <a:cubicBezTo>
                  <a:pt x="2667516" y="847859"/>
                  <a:pt x="2582223" y="762566"/>
                  <a:pt x="2477016" y="762566"/>
                </a:cubicBezTo>
                <a:moveTo>
                  <a:pt x="1715018" y="762566"/>
                </a:moveTo>
                <a:cubicBezTo>
                  <a:pt x="1609812" y="762566"/>
                  <a:pt x="1524519" y="847859"/>
                  <a:pt x="1524519" y="953065"/>
                </a:cubicBezTo>
                <a:cubicBezTo>
                  <a:pt x="1524519" y="1058297"/>
                  <a:pt x="1609812" y="1143565"/>
                  <a:pt x="1715018" y="1143565"/>
                </a:cubicBezTo>
                <a:cubicBezTo>
                  <a:pt x="1820225" y="1143565"/>
                  <a:pt x="1905518" y="1058297"/>
                  <a:pt x="1905518" y="953065"/>
                </a:cubicBezTo>
                <a:cubicBezTo>
                  <a:pt x="1905518" y="847859"/>
                  <a:pt x="1820225" y="762566"/>
                  <a:pt x="1715018" y="762566"/>
                </a:cubicBezTo>
                <a:moveTo>
                  <a:pt x="953020" y="762566"/>
                </a:moveTo>
                <a:cubicBezTo>
                  <a:pt x="847813" y="762566"/>
                  <a:pt x="762520" y="847859"/>
                  <a:pt x="762520" y="953065"/>
                </a:cubicBezTo>
                <a:cubicBezTo>
                  <a:pt x="762520" y="1058297"/>
                  <a:pt x="847813" y="1143565"/>
                  <a:pt x="953020" y="1143565"/>
                </a:cubicBezTo>
                <a:cubicBezTo>
                  <a:pt x="1058227" y="1143565"/>
                  <a:pt x="1143520" y="1058297"/>
                  <a:pt x="1143520" y="953065"/>
                </a:cubicBezTo>
                <a:cubicBezTo>
                  <a:pt x="1143520" y="847859"/>
                  <a:pt x="1058227" y="762566"/>
                  <a:pt x="953020" y="762566"/>
                </a:cubicBezTo>
                <a:moveTo>
                  <a:pt x="5931408" y="1905563"/>
                </a:moveTo>
                <a:lnTo>
                  <a:pt x="572021" y="1905563"/>
                </a:lnTo>
                <a:cubicBezTo>
                  <a:pt x="256884" y="1905563"/>
                  <a:pt x="522" y="1649201"/>
                  <a:pt x="522" y="1334064"/>
                </a:cubicBezTo>
                <a:lnTo>
                  <a:pt x="522" y="572066"/>
                </a:lnTo>
                <a:cubicBezTo>
                  <a:pt x="522" y="256929"/>
                  <a:pt x="256884" y="568"/>
                  <a:pt x="572021" y="568"/>
                </a:cubicBezTo>
                <a:lnTo>
                  <a:pt x="5931408" y="568"/>
                </a:lnTo>
                <a:cubicBezTo>
                  <a:pt x="6246545" y="568"/>
                  <a:pt x="6502906" y="256929"/>
                  <a:pt x="6502906" y="572066"/>
                </a:cubicBezTo>
                <a:lnTo>
                  <a:pt x="6502906" y="1334064"/>
                </a:lnTo>
                <a:cubicBezTo>
                  <a:pt x="6502906" y="1649201"/>
                  <a:pt x="6246545" y="1905563"/>
                  <a:pt x="5931408" y="1905563"/>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66" name="Freeform: Shape 365">
            <a:extLst>
              <a:ext uri="{FF2B5EF4-FFF2-40B4-BE49-F238E27FC236}">
                <a16:creationId xmlns:a16="http://schemas.microsoft.com/office/drawing/2014/main" id="{129B95B2-1F38-558E-C19E-6147866C086C}"/>
              </a:ext>
            </a:extLst>
          </p:cNvPr>
          <p:cNvSpPr/>
          <p:nvPr/>
        </p:nvSpPr>
        <p:spPr>
          <a:xfrm flipV="1">
            <a:off x="5792293" y="4123661"/>
            <a:ext cx="608482" cy="178266"/>
          </a:xfrm>
          <a:custGeom>
            <a:avLst/>
            <a:gdLst>
              <a:gd name="connsiteX0" fmla="*/ 5550409 w 6502383"/>
              <a:gd name="connsiteY0" fmla="*/ 762083 h 1904995"/>
              <a:gd name="connsiteX1" fmla="*/ 4026412 w 6502383"/>
              <a:gd name="connsiteY1" fmla="*/ 762083 h 1904995"/>
              <a:gd name="connsiteX2" fmla="*/ 3835913 w 6502383"/>
              <a:gd name="connsiteY2" fmla="*/ 952583 h 1904995"/>
              <a:gd name="connsiteX3" fmla="*/ 4026412 w 6502383"/>
              <a:gd name="connsiteY3" fmla="*/ 1143082 h 1904995"/>
              <a:gd name="connsiteX4" fmla="*/ 5550409 w 6502383"/>
              <a:gd name="connsiteY4" fmla="*/ 1143082 h 1904995"/>
              <a:gd name="connsiteX5" fmla="*/ 5740908 w 6502383"/>
              <a:gd name="connsiteY5" fmla="*/ 952583 h 1904995"/>
              <a:gd name="connsiteX6" fmla="*/ 5550409 w 6502383"/>
              <a:gd name="connsiteY6" fmla="*/ 762083 h 1904995"/>
              <a:gd name="connsiteX7" fmla="*/ 2477016 w 6502383"/>
              <a:gd name="connsiteY7" fmla="*/ 762083 h 1904995"/>
              <a:gd name="connsiteX8" fmla="*/ 2286517 w 6502383"/>
              <a:gd name="connsiteY8" fmla="*/ 952583 h 1904995"/>
              <a:gd name="connsiteX9" fmla="*/ 2477016 w 6502383"/>
              <a:gd name="connsiteY9" fmla="*/ 1143082 h 1904995"/>
              <a:gd name="connsiteX10" fmla="*/ 2667516 w 6502383"/>
              <a:gd name="connsiteY10" fmla="*/ 952583 h 1904995"/>
              <a:gd name="connsiteX11" fmla="*/ 2477016 w 6502383"/>
              <a:gd name="connsiteY11" fmla="*/ 762083 h 1904995"/>
              <a:gd name="connsiteX12" fmla="*/ 1715018 w 6502383"/>
              <a:gd name="connsiteY12" fmla="*/ 762083 h 1904995"/>
              <a:gd name="connsiteX13" fmla="*/ 1524519 w 6502383"/>
              <a:gd name="connsiteY13" fmla="*/ 952583 h 1904995"/>
              <a:gd name="connsiteX14" fmla="*/ 1715018 w 6502383"/>
              <a:gd name="connsiteY14" fmla="*/ 1143082 h 1904995"/>
              <a:gd name="connsiteX15" fmla="*/ 1905518 w 6502383"/>
              <a:gd name="connsiteY15" fmla="*/ 952583 h 1904995"/>
              <a:gd name="connsiteX16" fmla="*/ 1715018 w 6502383"/>
              <a:gd name="connsiteY16" fmla="*/ 762083 h 1904995"/>
              <a:gd name="connsiteX17" fmla="*/ 953020 w 6502383"/>
              <a:gd name="connsiteY17" fmla="*/ 762083 h 1904995"/>
              <a:gd name="connsiteX18" fmla="*/ 762520 w 6502383"/>
              <a:gd name="connsiteY18" fmla="*/ 952583 h 1904995"/>
              <a:gd name="connsiteX19" fmla="*/ 953020 w 6502383"/>
              <a:gd name="connsiteY19" fmla="*/ 1143082 h 1904995"/>
              <a:gd name="connsiteX20" fmla="*/ 1143520 w 6502383"/>
              <a:gd name="connsiteY20" fmla="*/ 952583 h 1904995"/>
              <a:gd name="connsiteX21" fmla="*/ 953020 w 6502383"/>
              <a:gd name="connsiteY21" fmla="*/ 762083 h 1904995"/>
              <a:gd name="connsiteX22" fmla="*/ 5931408 w 6502383"/>
              <a:gd name="connsiteY22" fmla="*/ 1905080 h 1904995"/>
              <a:gd name="connsiteX23" fmla="*/ 572021 w 6502383"/>
              <a:gd name="connsiteY23" fmla="*/ 1905080 h 1904995"/>
              <a:gd name="connsiteX24" fmla="*/ 522 w 6502383"/>
              <a:gd name="connsiteY24" fmla="*/ 1333582 h 1904995"/>
              <a:gd name="connsiteX25" fmla="*/ 522 w 6502383"/>
              <a:gd name="connsiteY25" fmla="*/ 571584 h 1904995"/>
              <a:gd name="connsiteX26" fmla="*/ 572021 w 6502383"/>
              <a:gd name="connsiteY26" fmla="*/ 85 h 1904995"/>
              <a:gd name="connsiteX27" fmla="*/ 5931408 w 6502383"/>
              <a:gd name="connsiteY27" fmla="*/ 85 h 1904995"/>
              <a:gd name="connsiteX28" fmla="*/ 6502906 w 6502383"/>
              <a:gd name="connsiteY28" fmla="*/ 571584 h 1904995"/>
              <a:gd name="connsiteX29" fmla="*/ 6502906 w 6502383"/>
              <a:gd name="connsiteY29" fmla="*/ 1333582 h 1904995"/>
              <a:gd name="connsiteX30" fmla="*/ 5931408 w 6502383"/>
              <a:gd name="connsiteY30" fmla="*/ 1905080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083"/>
                </a:moveTo>
                <a:lnTo>
                  <a:pt x="4026412" y="762083"/>
                </a:lnTo>
                <a:cubicBezTo>
                  <a:pt x="3921117" y="762083"/>
                  <a:pt x="3835913" y="847287"/>
                  <a:pt x="3835913" y="952583"/>
                </a:cubicBezTo>
                <a:cubicBezTo>
                  <a:pt x="3835913" y="1057878"/>
                  <a:pt x="3921117" y="1143082"/>
                  <a:pt x="4026412" y="1143082"/>
                </a:cubicBezTo>
                <a:lnTo>
                  <a:pt x="5550409" y="1143082"/>
                </a:lnTo>
                <a:cubicBezTo>
                  <a:pt x="5655704" y="1143082"/>
                  <a:pt x="5740908" y="1057878"/>
                  <a:pt x="5740908" y="952583"/>
                </a:cubicBezTo>
                <a:cubicBezTo>
                  <a:pt x="5740908" y="847287"/>
                  <a:pt x="5655704" y="762083"/>
                  <a:pt x="5550409" y="762083"/>
                </a:cubicBezTo>
                <a:moveTo>
                  <a:pt x="2477016" y="762083"/>
                </a:moveTo>
                <a:cubicBezTo>
                  <a:pt x="2371810" y="762083"/>
                  <a:pt x="2286517" y="847376"/>
                  <a:pt x="2286517" y="952583"/>
                </a:cubicBezTo>
                <a:cubicBezTo>
                  <a:pt x="2286517" y="1057815"/>
                  <a:pt x="2371810" y="1143082"/>
                  <a:pt x="2477016" y="1143082"/>
                </a:cubicBezTo>
                <a:cubicBezTo>
                  <a:pt x="2582223" y="1143082"/>
                  <a:pt x="2667516" y="1057815"/>
                  <a:pt x="2667516" y="952583"/>
                </a:cubicBezTo>
                <a:cubicBezTo>
                  <a:pt x="2667516" y="847376"/>
                  <a:pt x="2582223" y="762083"/>
                  <a:pt x="2477016" y="762083"/>
                </a:cubicBezTo>
                <a:moveTo>
                  <a:pt x="1715018" y="762083"/>
                </a:moveTo>
                <a:cubicBezTo>
                  <a:pt x="1609812" y="762083"/>
                  <a:pt x="1524519" y="847376"/>
                  <a:pt x="1524519" y="952583"/>
                </a:cubicBezTo>
                <a:cubicBezTo>
                  <a:pt x="1524519" y="1057815"/>
                  <a:pt x="1609812" y="1143082"/>
                  <a:pt x="1715018" y="1143082"/>
                </a:cubicBezTo>
                <a:cubicBezTo>
                  <a:pt x="1820225" y="1143082"/>
                  <a:pt x="1905518" y="1057815"/>
                  <a:pt x="1905518" y="952583"/>
                </a:cubicBezTo>
                <a:cubicBezTo>
                  <a:pt x="1905518" y="847376"/>
                  <a:pt x="1820225" y="762083"/>
                  <a:pt x="1715018" y="762083"/>
                </a:cubicBezTo>
                <a:moveTo>
                  <a:pt x="953020" y="762083"/>
                </a:moveTo>
                <a:cubicBezTo>
                  <a:pt x="847813" y="762083"/>
                  <a:pt x="762520" y="847376"/>
                  <a:pt x="762520" y="952583"/>
                </a:cubicBezTo>
                <a:cubicBezTo>
                  <a:pt x="762520" y="1057815"/>
                  <a:pt x="847813" y="1143082"/>
                  <a:pt x="953020" y="1143082"/>
                </a:cubicBezTo>
                <a:cubicBezTo>
                  <a:pt x="1058227" y="1143082"/>
                  <a:pt x="1143520" y="1057815"/>
                  <a:pt x="1143520" y="952583"/>
                </a:cubicBezTo>
                <a:cubicBezTo>
                  <a:pt x="1143520" y="847376"/>
                  <a:pt x="1058227" y="762083"/>
                  <a:pt x="953020" y="762083"/>
                </a:cubicBezTo>
                <a:moveTo>
                  <a:pt x="5931408" y="1905080"/>
                </a:moveTo>
                <a:lnTo>
                  <a:pt x="572021" y="1905080"/>
                </a:lnTo>
                <a:cubicBezTo>
                  <a:pt x="256884" y="1905080"/>
                  <a:pt x="522" y="1648719"/>
                  <a:pt x="522" y="1333582"/>
                </a:cubicBezTo>
                <a:lnTo>
                  <a:pt x="522" y="571584"/>
                </a:lnTo>
                <a:cubicBezTo>
                  <a:pt x="522" y="256447"/>
                  <a:pt x="256884" y="85"/>
                  <a:pt x="572021" y="85"/>
                </a:cubicBezTo>
                <a:lnTo>
                  <a:pt x="5931408" y="85"/>
                </a:lnTo>
                <a:cubicBezTo>
                  <a:pt x="6246545" y="85"/>
                  <a:pt x="6502906" y="256447"/>
                  <a:pt x="6502906" y="571584"/>
                </a:cubicBezTo>
                <a:lnTo>
                  <a:pt x="6502906" y="1333582"/>
                </a:lnTo>
                <a:cubicBezTo>
                  <a:pt x="6502906" y="1648719"/>
                  <a:pt x="6246545" y="1905080"/>
                  <a:pt x="5931408" y="1905080"/>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67" name="Freeform: Shape 366">
            <a:extLst>
              <a:ext uri="{FF2B5EF4-FFF2-40B4-BE49-F238E27FC236}">
                <a16:creationId xmlns:a16="http://schemas.microsoft.com/office/drawing/2014/main" id="{7BA868F2-315F-5782-0F3C-97CE21F39CD7}"/>
              </a:ext>
            </a:extLst>
          </p:cNvPr>
          <p:cNvSpPr/>
          <p:nvPr/>
        </p:nvSpPr>
        <p:spPr>
          <a:xfrm flipV="1">
            <a:off x="5792293" y="4338768"/>
            <a:ext cx="608482" cy="178266"/>
          </a:xfrm>
          <a:custGeom>
            <a:avLst/>
            <a:gdLst>
              <a:gd name="connsiteX0" fmla="*/ 5550409 w 6502383"/>
              <a:gd name="connsiteY0" fmla="*/ 762324 h 1904995"/>
              <a:gd name="connsiteX1" fmla="*/ 4026412 w 6502383"/>
              <a:gd name="connsiteY1" fmla="*/ 762324 h 1904995"/>
              <a:gd name="connsiteX2" fmla="*/ 3835913 w 6502383"/>
              <a:gd name="connsiteY2" fmla="*/ 952824 h 1904995"/>
              <a:gd name="connsiteX3" fmla="*/ 4026412 w 6502383"/>
              <a:gd name="connsiteY3" fmla="*/ 1143324 h 1904995"/>
              <a:gd name="connsiteX4" fmla="*/ 5550409 w 6502383"/>
              <a:gd name="connsiteY4" fmla="*/ 1143324 h 1904995"/>
              <a:gd name="connsiteX5" fmla="*/ 5740908 w 6502383"/>
              <a:gd name="connsiteY5" fmla="*/ 952824 h 1904995"/>
              <a:gd name="connsiteX6" fmla="*/ 5550409 w 6502383"/>
              <a:gd name="connsiteY6" fmla="*/ 762324 h 1904995"/>
              <a:gd name="connsiteX7" fmla="*/ 2477016 w 6502383"/>
              <a:gd name="connsiteY7" fmla="*/ 762324 h 1904995"/>
              <a:gd name="connsiteX8" fmla="*/ 2286517 w 6502383"/>
              <a:gd name="connsiteY8" fmla="*/ 952824 h 1904995"/>
              <a:gd name="connsiteX9" fmla="*/ 2477016 w 6502383"/>
              <a:gd name="connsiteY9" fmla="*/ 1143324 h 1904995"/>
              <a:gd name="connsiteX10" fmla="*/ 2667516 w 6502383"/>
              <a:gd name="connsiteY10" fmla="*/ 952824 h 1904995"/>
              <a:gd name="connsiteX11" fmla="*/ 2477016 w 6502383"/>
              <a:gd name="connsiteY11" fmla="*/ 762324 h 1904995"/>
              <a:gd name="connsiteX12" fmla="*/ 1715018 w 6502383"/>
              <a:gd name="connsiteY12" fmla="*/ 762324 h 1904995"/>
              <a:gd name="connsiteX13" fmla="*/ 1524519 w 6502383"/>
              <a:gd name="connsiteY13" fmla="*/ 952824 h 1904995"/>
              <a:gd name="connsiteX14" fmla="*/ 1715018 w 6502383"/>
              <a:gd name="connsiteY14" fmla="*/ 1143324 h 1904995"/>
              <a:gd name="connsiteX15" fmla="*/ 1905518 w 6502383"/>
              <a:gd name="connsiteY15" fmla="*/ 952824 h 1904995"/>
              <a:gd name="connsiteX16" fmla="*/ 1715018 w 6502383"/>
              <a:gd name="connsiteY16" fmla="*/ 762324 h 1904995"/>
              <a:gd name="connsiteX17" fmla="*/ 953020 w 6502383"/>
              <a:gd name="connsiteY17" fmla="*/ 762324 h 1904995"/>
              <a:gd name="connsiteX18" fmla="*/ 762520 w 6502383"/>
              <a:gd name="connsiteY18" fmla="*/ 952824 h 1904995"/>
              <a:gd name="connsiteX19" fmla="*/ 953020 w 6502383"/>
              <a:gd name="connsiteY19" fmla="*/ 1143324 h 1904995"/>
              <a:gd name="connsiteX20" fmla="*/ 1143520 w 6502383"/>
              <a:gd name="connsiteY20" fmla="*/ 952824 h 1904995"/>
              <a:gd name="connsiteX21" fmla="*/ 953020 w 6502383"/>
              <a:gd name="connsiteY21" fmla="*/ 762324 h 1904995"/>
              <a:gd name="connsiteX22" fmla="*/ 5931408 w 6502383"/>
              <a:gd name="connsiteY22" fmla="*/ 1905322 h 1904995"/>
              <a:gd name="connsiteX23" fmla="*/ 572021 w 6502383"/>
              <a:gd name="connsiteY23" fmla="*/ 1905322 h 1904995"/>
              <a:gd name="connsiteX24" fmla="*/ 522 w 6502383"/>
              <a:gd name="connsiteY24" fmla="*/ 1333823 h 1904995"/>
              <a:gd name="connsiteX25" fmla="*/ 522 w 6502383"/>
              <a:gd name="connsiteY25" fmla="*/ 571825 h 1904995"/>
              <a:gd name="connsiteX26" fmla="*/ 572021 w 6502383"/>
              <a:gd name="connsiteY26" fmla="*/ 326 h 1904995"/>
              <a:gd name="connsiteX27" fmla="*/ 5931408 w 6502383"/>
              <a:gd name="connsiteY27" fmla="*/ 326 h 1904995"/>
              <a:gd name="connsiteX28" fmla="*/ 6502906 w 6502383"/>
              <a:gd name="connsiteY28" fmla="*/ 571825 h 1904995"/>
              <a:gd name="connsiteX29" fmla="*/ 6502906 w 6502383"/>
              <a:gd name="connsiteY29" fmla="*/ 1333823 h 1904995"/>
              <a:gd name="connsiteX30" fmla="*/ 5931408 w 6502383"/>
              <a:gd name="connsiteY30" fmla="*/ 1905322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324"/>
                </a:moveTo>
                <a:lnTo>
                  <a:pt x="4026412" y="762324"/>
                </a:lnTo>
                <a:cubicBezTo>
                  <a:pt x="3921117" y="762324"/>
                  <a:pt x="3835913" y="847529"/>
                  <a:pt x="3835913" y="952824"/>
                </a:cubicBezTo>
                <a:cubicBezTo>
                  <a:pt x="3835913" y="1058119"/>
                  <a:pt x="3921117" y="1143324"/>
                  <a:pt x="4026412" y="1143324"/>
                </a:cubicBezTo>
                <a:lnTo>
                  <a:pt x="5550409" y="1143324"/>
                </a:lnTo>
                <a:cubicBezTo>
                  <a:pt x="5655704" y="1143324"/>
                  <a:pt x="5740908" y="1058119"/>
                  <a:pt x="5740908" y="952824"/>
                </a:cubicBezTo>
                <a:cubicBezTo>
                  <a:pt x="5740908" y="847529"/>
                  <a:pt x="5655704" y="762324"/>
                  <a:pt x="5550409" y="762324"/>
                </a:cubicBezTo>
                <a:moveTo>
                  <a:pt x="2477016" y="762324"/>
                </a:moveTo>
                <a:cubicBezTo>
                  <a:pt x="2371810" y="762324"/>
                  <a:pt x="2286517" y="847617"/>
                  <a:pt x="2286517" y="952824"/>
                </a:cubicBezTo>
                <a:cubicBezTo>
                  <a:pt x="2286517" y="1058056"/>
                  <a:pt x="2371810" y="1143324"/>
                  <a:pt x="2477016" y="1143324"/>
                </a:cubicBezTo>
                <a:cubicBezTo>
                  <a:pt x="2582223" y="1143324"/>
                  <a:pt x="2667516" y="1058056"/>
                  <a:pt x="2667516" y="952824"/>
                </a:cubicBezTo>
                <a:cubicBezTo>
                  <a:pt x="2667516" y="847617"/>
                  <a:pt x="2582223" y="762324"/>
                  <a:pt x="2477016" y="762324"/>
                </a:cubicBezTo>
                <a:moveTo>
                  <a:pt x="1715018" y="762324"/>
                </a:moveTo>
                <a:cubicBezTo>
                  <a:pt x="1609812" y="762324"/>
                  <a:pt x="1524519" y="847617"/>
                  <a:pt x="1524519" y="952824"/>
                </a:cubicBezTo>
                <a:cubicBezTo>
                  <a:pt x="1524519" y="1058056"/>
                  <a:pt x="1609812" y="1143324"/>
                  <a:pt x="1715018" y="1143324"/>
                </a:cubicBezTo>
                <a:cubicBezTo>
                  <a:pt x="1820225" y="1143324"/>
                  <a:pt x="1905518" y="1058056"/>
                  <a:pt x="1905518" y="952824"/>
                </a:cubicBezTo>
                <a:cubicBezTo>
                  <a:pt x="1905518" y="847617"/>
                  <a:pt x="1820225" y="762324"/>
                  <a:pt x="1715018" y="762324"/>
                </a:cubicBezTo>
                <a:moveTo>
                  <a:pt x="953020" y="762324"/>
                </a:moveTo>
                <a:cubicBezTo>
                  <a:pt x="847813" y="762324"/>
                  <a:pt x="762520" y="847617"/>
                  <a:pt x="762520" y="952824"/>
                </a:cubicBezTo>
                <a:cubicBezTo>
                  <a:pt x="762520" y="1058056"/>
                  <a:pt x="847813" y="1143324"/>
                  <a:pt x="953020" y="1143324"/>
                </a:cubicBezTo>
                <a:cubicBezTo>
                  <a:pt x="1058227" y="1143324"/>
                  <a:pt x="1143520" y="1058056"/>
                  <a:pt x="1143520" y="952824"/>
                </a:cubicBezTo>
                <a:cubicBezTo>
                  <a:pt x="1143520" y="847617"/>
                  <a:pt x="1058227" y="762324"/>
                  <a:pt x="953020" y="762324"/>
                </a:cubicBezTo>
                <a:moveTo>
                  <a:pt x="5931408" y="1905322"/>
                </a:moveTo>
                <a:lnTo>
                  <a:pt x="572021" y="1905322"/>
                </a:lnTo>
                <a:cubicBezTo>
                  <a:pt x="256884" y="1905322"/>
                  <a:pt x="522" y="1648960"/>
                  <a:pt x="522" y="1333823"/>
                </a:cubicBezTo>
                <a:lnTo>
                  <a:pt x="522" y="571825"/>
                </a:lnTo>
                <a:cubicBezTo>
                  <a:pt x="522" y="256688"/>
                  <a:pt x="256884" y="326"/>
                  <a:pt x="572021" y="326"/>
                </a:cubicBezTo>
                <a:lnTo>
                  <a:pt x="5931408" y="326"/>
                </a:lnTo>
                <a:cubicBezTo>
                  <a:pt x="6246545" y="326"/>
                  <a:pt x="6502906" y="256688"/>
                  <a:pt x="6502906" y="571825"/>
                </a:cubicBezTo>
                <a:lnTo>
                  <a:pt x="6502906" y="1333823"/>
                </a:lnTo>
                <a:cubicBezTo>
                  <a:pt x="6502906" y="1648960"/>
                  <a:pt x="6246545" y="1905322"/>
                  <a:pt x="5931408" y="1905322"/>
                </a:cubicBezTo>
              </a:path>
            </a:pathLst>
          </a:custGeom>
          <a:solidFill>
            <a:srgbClr val="C03BC4">
              <a:lumMod val="20000"/>
              <a:lumOff val="80000"/>
            </a:srgbClr>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68" name="Freeform: Shape 367">
            <a:extLst>
              <a:ext uri="{FF2B5EF4-FFF2-40B4-BE49-F238E27FC236}">
                <a16:creationId xmlns:a16="http://schemas.microsoft.com/office/drawing/2014/main" id="{42FB288B-07AD-EF61-08DA-DBC9CCC98A34}"/>
              </a:ext>
            </a:extLst>
          </p:cNvPr>
          <p:cNvSpPr/>
          <p:nvPr/>
        </p:nvSpPr>
        <p:spPr>
          <a:xfrm flipV="1">
            <a:off x="5792293" y="4553875"/>
            <a:ext cx="608482" cy="178266"/>
          </a:xfrm>
          <a:custGeom>
            <a:avLst/>
            <a:gdLst>
              <a:gd name="connsiteX0" fmla="*/ 5550409 w 6502383"/>
              <a:gd name="connsiteY0" fmla="*/ 762566 h 1904995"/>
              <a:gd name="connsiteX1" fmla="*/ 4026412 w 6502383"/>
              <a:gd name="connsiteY1" fmla="*/ 762566 h 1904995"/>
              <a:gd name="connsiteX2" fmla="*/ 3835913 w 6502383"/>
              <a:gd name="connsiteY2" fmla="*/ 953065 h 1904995"/>
              <a:gd name="connsiteX3" fmla="*/ 4026412 w 6502383"/>
              <a:gd name="connsiteY3" fmla="*/ 1143565 h 1904995"/>
              <a:gd name="connsiteX4" fmla="*/ 5550409 w 6502383"/>
              <a:gd name="connsiteY4" fmla="*/ 1143565 h 1904995"/>
              <a:gd name="connsiteX5" fmla="*/ 5740908 w 6502383"/>
              <a:gd name="connsiteY5" fmla="*/ 953065 h 1904995"/>
              <a:gd name="connsiteX6" fmla="*/ 5550409 w 6502383"/>
              <a:gd name="connsiteY6" fmla="*/ 762566 h 1904995"/>
              <a:gd name="connsiteX7" fmla="*/ 2477016 w 6502383"/>
              <a:gd name="connsiteY7" fmla="*/ 762566 h 1904995"/>
              <a:gd name="connsiteX8" fmla="*/ 2286517 w 6502383"/>
              <a:gd name="connsiteY8" fmla="*/ 953065 h 1904995"/>
              <a:gd name="connsiteX9" fmla="*/ 2477016 w 6502383"/>
              <a:gd name="connsiteY9" fmla="*/ 1143565 h 1904995"/>
              <a:gd name="connsiteX10" fmla="*/ 2667516 w 6502383"/>
              <a:gd name="connsiteY10" fmla="*/ 953065 h 1904995"/>
              <a:gd name="connsiteX11" fmla="*/ 2477016 w 6502383"/>
              <a:gd name="connsiteY11" fmla="*/ 762566 h 1904995"/>
              <a:gd name="connsiteX12" fmla="*/ 1715018 w 6502383"/>
              <a:gd name="connsiteY12" fmla="*/ 762566 h 1904995"/>
              <a:gd name="connsiteX13" fmla="*/ 1524519 w 6502383"/>
              <a:gd name="connsiteY13" fmla="*/ 953065 h 1904995"/>
              <a:gd name="connsiteX14" fmla="*/ 1715018 w 6502383"/>
              <a:gd name="connsiteY14" fmla="*/ 1143565 h 1904995"/>
              <a:gd name="connsiteX15" fmla="*/ 1905518 w 6502383"/>
              <a:gd name="connsiteY15" fmla="*/ 953065 h 1904995"/>
              <a:gd name="connsiteX16" fmla="*/ 1715018 w 6502383"/>
              <a:gd name="connsiteY16" fmla="*/ 762566 h 1904995"/>
              <a:gd name="connsiteX17" fmla="*/ 953020 w 6502383"/>
              <a:gd name="connsiteY17" fmla="*/ 762566 h 1904995"/>
              <a:gd name="connsiteX18" fmla="*/ 762520 w 6502383"/>
              <a:gd name="connsiteY18" fmla="*/ 953065 h 1904995"/>
              <a:gd name="connsiteX19" fmla="*/ 953020 w 6502383"/>
              <a:gd name="connsiteY19" fmla="*/ 1143565 h 1904995"/>
              <a:gd name="connsiteX20" fmla="*/ 1143520 w 6502383"/>
              <a:gd name="connsiteY20" fmla="*/ 953065 h 1904995"/>
              <a:gd name="connsiteX21" fmla="*/ 953020 w 6502383"/>
              <a:gd name="connsiteY21" fmla="*/ 762566 h 1904995"/>
              <a:gd name="connsiteX22" fmla="*/ 5931408 w 6502383"/>
              <a:gd name="connsiteY22" fmla="*/ 1905563 h 1904995"/>
              <a:gd name="connsiteX23" fmla="*/ 572021 w 6502383"/>
              <a:gd name="connsiteY23" fmla="*/ 1905563 h 1904995"/>
              <a:gd name="connsiteX24" fmla="*/ 522 w 6502383"/>
              <a:gd name="connsiteY24" fmla="*/ 1334064 h 1904995"/>
              <a:gd name="connsiteX25" fmla="*/ 522 w 6502383"/>
              <a:gd name="connsiteY25" fmla="*/ 572066 h 1904995"/>
              <a:gd name="connsiteX26" fmla="*/ 572021 w 6502383"/>
              <a:gd name="connsiteY26" fmla="*/ 568 h 1904995"/>
              <a:gd name="connsiteX27" fmla="*/ 5931408 w 6502383"/>
              <a:gd name="connsiteY27" fmla="*/ 568 h 1904995"/>
              <a:gd name="connsiteX28" fmla="*/ 6502906 w 6502383"/>
              <a:gd name="connsiteY28" fmla="*/ 572066 h 1904995"/>
              <a:gd name="connsiteX29" fmla="*/ 6502906 w 6502383"/>
              <a:gd name="connsiteY29" fmla="*/ 1334064 h 1904995"/>
              <a:gd name="connsiteX30" fmla="*/ 5931408 w 6502383"/>
              <a:gd name="connsiteY30" fmla="*/ 1905563 h 190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502383" h="1904995">
                <a:moveTo>
                  <a:pt x="5550409" y="762566"/>
                </a:moveTo>
                <a:lnTo>
                  <a:pt x="4026412" y="762566"/>
                </a:lnTo>
                <a:cubicBezTo>
                  <a:pt x="3921117" y="762566"/>
                  <a:pt x="3835913" y="847770"/>
                  <a:pt x="3835913" y="953065"/>
                </a:cubicBezTo>
                <a:cubicBezTo>
                  <a:pt x="3835913" y="1058361"/>
                  <a:pt x="3921117" y="1143565"/>
                  <a:pt x="4026412" y="1143565"/>
                </a:cubicBezTo>
                <a:lnTo>
                  <a:pt x="5550409" y="1143565"/>
                </a:lnTo>
                <a:cubicBezTo>
                  <a:pt x="5655704" y="1143565"/>
                  <a:pt x="5740908" y="1058361"/>
                  <a:pt x="5740908" y="953065"/>
                </a:cubicBezTo>
                <a:cubicBezTo>
                  <a:pt x="5740908" y="847770"/>
                  <a:pt x="5655704" y="762566"/>
                  <a:pt x="5550409" y="762566"/>
                </a:cubicBezTo>
                <a:moveTo>
                  <a:pt x="2477016" y="762566"/>
                </a:moveTo>
                <a:cubicBezTo>
                  <a:pt x="2371810" y="762566"/>
                  <a:pt x="2286517" y="847859"/>
                  <a:pt x="2286517" y="953065"/>
                </a:cubicBezTo>
                <a:cubicBezTo>
                  <a:pt x="2286517" y="1058297"/>
                  <a:pt x="2371810" y="1143565"/>
                  <a:pt x="2477016" y="1143565"/>
                </a:cubicBezTo>
                <a:cubicBezTo>
                  <a:pt x="2582223" y="1143565"/>
                  <a:pt x="2667516" y="1058297"/>
                  <a:pt x="2667516" y="953065"/>
                </a:cubicBezTo>
                <a:cubicBezTo>
                  <a:pt x="2667516" y="847859"/>
                  <a:pt x="2582223" y="762566"/>
                  <a:pt x="2477016" y="762566"/>
                </a:cubicBezTo>
                <a:moveTo>
                  <a:pt x="1715018" y="762566"/>
                </a:moveTo>
                <a:cubicBezTo>
                  <a:pt x="1609812" y="762566"/>
                  <a:pt x="1524519" y="847859"/>
                  <a:pt x="1524519" y="953065"/>
                </a:cubicBezTo>
                <a:cubicBezTo>
                  <a:pt x="1524519" y="1058297"/>
                  <a:pt x="1609812" y="1143565"/>
                  <a:pt x="1715018" y="1143565"/>
                </a:cubicBezTo>
                <a:cubicBezTo>
                  <a:pt x="1820225" y="1143565"/>
                  <a:pt x="1905518" y="1058297"/>
                  <a:pt x="1905518" y="953065"/>
                </a:cubicBezTo>
                <a:cubicBezTo>
                  <a:pt x="1905518" y="847859"/>
                  <a:pt x="1820225" y="762566"/>
                  <a:pt x="1715018" y="762566"/>
                </a:cubicBezTo>
                <a:moveTo>
                  <a:pt x="953020" y="762566"/>
                </a:moveTo>
                <a:cubicBezTo>
                  <a:pt x="847813" y="762566"/>
                  <a:pt x="762520" y="847859"/>
                  <a:pt x="762520" y="953065"/>
                </a:cubicBezTo>
                <a:cubicBezTo>
                  <a:pt x="762520" y="1058297"/>
                  <a:pt x="847813" y="1143565"/>
                  <a:pt x="953020" y="1143565"/>
                </a:cubicBezTo>
                <a:cubicBezTo>
                  <a:pt x="1058227" y="1143565"/>
                  <a:pt x="1143520" y="1058297"/>
                  <a:pt x="1143520" y="953065"/>
                </a:cubicBezTo>
                <a:cubicBezTo>
                  <a:pt x="1143520" y="847859"/>
                  <a:pt x="1058227" y="762566"/>
                  <a:pt x="953020" y="762566"/>
                </a:cubicBezTo>
                <a:moveTo>
                  <a:pt x="5931408" y="1905563"/>
                </a:moveTo>
                <a:lnTo>
                  <a:pt x="572021" y="1905563"/>
                </a:lnTo>
                <a:cubicBezTo>
                  <a:pt x="256884" y="1905563"/>
                  <a:pt x="522" y="1649201"/>
                  <a:pt x="522" y="1334064"/>
                </a:cubicBezTo>
                <a:lnTo>
                  <a:pt x="522" y="572066"/>
                </a:lnTo>
                <a:cubicBezTo>
                  <a:pt x="522" y="256929"/>
                  <a:pt x="256884" y="568"/>
                  <a:pt x="572021" y="568"/>
                </a:cubicBezTo>
                <a:lnTo>
                  <a:pt x="5931408" y="568"/>
                </a:lnTo>
                <a:cubicBezTo>
                  <a:pt x="6246545" y="568"/>
                  <a:pt x="6502906" y="256929"/>
                  <a:pt x="6502906" y="572066"/>
                </a:cubicBezTo>
                <a:lnTo>
                  <a:pt x="6502906" y="1334064"/>
                </a:lnTo>
                <a:cubicBezTo>
                  <a:pt x="6502906" y="1649201"/>
                  <a:pt x="6246545" y="1905563"/>
                  <a:pt x="5931408" y="1905563"/>
                </a:cubicBezTo>
              </a:path>
            </a:pathLst>
          </a:custGeom>
          <a:solidFill>
            <a:srgbClr val="FFFFFF"/>
          </a:solidFill>
          <a:ln w="28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69" name="TextBox 368">
            <a:extLst>
              <a:ext uri="{FF2B5EF4-FFF2-40B4-BE49-F238E27FC236}">
                <a16:creationId xmlns:a16="http://schemas.microsoft.com/office/drawing/2014/main" id="{37433838-AC56-AE07-651E-1943F4BAD853}"/>
              </a:ext>
            </a:extLst>
          </p:cNvPr>
          <p:cNvSpPr txBox="1"/>
          <p:nvPr/>
        </p:nvSpPr>
        <p:spPr>
          <a:xfrm>
            <a:off x="4737931" y="4797067"/>
            <a:ext cx="2703656" cy="307777"/>
          </a:xfrm>
          <a:prstGeom prst="rect">
            <a:avLst/>
          </a:prstGeom>
          <a:noFill/>
        </p:spPr>
        <p:txBody>
          <a:bodyPr wrap="square">
            <a:spAutoFit/>
          </a:bodyPr>
          <a:lstStyle/>
          <a:p>
            <a:pPr algn="ctr" defTabSz="932472" fontAlgn="base">
              <a:spcBef>
                <a:spcPct val="0"/>
              </a:spcBef>
              <a:spcAft>
                <a:spcPct val="0"/>
              </a:spcAft>
              <a:defRPr/>
            </a:pPr>
            <a:r>
              <a:rPr lang="en-GB" sz="1400" kern="0" noProof="0">
                <a:solidFill>
                  <a:srgbClr val="FFFFFF"/>
                </a:solidFill>
                <a:latin typeface="Segoe UI Semibold"/>
                <a:cs typeface="Segoe UI" pitchFamily="34" charset="0"/>
              </a:rPr>
              <a:t>PAYG</a:t>
            </a:r>
            <a:endParaRPr lang="en-GB" sz="1600" kern="0" noProof="0">
              <a:solidFill>
                <a:srgbClr val="FFFFFF"/>
              </a:solidFill>
              <a:latin typeface="Segoe UI Semibold"/>
              <a:cs typeface="Segoe UI" pitchFamily="34" charset="0"/>
            </a:endParaRPr>
          </a:p>
        </p:txBody>
      </p:sp>
      <p:sp>
        <p:nvSpPr>
          <p:cNvPr id="370" name="Rounded Rectangle 38">
            <a:extLst>
              <a:ext uri="{FF2B5EF4-FFF2-40B4-BE49-F238E27FC236}">
                <a16:creationId xmlns:a16="http://schemas.microsoft.com/office/drawing/2014/main" id="{5BF1AE64-2ED4-53D4-FDD3-97184DD7942B}"/>
              </a:ext>
              <a:ext uri="{C183D7F6-B498-43B3-948B-1728B52AA6E4}">
                <adec:decorative xmlns:adec="http://schemas.microsoft.com/office/drawing/2017/decorative" val="1"/>
              </a:ext>
            </a:extLst>
          </p:cNvPr>
          <p:cNvSpPr/>
          <p:nvPr/>
        </p:nvSpPr>
        <p:spPr bwMode="auto">
          <a:xfrm>
            <a:off x="5141991" y="3594639"/>
            <a:ext cx="1936225" cy="215444"/>
          </a:xfrm>
          <a:prstGeom prst="rect">
            <a:avLst/>
          </a:prstGeom>
          <a:no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932472" fontAlgn="base">
              <a:spcBef>
                <a:spcPct val="0"/>
              </a:spcBef>
              <a:spcAft>
                <a:spcPct val="0"/>
              </a:spcAft>
              <a:defRPr/>
            </a:pPr>
            <a:r>
              <a:rPr lang="en-GB" sz="1400" kern="0" noProof="0">
                <a:solidFill>
                  <a:srgbClr val="FFFFFF"/>
                </a:solidFill>
                <a:latin typeface="Segoe UI Semibold"/>
                <a:cs typeface="Segoe UI" pitchFamily="34" charset="0"/>
              </a:rPr>
              <a:t>PTU</a:t>
            </a:r>
            <a:endParaRPr lang="en-GB" sz="1600" kern="0" noProof="0">
              <a:solidFill>
                <a:srgbClr val="FFFFFF"/>
              </a:solidFill>
              <a:latin typeface="Segoe UI Semibold"/>
              <a:cs typeface="Segoe UI" pitchFamily="34" charset="0"/>
            </a:endParaRPr>
          </a:p>
        </p:txBody>
      </p:sp>
      <p:grpSp>
        <p:nvGrpSpPr>
          <p:cNvPr id="371" name="Group 370">
            <a:extLst>
              <a:ext uri="{FF2B5EF4-FFF2-40B4-BE49-F238E27FC236}">
                <a16:creationId xmlns:a16="http://schemas.microsoft.com/office/drawing/2014/main" id="{8664DFDB-1704-7BEE-1567-4E991C933337}"/>
              </a:ext>
            </a:extLst>
          </p:cNvPr>
          <p:cNvGrpSpPr/>
          <p:nvPr/>
        </p:nvGrpSpPr>
        <p:grpSpPr>
          <a:xfrm>
            <a:off x="656511" y="1723688"/>
            <a:ext cx="2417148" cy="4166270"/>
            <a:chOff x="656511" y="1723688"/>
            <a:chExt cx="2417148" cy="4166270"/>
          </a:xfrm>
        </p:grpSpPr>
        <p:sp>
          <p:nvSpPr>
            <p:cNvPr id="372" name="Rectangle: Rounded Corners 371">
              <a:extLst>
                <a:ext uri="{FF2B5EF4-FFF2-40B4-BE49-F238E27FC236}">
                  <a16:creationId xmlns:a16="http://schemas.microsoft.com/office/drawing/2014/main" id="{D9BEC4F9-793B-0860-FFF8-92A2D2115E05}"/>
                </a:ext>
              </a:extLst>
            </p:cNvPr>
            <p:cNvSpPr/>
            <p:nvPr/>
          </p:nvSpPr>
          <p:spPr bwMode="auto">
            <a:xfrm>
              <a:off x="656511" y="2201878"/>
              <a:ext cx="2417148" cy="3688080"/>
            </a:xfrm>
            <a:prstGeom prst="roundRect">
              <a:avLst>
                <a:gd name="adj" fmla="val 6300"/>
              </a:avLst>
            </a:prstGeom>
            <a:gradFill flip="none" rotWithShape="1">
              <a:gsLst>
                <a:gs pos="0">
                  <a:srgbClr val="FFFFFF">
                    <a:alpha val="70000"/>
                  </a:srgbClr>
                </a:gs>
                <a:gs pos="55132">
                  <a:srgbClr val="FFFFFF"/>
                </a:gs>
                <a:gs pos="21000">
                  <a:srgbClr val="FFFFFF"/>
                </a:gs>
                <a:gs pos="89000">
                  <a:srgbClr val="FCF5FC"/>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373" name="Rectangle: Rounded Corners 372">
              <a:extLst>
                <a:ext uri="{FF2B5EF4-FFF2-40B4-BE49-F238E27FC236}">
                  <a16:creationId xmlns:a16="http://schemas.microsoft.com/office/drawing/2014/main" id="{A6ACEDD7-F144-0730-771B-26AD8B6DDC82}"/>
                </a:ext>
              </a:extLst>
            </p:cNvPr>
            <p:cNvSpPr/>
            <p:nvPr/>
          </p:nvSpPr>
          <p:spPr bwMode="auto">
            <a:xfrm>
              <a:off x="787659" y="2339038"/>
              <a:ext cx="2154852" cy="3550920"/>
            </a:xfrm>
            <a:prstGeom prst="roundRect">
              <a:avLst>
                <a:gd name="adj" fmla="val 6300"/>
              </a:avLst>
            </a:prstGeom>
            <a:gradFill flip="none" rotWithShape="1">
              <a:gsLst>
                <a:gs pos="0">
                  <a:srgbClr val="FFFFFF">
                    <a:alpha val="70000"/>
                  </a:srgbClr>
                </a:gs>
                <a:gs pos="55132">
                  <a:srgbClr val="FFFFFF">
                    <a:alpha val="28000"/>
                  </a:srgbClr>
                </a:gs>
                <a:gs pos="21000">
                  <a:srgbClr val="FFFFFF">
                    <a:alpha val="50000"/>
                  </a:srgbClr>
                </a:gs>
                <a:gs pos="89000">
                  <a:srgbClr val="FCF5FC">
                    <a:alpha val="0"/>
                  </a:srgbClr>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374" name="TextBox 373">
              <a:extLst>
                <a:ext uri="{FF2B5EF4-FFF2-40B4-BE49-F238E27FC236}">
                  <a16:creationId xmlns:a16="http://schemas.microsoft.com/office/drawing/2014/main" id="{30A5F6F0-58C7-2DC1-EC84-80981A4C0588}"/>
                </a:ext>
                <a:ext uri="{C183D7F6-B498-43B3-948B-1728B52AA6E4}">
                  <adec:decorative xmlns:adec="http://schemas.microsoft.com/office/drawing/2017/decorative" val="1"/>
                </a:ext>
              </a:extLst>
            </p:cNvPr>
            <p:cNvSpPr txBox="1"/>
            <p:nvPr/>
          </p:nvSpPr>
          <p:spPr>
            <a:xfrm>
              <a:off x="856919" y="2957449"/>
              <a:ext cx="101513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Conversational Agents</a:t>
              </a:r>
            </a:p>
          </p:txBody>
        </p:sp>
        <p:sp>
          <p:nvSpPr>
            <p:cNvPr id="375" name="TextBox 374">
              <a:extLst>
                <a:ext uri="{FF2B5EF4-FFF2-40B4-BE49-F238E27FC236}">
                  <a16:creationId xmlns:a16="http://schemas.microsoft.com/office/drawing/2014/main" id="{68364AFD-50AC-BDE8-098C-4160D6316277}"/>
                </a:ext>
                <a:ext uri="{C183D7F6-B498-43B3-948B-1728B52AA6E4}">
                  <adec:decorative xmlns:adec="http://schemas.microsoft.com/office/drawing/2017/decorative" val="1"/>
                </a:ext>
              </a:extLst>
            </p:cNvPr>
            <p:cNvSpPr txBox="1"/>
            <p:nvPr/>
          </p:nvSpPr>
          <p:spPr>
            <a:xfrm>
              <a:off x="856919" y="4106512"/>
              <a:ext cx="101513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Personalized Content</a:t>
              </a:r>
            </a:p>
          </p:txBody>
        </p:sp>
        <p:sp>
          <p:nvSpPr>
            <p:cNvPr id="376" name="TextBox 375">
              <a:extLst>
                <a:ext uri="{FF2B5EF4-FFF2-40B4-BE49-F238E27FC236}">
                  <a16:creationId xmlns:a16="http://schemas.microsoft.com/office/drawing/2014/main" id="{419FBBAB-9F7F-B5D2-6737-36D2FBB816A2}"/>
                </a:ext>
                <a:ext uri="{C183D7F6-B498-43B3-948B-1728B52AA6E4}">
                  <adec:decorative xmlns:adec="http://schemas.microsoft.com/office/drawing/2017/decorative" val="1"/>
                </a:ext>
              </a:extLst>
            </p:cNvPr>
            <p:cNvSpPr txBox="1"/>
            <p:nvPr/>
          </p:nvSpPr>
          <p:spPr>
            <a:xfrm>
              <a:off x="1930005" y="4106512"/>
              <a:ext cx="97397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Voice Assistants</a:t>
              </a:r>
            </a:p>
          </p:txBody>
        </p:sp>
        <p:sp>
          <p:nvSpPr>
            <p:cNvPr id="377" name="TextBox 376">
              <a:extLst>
                <a:ext uri="{FF2B5EF4-FFF2-40B4-BE49-F238E27FC236}">
                  <a16:creationId xmlns:a16="http://schemas.microsoft.com/office/drawing/2014/main" id="{B542BEEE-A901-5499-C5E3-C9C3D38632D0}"/>
                </a:ext>
                <a:ext uri="{C183D7F6-B498-43B3-948B-1728B52AA6E4}">
                  <adec:decorative xmlns:adec="http://schemas.microsoft.com/office/drawing/2017/decorative" val="1"/>
                </a:ext>
              </a:extLst>
            </p:cNvPr>
            <p:cNvSpPr txBox="1"/>
            <p:nvPr/>
          </p:nvSpPr>
          <p:spPr>
            <a:xfrm>
              <a:off x="1930005" y="2957449"/>
              <a:ext cx="97397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Chat on your Data</a:t>
              </a:r>
            </a:p>
          </p:txBody>
        </p:sp>
        <p:sp>
          <p:nvSpPr>
            <p:cNvPr id="378" name="TextBox 377">
              <a:extLst>
                <a:ext uri="{FF2B5EF4-FFF2-40B4-BE49-F238E27FC236}">
                  <a16:creationId xmlns:a16="http://schemas.microsoft.com/office/drawing/2014/main" id="{7ADC465F-7BC8-76DC-6460-CF2D120D1E73}"/>
                </a:ext>
                <a:ext uri="{C183D7F6-B498-43B3-948B-1728B52AA6E4}">
                  <adec:decorative xmlns:adec="http://schemas.microsoft.com/office/drawing/2017/decorative" val="1"/>
                </a:ext>
              </a:extLst>
            </p:cNvPr>
            <p:cNvSpPr txBox="1"/>
            <p:nvPr/>
          </p:nvSpPr>
          <p:spPr>
            <a:xfrm>
              <a:off x="856919" y="5255574"/>
              <a:ext cx="101513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Content Generation</a:t>
              </a:r>
            </a:p>
          </p:txBody>
        </p:sp>
        <p:sp>
          <p:nvSpPr>
            <p:cNvPr id="379" name="TextBox 378">
              <a:extLst>
                <a:ext uri="{FF2B5EF4-FFF2-40B4-BE49-F238E27FC236}">
                  <a16:creationId xmlns:a16="http://schemas.microsoft.com/office/drawing/2014/main" id="{7A7B0984-8B0B-39CE-D989-C2A523FC0C7F}"/>
                </a:ext>
                <a:ext uri="{C183D7F6-B498-43B3-948B-1728B52AA6E4}">
                  <adec:decorative xmlns:adec="http://schemas.microsoft.com/office/drawing/2017/decorative" val="1"/>
                </a:ext>
              </a:extLst>
            </p:cNvPr>
            <p:cNvSpPr txBox="1"/>
            <p:nvPr/>
          </p:nvSpPr>
          <p:spPr>
            <a:xfrm>
              <a:off x="1930005" y="5248765"/>
              <a:ext cx="97397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Your own Copilot</a:t>
              </a:r>
            </a:p>
          </p:txBody>
        </p:sp>
        <p:grpSp>
          <p:nvGrpSpPr>
            <p:cNvPr id="380" name="Group 379">
              <a:extLst>
                <a:ext uri="{FF2B5EF4-FFF2-40B4-BE49-F238E27FC236}">
                  <a16:creationId xmlns:a16="http://schemas.microsoft.com/office/drawing/2014/main" id="{179814E9-1D60-747E-887B-F07869D05ABF}"/>
                </a:ext>
              </a:extLst>
            </p:cNvPr>
            <p:cNvGrpSpPr/>
            <p:nvPr/>
          </p:nvGrpSpPr>
          <p:grpSpPr>
            <a:xfrm>
              <a:off x="1244483" y="2493247"/>
              <a:ext cx="240010" cy="310522"/>
              <a:chOff x="1244483" y="2493247"/>
              <a:chExt cx="240010" cy="310522"/>
            </a:xfrm>
          </p:grpSpPr>
          <p:sp>
            <p:nvSpPr>
              <p:cNvPr id="409" name="Freeform: Shape 408">
                <a:extLst>
                  <a:ext uri="{FF2B5EF4-FFF2-40B4-BE49-F238E27FC236}">
                    <a16:creationId xmlns:a16="http://schemas.microsoft.com/office/drawing/2014/main" id="{EDFF54FA-E90E-2587-B0C5-9732D21576A8}"/>
                  </a:ext>
                </a:extLst>
              </p:cNvPr>
              <p:cNvSpPr/>
              <p:nvPr/>
            </p:nvSpPr>
            <p:spPr>
              <a:xfrm>
                <a:off x="1244483" y="2524462"/>
                <a:ext cx="240010" cy="279307"/>
              </a:xfrm>
              <a:custGeom>
                <a:avLst/>
                <a:gdLst>
                  <a:gd name="connsiteX0" fmla="*/ 3365760 w 3392437"/>
                  <a:gd name="connsiteY0" fmla="*/ 3147190 h 3947912"/>
                  <a:gd name="connsiteX1" fmla="*/ 2596981 w 3392437"/>
                  <a:gd name="connsiteY1" fmla="*/ 2549246 h 3947912"/>
                  <a:gd name="connsiteX2" fmla="*/ 2148559 w 3392437"/>
                  <a:gd name="connsiteY2" fmla="*/ 2282436 h 3947912"/>
                  <a:gd name="connsiteX3" fmla="*/ 2147974 w 3392437"/>
                  <a:gd name="connsiteY3" fmla="*/ 2141253 h 3947912"/>
                  <a:gd name="connsiteX4" fmla="*/ 2096426 w 3392437"/>
                  <a:gd name="connsiteY4" fmla="*/ 2146373 h 3947912"/>
                  <a:gd name="connsiteX5" fmla="*/ 1914570 w 3392437"/>
                  <a:gd name="connsiteY5" fmla="*/ 2146373 h 3947912"/>
                  <a:gd name="connsiteX6" fmla="*/ 1651418 w 3392437"/>
                  <a:gd name="connsiteY6" fmla="*/ 1883173 h 3947912"/>
                  <a:gd name="connsiteX7" fmla="*/ 1914570 w 3392437"/>
                  <a:gd name="connsiteY7" fmla="*/ 1620313 h 3947912"/>
                  <a:gd name="connsiteX8" fmla="*/ 2096426 w 3392437"/>
                  <a:gd name="connsiteY8" fmla="*/ 1620313 h 3947912"/>
                  <a:gd name="connsiteX9" fmla="*/ 2259409 w 3392437"/>
                  <a:gd name="connsiteY9" fmla="*/ 1676933 h 3947912"/>
                  <a:gd name="connsiteX10" fmla="*/ 2452286 w 3392437"/>
                  <a:gd name="connsiteY10" fmla="*/ 1634700 h 3947912"/>
                  <a:gd name="connsiteX11" fmla="*/ 2607759 w 3392437"/>
                  <a:gd name="connsiteY11" fmla="*/ 1097276 h 3947912"/>
                  <a:gd name="connsiteX12" fmla="*/ 1572170 w 3392437"/>
                  <a:gd name="connsiteY12" fmla="*/ 8287 h 3947912"/>
                  <a:gd name="connsiteX13" fmla="*/ 792711 w 3392437"/>
                  <a:gd name="connsiteY13" fmla="*/ 862214 h 3947912"/>
                  <a:gd name="connsiteX14" fmla="*/ 1112970 w 3392437"/>
                  <a:gd name="connsiteY14" fmla="*/ 1908678 h 3947912"/>
                  <a:gd name="connsiteX15" fmla="*/ 1262493 w 3392437"/>
                  <a:gd name="connsiteY15" fmla="*/ 2218258 h 3947912"/>
                  <a:gd name="connsiteX16" fmla="*/ 963594 w 3392437"/>
                  <a:gd name="connsiteY16" fmla="*/ 2463902 h 3947912"/>
                  <a:gd name="connsiteX17" fmla="*/ 600663 w 3392437"/>
                  <a:gd name="connsiteY17" fmla="*/ 2645368 h 3947912"/>
                  <a:gd name="connsiteX18" fmla="*/ 24127 w 3392437"/>
                  <a:gd name="connsiteY18" fmla="*/ 3168502 h 3947912"/>
                  <a:gd name="connsiteX19" fmla="*/ 718096 w 3392437"/>
                  <a:gd name="connsiteY19" fmla="*/ 3883929 h 3947912"/>
                  <a:gd name="connsiteX20" fmla="*/ 1700235 w 3392437"/>
                  <a:gd name="connsiteY20" fmla="*/ 3947912 h 3947912"/>
                  <a:gd name="connsiteX21" fmla="*/ 3365760 w 3392437"/>
                  <a:gd name="connsiteY21" fmla="*/ 3520900 h 3947912"/>
                  <a:gd name="connsiteX22" fmla="*/ 3365760 w 3392437"/>
                  <a:gd name="connsiteY22" fmla="*/ 3147190 h 394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92437" h="3947912">
                    <a:moveTo>
                      <a:pt x="3365760" y="3147190"/>
                    </a:moveTo>
                    <a:cubicBezTo>
                      <a:pt x="3267541" y="2854875"/>
                      <a:pt x="2876080" y="2671897"/>
                      <a:pt x="2596981" y="2549246"/>
                    </a:cubicBezTo>
                    <a:cubicBezTo>
                      <a:pt x="2487643" y="2501356"/>
                      <a:pt x="2184940" y="2420108"/>
                      <a:pt x="2148559" y="2282436"/>
                    </a:cubicBezTo>
                    <a:cubicBezTo>
                      <a:pt x="2135538" y="2232839"/>
                      <a:pt x="2137293" y="2186071"/>
                      <a:pt x="2147974" y="2141253"/>
                    </a:cubicBezTo>
                    <a:cubicBezTo>
                      <a:pt x="2131149" y="2144472"/>
                      <a:pt x="2114080" y="2146373"/>
                      <a:pt x="2096426" y="2146373"/>
                    </a:cubicBezTo>
                    <a:lnTo>
                      <a:pt x="1914570" y="2146373"/>
                    </a:lnTo>
                    <a:cubicBezTo>
                      <a:pt x="1769388" y="2146373"/>
                      <a:pt x="1651418" y="2028257"/>
                      <a:pt x="1651418" y="1883173"/>
                    </a:cubicBezTo>
                    <a:cubicBezTo>
                      <a:pt x="1651418" y="1738185"/>
                      <a:pt x="1769436" y="1620313"/>
                      <a:pt x="1914570" y="1620313"/>
                    </a:cubicBezTo>
                    <a:lnTo>
                      <a:pt x="2096426" y="1620313"/>
                    </a:lnTo>
                    <a:cubicBezTo>
                      <a:pt x="2156508" y="1620313"/>
                      <a:pt x="2213469" y="1640649"/>
                      <a:pt x="2259409" y="1676933"/>
                    </a:cubicBezTo>
                    <a:cubicBezTo>
                      <a:pt x="2326757" y="1667959"/>
                      <a:pt x="2391716" y="1653573"/>
                      <a:pt x="2452286" y="1634700"/>
                    </a:cubicBezTo>
                    <a:cubicBezTo>
                      <a:pt x="2531827" y="1468059"/>
                      <a:pt x="2593859" y="1268793"/>
                      <a:pt x="2607759" y="1097276"/>
                    </a:cubicBezTo>
                    <a:cubicBezTo>
                      <a:pt x="2667109" y="363415"/>
                      <a:pt x="2217224" y="-65938"/>
                      <a:pt x="1572170" y="8287"/>
                    </a:cubicBezTo>
                    <a:cubicBezTo>
                      <a:pt x="1103168" y="62273"/>
                      <a:pt x="822996" y="411988"/>
                      <a:pt x="792711" y="862214"/>
                    </a:cubicBezTo>
                    <a:cubicBezTo>
                      <a:pt x="762085" y="1321121"/>
                      <a:pt x="932236" y="1660059"/>
                      <a:pt x="1112970" y="1908678"/>
                    </a:cubicBezTo>
                    <a:cubicBezTo>
                      <a:pt x="1192121" y="2017382"/>
                      <a:pt x="1275270" y="2087267"/>
                      <a:pt x="1262493" y="2218258"/>
                    </a:cubicBezTo>
                    <a:cubicBezTo>
                      <a:pt x="1247668" y="2373145"/>
                      <a:pt x="1082051" y="2416305"/>
                      <a:pt x="963594" y="2463902"/>
                    </a:cubicBezTo>
                    <a:cubicBezTo>
                      <a:pt x="823240" y="2520278"/>
                      <a:pt x="672059" y="2605817"/>
                      <a:pt x="600663" y="2645368"/>
                    </a:cubicBezTo>
                    <a:cubicBezTo>
                      <a:pt x="354726" y="2781186"/>
                      <a:pt x="84795" y="2944754"/>
                      <a:pt x="24127" y="3168502"/>
                    </a:cubicBezTo>
                    <a:cubicBezTo>
                      <a:pt x="-110229" y="3664375"/>
                      <a:pt x="343509" y="3814580"/>
                      <a:pt x="718096" y="3883929"/>
                    </a:cubicBezTo>
                    <a:cubicBezTo>
                      <a:pt x="1039575" y="3943230"/>
                      <a:pt x="1402067" y="3947912"/>
                      <a:pt x="1700235" y="3947912"/>
                    </a:cubicBezTo>
                    <a:cubicBezTo>
                      <a:pt x="2239560" y="3947912"/>
                      <a:pt x="3209361" y="3926308"/>
                      <a:pt x="3365760" y="3520900"/>
                    </a:cubicBezTo>
                    <a:cubicBezTo>
                      <a:pt x="3410236" y="3405856"/>
                      <a:pt x="3391167" y="3222537"/>
                      <a:pt x="3365760" y="3147190"/>
                    </a:cubicBezTo>
                    <a:close/>
                  </a:path>
                </a:pathLst>
              </a:custGeom>
              <a:solidFill>
                <a:srgbClr val="0078D4"/>
              </a:solidFill>
              <a:ln w="48768"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410" name="Freeform: Shape 409">
                <a:extLst>
                  <a:ext uri="{FF2B5EF4-FFF2-40B4-BE49-F238E27FC236}">
                    <a16:creationId xmlns:a16="http://schemas.microsoft.com/office/drawing/2014/main" id="{9300160E-A028-100E-AB78-CBFF77377460}"/>
                  </a:ext>
                </a:extLst>
              </p:cNvPr>
              <p:cNvSpPr/>
              <p:nvPr/>
            </p:nvSpPr>
            <p:spPr>
              <a:xfrm>
                <a:off x="1257441" y="2493247"/>
                <a:ext cx="214092" cy="174161"/>
              </a:xfrm>
              <a:custGeom>
                <a:avLst/>
                <a:gdLst>
                  <a:gd name="connsiteX0" fmla="*/ 2028359 w 3026103"/>
                  <a:gd name="connsiteY0" fmla="*/ 2250302 h 2461711"/>
                  <a:gd name="connsiteX1" fmla="*/ 1913364 w 3026103"/>
                  <a:gd name="connsiteY1" fmla="*/ 2187733 h 2461711"/>
                  <a:gd name="connsiteX2" fmla="*/ 1731508 w 3026103"/>
                  <a:gd name="connsiteY2" fmla="*/ 2187733 h 2461711"/>
                  <a:gd name="connsiteX3" fmla="*/ 1594421 w 3026103"/>
                  <a:gd name="connsiteY3" fmla="*/ 2324527 h 2461711"/>
                  <a:gd name="connsiteX4" fmla="*/ 1731508 w 3026103"/>
                  <a:gd name="connsiteY4" fmla="*/ 2461711 h 2461711"/>
                  <a:gd name="connsiteX5" fmla="*/ 1913364 w 3026103"/>
                  <a:gd name="connsiteY5" fmla="*/ 2461711 h 2461711"/>
                  <a:gd name="connsiteX6" fmla="*/ 2034260 w 3026103"/>
                  <a:gd name="connsiteY6" fmla="*/ 2387633 h 2461711"/>
                  <a:gd name="connsiteX7" fmla="*/ 2663123 w 3026103"/>
                  <a:gd name="connsiteY7" fmla="*/ 2175882 h 2461711"/>
                  <a:gd name="connsiteX8" fmla="*/ 2786067 w 3026103"/>
                  <a:gd name="connsiteY8" fmla="*/ 2212214 h 2461711"/>
                  <a:gd name="connsiteX9" fmla="*/ 2797479 w 3026103"/>
                  <a:gd name="connsiteY9" fmla="*/ 2212214 h 2461711"/>
                  <a:gd name="connsiteX10" fmla="*/ 3026103 w 3026103"/>
                  <a:gd name="connsiteY10" fmla="*/ 1983346 h 2461711"/>
                  <a:gd name="connsiteX11" fmla="*/ 3026103 w 3026103"/>
                  <a:gd name="connsiteY11" fmla="*/ 1526487 h 2461711"/>
                  <a:gd name="connsiteX12" fmla="*/ 2895795 w 3026103"/>
                  <a:gd name="connsiteY12" fmla="*/ 1320491 h 2461711"/>
                  <a:gd name="connsiteX13" fmla="*/ 1513076 w 3026103"/>
                  <a:gd name="connsiteY13" fmla="*/ 0 h 2461711"/>
                  <a:gd name="connsiteX14" fmla="*/ 130406 w 3026103"/>
                  <a:gd name="connsiteY14" fmla="*/ 1320491 h 2461711"/>
                  <a:gd name="connsiteX15" fmla="*/ 0 w 3026103"/>
                  <a:gd name="connsiteY15" fmla="*/ 1526487 h 2461711"/>
                  <a:gd name="connsiteX16" fmla="*/ 0 w 3026103"/>
                  <a:gd name="connsiteY16" fmla="*/ 1983346 h 2461711"/>
                  <a:gd name="connsiteX17" fmla="*/ 228429 w 3026103"/>
                  <a:gd name="connsiteY17" fmla="*/ 2212214 h 2461711"/>
                  <a:gd name="connsiteX18" fmla="*/ 239987 w 3026103"/>
                  <a:gd name="connsiteY18" fmla="*/ 2212214 h 2461711"/>
                  <a:gd name="connsiteX19" fmla="*/ 468563 w 3026103"/>
                  <a:gd name="connsiteY19" fmla="*/ 1983346 h 2461711"/>
                  <a:gd name="connsiteX20" fmla="*/ 468563 w 3026103"/>
                  <a:gd name="connsiteY20" fmla="*/ 1526487 h 2461711"/>
                  <a:gd name="connsiteX21" fmla="*/ 341376 w 3026103"/>
                  <a:gd name="connsiteY21" fmla="*/ 1322052 h 2461711"/>
                  <a:gd name="connsiteX22" fmla="*/ 1513076 w 3026103"/>
                  <a:gd name="connsiteY22" fmla="*/ 211214 h 2461711"/>
                  <a:gd name="connsiteX23" fmla="*/ 2684630 w 3026103"/>
                  <a:gd name="connsiteY23" fmla="*/ 1322052 h 2461711"/>
                  <a:gd name="connsiteX24" fmla="*/ 2557589 w 3026103"/>
                  <a:gd name="connsiteY24" fmla="*/ 1526487 h 2461711"/>
                  <a:gd name="connsiteX25" fmla="*/ 2557589 w 3026103"/>
                  <a:gd name="connsiteY25" fmla="*/ 1983346 h 2461711"/>
                  <a:gd name="connsiteX26" fmla="*/ 2573878 w 3026103"/>
                  <a:gd name="connsiteY26" fmla="*/ 2068300 h 2461711"/>
                  <a:gd name="connsiteX27" fmla="*/ 2028359 w 3026103"/>
                  <a:gd name="connsiteY27" fmla="*/ 2250302 h 246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26103" h="2461711">
                    <a:moveTo>
                      <a:pt x="2028359" y="2250302"/>
                    </a:moveTo>
                    <a:cubicBezTo>
                      <a:pt x="2003682" y="2212702"/>
                      <a:pt x="1961498" y="2187733"/>
                      <a:pt x="1913364" y="2187733"/>
                    </a:cubicBezTo>
                    <a:lnTo>
                      <a:pt x="1731508" y="2187733"/>
                    </a:lnTo>
                    <a:cubicBezTo>
                      <a:pt x="1655625" y="2187733"/>
                      <a:pt x="1594421" y="2249034"/>
                      <a:pt x="1594421" y="2324527"/>
                    </a:cubicBezTo>
                    <a:cubicBezTo>
                      <a:pt x="1594421" y="2400312"/>
                      <a:pt x="1655625" y="2461711"/>
                      <a:pt x="1731508" y="2461711"/>
                    </a:cubicBezTo>
                    <a:lnTo>
                      <a:pt x="1913364" y="2461711"/>
                    </a:lnTo>
                    <a:cubicBezTo>
                      <a:pt x="1966472" y="2461711"/>
                      <a:pt x="2011534" y="2431426"/>
                      <a:pt x="2034260" y="2387633"/>
                    </a:cubicBezTo>
                    <a:cubicBezTo>
                      <a:pt x="2287805" y="2367686"/>
                      <a:pt x="2508333" y="2290243"/>
                      <a:pt x="2663123" y="2175882"/>
                    </a:cubicBezTo>
                    <a:cubicBezTo>
                      <a:pt x="2698675" y="2198803"/>
                      <a:pt x="2740713" y="2212214"/>
                      <a:pt x="2786067" y="2212214"/>
                    </a:cubicBezTo>
                    <a:lnTo>
                      <a:pt x="2797479" y="2212214"/>
                    </a:lnTo>
                    <a:cubicBezTo>
                      <a:pt x="2923886" y="2212214"/>
                      <a:pt x="3026103" y="2109899"/>
                      <a:pt x="3026103" y="1983346"/>
                    </a:cubicBezTo>
                    <a:lnTo>
                      <a:pt x="3026103" y="1526487"/>
                    </a:lnTo>
                    <a:cubicBezTo>
                      <a:pt x="3026103" y="1435486"/>
                      <a:pt x="2972751" y="1356970"/>
                      <a:pt x="2895795" y="1320491"/>
                    </a:cubicBezTo>
                    <a:cubicBezTo>
                      <a:pt x="2862243" y="586874"/>
                      <a:pt x="2254935" y="0"/>
                      <a:pt x="1513076" y="0"/>
                    </a:cubicBezTo>
                    <a:cubicBezTo>
                      <a:pt x="771217" y="0"/>
                      <a:pt x="163812" y="586874"/>
                      <a:pt x="130406" y="1320491"/>
                    </a:cubicBezTo>
                    <a:cubicBezTo>
                      <a:pt x="53303" y="1357018"/>
                      <a:pt x="0" y="1435486"/>
                      <a:pt x="0" y="1526487"/>
                    </a:cubicBezTo>
                    <a:lnTo>
                      <a:pt x="0" y="1983346"/>
                    </a:lnTo>
                    <a:cubicBezTo>
                      <a:pt x="0" y="2109899"/>
                      <a:pt x="102315" y="2212214"/>
                      <a:pt x="228429" y="2212214"/>
                    </a:cubicBezTo>
                    <a:lnTo>
                      <a:pt x="239987" y="2212214"/>
                    </a:lnTo>
                    <a:cubicBezTo>
                      <a:pt x="366199" y="2212214"/>
                      <a:pt x="468563" y="2109899"/>
                      <a:pt x="468563" y="1983346"/>
                    </a:cubicBezTo>
                    <a:lnTo>
                      <a:pt x="468563" y="1526487"/>
                    </a:lnTo>
                    <a:cubicBezTo>
                      <a:pt x="468563" y="1436803"/>
                      <a:pt x="416722" y="1359457"/>
                      <a:pt x="341376" y="1322052"/>
                    </a:cubicBezTo>
                    <a:cubicBezTo>
                      <a:pt x="374002" y="703917"/>
                      <a:pt x="886944" y="211214"/>
                      <a:pt x="1513076" y="211214"/>
                    </a:cubicBezTo>
                    <a:cubicBezTo>
                      <a:pt x="2138965" y="211214"/>
                      <a:pt x="2652150" y="703917"/>
                      <a:pt x="2684630" y="1322052"/>
                    </a:cubicBezTo>
                    <a:cubicBezTo>
                      <a:pt x="2609381" y="1359506"/>
                      <a:pt x="2557589" y="1436803"/>
                      <a:pt x="2557589" y="1526487"/>
                    </a:cubicBezTo>
                    <a:lnTo>
                      <a:pt x="2557589" y="1983346"/>
                    </a:lnTo>
                    <a:cubicBezTo>
                      <a:pt x="2557589" y="2013680"/>
                      <a:pt x="2563490" y="2041916"/>
                      <a:pt x="2573878" y="2068300"/>
                    </a:cubicBezTo>
                    <a:cubicBezTo>
                      <a:pt x="2440643" y="2163641"/>
                      <a:pt x="2246693" y="2231575"/>
                      <a:pt x="2028359" y="2250302"/>
                    </a:cubicBezTo>
                    <a:close/>
                  </a:path>
                </a:pathLst>
              </a:custGeom>
              <a:solidFill>
                <a:srgbClr val="AA67C4"/>
              </a:solidFill>
              <a:ln w="48768"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381" name="Group 380">
              <a:extLst>
                <a:ext uri="{FF2B5EF4-FFF2-40B4-BE49-F238E27FC236}">
                  <a16:creationId xmlns:a16="http://schemas.microsoft.com/office/drawing/2014/main" id="{3F27F6A4-0CCD-499C-2DD3-4E6040FC971D}"/>
                </a:ext>
              </a:extLst>
            </p:cNvPr>
            <p:cNvGrpSpPr/>
            <p:nvPr/>
          </p:nvGrpSpPr>
          <p:grpSpPr>
            <a:xfrm>
              <a:off x="2302536" y="2498246"/>
              <a:ext cx="228918" cy="300522"/>
              <a:chOff x="2302536" y="2498246"/>
              <a:chExt cx="228918" cy="300522"/>
            </a:xfrm>
          </p:grpSpPr>
          <p:sp>
            <p:nvSpPr>
              <p:cNvPr id="405" name="Freeform: Shape 404">
                <a:extLst>
                  <a:ext uri="{FF2B5EF4-FFF2-40B4-BE49-F238E27FC236}">
                    <a16:creationId xmlns:a16="http://schemas.microsoft.com/office/drawing/2014/main" id="{736150D4-150D-94BE-6A7A-C77B81B51CF0}"/>
                  </a:ext>
                </a:extLst>
              </p:cNvPr>
              <p:cNvSpPr/>
              <p:nvPr/>
            </p:nvSpPr>
            <p:spPr>
              <a:xfrm>
                <a:off x="2302536" y="2498246"/>
                <a:ext cx="228918" cy="87370"/>
              </a:xfrm>
              <a:custGeom>
                <a:avLst/>
                <a:gdLst>
                  <a:gd name="connsiteX0" fmla="*/ 1857375 w 3714749"/>
                  <a:gd name="connsiteY0" fmla="*/ 1417799 h 1417798"/>
                  <a:gd name="connsiteX1" fmla="*/ 3714750 w 3714749"/>
                  <a:gd name="connsiteY1" fmla="*/ 703424 h 1417798"/>
                  <a:gd name="connsiteX2" fmla="*/ 0 w 3714749"/>
                  <a:gd name="connsiteY2" fmla="*/ 703424 h 1417798"/>
                  <a:gd name="connsiteX3" fmla="*/ 1857375 w 3714749"/>
                  <a:gd name="connsiteY3" fmla="*/ 1417799 h 1417798"/>
                </a:gdLst>
                <a:ahLst/>
                <a:cxnLst>
                  <a:cxn ang="0">
                    <a:pos x="connsiteX0" y="connsiteY0"/>
                  </a:cxn>
                  <a:cxn ang="0">
                    <a:pos x="connsiteX1" y="connsiteY1"/>
                  </a:cxn>
                  <a:cxn ang="0">
                    <a:pos x="connsiteX2" y="connsiteY2"/>
                  </a:cxn>
                  <a:cxn ang="0">
                    <a:pos x="connsiteX3" y="connsiteY3"/>
                  </a:cxn>
                </a:cxnLst>
                <a:rect l="l" t="t" r="r" b="b"/>
                <a:pathLst>
                  <a:path w="3714749" h="1417798">
                    <a:moveTo>
                      <a:pt x="1857375" y="1417799"/>
                    </a:moveTo>
                    <a:cubicBezTo>
                      <a:pt x="2780338" y="1417799"/>
                      <a:pt x="3714750" y="1172368"/>
                      <a:pt x="3714750" y="703424"/>
                    </a:cubicBezTo>
                    <a:cubicBezTo>
                      <a:pt x="3714750" y="-234475"/>
                      <a:pt x="0" y="-234475"/>
                      <a:pt x="0" y="703424"/>
                    </a:cubicBezTo>
                    <a:cubicBezTo>
                      <a:pt x="0" y="1172368"/>
                      <a:pt x="934412" y="1417799"/>
                      <a:pt x="1857375" y="1417799"/>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406" name="Freeform: Shape 405">
                <a:extLst>
                  <a:ext uri="{FF2B5EF4-FFF2-40B4-BE49-F238E27FC236}">
                    <a16:creationId xmlns:a16="http://schemas.microsoft.com/office/drawing/2014/main" id="{1873B91D-C22C-4DC2-BD1A-0716B12A5990}"/>
                  </a:ext>
                </a:extLst>
              </p:cNvPr>
              <p:cNvSpPr/>
              <p:nvPr/>
            </p:nvSpPr>
            <p:spPr>
              <a:xfrm>
                <a:off x="2302536" y="2653549"/>
                <a:ext cx="228918" cy="74639"/>
              </a:xfrm>
              <a:custGeom>
                <a:avLst/>
                <a:gdLst>
                  <a:gd name="connsiteX0" fmla="*/ 3709026 w 3714749"/>
                  <a:gd name="connsiteY0" fmla="*/ 850630 h 1211208"/>
                  <a:gd name="connsiteX1" fmla="*/ 3714750 w 3714749"/>
                  <a:gd name="connsiteY1" fmla="*/ 847801 h 1211208"/>
                  <a:gd name="connsiteX2" fmla="*/ 3714750 w 3714749"/>
                  <a:gd name="connsiteY2" fmla="*/ 0 h 1211208"/>
                  <a:gd name="connsiteX3" fmla="*/ 0 w 3714749"/>
                  <a:gd name="connsiteY3" fmla="*/ 1467 h 1211208"/>
                  <a:gd name="connsiteX4" fmla="*/ 0 w 3714749"/>
                  <a:gd name="connsiteY4" fmla="*/ 844906 h 1211208"/>
                  <a:gd name="connsiteX5" fmla="*/ 5725 w 3714749"/>
                  <a:gd name="connsiteY5" fmla="*/ 847763 h 1211208"/>
                  <a:gd name="connsiteX6" fmla="*/ 3709026 w 3714749"/>
                  <a:gd name="connsiteY6" fmla="*/ 850630 h 121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14749" h="1211208">
                    <a:moveTo>
                      <a:pt x="3709026" y="850630"/>
                    </a:moveTo>
                    <a:cubicBezTo>
                      <a:pt x="3710978" y="849744"/>
                      <a:pt x="3712798" y="848697"/>
                      <a:pt x="3714750" y="847801"/>
                    </a:cubicBezTo>
                    <a:lnTo>
                      <a:pt x="3714750" y="0"/>
                    </a:lnTo>
                    <a:cubicBezTo>
                      <a:pt x="2630243" y="438969"/>
                      <a:pt x="1161745" y="472012"/>
                      <a:pt x="0" y="1467"/>
                    </a:cubicBezTo>
                    <a:lnTo>
                      <a:pt x="0" y="844906"/>
                    </a:lnTo>
                    <a:cubicBezTo>
                      <a:pt x="1953" y="845763"/>
                      <a:pt x="3772" y="846915"/>
                      <a:pt x="5725" y="847763"/>
                    </a:cubicBezTo>
                    <a:cubicBezTo>
                      <a:pt x="1118454" y="1343187"/>
                      <a:pt x="2635987" y="1320470"/>
                      <a:pt x="3709026" y="850630"/>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407" name="Freeform: Shape 406">
                <a:extLst>
                  <a:ext uri="{FF2B5EF4-FFF2-40B4-BE49-F238E27FC236}">
                    <a16:creationId xmlns:a16="http://schemas.microsoft.com/office/drawing/2014/main" id="{CA3A95D2-8EE5-23EA-7F81-B19C735D031B}"/>
                  </a:ext>
                </a:extLst>
              </p:cNvPr>
              <p:cNvSpPr/>
              <p:nvPr/>
            </p:nvSpPr>
            <p:spPr>
              <a:xfrm>
                <a:off x="2302536" y="2724409"/>
                <a:ext cx="228918" cy="74359"/>
              </a:xfrm>
              <a:custGeom>
                <a:avLst/>
                <a:gdLst>
                  <a:gd name="connsiteX0" fmla="*/ 1857375 w 3714749"/>
                  <a:gd name="connsiteY0" fmla="*/ 1206655 h 1206655"/>
                  <a:gd name="connsiteX1" fmla="*/ 3714750 w 3714749"/>
                  <a:gd name="connsiteY1" fmla="*/ 492280 h 1206655"/>
                  <a:gd name="connsiteX2" fmla="*/ 3714750 w 3714749"/>
                  <a:gd name="connsiteY2" fmla="*/ 0 h 1206655"/>
                  <a:gd name="connsiteX3" fmla="*/ 0 w 3714749"/>
                  <a:gd name="connsiteY3" fmla="*/ 4115 h 1206655"/>
                  <a:gd name="connsiteX4" fmla="*/ 0 w 3714749"/>
                  <a:gd name="connsiteY4" fmla="*/ 492280 h 1206655"/>
                  <a:gd name="connsiteX5" fmla="*/ 1857375 w 3714749"/>
                  <a:gd name="connsiteY5" fmla="*/ 1206655 h 1206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4749" h="1206655">
                    <a:moveTo>
                      <a:pt x="1857375" y="1206655"/>
                    </a:moveTo>
                    <a:cubicBezTo>
                      <a:pt x="2780338" y="1206655"/>
                      <a:pt x="3714750" y="961225"/>
                      <a:pt x="3714750" y="492280"/>
                    </a:cubicBezTo>
                    <a:lnTo>
                      <a:pt x="3714750" y="0"/>
                    </a:lnTo>
                    <a:cubicBezTo>
                      <a:pt x="2525687" y="480393"/>
                      <a:pt x="1079840" y="441179"/>
                      <a:pt x="0" y="4115"/>
                    </a:cubicBezTo>
                    <a:lnTo>
                      <a:pt x="0" y="492280"/>
                    </a:lnTo>
                    <a:cubicBezTo>
                      <a:pt x="0" y="961234"/>
                      <a:pt x="934412" y="1206655"/>
                      <a:pt x="1857375" y="1206655"/>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408" name="Freeform: Shape 407">
                <a:extLst>
                  <a:ext uri="{FF2B5EF4-FFF2-40B4-BE49-F238E27FC236}">
                    <a16:creationId xmlns:a16="http://schemas.microsoft.com/office/drawing/2014/main" id="{8A2E7F2E-94AF-625A-5F98-2849C6E4FA19}"/>
                  </a:ext>
                </a:extLst>
              </p:cNvPr>
              <p:cNvSpPr/>
              <p:nvPr/>
            </p:nvSpPr>
            <p:spPr>
              <a:xfrm>
                <a:off x="2302536" y="2575375"/>
                <a:ext cx="228918" cy="81768"/>
              </a:xfrm>
              <a:custGeom>
                <a:avLst/>
                <a:gdLst>
                  <a:gd name="connsiteX0" fmla="*/ 3709026 w 3714749"/>
                  <a:gd name="connsiteY0" fmla="*/ 958101 h 1326892"/>
                  <a:gd name="connsiteX1" fmla="*/ 3714750 w 3714749"/>
                  <a:gd name="connsiteY1" fmla="*/ 955539 h 1326892"/>
                  <a:gd name="connsiteX2" fmla="*/ 3714750 w 3714749"/>
                  <a:gd name="connsiteY2" fmla="*/ 0 h 1326892"/>
                  <a:gd name="connsiteX3" fmla="*/ 1857375 w 3714749"/>
                  <a:gd name="connsiteY3" fmla="*/ 451942 h 1326892"/>
                  <a:gd name="connsiteX4" fmla="*/ 0 w 3714749"/>
                  <a:gd name="connsiteY4" fmla="*/ 0 h 1326892"/>
                  <a:gd name="connsiteX5" fmla="*/ 0 w 3714749"/>
                  <a:gd name="connsiteY5" fmla="*/ 960949 h 1326892"/>
                  <a:gd name="connsiteX6" fmla="*/ 5725 w 3714749"/>
                  <a:gd name="connsiteY6" fmla="*/ 963806 h 1326892"/>
                  <a:gd name="connsiteX7" fmla="*/ 3709026 w 3714749"/>
                  <a:gd name="connsiteY7" fmla="*/ 958101 h 132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4749" h="1326892">
                    <a:moveTo>
                      <a:pt x="3709026" y="958101"/>
                    </a:moveTo>
                    <a:cubicBezTo>
                      <a:pt x="3710959" y="957329"/>
                      <a:pt x="3712807" y="956301"/>
                      <a:pt x="3714750" y="955539"/>
                    </a:cubicBezTo>
                    <a:lnTo>
                      <a:pt x="3714750" y="0"/>
                    </a:lnTo>
                    <a:cubicBezTo>
                      <a:pt x="3310662" y="324936"/>
                      <a:pt x="2544451" y="451942"/>
                      <a:pt x="1857375" y="451942"/>
                    </a:cubicBezTo>
                    <a:cubicBezTo>
                      <a:pt x="1170299" y="451942"/>
                      <a:pt x="404089" y="324936"/>
                      <a:pt x="0" y="0"/>
                    </a:cubicBezTo>
                    <a:lnTo>
                      <a:pt x="0" y="960949"/>
                    </a:lnTo>
                    <a:cubicBezTo>
                      <a:pt x="1953" y="961806"/>
                      <a:pt x="3772" y="962959"/>
                      <a:pt x="5725" y="963806"/>
                    </a:cubicBezTo>
                    <a:cubicBezTo>
                      <a:pt x="1089898" y="1449305"/>
                      <a:pt x="2631929" y="1448429"/>
                      <a:pt x="3709026" y="958101"/>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382" name="Group 381">
              <a:extLst>
                <a:ext uri="{FF2B5EF4-FFF2-40B4-BE49-F238E27FC236}">
                  <a16:creationId xmlns:a16="http://schemas.microsoft.com/office/drawing/2014/main" id="{81B0F481-7AA6-AD31-6C81-50185AA365E3}"/>
                </a:ext>
              </a:extLst>
            </p:cNvPr>
            <p:cNvGrpSpPr/>
            <p:nvPr/>
          </p:nvGrpSpPr>
          <p:grpSpPr>
            <a:xfrm>
              <a:off x="1239885" y="4813377"/>
              <a:ext cx="249206" cy="266510"/>
              <a:chOff x="1239885" y="4813377"/>
              <a:chExt cx="249206" cy="266510"/>
            </a:xfrm>
          </p:grpSpPr>
          <p:sp>
            <p:nvSpPr>
              <p:cNvPr id="403" name="Freeform: Shape 402">
                <a:extLst>
                  <a:ext uri="{FF2B5EF4-FFF2-40B4-BE49-F238E27FC236}">
                    <a16:creationId xmlns:a16="http://schemas.microsoft.com/office/drawing/2014/main" id="{0B4EDD52-9120-454C-D6B1-E7870F12331A}"/>
                  </a:ext>
                </a:extLst>
              </p:cNvPr>
              <p:cNvSpPr/>
              <p:nvPr/>
            </p:nvSpPr>
            <p:spPr>
              <a:xfrm>
                <a:off x="1239885" y="4813377"/>
                <a:ext cx="212435" cy="251060"/>
              </a:xfrm>
              <a:custGeom>
                <a:avLst/>
                <a:gdLst>
                  <a:gd name="connsiteX0" fmla="*/ 457200 w 3352800"/>
                  <a:gd name="connsiteY0" fmla="*/ 0 h 3962400"/>
                  <a:gd name="connsiteX1" fmla="*/ 2895600 w 3352800"/>
                  <a:gd name="connsiteY1" fmla="*/ 0 h 3962400"/>
                  <a:gd name="connsiteX2" fmla="*/ 3352800 w 3352800"/>
                  <a:gd name="connsiteY2" fmla="*/ 457200 h 3962400"/>
                  <a:gd name="connsiteX3" fmla="*/ 3352800 w 3352800"/>
                  <a:gd name="connsiteY3" fmla="*/ 1325118 h 3962400"/>
                  <a:gd name="connsiteX4" fmla="*/ 3155747 w 3352800"/>
                  <a:gd name="connsiteY4" fmla="*/ 1356208 h 3962400"/>
                  <a:gd name="connsiteX5" fmla="*/ 2806294 w 3352800"/>
                  <a:gd name="connsiteY5" fmla="*/ 1665275 h 3962400"/>
                  <a:gd name="connsiteX6" fmla="*/ 1993087 w 3352800"/>
                  <a:gd name="connsiteY6" fmla="*/ 3331769 h 3962400"/>
                  <a:gd name="connsiteX7" fmla="*/ 1956968 w 3352800"/>
                  <a:gd name="connsiteY7" fmla="*/ 3914547 h 3962400"/>
                  <a:gd name="connsiteX8" fmla="*/ 1973428 w 3352800"/>
                  <a:gd name="connsiteY8" fmla="*/ 3962400 h 3962400"/>
                  <a:gd name="connsiteX9" fmla="*/ 457200 w 3352800"/>
                  <a:gd name="connsiteY9" fmla="*/ 3962400 h 3962400"/>
                  <a:gd name="connsiteX10" fmla="*/ 0 w 3352800"/>
                  <a:gd name="connsiteY10" fmla="*/ 3505200 h 3962400"/>
                  <a:gd name="connsiteX11" fmla="*/ 0 w 3352800"/>
                  <a:gd name="connsiteY11" fmla="*/ 457200 h 3962400"/>
                  <a:gd name="connsiteX12" fmla="*/ 457200 w 3352800"/>
                  <a:gd name="connsiteY12" fmla="*/ 0 h 3962400"/>
                  <a:gd name="connsiteX13" fmla="*/ 609600 w 3352800"/>
                  <a:gd name="connsiteY13" fmla="*/ 914400 h 3962400"/>
                  <a:gd name="connsiteX14" fmla="*/ 457200 w 3352800"/>
                  <a:gd name="connsiteY14" fmla="*/ 1066800 h 3962400"/>
                  <a:gd name="connsiteX15" fmla="*/ 609600 w 3352800"/>
                  <a:gd name="connsiteY15" fmla="*/ 1219200 h 3962400"/>
                  <a:gd name="connsiteX16" fmla="*/ 2438400 w 3352800"/>
                  <a:gd name="connsiteY16" fmla="*/ 1219200 h 3962400"/>
                  <a:gd name="connsiteX17" fmla="*/ 2590800 w 3352800"/>
                  <a:gd name="connsiteY17" fmla="*/ 1066800 h 3962400"/>
                  <a:gd name="connsiteX18" fmla="*/ 2438400 w 3352800"/>
                  <a:gd name="connsiteY18" fmla="*/ 914400 h 3962400"/>
                  <a:gd name="connsiteX19" fmla="*/ 609600 w 3352800"/>
                  <a:gd name="connsiteY19" fmla="*/ 914400 h 3962400"/>
                  <a:gd name="connsiteX20" fmla="*/ 609600 w 3352800"/>
                  <a:gd name="connsiteY20" fmla="*/ 1524000 h 3962400"/>
                  <a:gd name="connsiteX21" fmla="*/ 457200 w 3352800"/>
                  <a:gd name="connsiteY21" fmla="*/ 1676400 h 3962400"/>
                  <a:gd name="connsiteX22" fmla="*/ 609600 w 3352800"/>
                  <a:gd name="connsiteY22" fmla="*/ 1828800 h 3962400"/>
                  <a:gd name="connsiteX23" fmla="*/ 2286000 w 3352800"/>
                  <a:gd name="connsiteY23" fmla="*/ 1828800 h 3962400"/>
                  <a:gd name="connsiteX24" fmla="*/ 2438400 w 3352800"/>
                  <a:gd name="connsiteY24" fmla="*/ 1676400 h 3962400"/>
                  <a:gd name="connsiteX25" fmla="*/ 2286000 w 3352800"/>
                  <a:gd name="connsiteY25" fmla="*/ 1524000 h 3962400"/>
                  <a:gd name="connsiteX26" fmla="*/ 609600 w 3352800"/>
                  <a:gd name="connsiteY26" fmla="*/ 1524000 h 3962400"/>
                  <a:gd name="connsiteX27" fmla="*/ 609600 w 3352800"/>
                  <a:gd name="connsiteY27" fmla="*/ 2133600 h 3962400"/>
                  <a:gd name="connsiteX28" fmla="*/ 457200 w 3352800"/>
                  <a:gd name="connsiteY28" fmla="*/ 2286000 h 3962400"/>
                  <a:gd name="connsiteX29" fmla="*/ 609600 w 3352800"/>
                  <a:gd name="connsiteY29" fmla="*/ 2438400 h 3962400"/>
                  <a:gd name="connsiteX30" fmla="*/ 1981200 w 3352800"/>
                  <a:gd name="connsiteY30" fmla="*/ 2438400 h 3962400"/>
                  <a:gd name="connsiteX31" fmla="*/ 2133600 w 3352800"/>
                  <a:gd name="connsiteY31" fmla="*/ 2286000 h 3962400"/>
                  <a:gd name="connsiteX32" fmla="*/ 1981200 w 3352800"/>
                  <a:gd name="connsiteY32" fmla="*/ 2133600 h 3962400"/>
                  <a:gd name="connsiteX33" fmla="*/ 609600 w 3352800"/>
                  <a:gd name="connsiteY33" fmla="*/ 2133600 h 3962400"/>
                  <a:gd name="connsiteX34" fmla="*/ 609600 w 3352800"/>
                  <a:gd name="connsiteY34" fmla="*/ 2743200 h 3962400"/>
                  <a:gd name="connsiteX35" fmla="*/ 457200 w 3352800"/>
                  <a:gd name="connsiteY35" fmla="*/ 2895600 h 3962400"/>
                  <a:gd name="connsiteX36" fmla="*/ 609600 w 3352800"/>
                  <a:gd name="connsiteY36" fmla="*/ 3048000 h 3962400"/>
                  <a:gd name="connsiteX37" fmla="*/ 1676400 w 3352800"/>
                  <a:gd name="connsiteY37" fmla="*/ 3048000 h 3962400"/>
                  <a:gd name="connsiteX38" fmla="*/ 1828800 w 3352800"/>
                  <a:gd name="connsiteY38" fmla="*/ 2895600 h 3962400"/>
                  <a:gd name="connsiteX39" fmla="*/ 1676400 w 3352800"/>
                  <a:gd name="connsiteY39" fmla="*/ 2743200 h 3962400"/>
                  <a:gd name="connsiteX40" fmla="*/ 609600 w 3352800"/>
                  <a:gd name="connsiteY40" fmla="*/ 2743200 h 39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52800" h="3962400">
                    <a:moveTo>
                      <a:pt x="457200" y="0"/>
                    </a:moveTo>
                    <a:lnTo>
                      <a:pt x="2895600" y="0"/>
                    </a:lnTo>
                    <a:cubicBezTo>
                      <a:pt x="3147670" y="0"/>
                      <a:pt x="3352800" y="205130"/>
                      <a:pt x="3352800" y="457200"/>
                    </a:cubicBezTo>
                    <a:lnTo>
                      <a:pt x="3352800" y="1325118"/>
                    </a:lnTo>
                    <a:cubicBezTo>
                      <a:pt x="3286659" y="1325423"/>
                      <a:pt x="3220212" y="1333957"/>
                      <a:pt x="3155747" y="1356208"/>
                    </a:cubicBezTo>
                    <a:cubicBezTo>
                      <a:pt x="3001670" y="1409243"/>
                      <a:pt x="2877769" y="1519123"/>
                      <a:pt x="2806294" y="1665275"/>
                    </a:cubicBezTo>
                    <a:lnTo>
                      <a:pt x="1993087" y="3331769"/>
                    </a:lnTo>
                    <a:cubicBezTo>
                      <a:pt x="1903628" y="3514497"/>
                      <a:pt x="1890674" y="3721151"/>
                      <a:pt x="1956968" y="3914547"/>
                    </a:cubicBezTo>
                    <a:lnTo>
                      <a:pt x="1973428" y="3962400"/>
                    </a:lnTo>
                    <a:lnTo>
                      <a:pt x="457200" y="3962400"/>
                    </a:lnTo>
                    <a:cubicBezTo>
                      <a:pt x="205130" y="3962400"/>
                      <a:pt x="0" y="3757270"/>
                      <a:pt x="0" y="3505200"/>
                    </a:cubicBezTo>
                    <a:lnTo>
                      <a:pt x="0" y="457200"/>
                    </a:lnTo>
                    <a:cubicBezTo>
                      <a:pt x="0" y="205130"/>
                      <a:pt x="205130" y="0"/>
                      <a:pt x="457200" y="0"/>
                    </a:cubicBezTo>
                    <a:close/>
                    <a:moveTo>
                      <a:pt x="609600" y="914400"/>
                    </a:moveTo>
                    <a:cubicBezTo>
                      <a:pt x="525323" y="914400"/>
                      <a:pt x="457200" y="982675"/>
                      <a:pt x="457200" y="1066800"/>
                    </a:cubicBezTo>
                    <a:cubicBezTo>
                      <a:pt x="457200" y="1150925"/>
                      <a:pt x="525323" y="1219200"/>
                      <a:pt x="609600" y="1219200"/>
                    </a:cubicBezTo>
                    <a:lnTo>
                      <a:pt x="2438400" y="1219200"/>
                    </a:lnTo>
                    <a:cubicBezTo>
                      <a:pt x="2522677" y="1219200"/>
                      <a:pt x="2590800" y="1150925"/>
                      <a:pt x="2590800" y="1066800"/>
                    </a:cubicBezTo>
                    <a:cubicBezTo>
                      <a:pt x="2590800" y="982675"/>
                      <a:pt x="2522677" y="914400"/>
                      <a:pt x="2438400" y="914400"/>
                    </a:cubicBezTo>
                    <a:lnTo>
                      <a:pt x="609600" y="914400"/>
                    </a:lnTo>
                    <a:close/>
                    <a:moveTo>
                      <a:pt x="609600" y="1524000"/>
                    </a:moveTo>
                    <a:cubicBezTo>
                      <a:pt x="525323" y="1524000"/>
                      <a:pt x="457200" y="1592275"/>
                      <a:pt x="457200" y="1676400"/>
                    </a:cubicBezTo>
                    <a:cubicBezTo>
                      <a:pt x="457200" y="1760525"/>
                      <a:pt x="525323" y="1828800"/>
                      <a:pt x="609600" y="1828800"/>
                    </a:cubicBezTo>
                    <a:lnTo>
                      <a:pt x="2286000" y="1828800"/>
                    </a:lnTo>
                    <a:cubicBezTo>
                      <a:pt x="2370277" y="1828800"/>
                      <a:pt x="2438400" y="1760525"/>
                      <a:pt x="2438400" y="1676400"/>
                    </a:cubicBezTo>
                    <a:cubicBezTo>
                      <a:pt x="2438400" y="1592275"/>
                      <a:pt x="2370277" y="1524000"/>
                      <a:pt x="2286000" y="1524000"/>
                    </a:cubicBezTo>
                    <a:lnTo>
                      <a:pt x="609600" y="1524000"/>
                    </a:lnTo>
                    <a:close/>
                    <a:moveTo>
                      <a:pt x="609600" y="2133600"/>
                    </a:moveTo>
                    <a:cubicBezTo>
                      <a:pt x="525323" y="2133600"/>
                      <a:pt x="457200" y="2201875"/>
                      <a:pt x="457200" y="2286000"/>
                    </a:cubicBezTo>
                    <a:cubicBezTo>
                      <a:pt x="457200" y="2370125"/>
                      <a:pt x="525323" y="2438400"/>
                      <a:pt x="609600" y="2438400"/>
                    </a:cubicBezTo>
                    <a:lnTo>
                      <a:pt x="1981200" y="2438400"/>
                    </a:lnTo>
                    <a:cubicBezTo>
                      <a:pt x="2065477" y="2438400"/>
                      <a:pt x="2133600" y="2370125"/>
                      <a:pt x="2133600" y="2286000"/>
                    </a:cubicBezTo>
                    <a:cubicBezTo>
                      <a:pt x="2133600" y="2201875"/>
                      <a:pt x="2065477" y="2133600"/>
                      <a:pt x="1981200" y="2133600"/>
                    </a:cubicBezTo>
                    <a:lnTo>
                      <a:pt x="609600" y="2133600"/>
                    </a:lnTo>
                    <a:close/>
                    <a:moveTo>
                      <a:pt x="609600" y="2743200"/>
                    </a:moveTo>
                    <a:cubicBezTo>
                      <a:pt x="525323" y="2743200"/>
                      <a:pt x="457200" y="2811475"/>
                      <a:pt x="457200" y="2895600"/>
                    </a:cubicBezTo>
                    <a:cubicBezTo>
                      <a:pt x="457200" y="2979725"/>
                      <a:pt x="525323" y="3048000"/>
                      <a:pt x="609600" y="3048000"/>
                    </a:cubicBezTo>
                    <a:lnTo>
                      <a:pt x="1676400" y="3048000"/>
                    </a:lnTo>
                    <a:cubicBezTo>
                      <a:pt x="1760677" y="3048000"/>
                      <a:pt x="1828800" y="2979725"/>
                      <a:pt x="1828800" y="2895600"/>
                    </a:cubicBezTo>
                    <a:cubicBezTo>
                      <a:pt x="1828800" y="2811475"/>
                      <a:pt x="1760677" y="2743200"/>
                      <a:pt x="1676400" y="2743200"/>
                    </a:cubicBezTo>
                    <a:lnTo>
                      <a:pt x="609600" y="2743200"/>
                    </a:ln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404" name="Freeform: Shape 403">
                <a:extLst>
                  <a:ext uri="{FF2B5EF4-FFF2-40B4-BE49-F238E27FC236}">
                    <a16:creationId xmlns:a16="http://schemas.microsoft.com/office/drawing/2014/main" id="{23CB3F51-B9D9-9BF6-FF56-71BA7B7B1659}"/>
                  </a:ext>
                </a:extLst>
              </p:cNvPr>
              <p:cNvSpPr/>
              <p:nvPr/>
            </p:nvSpPr>
            <p:spPr>
              <a:xfrm>
                <a:off x="1380560" y="4916501"/>
                <a:ext cx="108531" cy="163386"/>
              </a:xfrm>
              <a:custGeom>
                <a:avLst/>
                <a:gdLst>
                  <a:gd name="connsiteX0" fmla="*/ 1152612 w 1712921"/>
                  <a:gd name="connsiteY0" fmla="*/ 552 h 2578665"/>
                  <a:gd name="connsiteX1" fmla="*/ 1267597 w 1712921"/>
                  <a:gd name="connsiteY1" fmla="*/ 31147 h 2578665"/>
                  <a:gd name="connsiteX2" fmla="*/ 1541613 w 1712921"/>
                  <a:gd name="connsiteY2" fmla="*/ 164801 h 2578665"/>
                  <a:gd name="connsiteX3" fmla="*/ 1696146 w 1712921"/>
                  <a:gd name="connsiteY3" fmla="*/ 339604 h 2578665"/>
                  <a:gd name="connsiteX4" fmla="*/ 1681821 w 1712921"/>
                  <a:gd name="connsiteY4" fmla="*/ 572319 h 2578665"/>
                  <a:gd name="connsiteX5" fmla="*/ 868310 w 1712921"/>
                  <a:gd name="connsiteY5" fmla="*/ 2239423 h 2578665"/>
                  <a:gd name="connsiteX6" fmla="*/ 606029 w 1712921"/>
                  <a:gd name="connsiteY6" fmla="*/ 2471223 h 2578665"/>
                  <a:gd name="connsiteX7" fmla="*/ 317841 w 1712921"/>
                  <a:gd name="connsiteY7" fmla="*/ 2570283 h 2578665"/>
                  <a:gd name="connsiteX8" fmla="*/ 268311 w 1712921"/>
                  <a:gd name="connsiteY8" fmla="*/ 2578665 h 2578665"/>
                  <a:gd name="connsiteX9" fmla="*/ 124293 w 1712921"/>
                  <a:gd name="connsiteY9" fmla="*/ 2475795 h 2578665"/>
                  <a:gd name="connsiteX10" fmla="*/ 25080 w 1712921"/>
                  <a:gd name="connsiteY10" fmla="*/ 2187607 h 2578665"/>
                  <a:gd name="connsiteX11" fmla="*/ 46721 w 1712921"/>
                  <a:gd name="connsiteY11" fmla="*/ 1838153 h 2578665"/>
                  <a:gd name="connsiteX12" fmla="*/ 860232 w 1712921"/>
                  <a:gd name="connsiteY12" fmla="*/ 171355 h 2578665"/>
                  <a:gd name="connsiteX13" fmla="*/ 1034883 w 1712921"/>
                  <a:gd name="connsiteY13" fmla="*/ 16821 h 2578665"/>
                  <a:gd name="connsiteX14" fmla="*/ 1152612 w 1712921"/>
                  <a:gd name="connsiteY14" fmla="*/ 552 h 257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2921" h="2578665">
                    <a:moveTo>
                      <a:pt x="1152612" y="552"/>
                    </a:moveTo>
                    <a:cubicBezTo>
                      <a:pt x="1192045" y="2952"/>
                      <a:pt x="1231022" y="13163"/>
                      <a:pt x="1267597" y="31147"/>
                    </a:cubicBezTo>
                    <a:lnTo>
                      <a:pt x="1541613" y="164801"/>
                    </a:lnTo>
                    <a:cubicBezTo>
                      <a:pt x="1614765" y="200463"/>
                      <a:pt x="1669629" y="262642"/>
                      <a:pt x="1696146" y="339604"/>
                    </a:cubicBezTo>
                    <a:cubicBezTo>
                      <a:pt x="1722664" y="416566"/>
                      <a:pt x="1717635" y="499167"/>
                      <a:pt x="1681821" y="572319"/>
                    </a:cubicBezTo>
                    <a:lnTo>
                      <a:pt x="868310" y="2239423"/>
                    </a:lnTo>
                    <a:cubicBezTo>
                      <a:pt x="814512" y="2349303"/>
                      <a:pt x="721396" y="2431599"/>
                      <a:pt x="606029" y="2471223"/>
                    </a:cubicBezTo>
                    <a:lnTo>
                      <a:pt x="317841" y="2570283"/>
                    </a:lnTo>
                    <a:cubicBezTo>
                      <a:pt x="301534" y="2575922"/>
                      <a:pt x="284618" y="2578665"/>
                      <a:pt x="268311" y="2578665"/>
                    </a:cubicBezTo>
                    <a:cubicBezTo>
                      <a:pt x="205065" y="2578665"/>
                      <a:pt x="145933" y="2539041"/>
                      <a:pt x="124293" y="2475795"/>
                    </a:cubicBezTo>
                    <a:lnTo>
                      <a:pt x="25080" y="2187607"/>
                    </a:lnTo>
                    <a:cubicBezTo>
                      <a:pt x="-14696" y="2071783"/>
                      <a:pt x="-6924" y="1947729"/>
                      <a:pt x="46721" y="1838153"/>
                    </a:cubicBezTo>
                    <a:lnTo>
                      <a:pt x="860232" y="171355"/>
                    </a:lnTo>
                    <a:cubicBezTo>
                      <a:pt x="895741" y="98203"/>
                      <a:pt x="957921" y="43339"/>
                      <a:pt x="1034883" y="16821"/>
                    </a:cubicBezTo>
                    <a:cubicBezTo>
                      <a:pt x="1073288" y="3562"/>
                      <a:pt x="1113178" y="-1848"/>
                      <a:pt x="1152612" y="552"/>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383" name="Group 382">
              <a:extLst>
                <a:ext uri="{FF2B5EF4-FFF2-40B4-BE49-F238E27FC236}">
                  <a16:creationId xmlns:a16="http://schemas.microsoft.com/office/drawing/2014/main" id="{4035F75C-B047-99E8-DAD1-A872D3C5EE4D}"/>
                </a:ext>
              </a:extLst>
            </p:cNvPr>
            <p:cNvGrpSpPr/>
            <p:nvPr/>
          </p:nvGrpSpPr>
          <p:grpSpPr>
            <a:xfrm>
              <a:off x="2312835" y="3646551"/>
              <a:ext cx="208320" cy="302038"/>
              <a:chOff x="2312835" y="3646551"/>
              <a:chExt cx="208320" cy="302038"/>
            </a:xfrm>
          </p:grpSpPr>
          <p:sp>
            <p:nvSpPr>
              <p:cNvPr id="399" name="Freeform: Shape 398">
                <a:extLst>
                  <a:ext uri="{FF2B5EF4-FFF2-40B4-BE49-F238E27FC236}">
                    <a16:creationId xmlns:a16="http://schemas.microsoft.com/office/drawing/2014/main" id="{314C0E70-763A-D598-03FE-DBAA5ED1D028}"/>
                  </a:ext>
                </a:extLst>
              </p:cNvPr>
              <p:cNvSpPr/>
              <p:nvPr/>
            </p:nvSpPr>
            <p:spPr>
              <a:xfrm>
                <a:off x="2312835" y="3789277"/>
                <a:ext cx="208320" cy="159312"/>
              </a:xfrm>
              <a:custGeom>
                <a:avLst/>
                <a:gdLst>
                  <a:gd name="connsiteX0" fmla="*/ 2575255 w 2575255"/>
                  <a:gd name="connsiteY0" fmla="*/ 74242 h 1969412"/>
                  <a:gd name="connsiteX1" fmla="*/ 2496221 w 2575255"/>
                  <a:gd name="connsiteY1" fmla="*/ 39 h 1969412"/>
                  <a:gd name="connsiteX2" fmla="*/ 2422017 w 2575255"/>
                  <a:gd name="connsiteY2" fmla="*/ 74242 h 1969412"/>
                  <a:gd name="connsiteX3" fmla="*/ 1287628 w 2575255"/>
                  <a:gd name="connsiteY3" fmla="*/ 1208632 h 1969412"/>
                  <a:gd name="connsiteX4" fmla="*/ 153238 w 2575255"/>
                  <a:gd name="connsiteY4" fmla="*/ 74242 h 1969412"/>
                  <a:gd name="connsiteX5" fmla="*/ 74204 w 2575255"/>
                  <a:gd name="connsiteY5" fmla="*/ 39 h 1969412"/>
                  <a:gd name="connsiteX6" fmla="*/ 0 w 2575255"/>
                  <a:gd name="connsiteY6" fmla="*/ 74242 h 1969412"/>
                  <a:gd name="connsiteX7" fmla="*/ 1211275 w 2575255"/>
                  <a:gd name="connsiteY7" fmla="*/ 1358060 h 1969412"/>
                  <a:gd name="connsiteX8" fmla="*/ 1211275 w 2575255"/>
                  <a:gd name="connsiteY8" fmla="*/ 1816174 h 1969412"/>
                  <a:gd name="connsiteX9" fmla="*/ 826922 w 2575255"/>
                  <a:gd name="connsiteY9" fmla="*/ 1816174 h 1969412"/>
                  <a:gd name="connsiteX10" fmla="*/ 752719 w 2575255"/>
                  <a:gd name="connsiteY10" fmla="*/ 1895209 h 1969412"/>
                  <a:gd name="connsiteX11" fmla="*/ 826922 w 2575255"/>
                  <a:gd name="connsiteY11" fmla="*/ 1969413 h 1969412"/>
                  <a:gd name="connsiteX12" fmla="*/ 1748028 w 2575255"/>
                  <a:gd name="connsiteY12" fmla="*/ 1969413 h 1969412"/>
                  <a:gd name="connsiteX13" fmla="*/ 1822232 w 2575255"/>
                  <a:gd name="connsiteY13" fmla="*/ 1890378 h 1969412"/>
                  <a:gd name="connsiteX14" fmla="*/ 1748028 w 2575255"/>
                  <a:gd name="connsiteY14" fmla="*/ 1816174 h 1969412"/>
                  <a:gd name="connsiteX15" fmla="*/ 1364056 w 2575255"/>
                  <a:gd name="connsiteY15" fmla="*/ 1816174 h 1969412"/>
                  <a:gd name="connsiteX16" fmla="*/ 1364056 w 2575255"/>
                  <a:gd name="connsiteY16" fmla="*/ 1358060 h 1969412"/>
                  <a:gd name="connsiteX17" fmla="*/ 2575255 w 2575255"/>
                  <a:gd name="connsiteY17" fmla="*/ 74242 h 196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5255" h="1969412">
                    <a:moveTo>
                      <a:pt x="2575255" y="74242"/>
                    </a:moveTo>
                    <a:cubicBezTo>
                      <a:pt x="2573922" y="31929"/>
                      <a:pt x="2538534" y="-1295"/>
                      <a:pt x="2496221" y="39"/>
                    </a:cubicBezTo>
                    <a:cubicBezTo>
                      <a:pt x="2455781" y="1319"/>
                      <a:pt x="2423290" y="33803"/>
                      <a:pt x="2422017" y="74242"/>
                    </a:cubicBezTo>
                    <a:cubicBezTo>
                      <a:pt x="2422017" y="700751"/>
                      <a:pt x="1914136" y="1208632"/>
                      <a:pt x="1287628" y="1208632"/>
                    </a:cubicBezTo>
                    <a:cubicBezTo>
                      <a:pt x="661119" y="1208632"/>
                      <a:pt x="153238" y="700751"/>
                      <a:pt x="153238" y="74242"/>
                    </a:cubicBezTo>
                    <a:cubicBezTo>
                      <a:pt x="151905" y="31929"/>
                      <a:pt x="116517" y="-1295"/>
                      <a:pt x="74204" y="39"/>
                    </a:cubicBezTo>
                    <a:cubicBezTo>
                      <a:pt x="33764" y="1319"/>
                      <a:pt x="1273" y="33803"/>
                      <a:pt x="0" y="74242"/>
                    </a:cubicBezTo>
                    <a:cubicBezTo>
                      <a:pt x="1120" y="755006"/>
                      <a:pt x="531724" y="1317392"/>
                      <a:pt x="1211275" y="1358060"/>
                    </a:cubicBezTo>
                    <a:lnTo>
                      <a:pt x="1211275" y="1816174"/>
                    </a:lnTo>
                    <a:lnTo>
                      <a:pt x="826922" y="1816174"/>
                    </a:lnTo>
                    <a:cubicBezTo>
                      <a:pt x="784609" y="1817508"/>
                      <a:pt x="751385" y="1852895"/>
                      <a:pt x="752719" y="1895209"/>
                    </a:cubicBezTo>
                    <a:cubicBezTo>
                      <a:pt x="753999" y="1935648"/>
                      <a:pt x="786483" y="1968140"/>
                      <a:pt x="826922" y="1969413"/>
                    </a:cubicBezTo>
                    <a:lnTo>
                      <a:pt x="1748028" y="1969413"/>
                    </a:lnTo>
                    <a:cubicBezTo>
                      <a:pt x="1790342" y="1968079"/>
                      <a:pt x="1823565" y="1932692"/>
                      <a:pt x="1822232" y="1890378"/>
                    </a:cubicBezTo>
                    <a:cubicBezTo>
                      <a:pt x="1820951" y="1849939"/>
                      <a:pt x="1788467" y="1817447"/>
                      <a:pt x="1748028" y="1816174"/>
                    </a:cubicBezTo>
                    <a:lnTo>
                      <a:pt x="1364056" y="1816174"/>
                    </a:lnTo>
                    <a:lnTo>
                      <a:pt x="1364056" y="1358060"/>
                    </a:lnTo>
                    <a:cubicBezTo>
                      <a:pt x="2043577" y="1317354"/>
                      <a:pt x="2574135" y="754983"/>
                      <a:pt x="2575255" y="74242"/>
                    </a:cubicBezTo>
                    <a:close/>
                  </a:path>
                </a:pathLst>
              </a:custGeom>
              <a:solidFill>
                <a:srgbClr val="AA67C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400" name="Freeform: Shape 399">
                <a:extLst>
                  <a:ext uri="{FF2B5EF4-FFF2-40B4-BE49-F238E27FC236}">
                    <a16:creationId xmlns:a16="http://schemas.microsoft.com/office/drawing/2014/main" id="{700DF545-2500-9B24-EAAE-AC49EBB3CADC}"/>
                  </a:ext>
                </a:extLst>
              </p:cNvPr>
              <p:cNvSpPr/>
              <p:nvPr/>
            </p:nvSpPr>
            <p:spPr>
              <a:xfrm>
                <a:off x="2349936" y="3778344"/>
                <a:ext cx="134093" cy="89181"/>
              </a:xfrm>
              <a:custGeom>
                <a:avLst/>
                <a:gdLst>
                  <a:gd name="connsiteX0" fmla="*/ 828827 w 1657654"/>
                  <a:gd name="connsiteY0" fmla="*/ 1102462 h 1102461"/>
                  <a:gd name="connsiteX1" fmla="*/ 1657655 w 1657654"/>
                  <a:gd name="connsiteY1" fmla="*/ 273558 h 1102461"/>
                  <a:gd name="connsiteX2" fmla="*/ 1657655 w 1657654"/>
                  <a:gd name="connsiteY2" fmla="*/ 0 h 1102461"/>
                  <a:gd name="connsiteX3" fmla="*/ 0 w 1657654"/>
                  <a:gd name="connsiteY3" fmla="*/ 0 h 1102461"/>
                  <a:gd name="connsiteX4" fmla="*/ 0 w 1657654"/>
                  <a:gd name="connsiteY4" fmla="*/ 273558 h 1102461"/>
                  <a:gd name="connsiteX5" fmla="*/ 828827 w 1657654"/>
                  <a:gd name="connsiteY5" fmla="*/ 1102462 h 1102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7654" h="1102461">
                    <a:moveTo>
                      <a:pt x="828827" y="1102462"/>
                    </a:moveTo>
                    <a:cubicBezTo>
                      <a:pt x="1286469" y="1102126"/>
                      <a:pt x="1657358" y="731200"/>
                      <a:pt x="1657655" y="273558"/>
                    </a:cubicBezTo>
                    <a:lnTo>
                      <a:pt x="1657655" y="0"/>
                    </a:lnTo>
                    <a:lnTo>
                      <a:pt x="0" y="0"/>
                    </a:lnTo>
                    <a:lnTo>
                      <a:pt x="0" y="273558"/>
                    </a:lnTo>
                    <a:cubicBezTo>
                      <a:pt x="297" y="731200"/>
                      <a:pt x="371185" y="1102126"/>
                      <a:pt x="828827" y="1102462"/>
                    </a:cubicBezTo>
                    <a:close/>
                  </a:path>
                </a:pathLst>
              </a:custGeom>
              <a:solidFill>
                <a:srgbClr val="0078D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401" name="Freeform: Shape 400">
                <a:extLst>
                  <a:ext uri="{FF2B5EF4-FFF2-40B4-BE49-F238E27FC236}">
                    <a16:creationId xmlns:a16="http://schemas.microsoft.com/office/drawing/2014/main" id="{A92BE80C-D610-7386-A606-23995692A15D}"/>
                  </a:ext>
                </a:extLst>
              </p:cNvPr>
              <p:cNvSpPr/>
              <p:nvPr/>
            </p:nvSpPr>
            <p:spPr>
              <a:xfrm>
                <a:off x="2349936" y="3741946"/>
                <a:ext cx="134099" cy="30198"/>
              </a:xfrm>
              <a:custGeom>
                <a:avLst/>
                <a:gdLst>
                  <a:gd name="connsiteX0" fmla="*/ 0 w 1657730"/>
                  <a:gd name="connsiteY0" fmla="*/ 0 h 373303"/>
                  <a:gd name="connsiteX1" fmla="*/ 1657731 w 1657730"/>
                  <a:gd name="connsiteY1" fmla="*/ 0 h 373303"/>
                  <a:gd name="connsiteX2" fmla="*/ 1657731 w 1657730"/>
                  <a:gd name="connsiteY2" fmla="*/ 373304 h 373303"/>
                  <a:gd name="connsiteX3" fmla="*/ 0 w 1657730"/>
                  <a:gd name="connsiteY3" fmla="*/ 373304 h 373303"/>
                </a:gdLst>
                <a:ahLst/>
                <a:cxnLst>
                  <a:cxn ang="0">
                    <a:pos x="connsiteX0" y="connsiteY0"/>
                  </a:cxn>
                  <a:cxn ang="0">
                    <a:pos x="connsiteX1" y="connsiteY1"/>
                  </a:cxn>
                  <a:cxn ang="0">
                    <a:pos x="connsiteX2" y="connsiteY2"/>
                  </a:cxn>
                  <a:cxn ang="0">
                    <a:pos x="connsiteX3" y="connsiteY3"/>
                  </a:cxn>
                </a:cxnLst>
                <a:rect l="l" t="t" r="r" b="b"/>
                <a:pathLst>
                  <a:path w="1657730" h="373303">
                    <a:moveTo>
                      <a:pt x="0" y="0"/>
                    </a:moveTo>
                    <a:lnTo>
                      <a:pt x="1657731" y="0"/>
                    </a:lnTo>
                    <a:lnTo>
                      <a:pt x="1657731" y="373304"/>
                    </a:lnTo>
                    <a:lnTo>
                      <a:pt x="0" y="373304"/>
                    </a:lnTo>
                    <a:close/>
                  </a:path>
                </a:pathLst>
              </a:custGeom>
              <a:solidFill>
                <a:srgbClr val="AA67C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402" name="Freeform: Shape 401">
                <a:extLst>
                  <a:ext uri="{FF2B5EF4-FFF2-40B4-BE49-F238E27FC236}">
                    <a16:creationId xmlns:a16="http://schemas.microsoft.com/office/drawing/2014/main" id="{25E60A3C-8AD8-983E-BDCB-6DA3591D2D8D}"/>
                  </a:ext>
                </a:extLst>
              </p:cNvPr>
              <p:cNvSpPr/>
              <p:nvPr/>
            </p:nvSpPr>
            <p:spPr>
              <a:xfrm>
                <a:off x="2349936" y="3646551"/>
                <a:ext cx="134093" cy="89200"/>
              </a:xfrm>
              <a:custGeom>
                <a:avLst/>
                <a:gdLst>
                  <a:gd name="connsiteX0" fmla="*/ 1657655 w 1657654"/>
                  <a:gd name="connsiteY0" fmla="*/ 1102690 h 1102690"/>
                  <a:gd name="connsiteX1" fmla="*/ 1657655 w 1657654"/>
                  <a:gd name="connsiteY1" fmla="*/ 828827 h 1102690"/>
                  <a:gd name="connsiteX2" fmla="*/ 828827 w 1657654"/>
                  <a:gd name="connsiteY2" fmla="*/ 0 h 1102690"/>
                  <a:gd name="connsiteX3" fmla="*/ 0 w 1657654"/>
                  <a:gd name="connsiteY3" fmla="*/ 828827 h 1102690"/>
                  <a:gd name="connsiteX4" fmla="*/ 0 w 1657654"/>
                  <a:gd name="connsiteY4" fmla="*/ 1102690 h 1102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654" h="1102690">
                    <a:moveTo>
                      <a:pt x="1657655" y="1102690"/>
                    </a:moveTo>
                    <a:lnTo>
                      <a:pt x="1657655" y="828827"/>
                    </a:lnTo>
                    <a:cubicBezTo>
                      <a:pt x="1657655" y="371079"/>
                      <a:pt x="1286576" y="0"/>
                      <a:pt x="828827" y="0"/>
                    </a:cubicBezTo>
                    <a:cubicBezTo>
                      <a:pt x="371079" y="0"/>
                      <a:pt x="0" y="371079"/>
                      <a:pt x="0" y="828827"/>
                    </a:cubicBezTo>
                    <a:lnTo>
                      <a:pt x="0" y="1102690"/>
                    </a:lnTo>
                    <a:close/>
                  </a:path>
                </a:pathLst>
              </a:custGeom>
              <a:solidFill>
                <a:srgbClr val="0078D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384" name="Group 383">
              <a:extLst>
                <a:ext uri="{FF2B5EF4-FFF2-40B4-BE49-F238E27FC236}">
                  <a16:creationId xmlns:a16="http://schemas.microsoft.com/office/drawing/2014/main" id="{E1E1565E-DFFA-69E2-4C9C-7C7B22C4BEA5}"/>
                </a:ext>
              </a:extLst>
            </p:cNvPr>
            <p:cNvGrpSpPr/>
            <p:nvPr/>
          </p:nvGrpSpPr>
          <p:grpSpPr>
            <a:xfrm>
              <a:off x="2270575" y="4803853"/>
              <a:ext cx="292840" cy="285558"/>
              <a:chOff x="2270575" y="4803853"/>
              <a:chExt cx="292840" cy="285558"/>
            </a:xfrm>
          </p:grpSpPr>
          <p:sp>
            <p:nvSpPr>
              <p:cNvPr id="390" name="Freeform: Shape 389">
                <a:extLst>
                  <a:ext uri="{FF2B5EF4-FFF2-40B4-BE49-F238E27FC236}">
                    <a16:creationId xmlns:a16="http://schemas.microsoft.com/office/drawing/2014/main" id="{32E6A75F-A451-19B7-6F50-218525EAA116}"/>
                  </a:ext>
                </a:extLst>
              </p:cNvPr>
              <p:cNvSpPr/>
              <p:nvPr/>
            </p:nvSpPr>
            <p:spPr>
              <a:xfrm>
                <a:off x="2364417" y="4809964"/>
                <a:ext cx="105156" cy="78096"/>
              </a:xfrm>
              <a:custGeom>
                <a:avLst/>
                <a:gdLst>
                  <a:gd name="connsiteX0" fmla="*/ 1641653 w 1641652"/>
                  <a:gd name="connsiteY0" fmla="*/ 1219200 h 1219200"/>
                  <a:gd name="connsiteX1" fmla="*/ 820826 w 1641652"/>
                  <a:gd name="connsiteY1" fmla="*/ 0 h 1219200"/>
                  <a:gd name="connsiteX2" fmla="*/ 0 w 1641652"/>
                  <a:gd name="connsiteY2" fmla="*/ 1219200 h 1219200"/>
                </a:gdLst>
                <a:ahLst/>
                <a:cxnLst>
                  <a:cxn ang="0">
                    <a:pos x="connsiteX0" y="connsiteY0"/>
                  </a:cxn>
                  <a:cxn ang="0">
                    <a:pos x="connsiteX1" y="connsiteY1"/>
                  </a:cxn>
                  <a:cxn ang="0">
                    <a:pos x="connsiteX2" y="connsiteY2"/>
                  </a:cxn>
                </a:cxnLst>
                <a:rect l="l" t="t" r="r" b="b"/>
                <a:pathLst>
                  <a:path w="1641652" h="1219200">
                    <a:moveTo>
                      <a:pt x="1641653" y="1219200"/>
                    </a:moveTo>
                    <a:cubicBezTo>
                      <a:pt x="1480871" y="472440"/>
                      <a:pt x="1137971" y="0"/>
                      <a:pt x="820826" y="0"/>
                    </a:cubicBezTo>
                    <a:cubicBezTo>
                      <a:pt x="503682" y="0"/>
                      <a:pt x="160782" y="472440"/>
                      <a:pt x="0" y="1219200"/>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91" name="Freeform: Shape 390">
                <a:extLst>
                  <a:ext uri="{FF2B5EF4-FFF2-40B4-BE49-F238E27FC236}">
                    <a16:creationId xmlns:a16="http://schemas.microsoft.com/office/drawing/2014/main" id="{1148A579-242A-52E4-7467-06BF01A17760}"/>
                  </a:ext>
                </a:extLst>
              </p:cNvPr>
              <p:cNvSpPr/>
              <p:nvPr/>
            </p:nvSpPr>
            <p:spPr>
              <a:xfrm>
                <a:off x="2358423" y="4907584"/>
                <a:ext cx="117144" cy="78096"/>
              </a:xfrm>
              <a:custGeom>
                <a:avLst/>
                <a:gdLst>
                  <a:gd name="connsiteX0" fmla="*/ 0 w 1828800"/>
                  <a:gd name="connsiteY0" fmla="*/ 609600 h 1219200"/>
                  <a:gd name="connsiteX1" fmla="*/ 40691 w 1828800"/>
                  <a:gd name="connsiteY1" fmla="*/ 1219200 h 1219200"/>
                  <a:gd name="connsiteX2" fmla="*/ 1788109 w 1828800"/>
                  <a:gd name="connsiteY2" fmla="*/ 1219200 h 1219200"/>
                  <a:gd name="connsiteX3" fmla="*/ 1828800 w 1828800"/>
                  <a:gd name="connsiteY3" fmla="*/ 609600 h 1219200"/>
                  <a:gd name="connsiteX4" fmla="*/ 1788109 w 1828800"/>
                  <a:gd name="connsiteY4" fmla="*/ 0 h 1219200"/>
                  <a:gd name="connsiteX5" fmla="*/ 40691 w 1828800"/>
                  <a:gd name="connsiteY5" fmla="*/ 0 h 1219200"/>
                  <a:gd name="connsiteX6" fmla="*/ 0 w 1828800"/>
                  <a:gd name="connsiteY6" fmla="*/ 6096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219200">
                    <a:moveTo>
                      <a:pt x="0" y="609600"/>
                    </a:moveTo>
                    <a:cubicBezTo>
                      <a:pt x="-38" y="813481"/>
                      <a:pt x="13564" y="1017133"/>
                      <a:pt x="40691" y="1219200"/>
                    </a:cubicBezTo>
                    <a:lnTo>
                      <a:pt x="1788109" y="1219200"/>
                    </a:lnTo>
                    <a:cubicBezTo>
                      <a:pt x="1815236" y="1017133"/>
                      <a:pt x="1828831" y="813481"/>
                      <a:pt x="1828800" y="609600"/>
                    </a:cubicBezTo>
                    <a:cubicBezTo>
                      <a:pt x="1828831" y="405719"/>
                      <a:pt x="1815236" y="202067"/>
                      <a:pt x="1788109" y="0"/>
                    </a:cubicBezTo>
                    <a:lnTo>
                      <a:pt x="40691" y="0"/>
                    </a:lnTo>
                    <a:cubicBezTo>
                      <a:pt x="13564" y="202067"/>
                      <a:pt x="-38" y="405719"/>
                      <a:pt x="0" y="609600"/>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92" name="Freeform: Shape 391">
                <a:extLst>
                  <a:ext uri="{FF2B5EF4-FFF2-40B4-BE49-F238E27FC236}">
                    <a16:creationId xmlns:a16="http://schemas.microsoft.com/office/drawing/2014/main" id="{C7EF9926-DBD4-FAF4-D21B-FFEF730321DF}"/>
                  </a:ext>
                </a:extLst>
              </p:cNvPr>
              <p:cNvSpPr/>
              <p:nvPr/>
            </p:nvSpPr>
            <p:spPr>
              <a:xfrm>
                <a:off x="2364417" y="5005204"/>
                <a:ext cx="105156" cy="78096"/>
              </a:xfrm>
              <a:custGeom>
                <a:avLst/>
                <a:gdLst>
                  <a:gd name="connsiteX0" fmla="*/ 0 w 1641652"/>
                  <a:gd name="connsiteY0" fmla="*/ 0 h 1219200"/>
                  <a:gd name="connsiteX1" fmla="*/ 820826 w 1641652"/>
                  <a:gd name="connsiteY1" fmla="*/ 1219200 h 1219200"/>
                  <a:gd name="connsiteX2" fmla="*/ 1641653 w 1641652"/>
                  <a:gd name="connsiteY2" fmla="*/ 0 h 1219200"/>
                </a:gdLst>
                <a:ahLst/>
                <a:cxnLst>
                  <a:cxn ang="0">
                    <a:pos x="connsiteX0" y="connsiteY0"/>
                  </a:cxn>
                  <a:cxn ang="0">
                    <a:pos x="connsiteX1" y="connsiteY1"/>
                  </a:cxn>
                  <a:cxn ang="0">
                    <a:pos x="connsiteX2" y="connsiteY2"/>
                  </a:cxn>
                </a:cxnLst>
                <a:rect l="l" t="t" r="r" b="b"/>
                <a:pathLst>
                  <a:path w="1641652" h="1219200">
                    <a:moveTo>
                      <a:pt x="0" y="0"/>
                    </a:moveTo>
                    <a:cubicBezTo>
                      <a:pt x="160782" y="746760"/>
                      <a:pt x="503682" y="1219200"/>
                      <a:pt x="820826" y="1219200"/>
                    </a:cubicBezTo>
                    <a:cubicBezTo>
                      <a:pt x="1137971" y="1219200"/>
                      <a:pt x="1480871" y="746760"/>
                      <a:pt x="1641653" y="0"/>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93" name="Freeform: Shape 392">
                <a:extLst>
                  <a:ext uri="{FF2B5EF4-FFF2-40B4-BE49-F238E27FC236}">
                    <a16:creationId xmlns:a16="http://schemas.microsoft.com/office/drawing/2014/main" id="{DE651D0F-4C91-7B5B-C616-1A1C67B946E3}"/>
                  </a:ext>
                </a:extLst>
              </p:cNvPr>
              <p:cNvSpPr/>
              <p:nvPr/>
            </p:nvSpPr>
            <p:spPr>
              <a:xfrm>
                <a:off x="2449063" y="4803853"/>
                <a:ext cx="102003" cy="84207"/>
              </a:xfrm>
              <a:custGeom>
                <a:avLst/>
                <a:gdLst>
                  <a:gd name="connsiteX0" fmla="*/ 632308 w 1592427"/>
                  <a:gd name="connsiteY0" fmla="*/ 1314602 h 1314602"/>
                  <a:gd name="connsiteX1" fmla="*/ 1592428 w 1592427"/>
                  <a:gd name="connsiteY1" fmla="*/ 1314602 h 1314602"/>
                  <a:gd name="connsiteX2" fmla="*/ 0 w 1592427"/>
                  <a:gd name="connsiteY2" fmla="*/ 0 h 1314602"/>
                  <a:gd name="connsiteX3" fmla="*/ 632308 w 1592427"/>
                  <a:gd name="connsiteY3" fmla="*/ 1314602 h 1314602"/>
                </a:gdLst>
                <a:ahLst/>
                <a:cxnLst>
                  <a:cxn ang="0">
                    <a:pos x="connsiteX0" y="connsiteY0"/>
                  </a:cxn>
                  <a:cxn ang="0">
                    <a:pos x="connsiteX1" y="connsiteY1"/>
                  </a:cxn>
                  <a:cxn ang="0">
                    <a:pos x="connsiteX2" y="connsiteY2"/>
                  </a:cxn>
                  <a:cxn ang="0">
                    <a:pos x="connsiteX3" y="connsiteY3"/>
                  </a:cxn>
                </a:cxnLst>
                <a:rect l="l" t="t" r="r" b="b"/>
                <a:pathLst>
                  <a:path w="1592427" h="1314602">
                    <a:moveTo>
                      <a:pt x="632308" y="1314602"/>
                    </a:moveTo>
                    <a:lnTo>
                      <a:pt x="1592428" y="1314602"/>
                    </a:lnTo>
                    <a:cubicBezTo>
                      <a:pt x="1299881" y="648846"/>
                      <a:pt x="709117" y="161143"/>
                      <a:pt x="0" y="0"/>
                    </a:cubicBezTo>
                    <a:cubicBezTo>
                      <a:pt x="289103" y="254356"/>
                      <a:pt x="515874" y="724662"/>
                      <a:pt x="632308" y="1314602"/>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94" name="Freeform: Shape 393">
                <a:extLst>
                  <a:ext uri="{FF2B5EF4-FFF2-40B4-BE49-F238E27FC236}">
                    <a16:creationId xmlns:a16="http://schemas.microsoft.com/office/drawing/2014/main" id="{42C0FB87-EFC0-98CC-7DD7-E35981177C08}"/>
                  </a:ext>
                </a:extLst>
              </p:cNvPr>
              <p:cNvSpPr/>
              <p:nvPr/>
            </p:nvSpPr>
            <p:spPr>
              <a:xfrm>
                <a:off x="2492670" y="4907584"/>
                <a:ext cx="70745" cy="78096"/>
              </a:xfrm>
              <a:custGeom>
                <a:avLst/>
                <a:gdLst>
                  <a:gd name="connsiteX0" fmla="*/ 1021232 w 1104438"/>
                  <a:gd name="connsiteY0" fmla="*/ 0 h 1219200"/>
                  <a:gd name="connsiteX1" fmla="*/ 152 w 1104438"/>
                  <a:gd name="connsiteY1" fmla="*/ 0 h 1219200"/>
                  <a:gd name="connsiteX2" fmla="*/ 37795 w 1104438"/>
                  <a:gd name="connsiteY2" fmla="*/ 609600 h 1219200"/>
                  <a:gd name="connsiteX3" fmla="*/ 0 w 1104438"/>
                  <a:gd name="connsiteY3" fmla="*/ 1219200 h 1219200"/>
                  <a:gd name="connsiteX4" fmla="*/ 1021080 w 1104438"/>
                  <a:gd name="connsiteY4" fmla="*/ 1219200 h 1219200"/>
                  <a:gd name="connsiteX5" fmla="*/ 1021080 w 1104438"/>
                  <a:gd name="connsiteY5" fmla="*/ 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4438" h="1219200">
                    <a:moveTo>
                      <a:pt x="1021232" y="0"/>
                    </a:moveTo>
                    <a:lnTo>
                      <a:pt x="152" y="0"/>
                    </a:lnTo>
                    <a:cubicBezTo>
                      <a:pt x="25298" y="202219"/>
                      <a:pt x="37871" y="405811"/>
                      <a:pt x="37795" y="609600"/>
                    </a:cubicBezTo>
                    <a:cubicBezTo>
                      <a:pt x="37810" y="813389"/>
                      <a:pt x="25191" y="1016980"/>
                      <a:pt x="0" y="1219200"/>
                    </a:cubicBezTo>
                    <a:lnTo>
                      <a:pt x="1021080" y="1219200"/>
                    </a:lnTo>
                    <a:cubicBezTo>
                      <a:pt x="1132225" y="820400"/>
                      <a:pt x="1132225" y="398800"/>
                      <a:pt x="1021080" y="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95" name="Freeform: Shape 394">
                <a:extLst>
                  <a:ext uri="{FF2B5EF4-FFF2-40B4-BE49-F238E27FC236}">
                    <a16:creationId xmlns:a16="http://schemas.microsoft.com/office/drawing/2014/main" id="{95F6F6D6-9F8B-3BBD-37AD-BD7EE1A635AD}"/>
                  </a:ext>
                </a:extLst>
              </p:cNvPr>
              <p:cNvSpPr/>
              <p:nvPr/>
            </p:nvSpPr>
            <p:spPr>
              <a:xfrm>
                <a:off x="2449063" y="5005204"/>
                <a:ext cx="102023" cy="84207"/>
              </a:xfrm>
              <a:custGeom>
                <a:avLst/>
                <a:gdLst>
                  <a:gd name="connsiteX0" fmla="*/ 0 w 1592732"/>
                  <a:gd name="connsiteY0" fmla="*/ 1314602 h 1314602"/>
                  <a:gd name="connsiteX1" fmla="*/ 1592732 w 1592732"/>
                  <a:gd name="connsiteY1" fmla="*/ 0 h 1314602"/>
                  <a:gd name="connsiteX2" fmla="*/ 632613 w 1592732"/>
                  <a:gd name="connsiteY2" fmla="*/ 0 h 1314602"/>
                  <a:gd name="connsiteX3" fmla="*/ 0 w 1592732"/>
                  <a:gd name="connsiteY3" fmla="*/ 1314602 h 1314602"/>
                </a:gdLst>
                <a:ahLst/>
                <a:cxnLst>
                  <a:cxn ang="0">
                    <a:pos x="connsiteX0" y="connsiteY0"/>
                  </a:cxn>
                  <a:cxn ang="0">
                    <a:pos x="connsiteX1" y="connsiteY1"/>
                  </a:cxn>
                  <a:cxn ang="0">
                    <a:pos x="connsiteX2" y="connsiteY2"/>
                  </a:cxn>
                  <a:cxn ang="0">
                    <a:pos x="connsiteX3" y="connsiteY3"/>
                  </a:cxn>
                </a:cxnLst>
                <a:rect l="l" t="t" r="r" b="b"/>
                <a:pathLst>
                  <a:path w="1592732" h="1314602">
                    <a:moveTo>
                      <a:pt x="0" y="1314602"/>
                    </a:moveTo>
                    <a:cubicBezTo>
                      <a:pt x="709224" y="1153546"/>
                      <a:pt x="1300124" y="665836"/>
                      <a:pt x="1592732" y="0"/>
                    </a:cubicBezTo>
                    <a:lnTo>
                      <a:pt x="632613" y="0"/>
                    </a:lnTo>
                    <a:cubicBezTo>
                      <a:pt x="515874" y="589940"/>
                      <a:pt x="289103" y="1060247"/>
                      <a:pt x="0" y="1314602"/>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96" name="Freeform: Shape 395">
                <a:extLst>
                  <a:ext uri="{FF2B5EF4-FFF2-40B4-BE49-F238E27FC236}">
                    <a16:creationId xmlns:a16="http://schemas.microsoft.com/office/drawing/2014/main" id="{6E9B95EC-BBED-8FCA-7D27-5F49D5C5804B}"/>
                  </a:ext>
                </a:extLst>
              </p:cNvPr>
              <p:cNvSpPr/>
              <p:nvPr/>
            </p:nvSpPr>
            <p:spPr>
              <a:xfrm>
                <a:off x="2282923" y="5005204"/>
                <a:ext cx="102023" cy="84207"/>
              </a:xfrm>
              <a:custGeom>
                <a:avLst/>
                <a:gdLst>
                  <a:gd name="connsiteX0" fmla="*/ 960120 w 1592732"/>
                  <a:gd name="connsiteY0" fmla="*/ 0 h 1314602"/>
                  <a:gd name="connsiteX1" fmla="*/ 0 w 1592732"/>
                  <a:gd name="connsiteY1" fmla="*/ 0 h 1314602"/>
                  <a:gd name="connsiteX2" fmla="*/ 1592732 w 1592732"/>
                  <a:gd name="connsiteY2" fmla="*/ 1314602 h 1314602"/>
                  <a:gd name="connsiteX3" fmla="*/ 960120 w 1592732"/>
                  <a:gd name="connsiteY3" fmla="*/ 0 h 1314602"/>
                </a:gdLst>
                <a:ahLst/>
                <a:cxnLst>
                  <a:cxn ang="0">
                    <a:pos x="connsiteX0" y="connsiteY0"/>
                  </a:cxn>
                  <a:cxn ang="0">
                    <a:pos x="connsiteX1" y="connsiteY1"/>
                  </a:cxn>
                  <a:cxn ang="0">
                    <a:pos x="connsiteX2" y="connsiteY2"/>
                  </a:cxn>
                  <a:cxn ang="0">
                    <a:pos x="connsiteX3" y="connsiteY3"/>
                  </a:cxn>
                </a:cxnLst>
                <a:rect l="l" t="t" r="r" b="b"/>
                <a:pathLst>
                  <a:path w="1592732" h="1314602">
                    <a:moveTo>
                      <a:pt x="960120" y="0"/>
                    </a:moveTo>
                    <a:lnTo>
                      <a:pt x="0" y="0"/>
                    </a:lnTo>
                    <a:cubicBezTo>
                      <a:pt x="292602" y="665836"/>
                      <a:pt x="883502" y="1153546"/>
                      <a:pt x="1592732" y="1314602"/>
                    </a:cubicBezTo>
                    <a:cubicBezTo>
                      <a:pt x="1303325" y="1060247"/>
                      <a:pt x="1076554" y="589940"/>
                      <a:pt x="960120" y="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97" name="Freeform: Shape 396">
                <a:extLst>
                  <a:ext uri="{FF2B5EF4-FFF2-40B4-BE49-F238E27FC236}">
                    <a16:creationId xmlns:a16="http://schemas.microsoft.com/office/drawing/2014/main" id="{4EFDF5F1-F36E-6D23-DEFD-A1E1B5B182FB}"/>
                  </a:ext>
                </a:extLst>
              </p:cNvPr>
              <p:cNvSpPr/>
              <p:nvPr/>
            </p:nvSpPr>
            <p:spPr>
              <a:xfrm>
                <a:off x="2282904" y="4803853"/>
                <a:ext cx="102023" cy="84207"/>
              </a:xfrm>
              <a:custGeom>
                <a:avLst/>
                <a:gdLst>
                  <a:gd name="connsiteX0" fmla="*/ 1592732 w 1592732"/>
                  <a:gd name="connsiteY0" fmla="*/ 0 h 1314602"/>
                  <a:gd name="connsiteX1" fmla="*/ 0 w 1592732"/>
                  <a:gd name="connsiteY1" fmla="*/ 1314602 h 1314602"/>
                  <a:gd name="connsiteX2" fmla="*/ 960120 w 1592732"/>
                  <a:gd name="connsiteY2" fmla="*/ 1314602 h 1314602"/>
                  <a:gd name="connsiteX3" fmla="*/ 1592732 w 1592732"/>
                  <a:gd name="connsiteY3" fmla="*/ 0 h 1314602"/>
                </a:gdLst>
                <a:ahLst/>
                <a:cxnLst>
                  <a:cxn ang="0">
                    <a:pos x="connsiteX0" y="connsiteY0"/>
                  </a:cxn>
                  <a:cxn ang="0">
                    <a:pos x="connsiteX1" y="connsiteY1"/>
                  </a:cxn>
                  <a:cxn ang="0">
                    <a:pos x="connsiteX2" y="connsiteY2"/>
                  </a:cxn>
                  <a:cxn ang="0">
                    <a:pos x="connsiteX3" y="connsiteY3"/>
                  </a:cxn>
                </a:cxnLst>
                <a:rect l="l" t="t" r="r" b="b"/>
                <a:pathLst>
                  <a:path w="1592732" h="1314602">
                    <a:moveTo>
                      <a:pt x="1592732" y="0"/>
                    </a:moveTo>
                    <a:cubicBezTo>
                      <a:pt x="883502" y="161056"/>
                      <a:pt x="292602" y="648773"/>
                      <a:pt x="0" y="1314602"/>
                    </a:cubicBezTo>
                    <a:lnTo>
                      <a:pt x="960120" y="1314602"/>
                    </a:lnTo>
                    <a:cubicBezTo>
                      <a:pt x="1076858" y="724662"/>
                      <a:pt x="1303630" y="254356"/>
                      <a:pt x="1592732" y="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98" name="Freeform: Shape 397">
                <a:extLst>
                  <a:ext uri="{FF2B5EF4-FFF2-40B4-BE49-F238E27FC236}">
                    <a16:creationId xmlns:a16="http://schemas.microsoft.com/office/drawing/2014/main" id="{3E2904F2-1152-046B-5659-7B1DAB370AEB}"/>
                  </a:ext>
                </a:extLst>
              </p:cNvPr>
              <p:cNvSpPr/>
              <p:nvPr/>
            </p:nvSpPr>
            <p:spPr>
              <a:xfrm>
                <a:off x="2270575" y="4907584"/>
                <a:ext cx="70745" cy="78096"/>
              </a:xfrm>
              <a:custGeom>
                <a:avLst/>
                <a:gdLst>
                  <a:gd name="connsiteX0" fmla="*/ 1066640 w 1104435"/>
                  <a:gd name="connsiteY0" fmla="*/ 609600 h 1219200"/>
                  <a:gd name="connsiteX1" fmla="*/ 1104436 w 1104435"/>
                  <a:gd name="connsiteY1" fmla="*/ 0 h 1219200"/>
                  <a:gd name="connsiteX2" fmla="*/ 83355 w 1104435"/>
                  <a:gd name="connsiteY2" fmla="*/ 0 h 1219200"/>
                  <a:gd name="connsiteX3" fmla="*/ 83355 w 1104435"/>
                  <a:gd name="connsiteY3" fmla="*/ 1219200 h 1219200"/>
                  <a:gd name="connsiteX4" fmla="*/ 1104436 w 1104435"/>
                  <a:gd name="connsiteY4" fmla="*/ 1219200 h 1219200"/>
                  <a:gd name="connsiteX5" fmla="*/ 1066640 w 1104435"/>
                  <a:gd name="connsiteY5" fmla="*/ 6096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4435" h="1219200">
                    <a:moveTo>
                      <a:pt x="1066640" y="609600"/>
                    </a:moveTo>
                    <a:cubicBezTo>
                      <a:pt x="1066620" y="405811"/>
                      <a:pt x="1079244" y="202219"/>
                      <a:pt x="1104436" y="0"/>
                    </a:cubicBezTo>
                    <a:lnTo>
                      <a:pt x="83355" y="0"/>
                    </a:lnTo>
                    <a:cubicBezTo>
                      <a:pt x="-27785" y="398800"/>
                      <a:pt x="-27785" y="820400"/>
                      <a:pt x="83355" y="1219200"/>
                    </a:cubicBezTo>
                    <a:lnTo>
                      <a:pt x="1104436" y="1219200"/>
                    </a:lnTo>
                    <a:cubicBezTo>
                      <a:pt x="1079244" y="1016980"/>
                      <a:pt x="1066620" y="813389"/>
                      <a:pt x="1066640" y="60960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385" name="Group 384">
              <a:extLst>
                <a:ext uri="{FF2B5EF4-FFF2-40B4-BE49-F238E27FC236}">
                  <a16:creationId xmlns:a16="http://schemas.microsoft.com/office/drawing/2014/main" id="{D03FEA06-FCA6-ADC0-B6BE-06EEC1FA8832}"/>
                </a:ext>
              </a:extLst>
            </p:cNvPr>
            <p:cNvGrpSpPr/>
            <p:nvPr/>
          </p:nvGrpSpPr>
          <p:grpSpPr>
            <a:xfrm>
              <a:off x="1193038" y="3626120"/>
              <a:ext cx="342900" cy="342900"/>
              <a:chOff x="1193038" y="3626120"/>
              <a:chExt cx="342900" cy="342900"/>
            </a:xfrm>
          </p:grpSpPr>
          <p:sp>
            <p:nvSpPr>
              <p:cNvPr id="387" name="Freeform: Shape 386">
                <a:extLst>
                  <a:ext uri="{FF2B5EF4-FFF2-40B4-BE49-F238E27FC236}">
                    <a16:creationId xmlns:a16="http://schemas.microsoft.com/office/drawing/2014/main" id="{D27FD261-5D20-FBB5-AD76-D50FE848D78A}"/>
                  </a:ext>
                </a:extLst>
              </p:cNvPr>
              <p:cNvSpPr/>
              <p:nvPr/>
            </p:nvSpPr>
            <p:spPr>
              <a:xfrm>
                <a:off x="1314259" y="3727249"/>
                <a:ext cx="100459" cy="100459"/>
              </a:xfrm>
              <a:custGeom>
                <a:avLst/>
                <a:gdLst>
                  <a:gd name="connsiteX0" fmla="*/ 714375 w 1428750"/>
                  <a:gd name="connsiteY0" fmla="*/ 0 h 1428750"/>
                  <a:gd name="connsiteX1" fmla="*/ 0 w 1428750"/>
                  <a:gd name="connsiteY1" fmla="*/ 714375 h 1428750"/>
                  <a:gd name="connsiteX2" fmla="*/ 714375 w 1428750"/>
                  <a:gd name="connsiteY2" fmla="*/ 1428750 h 1428750"/>
                  <a:gd name="connsiteX3" fmla="*/ 1428750 w 1428750"/>
                  <a:gd name="connsiteY3" fmla="*/ 714375 h 1428750"/>
                  <a:gd name="connsiteX4" fmla="*/ 714375 w 1428750"/>
                  <a:gd name="connsiteY4" fmla="*/ 0 h 1428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0" h="1428750">
                    <a:moveTo>
                      <a:pt x="714375" y="0"/>
                    </a:moveTo>
                    <a:cubicBezTo>
                      <a:pt x="320488" y="0"/>
                      <a:pt x="0" y="320488"/>
                      <a:pt x="0" y="714375"/>
                    </a:cubicBezTo>
                    <a:cubicBezTo>
                      <a:pt x="0" y="1108262"/>
                      <a:pt x="320488" y="1428750"/>
                      <a:pt x="714375" y="1428750"/>
                    </a:cubicBezTo>
                    <a:cubicBezTo>
                      <a:pt x="1108262" y="1428750"/>
                      <a:pt x="1428750" y="1108262"/>
                      <a:pt x="1428750" y="714375"/>
                    </a:cubicBezTo>
                    <a:cubicBezTo>
                      <a:pt x="1428750" y="320488"/>
                      <a:pt x="1108262" y="0"/>
                      <a:pt x="714375" y="0"/>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88" name="Freeform: Shape 387">
                <a:extLst>
                  <a:ext uri="{FF2B5EF4-FFF2-40B4-BE49-F238E27FC236}">
                    <a16:creationId xmlns:a16="http://schemas.microsoft.com/office/drawing/2014/main" id="{4865C0EC-F73D-8399-A9AF-813877F02AE0}"/>
                  </a:ext>
                </a:extLst>
              </p:cNvPr>
              <p:cNvSpPr/>
              <p:nvPr/>
            </p:nvSpPr>
            <p:spPr>
              <a:xfrm>
                <a:off x="1193038" y="3626120"/>
                <a:ext cx="342900" cy="342900"/>
              </a:xfrm>
              <a:custGeom>
                <a:avLst/>
                <a:gdLst>
                  <a:gd name="connsiteX0" fmla="*/ 4779131 w 4876800"/>
                  <a:gd name="connsiteY0" fmla="*/ 2017166 h 4876800"/>
                  <a:gd name="connsiteX1" fmla="*/ 4521527 w 4876800"/>
                  <a:gd name="connsiteY1" fmla="*/ 1934423 h 4876800"/>
                  <a:gd name="connsiteX2" fmla="*/ 4267591 w 4876800"/>
                  <a:gd name="connsiteY2" fmla="*/ 1322041 h 4876800"/>
                  <a:gd name="connsiteX3" fmla="*/ 4384653 w 4876800"/>
                  <a:gd name="connsiteY3" fmla="*/ 1087917 h 4876800"/>
                  <a:gd name="connsiteX4" fmla="*/ 4357859 w 4876800"/>
                  <a:gd name="connsiteY4" fmla="*/ 923001 h 4876800"/>
                  <a:gd name="connsiteX5" fmla="*/ 3953790 w 4876800"/>
                  <a:gd name="connsiteY5" fmla="*/ 518932 h 4876800"/>
                  <a:gd name="connsiteX6" fmla="*/ 3788874 w 4876800"/>
                  <a:gd name="connsiteY6" fmla="*/ 492138 h 4876800"/>
                  <a:gd name="connsiteX7" fmla="*/ 3554606 w 4876800"/>
                  <a:gd name="connsiteY7" fmla="*/ 609343 h 4876800"/>
                  <a:gd name="connsiteX8" fmla="*/ 2992450 w 4876800"/>
                  <a:gd name="connsiteY8" fmla="*/ 369637 h 4876800"/>
                  <a:gd name="connsiteX9" fmla="*/ 2851957 w 4876800"/>
                  <a:gd name="connsiteY9" fmla="*/ 78972 h 4876800"/>
                  <a:gd name="connsiteX10" fmla="*/ 2724150 w 4876800"/>
                  <a:gd name="connsiteY10" fmla="*/ 0 h 4876800"/>
                  <a:gd name="connsiteX11" fmla="*/ 2152650 w 4876800"/>
                  <a:gd name="connsiteY11" fmla="*/ 0 h 4876800"/>
                  <a:gd name="connsiteX12" fmla="*/ 2024844 w 4876800"/>
                  <a:gd name="connsiteY12" fmla="*/ 78972 h 4876800"/>
                  <a:gd name="connsiteX13" fmla="*/ 1884340 w 4876800"/>
                  <a:gd name="connsiteY13" fmla="*/ 369646 h 4876800"/>
                  <a:gd name="connsiteX14" fmla="*/ 1322184 w 4876800"/>
                  <a:gd name="connsiteY14" fmla="*/ 609352 h 4876800"/>
                  <a:gd name="connsiteX15" fmla="*/ 1087917 w 4876800"/>
                  <a:gd name="connsiteY15" fmla="*/ 492147 h 4876800"/>
                  <a:gd name="connsiteX16" fmla="*/ 923001 w 4876800"/>
                  <a:gd name="connsiteY16" fmla="*/ 518941 h 4876800"/>
                  <a:gd name="connsiteX17" fmla="*/ 518932 w 4876800"/>
                  <a:gd name="connsiteY17" fmla="*/ 923001 h 4876800"/>
                  <a:gd name="connsiteX18" fmla="*/ 492138 w 4876800"/>
                  <a:gd name="connsiteY18" fmla="*/ 1087917 h 4876800"/>
                  <a:gd name="connsiteX19" fmla="*/ 609343 w 4876800"/>
                  <a:gd name="connsiteY19" fmla="*/ 1322184 h 4876800"/>
                  <a:gd name="connsiteX20" fmla="*/ 369637 w 4876800"/>
                  <a:gd name="connsiteY20" fmla="*/ 1884340 h 4876800"/>
                  <a:gd name="connsiteX21" fmla="*/ 78972 w 4876800"/>
                  <a:gd name="connsiteY21" fmla="*/ 2024844 h 4876800"/>
                  <a:gd name="connsiteX22" fmla="*/ 0 w 4876800"/>
                  <a:gd name="connsiteY22" fmla="*/ 2152650 h 4876800"/>
                  <a:gd name="connsiteX23" fmla="*/ 0 w 4876800"/>
                  <a:gd name="connsiteY23" fmla="*/ 2724150 h 4876800"/>
                  <a:gd name="connsiteX24" fmla="*/ 78972 w 4876800"/>
                  <a:gd name="connsiteY24" fmla="*/ 2851957 h 4876800"/>
                  <a:gd name="connsiteX25" fmla="*/ 369646 w 4876800"/>
                  <a:gd name="connsiteY25" fmla="*/ 2992460 h 4876800"/>
                  <a:gd name="connsiteX26" fmla="*/ 583959 w 4876800"/>
                  <a:gd name="connsiteY26" fmla="*/ 3508848 h 4876800"/>
                  <a:gd name="connsiteX27" fmla="*/ 484337 w 4876800"/>
                  <a:gd name="connsiteY27" fmla="*/ 3807571 h 4876800"/>
                  <a:gd name="connsiteX28" fmla="*/ 518941 w 4876800"/>
                  <a:gd name="connsiteY28" fmla="*/ 3953799 h 4876800"/>
                  <a:gd name="connsiteX29" fmla="*/ 923011 w 4876800"/>
                  <a:gd name="connsiteY29" fmla="*/ 4357869 h 4876800"/>
                  <a:gd name="connsiteX30" fmla="*/ 1069238 w 4876800"/>
                  <a:gd name="connsiteY30" fmla="*/ 4392473 h 4876800"/>
                  <a:gd name="connsiteX31" fmla="*/ 1367961 w 4876800"/>
                  <a:gd name="connsiteY31" fmla="*/ 4292851 h 4876800"/>
                  <a:gd name="connsiteX32" fmla="*/ 1934442 w 4876800"/>
                  <a:gd name="connsiteY32" fmla="*/ 4521394 h 4876800"/>
                  <a:gd name="connsiteX33" fmla="*/ 2017186 w 4876800"/>
                  <a:gd name="connsiteY33" fmla="*/ 4779141 h 4876800"/>
                  <a:gd name="connsiteX34" fmla="*/ 2152650 w 4876800"/>
                  <a:gd name="connsiteY34" fmla="*/ 4876800 h 4876800"/>
                  <a:gd name="connsiteX35" fmla="*/ 2724150 w 4876800"/>
                  <a:gd name="connsiteY35" fmla="*/ 4876800 h 4876800"/>
                  <a:gd name="connsiteX36" fmla="*/ 2859634 w 4876800"/>
                  <a:gd name="connsiteY36" fmla="*/ 4779131 h 4876800"/>
                  <a:gd name="connsiteX37" fmla="*/ 2942378 w 4876800"/>
                  <a:gd name="connsiteY37" fmla="*/ 4521384 h 4876800"/>
                  <a:gd name="connsiteX38" fmla="*/ 3508858 w 4876800"/>
                  <a:gd name="connsiteY38" fmla="*/ 4292841 h 4876800"/>
                  <a:gd name="connsiteX39" fmla="*/ 3807581 w 4876800"/>
                  <a:gd name="connsiteY39" fmla="*/ 4392464 h 4876800"/>
                  <a:gd name="connsiteX40" fmla="*/ 3953808 w 4876800"/>
                  <a:gd name="connsiteY40" fmla="*/ 4357859 h 4876800"/>
                  <a:gd name="connsiteX41" fmla="*/ 4357878 w 4876800"/>
                  <a:gd name="connsiteY41" fmla="*/ 3953790 h 4876800"/>
                  <a:gd name="connsiteX42" fmla="*/ 4392483 w 4876800"/>
                  <a:gd name="connsiteY42" fmla="*/ 3807562 h 4876800"/>
                  <a:gd name="connsiteX43" fmla="*/ 4292861 w 4876800"/>
                  <a:gd name="connsiteY43" fmla="*/ 3508839 h 4876800"/>
                  <a:gd name="connsiteX44" fmla="*/ 4521403 w 4876800"/>
                  <a:gd name="connsiteY44" fmla="*/ 2942358 h 4876800"/>
                  <a:gd name="connsiteX45" fmla="*/ 4779150 w 4876800"/>
                  <a:gd name="connsiteY45" fmla="*/ 2859615 h 4876800"/>
                  <a:gd name="connsiteX46" fmla="*/ 4876800 w 4876800"/>
                  <a:gd name="connsiteY46" fmla="*/ 2724150 h 4876800"/>
                  <a:gd name="connsiteX47" fmla="*/ 4876800 w 4876800"/>
                  <a:gd name="connsiteY47" fmla="*/ 2152650 h 4876800"/>
                  <a:gd name="connsiteX48" fmla="*/ 4779131 w 4876800"/>
                  <a:gd name="connsiteY48" fmla="*/ 2017166 h 4876800"/>
                  <a:gd name="connsiteX49" fmla="*/ 2438400 w 4876800"/>
                  <a:gd name="connsiteY49" fmla="*/ 4010025 h 4876800"/>
                  <a:gd name="connsiteX50" fmla="*/ 866775 w 4876800"/>
                  <a:gd name="connsiteY50" fmla="*/ 2438400 h 4876800"/>
                  <a:gd name="connsiteX51" fmla="*/ 2438400 w 4876800"/>
                  <a:gd name="connsiteY51" fmla="*/ 866775 h 4876800"/>
                  <a:gd name="connsiteX52" fmla="*/ 4010025 w 4876800"/>
                  <a:gd name="connsiteY52" fmla="*/ 2438400 h 4876800"/>
                  <a:gd name="connsiteX53" fmla="*/ 2438400 w 4876800"/>
                  <a:gd name="connsiteY53" fmla="*/ 4010025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876800" h="4876800">
                    <a:moveTo>
                      <a:pt x="4779131" y="2017166"/>
                    </a:moveTo>
                    <a:lnTo>
                      <a:pt x="4521527" y="1934423"/>
                    </a:lnTo>
                    <a:cubicBezTo>
                      <a:pt x="4469340" y="1717881"/>
                      <a:pt x="4384234" y="1512494"/>
                      <a:pt x="4267591" y="1322041"/>
                    </a:cubicBezTo>
                    <a:lnTo>
                      <a:pt x="4384653" y="1087917"/>
                    </a:lnTo>
                    <a:cubicBezTo>
                      <a:pt x="4412142" y="1032948"/>
                      <a:pt x="4401398" y="966530"/>
                      <a:pt x="4357859" y="923001"/>
                    </a:cubicBezTo>
                    <a:lnTo>
                      <a:pt x="3953790" y="518932"/>
                    </a:lnTo>
                    <a:cubicBezTo>
                      <a:pt x="3910117" y="475259"/>
                      <a:pt x="3843985" y="464791"/>
                      <a:pt x="3788874" y="492138"/>
                    </a:cubicBezTo>
                    <a:lnTo>
                      <a:pt x="3554606" y="609343"/>
                    </a:lnTo>
                    <a:cubicBezTo>
                      <a:pt x="3380756" y="503168"/>
                      <a:pt x="3192256" y="422796"/>
                      <a:pt x="2992450" y="369637"/>
                    </a:cubicBezTo>
                    <a:lnTo>
                      <a:pt x="2851957" y="78972"/>
                    </a:lnTo>
                    <a:cubicBezTo>
                      <a:pt x="2827677" y="30556"/>
                      <a:pt x="2778290" y="0"/>
                      <a:pt x="2724150" y="0"/>
                    </a:cubicBezTo>
                    <a:lnTo>
                      <a:pt x="2152650" y="0"/>
                    </a:lnTo>
                    <a:cubicBezTo>
                      <a:pt x="2098510" y="0"/>
                      <a:pt x="2049123" y="30556"/>
                      <a:pt x="2024844" y="78972"/>
                    </a:cubicBezTo>
                    <a:lnTo>
                      <a:pt x="1884340" y="369646"/>
                    </a:lnTo>
                    <a:cubicBezTo>
                      <a:pt x="1684534" y="422805"/>
                      <a:pt x="1496035" y="503177"/>
                      <a:pt x="1322184" y="609352"/>
                    </a:cubicBezTo>
                    <a:lnTo>
                      <a:pt x="1087917" y="492147"/>
                    </a:lnTo>
                    <a:cubicBezTo>
                      <a:pt x="1032662" y="464382"/>
                      <a:pt x="966673" y="475126"/>
                      <a:pt x="923001" y="518941"/>
                    </a:cubicBezTo>
                    <a:lnTo>
                      <a:pt x="518932" y="923001"/>
                    </a:lnTo>
                    <a:cubicBezTo>
                      <a:pt x="475402" y="966530"/>
                      <a:pt x="464658" y="1032948"/>
                      <a:pt x="492138" y="1087917"/>
                    </a:cubicBezTo>
                    <a:lnTo>
                      <a:pt x="609343" y="1322184"/>
                    </a:lnTo>
                    <a:cubicBezTo>
                      <a:pt x="503168" y="1496035"/>
                      <a:pt x="422796" y="1684534"/>
                      <a:pt x="369637" y="1884340"/>
                    </a:cubicBezTo>
                    <a:lnTo>
                      <a:pt x="78972" y="2024844"/>
                    </a:lnTo>
                    <a:cubicBezTo>
                      <a:pt x="30556" y="2049123"/>
                      <a:pt x="0" y="2098510"/>
                      <a:pt x="0" y="2152650"/>
                    </a:cubicBezTo>
                    <a:lnTo>
                      <a:pt x="0" y="2724150"/>
                    </a:lnTo>
                    <a:cubicBezTo>
                      <a:pt x="0" y="2778290"/>
                      <a:pt x="30556" y="2827677"/>
                      <a:pt x="78972" y="2851957"/>
                    </a:cubicBezTo>
                    <a:lnTo>
                      <a:pt x="369646" y="2992460"/>
                    </a:lnTo>
                    <a:cubicBezTo>
                      <a:pt x="417919" y="3172863"/>
                      <a:pt x="489775" y="3346018"/>
                      <a:pt x="583959" y="3508848"/>
                    </a:cubicBezTo>
                    <a:lnTo>
                      <a:pt x="484337" y="3807571"/>
                    </a:lnTo>
                    <a:cubicBezTo>
                      <a:pt x="467316" y="3858920"/>
                      <a:pt x="480708" y="3915566"/>
                      <a:pt x="518941" y="3953799"/>
                    </a:cubicBezTo>
                    <a:lnTo>
                      <a:pt x="923011" y="4357869"/>
                    </a:lnTo>
                    <a:cubicBezTo>
                      <a:pt x="961377" y="4396102"/>
                      <a:pt x="1017746" y="4409494"/>
                      <a:pt x="1069238" y="4392473"/>
                    </a:cubicBezTo>
                    <a:lnTo>
                      <a:pt x="1367961" y="4292851"/>
                    </a:lnTo>
                    <a:cubicBezTo>
                      <a:pt x="1547536" y="4397074"/>
                      <a:pt x="1737427" y="4473674"/>
                      <a:pt x="1934442" y="4521394"/>
                    </a:cubicBezTo>
                    <a:lnTo>
                      <a:pt x="2017186" y="4779141"/>
                    </a:lnTo>
                    <a:cubicBezTo>
                      <a:pt x="2036569" y="4837452"/>
                      <a:pt x="2091118" y="4876800"/>
                      <a:pt x="2152650" y="4876800"/>
                    </a:cubicBezTo>
                    <a:lnTo>
                      <a:pt x="2724150" y="4876800"/>
                    </a:lnTo>
                    <a:cubicBezTo>
                      <a:pt x="2785682" y="4876800"/>
                      <a:pt x="2840241" y="4837452"/>
                      <a:pt x="2859634" y="4779131"/>
                    </a:cubicBezTo>
                    <a:lnTo>
                      <a:pt x="2942378" y="4521384"/>
                    </a:lnTo>
                    <a:cubicBezTo>
                      <a:pt x="3139393" y="4473664"/>
                      <a:pt x="3329283" y="4397064"/>
                      <a:pt x="3508858" y="4292841"/>
                    </a:cubicBezTo>
                    <a:lnTo>
                      <a:pt x="3807581" y="4392464"/>
                    </a:lnTo>
                    <a:cubicBezTo>
                      <a:pt x="3859063" y="4409485"/>
                      <a:pt x="3915718" y="4396093"/>
                      <a:pt x="3953808" y="4357859"/>
                    </a:cubicBezTo>
                    <a:lnTo>
                      <a:pt x="4357878" y="3953790"/>
                    </a:lnTo>
                    <a:cubicBezTo>
                      <a:pt x="4396112" y="3915556"/>
                      <a:pt x="4409504" y="3858911"/>
                      <a:pt x="4392483" y="3807562"/>
                    </a:cubicBezTo>
                    <a:lnTo>
                      <a:pt x="4292861" y="3508839"/>
                    </a:lnTo>
                    <a:cubicBezTo>
                      <a:pt x="4397083" y="3329264"/>
                      <a:pt x="4473683" y="3139373"/>
                      <a:pt x="4521403" y="2942358"/>
                    </a:cubicBezTo>
                    <a:lnTo>
                      <a:pt x="4779150" y="2859615"/>
                    </a:lnTo>
                    <a:cubicBezTo>
                      <a:pt x="4837452" y="2840241"/>
                      <a:pt x="4876800" y="2785682"/>
                      <a:pt x="4876800" y="2724150"/>
                    </a:cubicBezTo>
                    <a:lnTo>
                      <a:pt x="4876800" y="2152650"/>
                    </a:lnTo>
                    <a:cubicBezTo>
                      <a:pt x="4876800" y="2091118"/>
                      <a:pt x="4837452" y="2036569"/>
                      <a:pt x="4779131" y="2017166"/>
                    </a:cubicBezTo>
                    <a:close/>
                    <a:moveTo>
                      <a:pt x="2438400" y="4010025"/>
                    </a:moveTo>
                    <a:cubicBezTo>
                      <a:pt x="1571806" y="4010025"/>
                      <a:pt x="866775" y="3304994"/>
                      <a:pt x="866775" y="2438400"/>
                    </a:cubicBezTo>
                    <a:cubicBezTo>
                      <a:pt x="866775" y="1571806"/>
                      <a:pt x="1571806" y="866775"/>
                      <a:pt x="2438400" y="866775"/>
                    </a:cubicBezTo>
                    <a:cubicBezTo>
                      <a:pt x="3304994" y="866775"/>
                      <a:pt x="4010025" y="1571806"/>
                      <a:pt x="4010025" y="2438400"/>
                    </a:cubicBezTo>
                    <a:cubicBezTo>
                      <a:pt x="4010025" y="3304994"/>
                      <a:pt x="3304994" y="4010025"/>
                      <a:pt x="2438400" y="4010025"/>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389" name="Freeform: Shape 388">
                <a:extLst>
                  <a:ext uri="{FF2B5EF4-FFF2-40B4-BE49-F238E27FC236}">
                    <a16:creationId xmlns:a16="http://schemas.microsoft.com/office/drawing/2014/main" id="{3C95F344-606B-F302-80CC-3269772F3891}"/>
                  </a:ext>
                </a:extLst>
              </p:cNvPr>
              <p:cNvSpPr/>
              <p:nvPr/>
            </p:nvSpPr>
            <p:spPr>
              <a:xfrm>
                <a:off x="1297485" y="3827873"/>
                <a:ext cx="133997" cy="60110"/>
              </a:xfrm>
              <a:custGeom>
                <a:avLst/>
                <a:gdLst>
                  <a:gd name="connsiteX0" fmla="*/ 1647787 w 1905733"/>
                  <a:gd name="connsiteY0" fmla="*/ 0 h 854897"/>
                  <a:gd name="connsiteX1" fmla="*/ 952929 w 1905733"/>
                  <a:gd name="connsiteY1" fmla="*/ 283397 h 854897"/>
                  <a:gd name="connsiteX2" fmla="*/ 258051 w 1905733"/>
                  <a:gd name="connsiteY2" fmla="*/ 0 h 854897"/>
                  <a:gd name="connsiteX3" fmla="*/ 0 w 1905733"/>
                  <a:gd name="connsiteY3" fmla="*/ 424453 h 854897"/>
                  <a:gd name="connsiteX4" fmla="*/ 952929 w 1905733"/>
                  <a:gd name="connsiteY4" fmla="*/ 854897 h 854897"/>
                  <a:gd name="connsiteX5" fmla="*/ 1905734 w 1905733"/>
                  <a:gd name="connsiteY5" fmla="*/ 424596 h 854897"/>
                  <a:gd name="connsiteX6" fmla="*/ 1647787 w 1905733"/>
                  <a:gd name="connsiteY6" fmla="*/ 0 h 854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5733" h="854897">
                    <a:moveTo>
                      <a:pt x="1647787" y="0"/>
                    </a:moveTo>
                    <a:cubicBezTo>
                      <a:pt x="1467622" y="174688"/>
                      <a:pt x="1223048" y="283397"/>
                      <a:pt x="952929" y="283397"/>
                    </a:cubicBezTo>
                    <a:cubicBezTo>
                      <a:pt x="682809" y="283397"/>
                      <a:pt x="438198" y="174688"/>
                      <a:pt x="258051" y="0"/>
                    </a:cubicBezTo>
                    <a:cubicBezTo>
                      <a:pt x="140008" y="116700"/>
                      <a:pt x="49425" y="261337"/>
                      <a:pt x="0" y="424453"/>
                    </a:cubicBezTo>
                    <a:cubicBezTo>
                      <a:pt x="235572" y="686629"/>
                      <a:pt x="573519" y="854897"/>
                      <a:pt x="952929" y="854897"/>
                    </a:cubicBezTo>
                    <a:cubicBezTo>
                      <a:pt x="1332262" y="854897"/>
                      <a:pt x="1670180" y="686695"/>
                      <a:pt x="1905734" y="424596"/>
                    </a:cubicBezTo>
                    <a:cubicBezTo>
                      <a:pt x="1856356" y="261404"/>
                      <a:pt x="1765802" y="116710"/>
                      <a:pt x="1647787" y="0"/>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sp>
          <p:nvSpPr>
            <p:cNvPr id="386" name="Freeform: Shape 385">
              <a:extLst>
                <a:ext uri="{FF2B5EF4-FFF2-40B4-BE49-F238E27FC236}">
                  <a16:creationId xmlns:a16="http://schemas.microsoft.com/office/drawing/2014/main" id="{E1949969-BA90-407E-F57B-AC6C3EB924F0}"/>
                </a:ext>
              </a:extLst>
            </p:cNvPr>
            <p:cNvSpPr/>
            <p:nvPr/>
          </p:nvSpPr>
          <p:spPr bwMode="auto">
            <a:xfrm>
              <a:off x="787659" y="1723688"/>
              <a:ext cx="2154852" cy="482457"/>
            </a:xfrm>
            <a:custGeom>
              <a:avLst/>
              <a:gdLst>
                <a:gd name="connsiteX0" fmla="*/ 135756 w 2154852"/>
                <a:gd name="connsiteY0" fmla="*/ 0 h 482457"/>
                <a:gd name="connsiteX1" fmla="*/ 2019096 w 2154852"/>
                <a:gd name="connsiteY1" fmla="*/ 0 h 482457"/>
                <a:gd name="connsiteX2" fmla="*/ 2154852 w 2154852"/>
                <a:gd name="connsiteY2" fmla="*/ 135756 h 482457"/>
                <a:gd name="connsiteX3" fmla="*/ 2154852 w 2154852"/>
                <a:gd name="connsiteY3" fmla="*/ 482457 h 482457"/>
                <a:gd name="connsiteX4" fmla="*/ 2133720 w 2154852"/>
                <a:gd name="connsiteY4" fmla="*/ 478190 h 482457"/>
                <a:gd name="connsiteX5" fmla="*/ 21132 w 2154852"/>
                <a:gd name="connsiteY5" fmla="*/ 478190 h 482457"/>
                <a:gd name="connsiteX6" fmla="*/ 0 w 2154852"/>
                <a:gd name="connsiteY6" fmla="*/ 482457 h 482457"/>
                <a:gd name="connsiteX7" fmla="*/ 0 w 2154852"/>
                <a:gd name="connsiteY7" fmla="*/ 135756 h 482457"/>
                <a:gd name="connsiteX8" fmla="*/ 135756 w 2154852"/>
                <a:gd name="connsiteY8" fmla="*/ 0 h 48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852" h="482457">
                  <a:moveTo>
                    <a:pt x="135756" y="0"/>
                  </a:moveTo>
                  <a:lnTo>
                    <a:pt x="2019096" y="0"/>
                  </a:lnTo>
                  <a:cubicBezTo>
                    <a:pt x="2094072" y="0"/>
                    <a:pt x="2154852" y="60780"/>
                    <a:pt x="2154852" y="135756"/>
                  </a:cubicBezTo>
                  <a:lnTo>
                    <a:pt x="2154852" y="482457"/>
                  </a:lnTo>
                  <a:lnTo>
                    <a:pt x="2133720" y="478190"/>
                  </a:lnTo>
                  <a:lnTo>
                    <a:pt x="21132" y="478190"/>
                  </a:lnTo>
                  <a:lnTo>
                    <a:pt x="0" y="482457"/>
                  </a:lnTo>
                  <a:lnTo>
                    <a:pt x="0" y="135756"/>
                  </a:lnTo>
                  <a:cubicBezTo>
                    <a:pt x="0" y="60780"/>
                    <a:pt x="60780" y="0"/>
                    <a:pt x="135756" y="0"/>
                  </a:cubicBezTo>
                  <a:close/>
                </a:path>
              </a:pathLst>
            </a:custGeom>
            <a:solidFill>
              <a:srgbClr val="C03BC4">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Segoe UI Semibold"/>
                  <a:ea typeface="+mn-ea"/>
                  <a:cs typeface="+mn-cs"/>
                </a:rPr>
                <a:t>Intelligent Apps</a:t>
              </a:r>
            </a:p>
          </p:txBody>
        </p:sp>
      </p:grpSp>
      <p:grpSp>
        <p:nvGrpSpPr>
          <p:cNvPr id="411" name="Group 410">
            <a:extLst>
              <a:ext uri="{FF2B5EF4-FFF2-40B4-BE49-F238E27FC236}">
                <a16:creationId xmlns:a16="http://schemas.microsoft.com/office/drawing/2014/main" id="{DB1BD47F-7823-1795-6D19-7CDD77B0884E}"/>
              </a:ext>
            </a:extLst>
          </p:cNvPr>
          <p:cNvGrpSpPr/>
          <p:nvPr/>
        </p:nvGrpSpPr>
        <p:grpSpPr>
          <a:xfrm>
            <a:off x="9118341" y="1723688"/>
            <a:ext cx="2417148" cy="4166270"/>
            <a:chOff x="9118341" y="1723688"/>
            <a:chExt cx="2417148" cy="4166270"/>
          </a:xfrm>
        </p:grpSpPr>
        <p:sp>
          <p:nvSpPr>
            <p:cNvPr id="412" name="Rectangle: Rounded Corners 411">
              <a:extLst>
                <a:ext uri="{FF2B5EF4-FFF2-40B4-BE49-F238E27FC236}">
                  <a16:creationId xmlns:a16="http://schemas.microsoft.com/office/drawing/2014/main" id="{BFFA3313-0231-1DAD-00FA-C6C6A99A1AFE}"/>
                </a:ext>
              </a:extLst>
            </p:cNvPr>
            <p:cNvSpPr/>
            <p:nvPr/>
          </p:nvSpPr>
          <p:spPr bwMode="auto">
            <a:xfrm>
              <a:off x="9118341" y="2201878"/>
              <a:ext cx="2417148" cy="3688080"/>
            </a:xfrm>
            <a:prstGeom prst="roundRect">
              <a:avLst>
                <a:gd name="adj" fmla="val 6300"/>
              </a:avLst>
            </a:prstGeom>
            <a:gradFill flip="none" rotWithShape="1">
              <a:gsLst>
                <a:gs pos="0">
                  <a:srgbClr val="FFFFFF">
                    <a:alpha val="70000"/>
                  </a:srgbClr>
                </a:gs>
                <a:gs pos="55132">
                  <a:srgbClr val="FFFFFF"/>
                </a:gs>
                <a:gs pos="21000">
                  <a:srgbClr val="FFFFFF"/>
                </a:gs>
                <a:gs pos="89000">
                  <a:srgbClr val="FCF5FC"/>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413" name="Rectangle: Rounded Corners 412">
              <a:extLst>
                <a:ext uri="{FF2B5EF4-FFF2-40B4-BE49-F238E27FC236}">
                  <a16:creationId xmlns:a16="http://schemas.microsoft.com/office/drawing/2014/main" id="{ADEE23A7-009D-B99F-D8D9-DC19726585FF}"/>
                </a:ext>
              </a:extLst>
            </p:cNvPr>
            <p:cNvSpPr/>
            <p:nvPr/>
          </p:nvSpPr>
          <p:spPr bwMode="auto">
            <a:xfrm>
              <a:off x="9249489" y="2339038"/>
              <a:ext cx="2154852" cy="3550920"/>
            </a:xfrm>
            <a:prstGeom prst="roundRect">
              <a:avLst>
                <a:gd name="adj" fmla="val 6300"/>
              </a:avLst>
            </a:prstGeom>
            <a:gradFill flip="none" rotWithShape="1">
              <a:gsLst>
                <a:gs pos="0">
                  <a:srgbClr val="FFFFFF">
                    <a:alpha val="70000"/>
                  </a:srgbClr>
                </a:gs>
                <a:gs pos="55132">
                  <a:srgbClr val="FFFFFF">
                    <a:alpha val="28000"/>
                  </a:srgbClr>
                </a:gs>
                <a:gs pos="21000">
                  <a:srgbClr val="FFFFFF">
                    <a:alpha val="50000"/>
                  </a:srgbClr>
                </a:gs>
                <a:gs pos="78000">
                  <a:srgbClr val="FCF5FC"/>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414" name="TextBox 413">
              <a:extLst>
                <a:ext uri="{FF2B5EF4-FFF2-40B4-BE49-F238E27FC236}">
                  <a16:creationId xmlns:a16="http://schemas.microsoft.com/office/drawing/2014/main" id="{70CD7352-3031-7D74-9659-13E7B1A69294}"/>
                </a:ext>
                <a:ext uri="{C183D7F6-B498-43B3-948B-1728B52AA6E4}">
                  <adec:decorative xmlns:adec="http://schemas.microsoft.com/office/drawing/2017/decorative" val="1"/>
                </a:ext>
              </a:extLst>
            </p:cNvPr>
            <p:cNvSpPr txBox="1"/>
            <p:nvPr/>
          </p:nvSpPr>
          <p:spPr>
            <a:xfrm>
              <a:off x="10238121" y="5513137"/>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and more!</a:t>
              </a:r>
            </a:p>
          </p:txBody>
        </p:sp>
        <p:grpSp>
          <p:nvGrpSpPr>
            <p:cNvPr id="415" name="Group 414">
              <a:extLst>
                <a:ext uri="{FF2B5EF4-FFF2-40B4-BE49-F238E27FC236}">
                  <a16:creationId xmlns:a16="http://schemas.microsoft.com/office/drawing/2014/main" id="{A0EBDD9B-67DF-9CEB-DC75-36A827E53D59}"/>
                </a:ext>
              </a:extLst>
            </p:cNvPr>
            <p:cNvGrpSpPr/>
            <p:nvPr/>
          </p:nvGrpSpPr>
          <p:grpSpPr>
            <a:xfrm>
              <a:off x="9312926" y="4290695"/>
              <a:ext cx="1107277" cy="664753"/>
              <a:chOff x="9442597" y="3284277"/>
              <a:chExt cx="1107277" cy="664753"/>
            </a:xfrm>
          </p:grpSpPr>
          <p:pic>
            <p:nvPicPr>
              <p:cNvPr id="437" name="Picture 4" descr="News | Mistral AI | Open-weight models">
                <a:extLst>
                  <a:ext uri="{FF2B5EF4-FFF2-40B4-BE49-F238E27FC236}">
                    <a16:creationId xmlns:a16="http://schemas.microsoft.com/office/drawing/2014/main" id="{3957A234-F161-0FE7-707D-85198BF869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57717" y="3284277"/>
                <a:ext cx="625106" cy="400068"/>
              </a:xfrm>
              <a:prstGeom prst="rect">
                <a:avLst/>
              </a:prstGeom>
              <a:noFill/>
              <a:extLst>
                <a:ext uri="{909E8E84-426E-40DD-AFC4-6F175D3DCCD1}">
                  <a14:hiddenFill xmlns:a14="http://schemas.microsoft.com/office/drawing/2010/main">
                    <a:solidFill>
                      <a:srgbClr val="FFFFFF"/>
                    </a:solidFill>
                  </a14:hiddenFill>
                </a:ext>
              </a:extLst>
            </p:spPr>
          </p:pic>
          <p:sp>
            <p:nvSpPr>
              <p:cNvPr id="438" name="TextBox 437">
                <a:extLst>
                  <a:ext uri="{FF2B5EF4-FFF2-40B4-BE49-F238E27FC236}">
                    <a16:creationId xmlns:a16="http://schemas.microsoft.com/office/drawing/2014/main" id="{5D08AC04-2050-CF69-52D1-6CF7B94E68F0}"/>
                  </a:ext>
                  <a:ext uri="{C183D7F6-B498-43B3-948B-1728B52AA6E4}">
                    <adec:decorative xmlns:adec="http://schemas.microsoft.com/office/drawing/2017/decorative" val="1"/>
                  </a:ext>
                </a:extLst>
              </p:cNvPr>
              <p:cNvSpPr txBox="1"/>
              <p:nvPr/>
            </p:nvSpPr>
            <p:spPr>
              <a:xfrm>
                <a:off x="9442597" y="3764364"/>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Mistral</a:t>
                </a:r>
              </a:p>
            </p:txBody>
          </p:sp>
        </p:grpSp>
        <p:grpSp>
          <p:nvGrpSpPr>
            <p:cNvPr id="416" name="Group 415">
              <a:extLst>
                <a:ext uri="{FF2B5EF4-FFF2-40B4-BE49-F238E27FC236}">
                  <a16:creationId xmlns:a16="http://schemas.microsoft.com/office/drawing/2014/main" id="{C8065567-5DD4-FF37-D6E1-42B4331F9534}"/>
                </a:ext>
              </a:extLst>
            </p:cNvPr>
            <p:cNvGrpSpPr/>
            <p:nvPr/>
          </p:nvGrpSpPr>
          <p:grpSpPr>
            <a:xfrm>
              <a:off x="10238121" y="3458279"/>
              <a:ext cx="1107277" cy="740681"/>
              <a:chOff x="9442597" y="4928726"/>
              <a:chExt cx="1107277" cy="740681"/>
            </a:xfrm>
          </p:grpSpPr>
          <p:pic>
            <p:nvPicPr>
              <p:cNvPr id="435" name="Picture 434" descr="A yellow emoji with hands on it  Description automatically generated">
                <a:extLst>
                  <a:ext uri="{FF2B5EF4-FFF2-40B4-BE49-F238E27FC236}">
                    <a16:creationId xmlns:a16="http://schemas.microsoft.com/office/drawing/2014/main" id="{7BD71D10-26E6-05D8-13F8-10F250734AAD}"/>
                  </a:ext>
                </a:extLst>
              </p:cNvPr>
              <p:cNvPicPr>
                <a:picLocks noChangeAspect="1"/>
              </p:cNvPicPr>
              <p:nvPr/>
            </p:nvPicPr>
            <p:blipFill>
              <a:blip r:embed="rId6"/>
              <a:stretch>
                <a:fillRect/>
              </a:stretch>
            </p:blipFill>
            <p:spPr>
              <a:xfrm>
                <a:off x="9673538" y="4928726"/>
                <a:ext cx="593467" cy="551924"/>
              </a:xfrm>
              <a:prstGeom prst="rect">
                <a:avLst/>
              </a:prstGeom>
            </p:spPr>
          </p:pic>
          <p:sp>
            <p:nvSpPr>
              <p:cNvPr id="436" name="TextBox 435">
                <a:extLst>
                  <a:ext uri="{FF2B5EF4-FFF2-40B4-BE49-F238E27FC236}">
                    <a16:creationId xmlns:a16="http://schemas.microsoft.com/office/drawing/2014/main" id="{B1CDDCE9-354A-64EA-5EC9-3BDAA3BE66D1}"/>
                  </a:ext>
                  <a:ext uri="{C183D7F6-B498-43B3-948B-1728B52AA6E4}">
                    <adec:decorative xmlns:adec="http://schemas.microsoft.com/office/drawing/2017/decorative" val="1"/>
                  </a:ext>
                </a:extLst>
              </p:cNvPr>
              <p:cNvSpPr txBox="1"/>
              <p:nvPr/>
            </p:nvSpPr>
            <p:spPr>
              <a:xfrm>
                <a:off x="9442597" y="5484741"/>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Hugging Face</a:t>
                </a:r>
              </a:p>
            </p:txBody>
          </p:sp>
        </p:grpSp>
        <p:grpSp>
          <p:nvGrpSpPr>
            <p:cNvPr id="417" name="Group 416">
              <a:extLst>
                <a:ext uri="{FF2B5EF4-FFF2-40B4-BE49-F238E27FC236}">
                  <a16:creationId xmlns:a16="http://schemas.microsoft.com/office/drawing/2014/main" id="{42FC2975-B6DA-D874-CAF6-5E2B0DDDDC1B}"/>
                </a:ext>
              </a:extLst>
            </p:cNvPr>
            <p:cNvGrpSpPr/>
            <p:nvPr/>
          </p:nvGrpSpPr>
          <p:grpSpPr>
            <a:xfrm>
              <a:off x="9312926" y="3504275"/>
              <a:ext cx="1107277" cy="691012"/>
              <a:chOff x="9442597" y="2497857"/>
              <a:chExt cx="1107277" cy="691012"/>
            </a:xfrm>
          </p:grpSpPr>
          <p:sp>
            <p:nvSpPr>
              <p:cNvPr id="433" name="TextBox 432">
                <a:extLst>
                  <a:ext uri="{FF2B5EF4-FFF2-40B4-BE49-F238E27FC236}">
                    <a16:creationId xmlns:a16="http://schemas.microsoft.com/office/drawing/2014/main" id="{5DFFD3C4-F54D-D24E-9515-FD2E4D689CC4}"/>
                  </a:ext>
                  <a:ext uri="{C183D7F6-B498-43B3-948B-1728B52AA6E4}">
                    <adec:decorative xmlns:adec="http://schemas.microsoft.com/office/drawing/2017/decorative" val="1"/>
                  </a:ext>
                </a:extLst>
              </p:cNvPr>
              <p:cNvSpPr txBox="1"/>
              <p:nvPr/>
            </p:nvSpPr>
            <p:spPr>
              <a:xfrm>
                <a:off x="9442597" y="3004203"/>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OpenAI</a:t>
                </a:r>
              </a:p>
            </p:txBody>
          </p:sp>
          <p:pic>
            <p:nvPicPr>
              <p:cNvPr id="434" name="Picture 433" descr="A black background with a black square  Description automatically generated with medium confidence">
                <a:extLst>
                  <a:ext uri="{FF2B5EF4-FFF2-40B4-BE49-F238E27FC236}">
                    <a16:creationId xmlns:a16="http://schemas.microsoft.com/office/drawing/2014/main" id="{D4071A35-B2D4-EA7E-4ADA-FFF8E16DB1FE}"/>
                  </a:ext>
                </a:extLst>
              </p:cNvPr>
              <p:cNvPicPr>
                <a:picLocks noChangeAspect="1"/>
              </p:cNvPicPr>
              <p:nvPr/>
            </p:nvPicPr>
            <p:blipFill>
              <a:blip r:embed="rId7"/>
              <a:stretch>
                <a:fillRect/>
              </a:stretch>
            </p:blipFill>
            <p:spPr>
              <a:xfrm>
                <a:off x="9746850" y="2497857"/>
                <a:ext cx="446845" cy="452591"/>
              </a:xfrm>
              <a:prstGeom prst="rect">
                <a:avLst/>
              </a:prstGeom>
            </p:spPr>
          </p:pic>
        </p:grpSp>
        <p:grpSp>
          <p:nvGrpSpPr>
            <p:cNvPr id="418" name="Group 417">
              <a:extLst>
                <a:ext uri="{FF2B5EF4-FFF2-40B4-BE49-F238E27FC236}">
                  <a16:creationId xmlns:a16="http://schemas.microsoft.com/office/drawing/2014/main" id="{C6D8FD95-A669-F03A-E419-C3C50DE26CB8}"/>
                </a:ext>
              </a:extLst>
            </p:cNvPr>
            <p:cNvGrpSpPr/>
            <p:nvPr/>
          </p:nvGrpSpPr>
          <p:grpSpPr>
            <a:xfrm>
              <a:off x="9308430" y="5062454"/>
              <a:ext cx="1107277" cy="631423"/>
              <a:chOff x="10367792" y="2557446"/>
              <a:chExt cx="1107277" cy="631423"/>
            </a:xfrm>
          </p:grpSpPr>
          <p:sp>
            <p:nvSpPr>
              <p:cNvPr id="431" name="TextBox 430">
                <a:extLst>
                  <a:ext uri="{FF2B5EF4-FFF2-40B4-BE49-F238E27FC236}">
                    <a16:creationId xmlns:a16="http://schemas.microsoft.com/office/drawing/2014/main" id="{A5DED793-79EA-77B5-1DEF-6EA166608A5F}"/>
                  </a:ext>
                  <a:ext uri="{C183D7F6-B498-43B3-948B-1728B52AA6E4}">
                    <adec:decorative xmlns:adec="http://schemas.microsoft.com/office/drawing/2017/decorative" val="1"/>
                  </a:ext>
                </a:extLst>
              </p:cNvPr>
              <p:cNvSpPr txBox="1"/>
              <p:nvPr/>
            </p:nvSpPr>
            <p:spPr>
              <a:xfrm>
                <a:off x="10367792" y="3004203"/>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err="1">
                    <a:ln w="3175">
                      <a:noFill/>
                    </a:ln>
                    <a:solidFill>
                      <a:srgbClr val="000000"/>
                    </a:solidFill>
                    <a:effectLst/>
                    <a:uLnTx/>
                    <a:uFillTx/>
                    <a:latin typeface="Segoe UI"/>
                    <a:cs typeface="Segoe UI" pitchFamily="34" charset="0"/>
                  </a:rPr>
                  <a:t>LLaMa</a:t>
                </a:r>
                <a:endParaRPr kumimoji="0" lang="en-GB" sz="1200" b="0" i="0" u="none" strike="noStrike" kern="0" cap="none" spc="0" normalizeH="0" baseline="0" noProof="0">
                  <a:ln w="3175">
                    <a:noFill/>
                  </a:ln>
                  <a:solidFill>
                    <a:srgbClr val="000000"/>
                  </a:solidFill>
                  <a:effectLst/>
                  <a:uLnTx/>
                  <a:uFillTx/>
                  <a:latin typeface="Segoe UI"/>
                  <a:cs typeface="Segoe UI" pitchFamily="34" charset="0"/>
                </a:endParaRPr>
              </a:p>
            </p:txBody>
          </p:sp>
          <p:pic>
            <p:nvPicPr>
              <p:cNvPr id="432" name="Picture 2" descr="Meta Logo and symbol, meaning, history, PNG">
                <a:extLst>
                  <a:ext uri="{FF2B5EF4-FFF2-40B4-BE49-F238E27FC236}">
                    <a16:creationId xmlns:a16="http://schemas.microsoft.com/office/drawing/2014/main" id="{B38389C7-0387-BF13-0428-1B629A25FA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99104" y="2557446"/>
                <a:ext cx="592723" cy="3334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9" name="Group 418">
              <a:extLst>
                <a:ext uri="{FF2B5EF4-FFF2-40B4-BE49-F238E27FC236}">
                  <a16:creationId xmlns:a16="http://schemas.microsoft.com/office/drawing/2014/main" id="{6C86BC7D-B13E-55AF-8046-DCA6BD505C23}"/>
                </a:ext>
              </a:extLst>
            </p:cNvPr>
            <p:cNvGrpSpPr/>
            <p:nvPr/>
          </p:nvGrpSpPr>
          <p:grpSpPr>
            <a:xfrm>
              <a:off x="10238121" y="4160872"/>
              <a:ext cx="1107277" cy="794576"/>
              <a:chOff x="10367792" y="3154454"/>
              <a:chExt cx="1107277" cy="794576"/>
            </a:xfrm>
          </p:grpSpPr>
          <p:sp>
            <p:nvSpPr>
              <p:cNvPr id="429" name="TextBox 428">
                <a:extLst>
                  <a:ext uri="{FF2B5EF4-FFF2-40B4-BE49-F238E27FC236}">
                    <a16:creationId xmlns:a16="http://schemas.microsoft.com/office/drawing/2014/main" id="{29DF3836-46D6-FFE1-F26F-15B0E98D8874}"/>
                  </a:ext>
                  <a:ext uri="{C183D7F6-B498-43B3-948B-1728B52AA6E4}">
                    <adec:decorative xmlns:adec="http://schemas.microsoft.com/office/drawing/2017/decorative" val="1"/>
                  </a:ext>
                </a:extLst>
              </p:cNvPr>
              <p:cNvSpPr txBox="1"/>
              <p:nvPr/>
            </p:nvSpPr>
            <p:spPr>
              <a:xfrm>
                <a:off x="10367792" y="3764364"/>
                <a:ext cx="1107277" cy="184666"/>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Cohere</a:t>
                </a:r>
              </a:p>
            </p:txBody>
          </p:sp>
          <p:pic>
            <p:nvPicPr>
              <p:cNvPr id="430" name="Picture 6" descr="AI Development Cloud Platform | Deploy &amp; Manage AI Logic">
                <a:extLst>
                  <a:ext uri="{FF2B5EF4-FFF2-40B4-BE49-F238E27FC236}">
                    <a16:creationId xmlns:a16="http://schemas.microsoft.com/office/drawing/2014/main" id="{2E393488-CC0A-1A7A-4DFA-6B16B70F11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73931" y="3154454"/>
                <a:ext cx="643068" cy="6597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20" name="Group 419">
              <a:extLst>
                <a:ext uri="{FF2B5EF4-FFF2-40B4-BE49-F238E27FC236}">
                  <a16:creationId xmlns:a16="http://schemas.microsoft.com/office/drawing/2014/main" id="{2F814C05-EE70-B558-36DC-04D114BAEDEC}"/>
                </a:ext>
              </a:extLst>
            </p:cNvPr>
            <p:cNvGrpSpPr/>
            <p:nvPr/>
          </p:nvGrpSpPr>
          <p:grpSpPr>
            <a:xfrm>
              <a:off x="9312926" y="2458839"/>
              <a:ext cx="2032472" cy="904032"/>
              <a:chOff x="9442597" y="3989824"/>
              <a:chExt cx="2032472" cy="904032"/>
            </a:xfrm>
          </p:grpSpPr>
          <p:sp>
            <p:nvSpPr>
              <p:cNvPr id="425" name="TextBox 424">
                <a:extLst>
                  <a:ext uri="{FF2B5EF4-FFF2-40B4-BE49-F238E27FC236}">
                    <a16:creationId xmlns:a16="http://schemas.microsoft.com/office/drawing/2014/main" id="{DA3E8481-E128-4BC6-19E3-C4395A450EDF}"/>
                  </a:ext>
                  <a:ext uri="{C183D7F6-B498-43B3-948B-1728B52AA6E4}">
                    <adec:decorative xmlns:adec="http://schemas.microsoft.com/office/drawing/2017/decorative" val="1"/>
                  </a:ext>
                </a:extLst>
              </p:cNvPr>
              <p:cNvSpPr txBox="1"/>
              <p:nvPr/>
            </p:nvSpPr>
            <p:spPr>
              <a:xfrm>
                <a:off x="10367792" y="4524524"/>
                <a:ext cx="1107277"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Azure </a:t>
                </a:r>
                <a:br>
                  <a:rPr kumimoji="0" lang="en-GB" sz="1200" b="0" i="0" u="none" strike="noStrike" kern="0" cap="none" spc="0" normalizeH="0" baseline="0" noProof="0">
                    <a:ln w="3175">
                      <a:noFill/>
                    </a:ln>
                    <a:solidFill>
                      <a:srgbClr val="000000"/>
                    </a:solidFill>
                    <a:effectLst/>
                    <a:uLnTx/>
                    <a:uFillTx/>
                    <a:latin typeface="Segoe UI"/>
                    <a:cs typeface="Segoe UI" pitchFamily="34" charset="0"/>
                  </a:rPr>
                </a:br>
                <a:r>
                  <a:rPr kumimoji="0" lang="en-GB" sz="1200" b="0" i="0" u="none" strike="noStrike" kern="0" cap="none" spc="0" normalizeH="0" baseline="0" noProof="0">
                    <a:ln w="3175">
                      <a:noFill/>
                    </a:ln>
                    <a:solidFill>
                      <a:srgbClr val="000000"/>
                    </a:solidFill>
                    <a:effectLst/>
                    <a:uLnTx/>
                    <a:uFillTx/>
                    <a:latin typeface="Segoe UI"/>
                    <a:cs typeface="Segoe UI" pitchFamily="34" charset="0"/>
                  </a:rPr>
                  <a:t>AI Search</a:t>
                </a:r>
              </a:p>
            </p:txBody>
          </p:sp>
          <p:sp>
            <p:nvSpPr>
              <p:cNvPr id="427" name="TextBox 426">
                <a:extLst>
                  <a:ext uri="{FF2B5EF4-FFF2-40B4-BE49-F238E27FC236}">
                    <a16:creationId xmlns:a16="http://schemas.microsoft.com/office/drawing/2014/main" id="{36C02E8F-112A-EFC7-B351-22466D096190}"/>
                  </a:ext>
                  <a:ext uri="{C183D7F6-B498-43B3-948B-1728B52AA6E4}">
                    <adec:decorative xmlns:adec="http://schemas.microsoft.com/office/drawing/2017/decorative" val="1"/>
                  </a:ext>
                </a:extLst>
              </p:cNvPr>
              <p:cNvSpPr txBox="1"/>
              <p:nvPr/>
            </p:nvSpPr>
            <p:spPr>
              <a:xfrm>
                <a:off x="9442597" y="4524524"/>
                <a:ext cx="1107277"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Microsoft Foundry</a:t>
                </a:r>
              </a:p>
            </p:txBody>
          </p:sp>
          <p:pic>
            <p:nvPicPr>
              <p:cNvPr id="428" name="Picture 2" descr="Azure AI search logo">
                <a:extLst>
                  <a:ext uri="{FF2B5EF4-FFF2-40B4-BE49-F238E27FC236}">
                    <a16:creationId xmlns:a16="http://schemas.microsoft.com/office/drawing/2014/main" id="{00F25E61-CE34-0EB2-7734-076E168F5B4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9412" r="19412"/>
              <a:stretch/>
            </p:blipFill>
            <p:spPr bwMode="auto">
              <a:xfrm>
                <a:off x="10598733" y="3989824"/>
                <a:ext cx="593467" cy="5092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21" name="Group 420">
              <a:extLst>
                <a:ext uri="{FF2B5EF4-FFF2-40B4-BE49-F238E27FC236}">
                  <a16:creationId xmlns:a16="http://schemas.microsoft.com/office/drawing/2014/main" id="{4415A992-EAFC-7DC4-D1B6-10A4B4DEFC9F}"/>
                </a:ext>
              </a:extLst>
            </p:cNvPr>
            <p:cNvGrpSpPr/>
            <p:nvPr/>
          </p:nvGrpSpPr>
          <p:grpSpPr>
            <a:xfrm>
              <a:off x="10611050" y="5078351"/>
              <a:ext cx="309488" cy="309488"/>
              <a:chOff x="3721100" y="3446945"/>
              <a:chExt cx="309488" cy="309488"/>
            </a:xfrm>
            <a:solidFill>
              <a:srgbClr val="0078D4"/>
            </a:solidFill>
          </p:grpSpPr>
          <p:sp>
            <p:nvSpPr>
              <p:cNvPr id="423" name="Rectangle: Rounded Corners 422">
                <a:extLst>
                  <a:ext uri="{FF2B5EF4-FFF2-40B4-BE49-F238E27FC236}">
                    <a16:creationId xmlns:a16="http://schemas.microsoft.com/office/drawing/2014/main" id="{A38CC3D3-2CA3-22FC-39AA-4AC13BDC4E34}"/>
                  </a:ext>
                </a:extLst>
              </p:cNvPr>
              <p:cNvSpPr/>
              <p:nvPr/>
            </p:nvSpPr>
            <p:spPr bwMode="auto">
              <a:xfrm>
                <a:off x="3721100" y="3567208"/>
                <a:ext cx="309488" cy="68961"/>
              </a:xfrm>
              <a:prstGeom prst="roundRect">
                <a:avLst>
                  <a:gd name="adj" fmla="val 50000"/>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424" name="Rectangle: Rounded Corners 423">
                <a:extLst>
                  <a:ext uri="{FF2B5EF4-FFF2-40B4-BE49-F238E27FC236}">
                    <a16:creationId xmlns:a16="http://schemas.microsoft.com/office/drawing/2014/main" id="{30F06D67-A97D-CB6E-709C-B3E90B66B325}"/>
                  </a:ext>
                </a:extLst>
              </p:cNvPr>
              <p:cNvSpPr/>
              <p:nvPr/>
            </p:nvSpPr>
            <p:spPr bwMode="auto">
              <a:xfrm rot="5400000">
                <a:off x="3721100" y="3567208"/>
                <a:ext cx="309488" cy="68961"/>
              </a:xfrm>
              <a:prstGeom prst="roundRect">
                <a:avLst>
                  <a:gd name="adj" fmla="val 50000"/>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grpSp>
        <p:sp>
          <p:nvSpPr>
            <p:cNvPr id="422" name="Freeform: Shape 421">
              <a:extLst>
                <a:ext uri="{FF2B5EF4-FFF2-40B4-BE49-F238E27FC236}">
                  <a16:creationId xmlns:a16="http://schemas.microsoft.com/office/drawing/2014/main" id="{5AFDB7CA-C822-8362-BEF0-10E893D5F65F}"/>
                </a:ext>
              </a:extLst>
            </p:cNvPr>
            <p:cNvSpPr/>
            <p:nvPr/>
          </p:nvSpPr>
          <p:spPr bwMode="auto">
            <a:xfrm>
              <a:off x="9249489" y="1723688"/>
              <a:ext cx="2154852" cy="482457"/>
            </a:xfrm>
            <a:custGeom>
              <a:avLst/>
              <a:gdLst>
                <a:gd name="connsiteX0" fmla="*/ 135756 w 2154852"/>
                <a:gd name="connsiteY0" fmla="*/ 0 h 482457"/>
                <a:gd name="connsiteX1" fmla="*/ 2019096 w 2154852"/>
                <a:gd name="connsiteY1" fmla="*/ 0 h 482457"/>
                <a:gd name="connsiteX2" fmla="*/ 2154852 w 2154852"/>
                <a:gd name="connsiteY2" fmla="*/ 135756 h 482457"/>
                <a:gd name="connsiteX3" fmla="*/ 2154852 w 2154852"/>
                <a:gd name="connsiteY3" fmla="*/ 482457 h 482457"/>
                <a:gd name="connsiteX4" fmla="*/ 2133720 w 2154852"/>
                <a:gd name="connsiteY4" fmla="*/ 478190 h 482457"/>
                <a:gd name="connsiteX5" fmla="*/ 21132 w 2154852"/>
                <a:gd name="connsiteY5" fmla="*/ 478190 h 482457"/>
                <a:gd name="connsiteX6" fmla="*/ 0 w 2154852"/>
                <a:gd name="connsiteY6" fmla="*/ 482457 h 482457"/>
                <a:gd name="connsiteX7" fmla="*/ 0 w 2154852"/>
                <a:gd name="connsiteY7" fmla="*/ 135756 h 482457"/>
                <a:gd name="connsiteX8" fmla="*/ 135756 w 2154852"/>
                <a:gd name="connsiteY8" fmla="*/ 0 h 48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852" h="482457">
                  <a:moveTo>
                    <a:pt x="135756" y="0"/>
                  </a:moveTo>
                  <a:lnTo>
                    <a:pt x="2019096" y="0"/>
                  </a:lnTo>
                  <a:cubicBezTo>
                    <a:pt x="2094072" y="0"/>
                    <a:pt x="2154852" y="60780"/>
                    <a:pt x="2154852" y="135756"/>
                  </a:cubicBezTo>
                  <a:lnTo>
                    <a:pt x="2154852" y="482457"/>
                  </a:lnTo>
                  <a:lnTo>
                    <a:pt x="2133720" y="478190"/>
                  </a:lnTo>
                  <a:lnTo>
                    <a:pt x="21132" y="478190"/>
                  </a:lnTo>
                  <a:lnTo>
                    <a:pt x="0" y="482457"/>
                  </a:lnTo>
                  <a:lnTo>
                    <a:pt x="0" y="135756"/>
                  </a:lnTo>
                  <a:cubicBezTo>
                    <a:pt x="0" y="60780"/>
                    <a:pt x="60780" y="0"/>
                    <a:pt x="135756" y="0"/>
                  </a:cubicBezTo>
                  <a:close/>
                </a:path>
              </a:pathLst>
            </a:custGeom>
            <a:solidFill>
              <a:srgbClr val="0078D4">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Segoe UI Semibold"/>
                  <a:ea typeface="+mn-ea"/>
                  <a:cs typeface="+mn-cs"/>
                </a:rPr>
                <a:t>AI Services</a:t>
              </a:r>
            </a:p>
          </p:txBody>
        </p:sp>
      </p:grpSp>
      <p:sp>
        <p:nvSpPr>
          <p:cNvPr id="439" name="TextBox 20">
            <a:extLst>
              <a:ext uri="{FF2B5EF4-FFF2-40B4-BE49-F238E27FC236}">
                <a16:creationId xmlns:a16="http://schemas.microsoft.com/office/drawing/2014/main" id="{E0E00F96-5F5F-3B30-340E-364CDE1D7E65}"/>
              </a:ext>
            </a:extLst>
          </p:cNvPr>
          <p:cNvSpPr txBox="1">
            <a:spLocks/>
          </p:cNvSpPr>
          <p:nvPr/>
        </p:nvSpPr>
        <p:spPr>
          <a:xfrm>
            <a:off x="4704477" y="2238367"/>
            <a:ext cx="2783047" cy="340519"/>
          </a:xfrm>
          <a:prstGeom prst="roundRect">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CZ"/>
            </a:defPPr>
            <a:lvl1pPr marR="0" lvl="0" indent="0" algn="ctr" defTabSz="457200" fontAlgn="auto">
              <a:lnSpc>
                <a:spcPct val="100000"/>
              </a:lnSpc>
              <a:spcBef>
                <a:spcPts val="0"/>
              </a:spcBef>
              <a:spcAft>
                <a:spcPts val="0"/>
              </a:spcAft>
              <a:buClrTx/>
              <a:buSzTx/>
              <a:buFontTx/>
              <a:buNone/>
              <a:tabLst/>
              <a:defRPr kumimoji="0" b="0" i="0" u="none" strike="noStrike" cap="none" spc="0" normalizeH="0" baseline="0">
                <a:ln>
                  <a:noFill/>
                </a:ln>
                <a:solidFill>
                  <a:schemeClr val="tx1"/>
                </a:solidFill>
                <a:effectLst/>
                <a:uLnTx/>
                <a:uFillTx/>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FFFFFF"/>
                </a:solidFill>
                <a:effectLst/>
                <a:uLnTx/>
                <a:uFillTx/>
                <a:latin typeface="Segoe UI Semibold"/>
                <a:ea typeface="+mn-ea"/>
                <a:cs typeface="+mn-cs"/>
              </a:rPr>
              <a:t>Performance Optimization</a:t>
            </a:r>
          </a:p>
        </p:txBody>
      </p:sp>
      <p:sp>
        <p:nvSpPr>
          <p:cNvPr id="440" name="TextBox 20 - 1">
            <a:extLst>
              <a:ext uri="{FF2B5EF4-FFF2-40B4-BE49-F238E27FC236}">
                <a16:creationId xmlns:a16="http://schemas.microsoft.com/office/drawing/2014/main" id="{2C9E1B51-5039-DD2F-0727-80C84D20A2EF}"/>
              </a:ext>
            </a:extLst>
          </p:cNvPr>
          <p:cNvSpPr txBox="1">
            <a:spLocks/>
          </p:cNvSpPr>
          <p:nvPr/>
        </p:nvSpPr>
        <p:spPr>
          <a:xfrm>
            <a:off x="4704477" y="3081758"/>
            <a:ext cx="2783047" cy="340519"/>
          </a:xfrm>
          <a:prstGeom prst="roundRect">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CZ"/>
            </a:defPPr>
            <a:lvl1pPr marR="0" lvl="0" indent="0" algn="ctr" defTabSz="457200" fontAlgn="auto">
              <a:lnSpc>
                <a:spcPct val="100000"/>
              </a:lnSpc>
              <a:spcBef>
                <a:spcPts val="0"/>
              </a:spcBef>
              <a:spcAft>
                <a:spcPts val="0"/>
              </a:spcAft>
              <a:buClrTx/>
              <a:buSzTx/>
              <a:buFontTx/>
              <a:buNone/>
              <a:tabLst/>
              <a:defRPr kumimoji="0" b="0" i="0" u="none" strike="noStrike" cap="none" spc="0" normalizeH="0" baseline="0">
                <a:ln>
                  <a:noFill/>
                </a:ln>
                <a:effectLst/>
                <a:uLnTx/>
                <a:uFillTx/>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FFFFFF"/>
                </a:solidFill>
                <a:effectLst/>
                <a:uLnTx/>
                <a:uFillTx/>
                <a:latin typeface="Segoe UI Semibold"/>
                <a:ea typeface="+mn-ea"/>
                <a:cs typeface="+mn-cs"/>
              </a:rPr>
              <a:t>Data Security</a:t>
            </a:r>
          </a:p>
        </p:txBody>
      </p:sp>
      <p:sp>
        <p:nvSpPr>
          <p:cNvPr id="441" name="TextBox 20 - 2">
            <a:extLst>
              <a:ext uri="{FF2B5EF4-FFF2-40B4-BE49-F238E27FC236}">
                <a16:creationId xmlns:a16="http://schemas.microsoft.com/office/drawing/2014/main" id="{940BFCF1-8C02-9D20-4509-5431EA8141FE}"/>
              </a:ext>
            </a:extLst>
          </p:cNvPr>
          <p:cNvSpPr txBox="1">
            <a:spLocks/>
          </p:cNvSpPr>
          <p:nvPr/>
        </p:nvSpPr>
        <p:spPr>
          <a:xfrm>
            <a:off x="4704477" y="2660063"/>
            <a:ext cx="2783047" cy="340519"/>
          </a:xfrm>
          <a:prstGeom prst="roundRect">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CZ"/>
            </a:defPPr>
            <a:lvl1pPr marR="0" lvl="0" indent="0" algn="ctr" defTabSz="457200" fontAlgn="auto">
              <a:lnSpc>
                <a:spcPct val="100000"/>
              </a:lnSpc>
              <a:spcBef>
                <a:spcPts val="0"/>
              </a:spcBef>
              <a:spcAft>
                <a:spcPts val="0"/>
              </a:spcAft>
              <a:buClrTx/>
              <a:buSzTx/>
              <a:buFontTx/>
              <a:buNone/>
              <a:tabLst/>
              <a:defRPr kumimoji="0" b="0" i="0" u="none" strike="noStrike" cap="none" spc="0" normalizeH="0" baseline="0">
                <a:ln>
                  <a:noFill/>
                </a:ln>
                <a:solidFill>
                  <a:schemeClr val="tx1"/>
                </a:solidFill>
                <a:effectLst/>
                <a:uLnTx/>
                <a:uFillTx/>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rgbClr val="FFFFFF"/>
                </a:solidFill>
                <a:effectLst/>
                <a:uLnTx/>
                <a:uFillTx/>
                <a:latin typeface="Segoe UI Semibold"/>
                <a:ea typeface="+mn-ea"/>
                <a:cs typeface="+mn-cs"/>
              </a:rPr>
              <a:t>Cost Control</a:t>
            </a:r>
          </a:p>
        </p:txBody>
      </p:sp>
      <p:pic>
        <p:nvPicPr>
          <p:cNvPr id="470" name="!! Logo Foundry">
            <a:extLst>
              <a:ext uri="{FF2B5EF4-FFF2-40B4-BE49-F238E27FC236}">
                <a16:creationId xmlns:a16="http://schemas.microsoft.com/office/drawing/2014/main" id="{C6940D68-1F0C-0777-AAB5-067FD6B49F80}"/>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9625087" y="2502063"/>
            <a:ext cx="438937" cy="460046"/>
          </a:xfrm>
          <a:prstGeom prst="rect">
            <a:avLst/>
          </a:prstGeom>
          <a:effectLst>
            <a:outerShdw blurRad="330200" sx="102000" sy="102000" algn="ctr" rotWithShape="0">
              <a:schemeClr val="bg1">
                <a:alpha val="40000"/>
              </a:schemeClr>
            </a:outerShdw>
          </a:effectLst>
        </p:spPr>
      </p:pic>
    </p:spTree>
    <p:extLst>
      <p:ext uri="{BB962C8B-B14F-4D97-AF65-F5344CB8AC3E}">
        <p14:creationId xmlns:p14="http://schemas.microsoft.com/office/powerpoint/2010/main" val="1241644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7D9E0-6B18-D288-5A5F-15A49F67C898}"/>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B4EBB16F-519B-D434-1D7E-B40582BDAE36}"/>
              </a:ext>
            </a:extLst>
          </p:cNvPr>
          <p:cNvSpPr txBox="1">
            <a:spLocks/>
          </p:cNvSpPr>
          <p:nvPr/>
        </p:nvSpPr>
        <p:spPr>
          <a:xfrm>
            <a:off x="461818" y="457200"/>
            <a:ext cx="11144965" cy="4924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200" b="0" i="0" u="none" strike="noStrike" kern="1200" cap="none" spc="-50" normalizeH="0" baseline="0" noProof="0">
                <a:ln w="3175">
                  <a:noFill/>
                </a:ln>
                <a:solidFill>
                  <a:srgbClr val="0F6FC6"/>
                </a:solidFill>
                <a:effectLst/>
                <a:uLnTx/>
                <a:uFillTx/>
                <a:latin typeface="Segoe Semibold"/>
                <a:ea typeface="+mj-ea"/>
                <a:cs typeface="Segoe UI" pitchFamily="34" charset="0"/>
              </a:rPr>
              <a:t>Unmanaged AI APIs increase risk and hinder potential</a:t>
            </a:r>
            <a:endParaRPr kumimoji="0" lang="en-GB" sz="3200" b="0" i="0" u="none" strike="noStrike" kern="1200" cap="none" spc="0" normalizeH="0" baseline="0" noProof="0">
              <a:ln>
                <a:noFill/>
              </a:ln>
              <a:solidFill>
                <a:srgbClr val="0F6FC6"/>
              </a:solidFill>
              <a:effectLst/>
              <a:uLnTx/>
              <a:uFillTx/>
              <a:latin typeface="Segoe Semibold"/>
              <a:ea typeface="+mj-ea"/>
              <a:cs typeface="+mj-cs"/>
            </a:endParaRPr>
          </a:p>
        </p:txBody>
      </p:sp>
      <p:grpSp>
        <p:nvGrpSpPr>
          <p:cNvPr id="54" name="Group 53">
            <a:extLst>
              <a:ext uri="{FF2B5EF4-FFF2-40B4-BE49-F238E27FC236}">
                <a16:creationId xmlns:a16="http://schemas.microsoft.com/office/drawing/2014/main" id="{07063C09-62A7-58EE-306B-CA77F335AB02}"/>
              </a:ext>
            </a:extLst>
          </p:cNvPr>
          <p:cNvGrpSpPr/>
          <p:nvPr/>
        </p:nvGrpSpPr>
        <p:grpSpPr>
          <a:xfrm>
            <a:off x="584201" y="2324100"/>
            <a:ext cx="2107053" cy="3877133"/>
            <a:chOff x="584201" y="2324100"/>
            <a:chExt cx="2107053" cy="3877133"/>
          </a:xfrm>
        </p:grpSpPr>
        <p:sp>
          <p:nvSpPr>
            <p:cNvPr id="55" name="Freeform: Shape 54">
              <a:extLst>
                <a:ext uri="{FF2B5EF4-FFF2-40B4-BE49-F238E27FC236}">
                  <a16:creationId xmlns:a16="http://schemas.microsoft.com/office/drawing/2014/main" id="{B695CE54-28FE-B7F6-71C2-7617D6B490A7}"/>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56" name="Freeform: Shape 55">
              <a:extLst>
                <a:ext uri="{FF2B5EF4-FFF2-40B4-BE49-F238E27FC236}">
                  <a16:creationId xmlns:a16="http://schemas.microsoft.com/office/drawing/2014/main" id="{CFFB98C8-1DF8-A1E2-A8FF-F11E730ECAB4}"/>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sp>
        <p:nvSpPr>
          <p:cNvPr id="57" name="Oval 34_1">
            <a:extLst>
              <a:ext uri="{FF2B5EF4-FFF2-40B4-BE49-F238E27FC236}">
                <a16:creationId xmlns:a16="http://schemas.microsoft.com/office/drawing/2014/main" id="{09364B6A-0824-FB89-0CCE-3F049B7AA8E1}"/>
              </a:ext>
            </a:extLst>
          </p:cNvPr>
          <p:cNvSpPr/>
          <p:nvPr/>
        </p:nvSpPr>
        <p:spPr bwMode="auto">
          <a:xfrm>
            <a:off x="1138238" y="1838393"/>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58" name="Oval 57">
            <a:extLst>
              <a:ext uri="{FF2B5EF4-FFF2-40B4-BE49-F238E27FC236}">
                <a16:creationId xmlns:a16="http://schemas.microsoft.com/office/drawing/2014/main" id="{4E05B1DC-4193-C614-467C-153052E5F045}"/>
              </a:ext>
            </a:extLst>
          </p:cNvPr>
          <p:cNvSpPr/>
          <p:nvPr/>
        </p:nvSpPr>
        <p:spPr bwMode="auto">
          <a:xfrm>
            <a:off x="1226831" y="1926984"/>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grpSp>
        <p:nvGrpSpPr>
          <p:cNvPr id="59" name="Group 58">
            <a:extLst>
              <a:ext uri="{FF2B5EF4-FFF2-40B4-BE49-F238E27FC236}">
                <a16:creationId xmlns:a16="http://schemas.microsoft.com/office/drawing/2014/main" id="{75DA4160-54B8-8FD0-1996-4E60C50DC438}"/>
              </a:ext>
            </a:extLst>
          </p:cNvPr>
          <p:cNvGrpSpPr/>
          <p:nvPr/>
        </p:nvGrpSpPr>
        <p:grpSpPr>
          <a:xfrm>
            <a:off x="2805913" y="2324100"/>
            <a:ext cx="2107053" cy="3877133"/>
            <a:chOff x="584201" y="2324100"/>
            <a:chExt cx="2107053" cy="3877133"/>
          </a:xfrm>
        </p:grpSpPr>
        <p:sp>
          <p:nvSpPr>
            <p:cNvPr id="60" name="Freeform: Shape 59">
              <a:extLst>
                <a:ext uri="{FF2B5EF4-FFF2-40B4-BE49-F238E27FC236}">
                  <a16:creationId xmlns:a16="http://schemas.microsoft.com/office/drawing/2014/main" id="{63335BDE-FD58-872C-0AE6-3D06E195564D}"/>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61" name="Freeform: Shape 60">
              <a:extLst>
                <a:ext uri="{FF2B5EF4-FFF2-40B4-BE49-F238E27FC236}">
                  <a16:creationId xmlns:a16="http://schemas.microsoft.com/office/drawing/2014/main" id="{AC7CBEFD-503E-37AE-B16A-B5B316CB437C}"/>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grpSp>
        <p:nvGrpSpPr>
          <p:cNvPr id="62" name="Group 61">
            <a:extLst>
              <a:ext uri="{FF2B5EF4-FFF2-40B4-BE49-F238E27FC236}">
                <a16:creationId xmlns:a16="http://schemas.microsoft.com/office/drawing/2014/main" id="{51431EB9-B2D7-7111-3199-6F78FE0BD6BF}"/>
              </a:ext>
            </a:extLst>
          </p:cNvPr>
          <p:cNvGrpSpPr/>
          <p:nvPr/>
        </p:nvGrpSpPr>
        <p:grpSpPr>
          <a:xfrm>
            <a:off x="5038053" y="2324100"/>
            <a:ext cx="2107053" cy="3877133"/>
            <a:chOff x="584201" y="2324100"/>
            <a:chExt cx="2107053" cy="3877133"/>
          </a:xfrm>
        </p:grpSpPr>
        <p:sp>
          <p:nvSpPr>
            <p:cNvPr id="63" name="Freeform: Shape 62">
              <a:extLst>
                <a:ext uri="{FF2B5EF4-FFF2-40B4-BE49-F238E27FC236}">
                  <a16:creationId xmlns:a16="http://schemas.microsoft.com/office/drawing/2014/main" id="{4CD9845E-64B4-4632-4749-FA183AB64F6B}"/>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64" name="Freeform: Shape 63">
              <a:extLst>
                <a:ext uri="{FF2B5EF4-FFF2-40B4-BE49-F238E27FC236}">
                  <a16:creationId xmlns:a16="http://schemas.microsoft.com/office/drawing/2014/main" id="{8CD7E3F4-D0A8-1D8C-C7F2-EAC731AF6125}"/>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grpSp>
        <p:nvGrpSpPr>
          <p:cNvPr id="65" name="Group 64">
            <a:extLst>
              <a:ext uri="{FF2B5EF4-FFF2-40B4-BE49-F238E27FC236}">
                <a16:creationId xmlns:a16="http://schemas.microsoft.com/office/drawing/2014/main" id="{0AA9D226-3E17-63CB-FB2F-3BBC60AB7819}"/>
              </a:ext>
            </a:extLst>
          </p:cNvPr>
          <p:cNvGrpSpPr/>
          <p:nvPr/>
        </p:nvGrpSpPr>
        <p:grpSpPr>
          <a:xfrm>
            <a:off x="7270194" y="2324100"/>
            <a:ext cx="2107053" cy="3877133"/>
            <a:chOff x="584201" y="2324100"/>
            <a:chExt cx="2107053" cy="3877133"/>
          </a:xfrm>
        </p:grpSpPr>
        <p:sp>
          <p:nvSpPr>
            <p:cNvPr id="66" name="Freeform: Shape 65">
              <a:extLst>
                <a:ext uri="{FF2B5EF4-FFF2-40B4-BE49-F238E27FC236}">
                  <a16:creationId xmlns:a16="http://schemas.microsoft.com/office/drawing/2014/main" id="{BDE9FCA6-E117-B75F-348B-DF11D409948C}"/>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67" name="Freeform: Shape 66">
              <a:extLst>
                <a:ext uri="{FF2B5EF4-FFF2-40B4-BE49-F238E27FC236}">
                  <a16:creationId xmlns:a16="http://schemas.microsoft.com/office/drawing/2014/main" id="{7210926C-1D50-BAA7-927F-1602D5717083}"/>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grpSp>
        <p:nvGrpSpPr>
          <p:cNvPr id="68" name="Group 67">
            <a:extLst>
              <a:ext uri="{FF2B5EF4-FFF2-40B4-BE49-F238E27FC236}">
                <a16:creationId xmlns:a16="http://schemas.microsoft.com/office/drawing/2014/main" id="{072280DB-EA9B-8A57-CA65-97B500B4670E}"/>
              </a:ext>
            </a:extLst>
          </p:cNvPr>
          <p:cNvGrpSpPr/>
          <p:nvPr/>
        </p:nvGrpSpPr>
        <p:grpSpPr>
          <a:xfrm>
            <a:off x="9502335" y="2324100"/>
            <a:ext cx="2107053" cy="3877133"/>
            <a:chOff x="584201" y="2324100"/>
            <a:chExt cx="2107053" cy="3877133"/>
          </a:xfrm>
        </p:grpSpPr>
        <p:sp>
          <p:nvSpPr>
            <p:cNvPr id="69" name="Freeform: Shape 68">
              <a:extLst>
                <a:ext uri="{FF2B5EF4-FFF2-40B4-BE49-F238E27FC236}">
                  <a16:creationId xmlns:a16="http://schemas.microsoft.com/office/drawing/2014/main" id="{7B6239D8-FDC2-D68E-F90C-C31F4FB57028}"/>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70" name="Freeform: Shape 69">
              <a:extLst>
                <a:ext uri="{FF2B5EF4-FFF2-40B4-BE49-F238E27FC236}">
                  <a16:creationId xmlns:a16="http://schemas.microsoft.com/office/drawing/2014/main" id="{47D806EE-5BF3-C370-ECC4-A14AE46FAE2A}"/>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sp>
        <p:nvSpPr>
          <p:cNvPr id="71" name="Oval 34_1">
            <a:extLst>
              <a:ext uri="{FF2B5EF4-FFF2-40B4-BE49-F238E27FC236}">
                <a16:creationId xmlns:a16="http://schemas.microsoft.com/office/drawing/2014/main" id="{2F925DD5-454A-364C-B514-D8E7159E3ED6}"/>
              </a:ext>
            </a:extLst>
          </p:cNvPr>
          <p:cNvSpPr/>
          <p:nvPr/>
        </p:nvSpPr>
        <p:spPr bwMode="auto">
          <a:xfrm>
            <a:off x="3359950" y="1838393"/>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2" name="Oval 71">
            <a:extLst>
              <a:ext uri="{FF2B5EF4-FFF2-40B4-BE49-F238E27FC236}">
                <a16:creationId xmlns:a16="http://schemas.microsoft.com/office/drawing/2014/main" id="{55973586-7130-2CC8-87B5-52BFFC84B67E}"/>
              </a:ext>
            </a:extLst>
          </p:cNvPr>
          <p:cNvSpPr/>
          <p:nvPr/>
        </p:nvSpPr>
        <p:spPr bwMode="auto">
          <a:xfrm>
            <a:off x="3448543" y="1926984"/>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3" name="Oval 34_1">
            <a:extLst>
              <a:ext uri="{FF2B5EF4-FFF2-40B4-BE49-F238E27FC236}">
                <a16:creationId xmlns:a16="http://schemas.microsoft.com/office/drawing/2014/main" id="{BC877F12-4760-26F9-4F90-7F54E1A20780}"/>
              </a:ext>
            </a:extLst>
          </p:cNvPr>
          <p:cNvSpPr/>
          <p:nvPr/>
        </p:nvSpPr>
        <p:spPr bwMode="auto">
          <a:xfrm>
            <a:off x="5592090" y="1838393"/>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4" name="Oval 73">
            <a:extLst>
              <a:ext uri="{FF2B5EF4-FFF2-40B4-BE49-F238E27FC236}">
                <a16:creationId xmlns:a16="http://schemas.microsoft.com/office/drawing/2014/main" id="{DD56A788-7AA7-D289-6E40-2EBC434A8AD8}"/>
              </a:ext>
            </a:extLst>
          </p:cNvPr>
          <p:cNvSpPr/>
          <p:nvPr/>
        </p:nvSpPr>
        <p:spPr bwMode="auto">
          <a:xfrm>
            <a:off x="5680683" y="1926984"/>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5" name="Oval 34_1">
            <a:extLst>
              <a:ext uri="{FF2B5EF4-FFF2-40B4-BE49-F238E27FC236}">
                <a16:creationId xmlns:a16="http://schemas.microsoft.com/office/drawing/2014/main" id="{2C8E076E-45C9-00B2-7487-742A32E6569B}"/>
              </a:ext>
            </a:extLst>
          </p:cNvPr>
          <p:cNvSpPr/>
          <p:nvPr/>
        </p:nvSpPr>
        <p:spPr bwMode="auto">
          <a:xfrm>
            <a:off x="7824231" y="1838393"/>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6" name="Oval 75">
            <a:extLst>
              <a:ext uri="{FF2B5EF4-FFF2-40B4-BE49-F238E27FC236}">
                <a16:creationId xmlns:a16="http://schemas.microsoft.com/office/drawing/2014/main" id="{114F321D-0A71-1C5A-3364-8FFE6FC23149}"/>
              </a:ext>
            </a:extLst>
          </p:cNvPr>
          <p:cNvSpPr/>
          <p:nvPr/>
        </p:nvSpPr>
        <p:spPr bwMode="auto">
          <a:xfrm>
            <a:off x="7912824" y="1926984"/>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7" name="Oval 34_1">
            <a:extLst>
              <a:ext uri="{FF2B5EF4-FFF2-40B4-BE49-F238E27FC236}">
                <a16:creationId xmlns:a16="http://schemas.microsoft.com/office/drawing/2014/main" id="{DF50EB8F-106E-4C6F-8AA8-19FE2BC6BEF5}"/>
              </a:ext>
            </a:extLst>
          </p:cNvPr>
          <p:cNvSpPr/>
          <p:nvPr/>
        </p:nvSpPr>
        <p:spPr bwMode="auto">
          <a:xfrm>
            <a:off x="10056372" y="1838393"/>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8" name="Oval 77">
            <a:extLst>
              <a:ext uri="{FF2B5EF4-FFF2-40B4-BE49-F238E27FC236}">
                <a16:creationId xmlns:a16="http://schemas.microsoft.com/office/drawing/2014/main" id="{E0D9EBF0-68B8-1D1C-0B7A-637D2C67C11B}"/>
              </a:ext>
            </a:extLst>
          </p:cNvPr>
          <p:cNvSpPr/>
          <p:nvPr/>
        </p:nvSpPr>
        <p:spPr bwMode="auto">
          <a:xfrm>
            <a:off x="10144965" y="1926984"/>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9" name="TextBox 78">
            <a:extLst>
              <a:ext uri="{FF2B5EF4-FFF2-40B4-BE49-F238E27FC236}">
                <a16:creationId xmlns:a16="http://schemas.microsoft.com/office/drawing/2014/main" id="{D353602D-78B9-04EF-1042-148F85B724DC}"/>
              </a:ext>
            </a:extLst>
          </p:cNvPr>
          <p:cNvSpPr txBox="1"/>
          <p:nvPr/>
        </p:nvSpPr>
        <p:spPr>
          <a:xfrm>
            <a:off x="2896158" y="3195240"/>
            <a:ext cx="1935403" cy="615553"/>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Reliability Concerns</a:t>
            </a:r>
          </a:p>
        </p:txBody>
      </p:sp>
      <p:sp>
        <p:nvSpPr>
          <p:cNvPr id="80" name="TextBox 79">
            <a:extLst>
              <a:ext uri="{FF2B5EF4-FFF2-40B4-BE49-F238E27FC236}">
                <a16:creationId xmlns:a16="http://schemas.microsoft.com/office/drawing/2014/main" id="{30DA6C73-EBD4-3276-39F6-D4D568E451C9}"/>
              </a:ext>
            </a:extLst>
          </p:cNvPr>
          <p:cNvSpPr txBox="1"/>
          <p:nvPr/>
        </p:nvSpPr>
        <p:spPr>
          <a:xfrm>
            <a:off x="5114960" y="3195240"/>
            <a:ext cx="1944244" cy="615553"/>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Security </a:t>
            </a:r>
            <a:br>
              <a:rPr lang="en-GB" sz="2000" noProof="0">
                <a:solidFill>
                  <a:srgbClr val="0078D4"/>
                </a:solidFill>
                <a:latin typeface="Segoe UI Semibold"/>
              </a:rPr>
            </a:br>
            <a:r>
              <a:rPr lang="en-GB" sz="2000" noProof="0">
                <a:solidFill>
                  <a:srgbClr val="0078D4"/>
                </a:solidFill>
                <a:latin typeface="Segoe UI Semibold"/>
              </a:rPr>
              <a:t>Risks</a:t>
            </a:r>
          </a:p>
        </p:txBody>
      </p:sp>
      <p:sp>
        <p:nvSpPr>
          <p:cNvPr id="81" name="TextBox 80">
            <a:extLst>
              <a:ext uri="{FF2B5EF4-FFF2-40B4-BE49-F238E27FC236}">
                <a16:creationId xmlns:a16="http://schemas.microsoft.com/office/drawing/2014/main" id="{71752684-6A39-932E-395C-30232AE892BA}"/>
              </a:ext>
            </a:extLst>
          </p:cNvPr>
          <p:cNvSpPr txBox="1"/>
          <p:nvPr/>
        </p:nvSpPr>
        <p:spPr>
          <a:xfrm>
            <a:off x="659675" y="3195240"/>
            <a:ext cx="1944244" cy="923330"/>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Unpredictable &amp; Unattributable Costs</a:t>
            </a:r>
          </a:p>
        </p:txBody>
      </p:sp>
      <p:sp>
        <p:nvSpPr>
          <p:cNvPr id="82" name="TextBox 81">
            <a:extLst>
              <a:ext uri="{FF2B5EF4-FFF2-40B4-BE49-F238E27FC236}">
                <a16:creationId xmlns:a16="http://schemas.microsoft.com/office/drawing/2014/main" id="{A54D5699-1C53-10E3-8BEF-FA5217CAC010}"/>
              </a:ext>
            </a:extLst>
          </p:cNvPr>
          <p:cNvSpPr txBox="1"/>
          <p:nvPr/>
        </p:nvSpPr>
        <p:spPr>
          <a:xfrm>
            <a:off x="7351599" y="3195240"/>
            <a:ext cx="1944244" cy="615553"/>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Developer Friction</a:t>
            </a:r>
          </a:p>
        </p:txBody>
      </p:sp>
      <p:sp>
        <p:nvSpPr>
          <p:cNvPr id="83" name="TextBox 82">
            <a:extLst>
              <a:ext uri="{FF2B5EF4-FFF2-40B4-BE49-F238E27FC236}">
                <a16:creationId xmlns:a16="http://schemas.microsoft.com/office/drawing/2014/main" id="{BBDCC64F-80DD-15E3-0116-00053ED1B41B}"/>
              </a:ext>
            </a:extLst>
          </p:cNvPr>
          <p:cNvSpPr txBox="1"/>
          <p:nvPr/>
        </p:nvSpPr>
        <p:spPr>
          <a:xfrm>
            <a:off x="9583740" y="3195240"/>
            <a:ext cx="1942656" cy="615553"/>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Governance Challenges</a:t>
            </a:r>
          </a:p>
        </p:txBody>
      </p:sp>
      <p:sp>
        <p:nvSpPr>
          <p:cNvPr id="84" name="Graphic 147">
            <a:extLst>
              <a:ext uri="{FF2B5EF4-FFF2-40B4-BE49-F238E27FC236}">
                <a16:creationId xmlns:a16="http://schemas.microsoft.com/office/drawing/2014/main" id="{C8A84E3B-E187-306A-E481-C8CB099539AD}"/>
              </a:ext>
            </a:extLst>
          </p:cNvPr>
          <p:cNvSpPr/>
          <p:nvPr/>
        </p:nvSpPr>
        <p:spPr>
          <a:xfrm>
            <a:off x="8080788" y="2094946"/>
            <a:ext cx="485864" cy="485862"/>
          </a:xfrm>
          <a:custGeom>
            <a:avLst/>
            <a:gdLst>
              <a:gd name="connsiteX0" fmla="*/ 4768530 w 4876800"/>
              <a:gd name="connsiteY0" fmla="*/ 2014099 h 4876800"/>
              <a:gd name="connsiteX1" fmla="*/ 4209136 w 4876800"/>
              <a:gd name="connsiteY1" fmla="*/ 1876530 h 4876800"/>
              <a:gd name="connsiteX2" fmla="*/ 4080072 w 4876800"/>
              <a:gd name="connsiteY2" fmla="*/ 1569291 h 4876800"/>
              <a:gd name="connsiteX3" fmla="*/ 4340571 w 4876800"/>
              <a:gd name="connsiteY3" fmla="*/ 1135228 h 4876800"/>
              <a:gd name="connsiteX4" fmla="*/ 4319083 w 4876800"/>
              <a:gd name="connsiteY4" fmla="*/ 960682 h 4876800"/>
              <a:gd name="connsiteX5" fmla="*/ 3915013 w 4876800"/>
              <a:gd name="connsiteY5" fmla="*/ 556612 h 4876800"/>
              <a:gd name="connsiteX6" fmla="*/ 3740468 w 4876800"/>
              <a:gd name="connsiteY6" fmla="*/ 535124 h 4876800"/>
              <a:gd name="connsiteX7" fmla="*/ 3305699 w 4876800"/>
              <a:gd name="connsiteY7" fmla="*/ 795623 h 4876800"/>
              <a:gd name="connsiteX8" fmla="*/ 3000280 w 4876800"/>
              <a:gd name="connsiteY8" fmla="*/ 667674 h 4876800"/>
              <a:gd name="connsiteX9" fmla="*/ 2862710 w 4876800"/>
              <a:gd name="connsiteY9" fmla="*/ 108280 h 4876800"/>
              <a:gd name="connsiteX10" fmla="*/ 2724150 w 4876800"/>
              <a:gd name="connsiteY10" fmla="*/ 0 h 4876800"/>
              <a:gd name="connsiteX11" fmla="*/ 2152650 w 4876800"/>
              <a:gd name="connsiteY11" fmla="*/ 0 h 4876800"/>
              <a:gd name="connsiteX12" fmla="*/ 2014099 w 4876800"/>
              <a:gd name="connsiteY12" fmla="*/ 108271 h 4876800"/>
              <a:gd name="connsiteX13" fmla="*/ 1876663 w 4876800"/>
              <a:gd name="connsiteY13" fmla="*/ 667531 h 4876800"/>
              <a:gd name="connsiteX14" fmla="*/ 1552404 w 4876800"/>
              <a:gd name="connsiteY14" fmla="*/ 805663 h 4876800"/>
              <a:gd name="connsiteX15" fmla="*/ 1101595 w 4876800"/>
              <a:gd name="connsiteY15" fmla="*/ 535124 h 4876800"/>
              <a:gd name="connsiteX16" fmla="*/ 927049 w 4876800"/>
              <a:gd name="connsiteY16" fmla="*/ 556612 h 4876800"/>
              <a:gd name="connsiteX17" fmla="*/ 522980 w 4876800"/>
              <a:gd name="connsiteY17" fmla="*/ 960682 h 4876800"/>
              <a:gd name="connsiteX18" fmla="*/ 501491 w 4876800"/>
              <a:gd name="connsiteY18" fmla="*/ 1135228 h 4876800"/>
              <a:gd name="connsiteX19" fmla="*/ 780269 w 4876800"/>
              <a:gd name="connsiteY19" fmla="*/ 1600829 h 4876800"/>
              <a:gd name="connsiteX20" fmla="*/ 667674 w 4876800"/>
              <a:gd name="connsiteY20" fmla="*/ 1876111 h 4876800"/>
              <a:gd name="connsiteX21" fmla="*/ 108280 w 4876800"/>
              <a:gd name="connsiteY21" fmla="*/ 2014099 h 4876800"/>
              <a:gd name="connsiteX22" fmla="*/ 0 w 4876800"/>
              <a:gd name="connsiteY22" fmla="*/ 2152650 h 4876800"/>
              <a:gd name="connsiteX23" fmla="*/ 0 w 4876800"/>
              <a:gd name="connsiteY23" fmla="*/ 2724150 h 4876800"/>
              <a:gd name="connsiteX24" fmla="*/ 108271 w 4876800"/>
              <a:gd name="connsiteY24" fmla="*/ 2862701 h 4876800"/>
              <a:gd name="connsiteX25" fmla="*/ 667807 w 4876800"/>
              <a:gd name="connsiteY25" fmla="*/ 3000270 h 4876800"/>
              <a:gd name="connsiteX26" fmla="*/ 799243 w 4876800"/>
              <a:gd name="connsiteY26" fmla="*/ 3312671 h 4876800"/>
              <a:gd name="connsiteX27" fmla="*/ 549774 w 4876800"/>
              <a:gd name="connsiteY27" fmla="*/ 3728457 h 4876800"/>
              <a:gd name="connsiteX28" fmla="*/ 571262 w 4876800"/>
              <a:gd name="connsiteY28" fmla="*/ 3903002 h 4876800"/>
              <a:gd name="connsiteX29" fmla="*/ 975331 w 4876800"/>
              <a:gd name="connsiteY29" fmla="*/ 4307072 h 4876800"/>
              <a:gd name="connsiteX30" fmla="*/ 1149877 w 4876800"/>
              <a:gd name="connsiteY30" fmla="*/ 4328560 h 4876800"/>
              <a:gd name="connsiteX31" fmla="*/ 1566644 w 4876800"/>
              <a:gd name="connsiteY31" fmla="*/ 4078805 h 4876800"/>
              <a:gd name="connsiteX32" fmla="*/ 1876673 w 4876800"/>
              <a:gd name="connsiteY32" fmla="*/ 4209260 h 4876800"/>
              <a:gd name="connsiteX33" fmla="*/ 2014109 w 4876800"/>
              <a:gd name="connsiteY33" fmla="*/ 4768520 h 4876800"/>
              <a:gd name="connsiteX34" fmla="*/ 2152650 w 4876800"/>
              <a:gd name="connsiteY34" fmla="*/ 4876800 h 4876800"/>
              <a:gd name="connsiteX35" fmla="*/ 2724150 w 4876800"/>
              <a:gd name="connsiteY35" fmla="*/ 4876800 h 4876800"/>
              <a:gd name="connsiteX36" fmla="*/ 2862701 w 4876800"/>
              <a:gd name="connsiteY36" fmla="*/ 4768530 h 4876800"/>
              <a:gd name="connsiteX37" fmla="*/ 3000137 w 4876800"/>
              <a:gd name="connsiteY37" fmla="*/ 4209269 h 4876800"/>
              <a:gd name="connsiteX38" fmla="*/ 3317139 w 4876800"/>
              <a:gd name="connsiteY38" fmla="*/ 4074624 h 4876800"/>
              <a:gd name="connsiteX39" fmla="*/ 3740458 w 4876800"/>
              <a:gd name="connsiteY39" fmla="*/ 4328560 h 4876800"/>
              <a:gd name="connsiteX40" fmla="*/ 3915004 w 4876800"/>
              <a:gd name="connsiteY40" fmla="*/ 4307072 h 4876800"/>
              <a:gd name="connsiteX41" fmla="*/ 4319074 w 4876800"/>
              <a:gd name="connsiteY41" fmla="*/ 3903002 h 4876800"/>
              <a:gd name="connsiteX42" fmla="*/ 4340562 w 4876800"/>
              <a:gd name="connsiteY42" fmla="*/ 3728457 h 4876800"/>
              <a:gd name="connsiteX43" fmla="*/ 4083692 w 4876800"/>
              <a:gd name="connsiteY43" fmla="*/ 3300527 h 4876800"/>
              <a:gd name="connsiteX44" fmla="*/ 4209126 w 4876800"/>
              <a:gd name="connsiteY44" fmla="*/ 3000270 h 4876800"/>
              <a:gd name="connsiteX45" fmla="*/ 4768520 w 4876800"/>
              <a:gd name="connsiteY45" fmla="*/ 2862701 h 4876800"/>
              <a:gd name="connsiteX46" fmla="*/ 4876800 w 4876800"/>
              <a:gd name="connsiteY46" fmla="*/ 2724150 h 4876800"/>
              <a:gd name="connsiteX47" fmla="*/ 4876800 w 4876800"/>
              <a:gd name="connsiteY47" fmla="*/ 2152650 h 4876800"/>
              <a:gd name="connsiteX48" fmla="*/ 4768530 w 4876800"/>
              <a:gd name="connsiteY48" fmla="*/ 2014099 h 4876800"/>
              <a:gd name="connsiteX49" fmla="*/ 2438400 w 4876800"/>
              <a:gd name="connsiteY49" fmla="*/ 3438525 h 4876800"/>
              <a:gd name="connsiteX50" fmla="*/ 1438275 w 4876800"/>
              <a:gd name="connsiteY50" fmla="*/ 2438400 h 4876800"/>
              <a:gd name="connsiteX51" fmla="*/ 2438400 w 4876800"/>
              <a:gd name="connsiteY51" fmla="*/ 1438275 h 4876800"/>
              <a:gd name="connsiteX52" fmla="*/ 3438525 w 4876800"/>
              <a:gd name="connsiteY52" fmla="*/ 2438400 h 4876800"/>
              <a:gd name="connsiteX53" fmla="*/ 2438400 w 4876800"/>
              <a:gd name="connsiteY53" fmla="*/ 3438525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876800" h="4876800">
                <a:moveTo>
                  <a:pt x="4768530" y="2014099"/>
                </a:moveTo>
                <a:lnTo>
                  <a:pt x="4209136" y="1876530"/>
                </a:lnTo>
                <a:cubicBezTo>
                  <a:pt x="4175512" y="1770488"/>
                  <a:pt x="4132260" y="1667656"/>
                  <a:pt x="4080072" y="1569291"/>
                </a:cubicBezTo>
                <a:cubicBezTo>
                  <a:pt x="4164063" y="1429483"/>
                  <a:pt x="4340571" y="1135228"/>
                  <a:pt x="4340571" y="1135228"/>
                </a:cubicBezTo>
                <a:cubicBezTo>
                  <a:pt x="4374337" y="1079002"/>
                  <a:pt x="4365403" y="1007002"/>
                  <a:pt x="4319083" y="960682"/>
                </a:cubicBezTo>
                <a:lnTo>
                  <a:pt x="3915013" y="556612"/>
                </a:lnTo>
                <a:cubicBezTo>
                  <a:pt x="3868693" y="510149"/>
                  <a:pt x="3796837" y="501225"/>
                  <a:pt x="3740468" y="535124"/>
                </a:cubicBezTo>
                <a:lnTo>
                  <a:pt x="3305699" y="795623"/>
                </a:lnTo>
                <a:cubicBezTo>
                  <a:pt x="3207887" y="743855"/>
                  <a:pt x="3105617" y="701021"/>
                  <a:pt x="3000280" y="667674"/>
                </a:cubicBezTo>
                <a:lnTo>
                  <a:pt x="2862710" y="108280"/>
                </a:lnTo>
                <a:cubicBezTo>
                  <a:pt x="2846794" y="44653"/>
                  <a:pt x="2789730" y="0"/>
                  <a:pt x="2724150" y="0"/>
                </a:cubicBezTo>
                <a:lnTo>
                  <a:pt x="2152650" y="0"/>
                </a:lnTo>
                <a:cubicBezTo>
                  <a:pt x="2087070" y="0"/>
                  <a:pt x="2029863" y="44653"/>
                  <a:pt x="2014099" y="108271"/>
                </a:cubicBezTo>
                <a:cubicBezTo>
                  <a:pt x="2014099" y="108271"/>
                  <a:pt x="1918802" y="498700"/>
                  <a:pt x="1876663" y="667531"/>
                </a:cubicBezTo>
                <a:cubicBezTo>
                  <a:pt x="1764344" y="703107"/>
                  <a:pt x="1655798" y="749294"/>
                  <a:pt x="1552404" y="805663"/>
                </a:cubicBezTo>
                <a:lnTo>
                  <a:pt x="1101595" y="535124"/>
                </a:lnTo>
                <a:cubicBezTo>
                  <a:pt x="1045226" y="501634"/>
                  <a:pt x="973512" y="510292"/>
                  <a:pt x="927049" y="556612"/>
                </a:cubicBezTo>
                <a:lnTo>
                  <a:pt x="522980" y="960682"/>
                </a:lnTo>
                <a:cubicBezTo>
                  <a:pt x="476660" y="1007002"/>
                  <a:pt x="467725" y="1079002"/>
                  <a:pt x="501491" y="1135228"/>
                </a:cubicBezTo>
                <a:lnTo>
                  <a:pt x="780269" y="1600829"/>
                </a:lnTo>
                <a:cubicBezTo>
                  <a:pt x="735340" y="1689430"/>
                  <a:pt x="697668" y="1781651"/>
                  <a:pt x="667674" y="1876111"/>
                </a:cubicBezTo>
                <a:lnTo>
                  <a:pt x="108280" y="2014099"/>
                </a:lnTo>
                <a:cubicBezTo>
                  <a:pt x="44653" y="2030006"/>
                  <a:pt x="0" y="2087070"/>
                  <a:pt x="0" y="2152650"/>
                </a:cubicBezTo>
                <a:lnTo>
                  <a:pt x="0" y="2724150"/>
                </a:lnTo>
                <a:cubicBezTo>
                  <a:pt x="0" y="2789730"/>
                  <a:pt x="44653" y="2846937"/>
                  <a:pt x="108271" y="2862701"/>
                </a:cubicBezTo>
                <a:lnTo>
                  <a:pt x="667807" y="3000270"/>
                </a:lnTo>
                <a:cubicBezTo>
                  <a:pt x="701716" y="3107846"/>
                  <a:pt x="745798" y="3212354"/>
                  <a:pt x="799243" y="3312671"/>
                </a:cubicBezTo>
                <a:lnTo>
                  <a:pt x="549774" y="3728457"/>
                </a:lnTo>
                <a:cubicBezTo>
                  <a:pt x="516007" y="3784683"/>
                  <a:pt x="524942" y="3856682"/>
                  <a:pt x="571262" y="3903002"/>
                </a:cubicBezTo>
                <a:lnTo>
                  <a:pt x="975331" y="4307072"/>
                </a:lnTo>
                <a:cubicBezTo>
                  <a:pt x="1021518" y="4353259"/>
                  <a:pt x="1093508" y="4362041"/>
                  <a:pt x="1149877" y="4328560"/>
                </a:cubicBezTo>
                <a:cubicBezTo>
                  <a:pt x="1149877" y="4328560"/>
                  <a:pt x="1429626" y="4160853"/>
                  <a:pt x="1566644" y="4078805"/>
                </a:cubicBezTo>
                <a:cubicBezTo>
                  <a:pt x="1665846" y="4131688"/>
                  <a:pt x="1769650" y="4175360"/>
                  <a:pt x="1876673" y="4209260"/>
                </a:cubicBezTo>
                <a:lnTo>
                  <a:pt x="2014109" y="4768520"/>
                </a:lnTo>
                <a:cubicBezTo>
                  <a:pt x="2029863" y="4832156"/>
                  <a:pt x="2087070" y="4876800"/>
                  <a:pt x="2152650" y="4876800"/>
                </a:cubicBezTo>
                <a:lnTo>
                  <a:pt x="2724150" y="4876800"/>
                </a:lnTo>
                <a:cubicBezTo>
                  <a:pt x="2789730" y="4876800"/>
                  <a:pt x="2846794" y="4832147"/>
                  <a:pt x="2862701" y="4768530"/>
                </a:cubicBezTo>
                <a:lnTo>
                  <a:pt x="3000137" y="4209269"/>
                </a:lnTo>
                <a:cubicBezTo>
                  <a:pt x="3110227" y="4174389"/>
                  <a:pt x="3216259" y="4129316"/>
                  <a:pt x="3317139" y="4074624"/>
                </a:cubicBezTo>
                <a:cubicBezTo>
                  <a:pt x="3457918" y="4159034"/>
                  <a:pt x="3740458" y="4328560"/>
                  <a:pt x="3740458" y="4328560"/>
                </a:cubicBezTo>
                <a:cubicBezTo>
                  <a:pt x="3796684" y="4362183"/>
                  <a:pt x="3868684" y="4353535"/>
                  <a:pt x="3915004" y="4307072"/>
                </a:cubicBezTo>
                <a:lnTo>
                  <a:pt x="4319074" y="3903002"/>
                </a:lnTo>
                <a:cubicBezTo>
                  <a:pt x="4365393" y="3856682"/>
                  <a:pt x="4374328" y="3784683"/>
                  <a:pt x="4340562" y="3728457"/>
                </a:cubicBezTo>
                <a:lnTo>
                  <a:pt x="4083692" y="3300527"/>
                </a:lnTo>
                <a:cubicBezTo>
                  <a:pt x="4134336" y="3204391"/>
                  <a:pt x="4176341" y="3103798"/>
                  <a:pt x="4209126" y="3000270"/>
                </a:cubicBezTo>
                <a:lnTo>
                  <a:pt x="4768520" y="2862701"/>
                </a:lnTo>
                <a:cubicBezTo>
                  <a:pt x="4832156" y="2846794"/>
                  <a:pt x="4876800" y="2789730"/>
                  <a:pt x="4876800" y="2724150"/>
                </a:cubicBezTo>
                <a:lnTo>
                  <a:pt x="4876800" y="2152650"/>
                </a:lnTo>
                <a:cubicBezTo>
                  <a:pt x="4876800" y="2087070"/>
                  <a:pt x="4832156" y="2030006"/>
                  <a:pt x="4768530" y="2014099"/>
                </a:cubicBezTo>
                <a:close/>
                <a:moveTo>
                  <a:pt x="2438400" y="3438525"/>
                </a:moveTo>
                <a:cubicBezTo>
                  <a:pt x="1886988" y="3438525"/>
                  <a:pt x="1438275" y="2989812"/>
                  <a:pt x="1438275" y="2438400"/>
                </a:cubicBezTo>
                <a:cubicBezTo>
                  <a:pt x="1438275" y="1886988"/>
                  <a:pt x="1886988" y="1438275"/>
                  <a:pt x="2438400" y="1438275"/>
                </a:cubicBezTo>
                <a:cubicBezTo>
                  <a:pt x="2989812" y="1438275"/>
                  <a:pt x="3438525" y="1886988"/>
                  <a:pt x="3438525" y="2438400"/>
                </a:cubicBezTo>
                <a:cubicBezTo>
                  <a:pt x="3438525" y="2989812"/>
                  <a:pt x="2989812" y="3438525"/>
                  <a:pt x="2438400" y="3438525"/>
                </a:cubicBezTo>
                <a:close/>
              </a:path>
            </a:pathLst>
          </a:custGeom>
          <a:solidFill>
            <a:srgbClr val="0078D4"/>
          </a:solidFill>
          <a:ln w="9525" cap="flat">
            <a:noFill/>
            <a:prstDash val="solid"/>
            <a:miter/>
          </a:ln>
        </p:spPr>
        <p:txBody>
          <a:bodyPr rtlCol="0" anchor="ctr"/>
          <a:lstStyle/>
          <a:p>
            <a:pPr>
              <a:defRPr/>
            </a:pPr>
            <a:endParaRPr lang="en-GB" noProof="0">
              <a:solidFill>
                <a:srgbClr val="FFFFFF"/>
              </a:solidFill>
              <a:latin typeface="Segoe UI"/>
            </a:endParaRPr>
          </a:p>
        </p:txBody>
      </p:sp>
      <p:grpSp>
        <p:nvGrpSpPr>
          <p:cNvPr id="85" name="Group 84">
            <a:extLst>
              <a:ext uri="{FF2B5EF4-FFF2-40B4-BE49-F238E27FC236}">
                <a16:creationId xmlns:a16="http://schemas.microsoft.com/office/drawing/2014/main" id="{4EA757FF-9F20-1EB6-71FC-5EC6C338C25A}"/>
              </a:ext>
            </a:extLst>
          </p:cNvPr>
          <p:cNvGrpSpPr/>
          <p:nvPr/>
        </p:nvGrpSpPr>
        <p:grpSpPr>
          <a:xfrm>
            <a:off x="10342122" y="2105364"/>
            <a:ext cx="427478" cy="439626"/>
            <a:chOff x="-746509" y="4152186"/>
            <a:chExt cx="327795" cy="337113"/>
          </a:xfrm>
        </p:grpSpPr>
        <p:sp>
          <p:nvSpPr>
            <p:cNvPr id="86" name="Freeform: Shape 85">
              <a:extLst>
                <a:ext uri="{FF2B5EF4-FFF2-40B4-BE49-F238E27FC236}">
                  <a16:creationId xmlns:a16="http://schemas.microsoft.com/office/drawing/2014/main" id="{3896118A-F33B-4285-3589-6329E57F8C4D}"/>
                </a:ext>
              </a:extLst>
            </p:cNvPr>
            <p:cNvSpPr/>
            <p:nvPr/>
          </p:nvSpPr>
          <p:spPr>
            <a:xfrm>
              <a:off x="-745955" y="4152186"/>
              <a:ext cx="326676" cy="145918"/>
            </a:xfrm>
            <a:custGeom>
              <a:avLst/>
              <a:gdLst>
                <a:gd name="connsiteX0" fmla="*/ 163344 w 326676"/>
                <a:gd name="connsiteY0" fmla="*/ 0 h 145918"/>
                <a:gd name="connsiteX1" fmla="*/ 182137 w 326676"/>
                <a:gd name="connsiteY1" fmla="*/ 6131 h 145918"/>
                <a:gd name="connsiteX2" fmla="*/ 317280 w 326676"/>
                <a:gd name="connsiteY2" fmla="*/ 104761 h 145918"/>
                <a:gd name="connsiteX3" fmla="*/ 303913 w 326676"/>
                <a:gd name="connsiteY3" fmla="*/ 145918 h 145918"/>
                <a:gd name="connsiteX4" fmla="*/ 22756 w 326676"/>
                <a:gd name="connsiteY4" fmla="*/ 145918 h 145918"/>
                <a:gd name="connsiteX5" fmla="*/ 9389 w 326676"/>
                <a:gd name="connsiteY5" fmla="*/ 104761 h 145918"/>
                <a:gd name="connsiteX6" fmla="*/ 144532 w 326676"/>
                <a:gd name="connsiteY6" fmla="*/ 6131 h 145918"/>
                <a:gd name="connsiteX7" fmla="*/ 144550 w 326676"/>
                <a:gd name="connsiteY7" fmla="*/ 6131 h 145918"/>
                <a:gd name="connsiteX8" fmla="*/ 163344 w 326676"/>
                <a:gd name="connsiteY8" fmla="*/ 0 h 145918"/>
                <a:gd name="connsiteX9" fmla="*/ 163344 w 326676"/>
                <a:gd name="connsiteY9" fmla="*/ 59398 h 145918"/>
                <a:gd name="connsiteX10" fmla="*/ 145133 w 326676"/>
                <a:gd name="connsiteY10" fmla="*/ 77609 h 145918"/>
                <a:gd name="connsiteX11" fmla="*/ 163344 w 326676"/>
                <a:gd name="connsiteY11" fmla="*/ 95820 h 145918"/>
                <a:gd name="connsiteX12" fmla="*/ 181554 w 326676"/>
                <a:gd name="connsiteY12" fmla="*/ 77609 h 145918"/>
                <a:gd name="connsiteX13" fmla="*/ 163344 w 326676"/>
                <a:gd name="connsiteY13" fmla="*/ 59398 h 14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6676" h="145918">
                  <a:moveTo>
                    <a:pt x="163344" y="0"/>
                  </a:moveTo>
                  <a:cubicBezTo>
                    <a:pt x="169941" y="0"/>
                    <a:pt x="176539" y="2043"/>
                    <a:pt x="182137" y="6131"/>
                  </a:cubicBezTo>
                  <a:lnTo>
                    <a:pt x="317280" y="104761"/>
                  </a:lnTo>
                  <a:cubicBezTo>
                    <a:pt x="335072" y="117727"/>
                    <a:pt x="325912" y="145863"/>
                    <a:pt x="303913" y="145918"/>
                  </a:cubicBezTo>
                  <a:lnTo>
                    <a:pt x="22756" y="145918"/>
                  </a:lnTo>
                  <a:cubicBezTo>
                    <a:pt x="757" y="145863"/>
                    <a:pt x="-8385" y="117727"/>
                    <a:pt x="9389" y="104761"/>
                  </a:cubicBezTo>
                  <a:lnTo>
                    <a:pt x="144532" y="6131"/>
                  </a:lnTo>
                  <a:lnTo>
                    <a:pt x="144550" y="6131"/>
                  </a:lnTo>
                  <a:cubicBezTo>
                    <a:pt x="150148" y="2043"/>
                    <a:pt x="156746" y="0"/>
                    <a:pt x="163344" y="0"/>
                  </a:cubicBezTo>
                  <a:close/>
                  <a:moveTo>
                    <a:pt x="163344" y="59398"/>
                  </a:moveTo>
                  <a:cubicBezTo>
                    <a:pt x="153286" y="59398"/>
                    <a:pt x="145133" y="67551"/>
                    <a:pt x="145133" y="77609"/>
                  </a:cubicBezTo>
                  <a:cubicBezTo>
                    <a:pt x="145133" y="87666"/>
                    <a:pt x="153286" y="95820"/>
                    <a:pt x="163344" y="95820"/>
                  </a:cubicBezTo>
                  <a:cubicBezTo>
                    <a:pt x="173401" y="95820"/>
                    <a:pt x="181554" y="87666"/>
                    <a:pt x="181554" y="77609"/>
                  </a:cubicBezTo>
                  <a:cubicBezTo>
                    <a:pt x="181554" y="67551"/>
                    <a:pt x="173401" y="59398"/>
                    <a:pt x="163344" y="59398"/>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87" name="Freeform: Shape 86">
              <a:extLst>
                <a:ext uri="{FF2B5EF4-FFF2-40B4-BE49-F238E27FC236}">
                  <a16:creationId xmlns:a16="http://schemas.microsoft.com/office/drawing/2014/main" id="{68B63C19-B2C1-70E1-B2A2-92245813571C}"/>
                </a:ext>
              </a:extLst>
            </p:cNvPr>
            <p:cNvSpPr/>
            <p:nvPr/>
          </p:nvSpPr>
          <p:spPr>
            <a:xfrm>
              <a:off x="-700982" y="4316296"/>
              <a:ext cx="40974" cy="91054"/>
            </a:xfrm>
            <a:custGeom>
              <a:avLst/>
              <a:gdLst>
                <a:gd name="connsiteX0" fmla="*/ 0 w 40974"/>
                <a:gd name="connsiteY0" fmla="*/ 0 h 91054"/>
                <a:gd name="connsiteX1" fmla="*/ 40974 w 40974"/>
                <a:gd name="connsiteY1" fmla="*/ 0 h 91054"/>
                <a:gd name="connsiteX2" fmla="*/ 40974 w 40974"/>
                <a:gd name="connsiteY2" fmla="*/ 91054 h 91054"/>
                <a:gd name="connsiteX3" fmla="*/ 0 w 40974"/>
                <a:gd name="connsiteY3" fmla="*/ 91054 h 91054"/>
                <a:gd name="connsiteX4" fmla="*/ 0 w 40974"/>
                <a:gd name="connsiteY4" fmla="*/ 0 h 91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74" h="91054">
                  <a:moveTo>
                    <a:pt x="0" y="0"/>
                  </a:moveTo>
                  <a:lnTo>
                    <a:pt x="40974" y="0"/>
                  </a:lnTo>
                  <a:lnTo>
                    <a:pt x="40974" y="91054"/>
                  </a:lnTo>
                  <a:lnTo>
                    <a:pt x="0" y="91054"/>
                  </a:lnTo>
                  <a:lnTo>
                    <a:pt x="0" y="0"/>
                  </a:ln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88" name="Freeform: Shape 87">
              <a:extLst>
                <a:ext uri="{FF2B5EF4-FFF2-40B4-BE49-F238E27FC236}">
                  <a16:creationId xmlns:a16="http://schemas.microsoft.com/office/drawing/2014/main" id="{FE865941-35C9-2B1A-F50E-DEB0E5C18E72}"/>
                </a:ext>
              </a:extLst>
            </p:cNvPr>
            <p:cNvSpPr/>
            <p:nvPr/>
          </p:nvSpPr>
          <p:spPr>
            <a:xfrm>
              <a:off x="-632691" y="4316296"/>
              <a:ext cx="36421" cy="91054"/>
            </a:xfrm>
            <a:custGeom>
              <a:avLst/>
              <a:gdLst>
                <a:gd name="connsiteX0" fmla="*/ 0 w 36421"/>
                <a:gd name="connsiteY0" fmla="*/ 0 h 91054"/>
                <a:gd name="connsiteX1" fmla="*/ 36421 w 36421"/>
                <a:gd name="connsiteY1" fmla="*/ 0 h 91054"/>
                <a:gd name="connsiteX2" fmla="*/ 36421 w 36421"/>
                <a:gd name="connsiteY2" fmla="*/ 91054 h 91054"/>
                <a:gd name="connsiteX3" fmla="*/ 0 w 36421"/>
                <a:gd name="connsiteY3" fmla="*/ 91054 h 91054"/>
                <a:gd name="connsiteX4" fmla="*/ 0 w 36421"/>
                <a:gd name="connsiteY4" fmla="*/ 0 h 91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91054">
                  <a:moveTo>
                    <a:pt x="0" y="0"/>
                  </a:moveTo>
                  <a:lnTo>
                    <a:pt x="36421" y="0"/>
                  </a:lnTo>
                  <a:lnTo>
                    <a:pt x="36421" y="91054"/>
                  </a:lnTo>
                  <a:lnTo>
                    <a:pt x="0" y="91054"/>
                  </a:lnTo>
                  <a:lnTo>
                    <a:pt x="0" y="0"/>
                  </a:ln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89" name="Freeform: Shape 88">
              <a:extLst>
                <a:ext uri="{FF2B5EF4-FFF2-40B4-BE49-F238E27FC236}">
                  <a16:creationId xmlns:a16="http://schemas.microsoft.com/office/drawing/2014/main" id="{50CDCCA7-5795-E016-CD65-9DC5CCFA984F}"/>
                </a:ext>
              </a:extLst>
            </p:cNvPr>
            <p:cNvSpPr/>
            <p:nvPr/>
          </p:nvSpPr>
          <p:spPr>
            <a:xfrm>
              <a:off x="-568953" y="4316296"/>
              <a:ext cx="36421" cy="91054"/>
            </a:xfrm>
            <a:custGeom>
              <a:avLst/>
              <a:gdLst>
                <a:gd name="connsiteX0" fmla="*/ 0 w 36421"/>
                <a:gd name="connsiteY0" fmla="*/ 0 h 91054"/>
                <a:gd name="connsiteX1" fmla="*/ 36421 w 36421"/>
                <a:gd name="connsiteY1" fmla="*/ 0 h 91054"/>
                <a:gd name="connsiteX2" fmla="*/ 36421 w 36421"/>
                <a:gd name="connsiteY2" fmla="*/ 91054 h 91054"/>
                <a:gd name="connsiteX3" fmla="*/ 0 w 36421"/>
                <a:gd name="connsiteY3" fmla="*/ 91054 h 91054"/>
                <a:gd name="connsiteX4" fmla="*/ 0 w 36421"/>
                <a:gd name="connsiteY4" fmla="*/ 0 h 91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91054">
                  <a:moveTo>
                    <a:pt x="0" y="0"/>
                  </a:moveTo>
                  <a:lnTo>
                    <a:pt x="36421" y="0"/>
                  </a:lnTo>
                  <a:lnTo>
                    <a:pt x="36421" y="91054"/>
                  </a:lnTo>
                  <a:lnTo>
                    <a:pt x="0" y="91054"/>
                  </a:lnTo>
                  <a:lnTo>
                    <a:pt x="0" y="0"/>
                  </a:ln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90" name="Freeform: Shape 89">
              <a:extLst>
                <a:ext uri="{FF2B5EF4-FFF2-40B4-BE49-F238E27FC236}">
                  <a16:creationId xmlns:a16="http://schemas.microsoft.com/office/drawing/2014/main" id="{6D732F1C-6643-BD3F-E64A-B4C516760775}"/>
                </a:ext>
              </a:extLst>
            </p:cNvPr>
            <p:cNvSpPr/>
            <p:nvPr/>
          </p:nvSpPr>
          <p:spPr>
            <a:xfrm>
              <a:off x="-505215" y="4316296"/>
              <a:ext cx="40974" cy="91054"/>
            </a:xfrm>
            <a:custGeom>
              <a:avLst/>
              <a:gdLst>
                <a:gd name="connsiteX0" fmla="*/ 0 w 40974"/>
                <a:gd name="connsiteY0" fmla="*/ 0 h 91054"/>
                <a:gd name="connsiteX1" fmla="*/ 40974 w 40974"/>
                <a:gd name="connsiteY1" fmla="*/ 0 h 91054"/>
                <a:gd name="connsiteX2" fmla="*/ 40974 w 40974"/>
                <a:gd name="connsiteY2" fmla="*/ 91054 h 91054"/>
                <a:gd name="connsiteX3" fmla="*/ 0 w 40974"/>
                <a:gd name="connsiteY3" fmla="*/ 91054 h 91054"/>
                <a:gd name="connsiteX4" fmla="*/ 0 w 40974"/>
                <a:gd name="connsiteY4" fmla="*/ 0 h 91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74" h="91054">
                  <a:moveTo>
                    <a:pt x="0" y="0"/>
                  </a:moveTo>
                  <a:lnTo>
                    <a:pt x="40974" y="0"/>
                  </a:lnTo>
                  <a:lnTo>
                    <a:pt x="40974" y="91054"/>
                  </a:lnTo>
                  <a:lnTo>
                    <a:pt x="0" y="91054"/>
                  </a:lnTo>
                  <a:lnTo>
                    <a:pt x="0" y="0"/>
                  </a:ln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91" name="Freeform: Shape 90">
              <a:extLst>
                <a:ext uri="{FF2B5EF4-FFF2-40B4-BE49-F238E27FC236}">
                  <a16:creationId xmlns:a16="http://schemas.microsoft.com/office/drawing/2014/main" id="{91FA721E-2C9A-C4A6-8014-4CAD1154AEE3}"/>
                </a:ext>
              </a:extLst>
            </p:cNvPr>
            <p:cNvSpPr/>
            <p:nvPr/>
          </p:nvSpPr>
          <p:spPr>
            <a:xfrm>
              <a:off x="-746509" y="4425561"/>
              <a:ext cx="327795" cy="63738"/>
            </a:xfrm>
            <a:custGeom>
              <a:avLst/>
              <a:gdLst>
                <a:gd name="connsiteX0" fmla="*/ 40974 w 327795"/>
                <a:gd name="connsiteY0" fmla="*/ 0 h 63738"/>
                <a:gd name="connsiteX1" fmla="*/ 286821 w 327795"/>
                <a:gd name="connsiteY1" fmla="*/ 0 h 63738"/>
                <a:gd name="connsiteX2" fmla="*/ 327795 w 327795"/>
                <a:gd name="connsiteY2" fmla="*/ 40975 h 63738"/>
                <a:gd name="connsiteX3" fmla="*/ 327795 w 327795"/>
                <a:gd name="connsiteY3" fmla="*/ 50080 h 63738"/>
                <a:gd name="connsiteX4" fmla="*/ 314137 w 327795"/>
                <a:gd name="connsiteY4" fmla="*/ 63738 h 63738"/>
                <a:gd name="connsiteX5" fmla="*/ 13658 w 327795"/>
                <a:gd name="connsiteY5" fmla="*/ 63738 h 63738"/>
                <a:gd name="connsiteX6" fmla="*/ 0 w 327795"/>
                <a:gd name="connsiteY6" fmla="*/ 50080 h 63738"/>
                <a:gd name="connsiteX7" fmla="*/ 0 w 327795"/>
                <a:gd name="connsiteY7" fmla="*/ 40975 h 63738"/>
                <a:gd name="connsiteX8" fmla="*/ 40974 w 327795"/>
                <a:gd name="connsiteY8" fmla="*/ 0 h 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795" h="63738">
                  <a:moveTo>
                    <a:pt x="40974" y="0"/>
                  </a:moveTo>
                  <a:lnTo>
                    <a:pt x="286821" y="0"/>
                  </a:lnTo>
                  <a:cubicBezTo>
                    <a:pt x="309449" y="0"/>
                    <a:pt x="327795" y="18346"/>
                    <a:pt x="327795" y="40975"/>
                  </a:cubicBezTo>
                  <a:lnTo>
                    <a:pt x="327795" y="50080"/>
                  </a:lnTo>
                  <a:cubicBezTo>
                    <a:pt x="327795" y="57623"/>
                    <a:pt x="321680" y="63738"/>
                    <a:pt x="314137" y="63738"/>
                  </a:cubicBezTo>
                  <a:lnTo>
                    <a:pt x="13658" y="63738"/>
                  </a:lnTo>
                  <a:cubicBezTo>
                    <a:pt x="6119" y="63738"/>
                    <a:pt x="0" y="57638"/>
                    <a:pt x="0" y="50080"/>
                  </a:cubicBezTo>
                  <a:lnTo>
                    <a:pt x="0" y="40975"/>
                  </a:lnTo>
                  <a:cubicBezTo>
                    <a:pt x="0" y="18346"/>
                    <a:pt x="18345" y="0"/>
                    <a:pt x="40974" y="0"/>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sp>
        <p:nvSpPr>
          <p:cNvPr id="92" name="Graphic 34" descr="Icon of a shield with a checkmark">
            <a:extLst>
              <a:ext uri="{FF2B5EF4-FFF2-40B4-BE49-F238E27FC236}">
                <a16:creationId xmlns:a16="http://schemas.microsoft.com/office/drawing/2014/main" id="{04E24919-0566-D66B-7908-6E6F388348C1}"/>
              </a:ext>
            </a:extLst>
          </p:cNvPr>
          <p:cNvSpPr>
            <a:spLocks/>
          </p:cNvSpPr>
          <p:nvPr/>
        </p:nvSpPr>
        <p:spPr>
          <a:xfrm>
            <a:off x="3658168" y="2114244"/>
            <a:ext cx="402542" cy="447266"/>
          </a:xfrm>
          <a:custGeom>
            <a:avLst/>
            <a:gdLst>
              <a:gd name="connsiteX0" fmla="*/ 164306 w 171450"/>
              <a:gd name="connsiteY0" fmla="*/ 28575 h 190501"/>
              <a:gd name="connsiteX1" fmla="*/ 90011 w 171450"/>
              <a:gd name="connsiteY1" fmla="*/ 1429 h 190501"/>
              <a:gd name="connsiteX2" fmla="*/ 81439 w 171450"/>
              <a:gd name="connsiteY2" fmla="*/ 1429 h 190501"/>
              <a:gd name="connsiteX3" fmla="*/ 7144 w 171450"/>
              <a:gd name="connsiteY3" fmla="*/ 28575 h 190501"/>
              <a:gd name="connsiteX4" fmla="*/ 0 w 171450"/>
              <a:gd name="connsiteY4" fmla="*/ 35719 h 190501"/>
              <a:gd name="connsiteX5" fmla="*/ 0 w 171450"/>
              <a:gd name="connsiteY5" fmla="*/ 85725 h 190501"/>
              <a:gd name="connsiteX6" fmla="*/ 83106 w 171450"/>
              <a:gd name="connsiteY6" fmla="*/ 190005 h 190501"/>
              <a:gd name="connsiteX7" fmla="*/ 88344 w 171450"/>
              <a:gd name="connsiteY7" fmla="*/ 190005 h 190501"/>
              <a:gd name="connsiteX8" fmla="*/ 171450 w 171450"/>
              <a:gd name="connsiteY8" fmla="*/ 85725 h 190501"/>
              <a:gd name="connsiteX9" fmla="*/ 171450 w 171450"/>
              <a:gd name="connsiteY9" fmla="*/ 35719 h 190501"/>
              <a:gd name="connsiteX10" fmla="*/ 164306 w 171450"/>
              <a:gd name="connsiteY10" fmla="*/ 28575 h 190501"/>
              <a:gd name="connsiteX11" fmla="*/ 131035 w 171450"/>
              <a:gd name="connsiteY11" fmla="*/ 69561 h 190501"/>
              <a:gd name="connsiteX12" fmla="*/ 73885 w 171450"/>
              <a:gd name="connsiteY12" fmla="*/ 121949 h 190501"/>
              <a:gd name="connsiteX13" fmla="*/ 64008 w 171450"/>
              <a:gd name="connsiteY13" fmla="*/ 121730 h 190501"/>
              <a:gd name="connsiteX14" fmla="*/ 40195 w 171450"/>
              <a:gd name="connsiteY14" fmla="*/ 97917 h 190501"/>
              <a:gd name="connsiteX15" fmla="*/ 39839 w 171450"/>
              <a:gd name="connsiteY15" fmla="*/ 87821 h 190501"/>
              <a:gd name="connsiteX16" fmla="*/ 49936 w 171450"/>
              <a:gd name="connsiteY16" fmla="*/ 87464 h 190501"/>
              <a:gd name="connsiteX17" fmla="*/ 50292 w 171450"/>
              <a:gd name="connsiteY17" fmla="*/ 87821 h 190501"/>
              <a:gd name="connsiteX18" fmla="*/ 69275 w 171450"/>
              <a:gd name="connsiteY18" fmla="*/ 106794 h 190501"/>
              <a:gd name="connsiteX19" fmla="*/ 121377 w 171450"/>
              <a:gd name="connsiteY19" fmla="*/ 59026 h 190501"/>
              <a:gd name="connsiteX20" fmla="*/ 131474 w 171450"/>
              <a:gd name="connsiteY20" fmla="*/ 59465 h 190501"/>
              <a:gd name="connsiteX21" fmla="*/ 131035 w 171450"/>
              <a:gd name="connsiteY21" fmla="*/ 69561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90501">
                <a:moveTo>
                  <a:pt x="164306" y="28575"/>
                </a:moveTo>
                <a:cubicBezTo>
                  <a:pt x="138941" y="28575"/>
                  <a:pt x="114224" y="19593"/>
                  <a:pt x="90011" y="1429"/>
                </a:cubicBezTo>
                <a:cubicBezTo>
                  <a:pt x="87471" y="-476"/>
                  <a:pt x="83979" y="-476"/>
                  <a:pt x="81439" y="1429"/>
                </a:cubicBezTo>
                <a:cubicBezTo>
                  <a:pt x="57226" y="19593"/>
                  <a:pt x="32509" y="28575"/>
                  <a:pt x="7144" y="28575"/>
                </a:cubicBezTo>
                <a:cubicBezTo>
                  <a:pt x="3198" y="28575"/>
                  <a:pt x="0" y="31773"/>
                  <a:pt x="0" y="35719"/>
                </a:cubicBezTo>
                <a:lnTo>
                  <a:pt x="0" y="85725"/>
                </a:lnTo>
                <a:cubicBezTo>
                  <a:pt x="0" y="133360"/>
                  <a:pt x="28175" y="168364"/>
                  <a:pt x="83106" y="190005"/>
                </a:cubicBezTo>
                <a:cubicBezTo>
                  <a:pt x="84789" y="190668"/>
                  <a:pt x="86661" y="190668"/>
                  <a:pt x="88344" y="190005"/>
                </a:cubicBezTo>
                <a:cubicBezTo>
                  <a:pt x="143275" y="168364"/>
                  <a:pt x="171450" y="133350"/>
                  <a:pt x="171450" y="85725"/>
                </a:cubicBezTo>
                <a:lnTo>
                  <a:pt x="171450" y="35719"/>
                </a:lnTo>
                <a:cubicBezTo>
                  <a:pt x="171450" y="31773"/>
                  <a:pt x="168252" y="28575"/>
                  <a:pt x="164306" y="28575"/>
                </a:cubicBezTo>
                <a:close/>
                <a:moveTo>
                  <a:pt x="131035" y="69561"/>
                </a:moveTo>
                <a:lnTo>
                  <a:pt x="73885" y="121949"/>
                </a:lnTo>
                <a:cubicBezTo>
                  <a:pt x="71065" y="124531"/>
                  <a:pt x="66711" y="124435"/>
                  <a:pt x="64008" y="121730"/>
                </a:cubicBezTo>
                <a:lnTo>
                  <a:pt x="40195" y="97917"/>
                </a:lnTo>
                <a:cubicBezTo>
                  <a:pt x="37309" y="95227"/>
                  <a:pt x="37149" y="90707"/>
                  <a:pt x="39839" y="87821"/>
                </a:cubicBezTo>
                <a:cubicBezTo>
                  <a:pt x="42529" y="84934"/>
                  <a:pt x="47049" y="84774"/>
                  <a:pt x="49936" y="87464"/>
                </a:cubicBezTo>
                <a:cubicBezTo>
                  <a:pt x="50059" y="87579"/>
                  <a:pt x="50177" y="87698"/>
                  <a:pt x="50292" y="87821"/>
                </a:cubicBezTo>
                <a:lnTo>
                  <a:pt x="69275" y="106794"/>
                </a:lnTo>
                <a:lnTo>
                  <a:pt x="121377" y="59026"/>
                </a:lnTo>
                <a:cubicBezTo>
                  <a:pt x="124286" y="56359"/>
                  <a:pt x="128807" y="56556"/>
                  <a:pt x="131474" y="59465"/>
                </a:cubicBezTo>
                <a:cubicBezTo>
                  <a:pt x="134141" y="62374"/>
                  <a:pt x="133944" y="66894"/>
                  <a:pt x="131035" y="69561"/>
                </a:cubicBez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nvGrpSpPr>
          <p:cNvPr id="93" name="Group 92">
            <a:extLst>
              <a:ext uri="{FF2B5EF4-FFF2-40B4-BE49-F238E27FC236}">
                <a16:creationId xmlns:a16="http://schemas.microsoft.com/office/drawing/2014/main" id="{FB25F726-79D7-F0BB-435C-1DFF7F3F378A}"/>
              </a:ext>
            </a:extLst>
          </p:cNvPr>
          <p:cNvGrpSpPr/>
          <p:nvPr/>
        </p:nvGrpSpPr>
        <p:grpSpPr>
          <a:xfrm>
            <a:off x="5881314" y="2132118"/>
            <a:ext cx="411536" cy="411518"/>
            <a:chOff x="6425987" y="3731587"/>
            <a:chExt cx="303644" cy="303630"/>
          </a:xfrm>
        </p:grpSpPr>
        <p:sp>
          <p:nvSpPr>
            <p:cNvPr id="94" name="Freeform: Shape 93" descr="Icon of a bulleted list with a warning sign">
              <a:extLst>
                <a:ext uri="{FF2B5EF4-FFF2-40B4-BE49-F238E27FC236}">
                  <a16:creationId xmlns:a16="http://schemas.microsoft.com/office/drawing/2014/main" id="{570F7F9A-BFBC-2A08-2006-AB0D5791C226}"/>
                </a:ext>
              </a:extLst>
            </p:cNvPr>
            <p:cNvSpPr/>
            <p:nvPr/>
          </p:nvSpPr>
          <p:spPr>
            <a:xfrm>
              <a:off x="6425987" y="3731587"/>
              <a:ext cx="273281" cy="273281"/>
            </a:xfrm>
            <a:custGeom>
              <a:avLst/>
              <a:gdLst>
                <a:gd name="connsiteX0" fmla="*/ 34160 w 273281"/>
                <a:gd name="connsiteY0" fmla="*/ 0 h 273281"/>
                <a:gd name="connsiteX1" fmla="*/ 239122 w 273281"/>
                <a:gd name="connsiteY1" fmla="*/ 0 h 273281"/>
                <a:gd name="connsiteX2" fmla="*/ 273281 w 273281"/>
                <a:gd name="connsiteY2" fmla="*/ 34160 h 273281"/>
                <a:gd name="connsiteX3" fmla="*/ 273281 w 273281"/>
                <a:gd name="connsiteY3" fmla="*/ 191129 h 273281"/>
                <a:gd name="connsiteX4" fmla="*/ 253043 w 273281"/>
                <a:gd name="connsiteY4" fmla="*/ 155739 h 273281"/>
                <a:gd name="connsiteX5" fmla="*/ 220144 w 273281"/>
                <a:gd name="connsiteY5" fmla="*/ 136641 h 273281"/>
                <a:gd name="connsiteX6" fmla="*/ 208757 w 273281"/>
                <a:gd name="connsiteY6" fmla="*/ 125254 h 273281"/>
                <a:gd name="connsiteX7" fmla="*/ 125254 w 273281"/>
                <a:gd name="connsiteY7" fmla="*/ 125254 h 273281"/>
                <a:gd name="connsiteX8" fmla="*/ 113868 w 273281"/>
                <a:gd name="connsiteY8" fmla="*/ 136641 h 273281"/>
                <a:gd name="connsiteX9" fmla="*/ 125254 w 273281"/>
                <a:gd name="connsiteY9" fmla="*/ 148028 h 273281"/>
                <a:gd name="connsiteX10" fmla="*/ 193058 w 273281"/>
                <a:gd name="connsiteY10" fmla="*/ 148028 h 273281"/>
                <a:gd name="connsiteX11" fmla="*/ 187244 w 273281"/>
                <a:gd name="connsiteY11" fmla="*/ 155739 h 273281"/>
                <a:gd name="connsiteX12" fmla="*/ 172122 w 273281"/>
                <a:gd name="connsiteY12" fmla="*/ 182187 h 273281"/>
                <a:gd name="connsiteX13" fmla="*/ 125254 w 273281"/>
                <a:gd name="connsiteY13" fmla="*/ 182187 h 273281"/>
                <a:gd name="connsiteX14" fmla="*/ 113868 w 273281"/>
                <a:gd name="connsiteY14" fmla="*/ 193575 h 273281"/>
                <a:gd name="connsiteX15" fmla="*/ 125254 w 273281"/>
                <a:gd name="connsiteY15" fmla="*/ 204962 h 273281"/>
                <a:gd name="connsiteX16" fmla="*/ 159111 w 273281"/>
                <a:gd name="connsiteY16" fmla="*/ 204962 h 273281"/>
                <a:gd name="connsiteX17" fmla="*/ 126468 w 273281"/>
                <a:gd name="connsiteY17" fmla="*/ 261985 h 273281"/>
                <a:gd name="connsiteX18" fmla="*/ 122217 w 273281"/>
                <a:gd name="connsiteY18" fmla="*/ 273281 h 273281"/>
                <a:gd name="connsiteX19" fmla="*/ 34160 w 273281"/>
                <a:gd name="connsiteY19" fmla="*/ 273281 h 273281"/>
                <a:gd name="connsiteX20" fmla="*/ 0 w 273281"/>
                <a:gd name="connsiteY20" fmla="*/ 239121 h 273281"/>
                <a:gd name="connsiteX21" fmla="*/ 0 w 273281"/>
                <a:gd name="connsiteY21" fmla="*/ 34160 h 273281"/>
                <a:gd name="connsiteX22" fmla="*/ 34160 w 273281"/>
                <a:gd name="connsiteY22" fmla="*/ 0 h 273281"/>
                <a:gd name="connsiteX23" fmla="*/ 72116 w 273281"/>
                <a:gd name="connsiteY23" fmla="*/ 64524 h 273281"/>
                <a:gd name="connsiteX24" fmla="*/ 56934 w 273281"/>
                <a:gd name="connsiteY24" fmla="*/ 79707 h 273281"/>
                <a:gd name="connsiteX25" fmla="*/ 72116 w 273281"/>
                <a:gd name="connsiteY25" fmla="*/ 94889 h 273281"/>
                <a:gd name="connsiteX26" fmla="*/ 87299 w 273281"/>
                <a:gd name="connsiteY26" fmla="*/ 79707 h 273281"/>
                <a:gd name="connsiteX27" fmla="*/ 72116 w 273281"/>
                <a:gd name="connsiteY27" fmla="*/ 64524 h 273281"/>
                <a:gd name="connsiteX28" fmla="*/ 125254 w 273281"/>
                <a:gd name="connsiteY28" fmla="*/ 68321 h 273281"/>
                <a:gd name="connsiteX29" fmla="*/ 113868 w 273281"/>
                <a:gd name="connsiteY29" fmla="*/ 79707 h 273281"/>
                <a:gd name="connsiteX30" fmla="*/ 125254 w 273281"/>
                <a:gd name="connsiteY30" fmla="*/ 91094 h 273281"/>
                <a:gd name="connsiteX31" fmla="*/ 208757 w 273281"/>
                <a:gd name="connsiteY31" fmla="*/ 91094 h 273281"/>
                <a:gd name="connsiteX32" fmla="*/ 220144 w 273281"/>
                <a:gd name="connsiteY32" fmla="*/ 79707 h 273281"/>
                <a:gd name="connsiteX33" fmla="*/ 208757 w 273281"/>
                <a:gd name="connsiteY33" fmla="*/ 68321 h 273281"/>
                <a:gd name="connsiteX34" fmla="*/ 125254 w 273281"/>
                <a:gd name="connsiteY34" fmla="*/ 68321 h 273281"/>
                <a:gd name="connsiteX35" fmla="*/ 72116 w 273281"/>
                <a:gd name="connsiteY35" fmla="*/ 121458 h 273281"/>
                <a:gd name="connsiteX36" fmla="*/ 56934 w 273281"/>
                <a:gd name="connsiteY36" fmla="*/ 136641 h 273281"/>
                <a:gd name="connsiteX37" fmla="*/ 72116 w 273281"/>
                <a:gd name="connsiteY37" fmla="*/ 151823 h 273281"/>
                <a:gd name="connsiteX38" fmla="*/ 87299 w 273281"/>
                <a:gd name="connsiteY38" fmla="*/ 136641 h 273281"/>
                <a:gd name="connsiteX39" fmla="*/ 72116 w 273281"/>
                <a:gd name="connsiteY39" fmla="*/ 121458 h 273281"/>
                <a:gd name="connsiteX40" fmla="*/ 72116 w 273281"/>
                <a:gd name="connsiteY40" fmla="*/ 178392 h 273281"/>
                <a:gd name="connsiteX41" fmla="*/ 56934 w 273281"/>
                <a:gd name="connsiteY41" fmla="*/ 193575 h 273281"/>
                <a:gd name="connsiteX42" fmla="*/ 72116 w 273281"/>
                <a:gd name="connsiteY42" fmla="*/ 208757 h 273281"/>
                <a:gd name="connsiteX43" fmla="*/ 87299 w 273281"/>
                <a:gd name="connsiteY43" fmla="*/ 193575 h 273281"/>
                <a:gd name="connsiteX44" fmla="*/ 72116 w 273281"/>
                <a:gd name="connsiteY44" fmla="*/ 178392 h 273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73281" h="273281">
                  <a:moveTo>
                    <a:pt x="34160" y="0"/>
                  </a:moveTo>
                  <a:lnTo>
                    <a:pt x="239122" y="0"/>
                  </a:lnTo>
                  <a:cubicBezTo>
                    <a:pt x="257987" y="0"/>
                    <a:pt x="273281" y="15294"/>
                    <a:pt x="273281" y="34160"/>
                  </a:cubicBezTo>
                  <a:lnTo>
                    <a:pt x="273281" y="191129"/>
                  </a:lnTo>
                  <a:lnTo>
                    <a:pt x="253043" y="155739"/>
                  </a:lnTo>
                  <a:cubicBezTo>
                    <a:pt x="246296" y="143935"/>
                    <a:pt x="233742" y="136645"/>
                    <a:pt x="220144" y="136641"/>
                  </a:cubicBezTo>
                  <a:cubicBezTo>
                    <a:pt x="220144" y="130353"/>
                    <a:pt x="215045" y="125254"/>
                    <a:pt x="208757" y="125254"/>
                  </a:cubicBezTo>
                  <a:lnTo>
                    <a:pt x="125254" y="125254"/>
                  </a:lnTo>
                  <a:cubicBezTo>
                    <a:pt x="118966" y="125254"/>
                    <a:pt x="113868" y="130353"/>
                    <a:pt x="113868" y="136641"/>
                  </a:cubicBezTo>
                  <a:cubicBezTo>
                    <a:pt x="113868" y="142929"/>
                    <a:pt x="118966" y="148028"/>
                    <a:pt x="125254" y="148028"/>
                  </a:cubicBezTo>
                  <a:lnTo>
                    <a:pt x="193058" y="148028"/>
                  </a:lnTo>
                  <a:cubicBezTo>
                    <a:pt x="190857" y="150290"/>
                    <a:pt x="188884" y="152856"/>
                    <a:pt x="187244" y="155739"/>
                  </a:cubicBezTo>
                  <a:lnTo>
                    <a:pt x="172122" y="182187"/>
                  </a:lnTo>
                  <a:lnTo>
                    <a:pt x="125254" y="182187"/>
                  </a:lnTo>
                  <a:cubicBezTo>
                    <a:pt x="118966" y="182187"/>
                    <a:pt x="113868" y="187286"/>
                    <a:pt x="113868" y="193575"/>
                  </a:cubicBezTo>
                  <a:cubicBezTo>
                    <a:pt x="113868" y="199863"/>
                    <a:pt x="118966" y="204962"/>
                    <a:pt x="125254" y="204962"/>
                  </a:cubicBezTo>
                  <a:lnTo>
                    <a:pt x="159111" y="204962"/>
                  </a:lnTo>
                  <a:lnTo>
                    <a:pt x="126468" y="261985"/>
                  </a:lnTo>
                  <a:cubicBezTo>
                    <a:pt x="124449" y="265523"/>
                    <a:pt x="123022" y="269335"/>
                    <a:pt x="122217" y="273281"/>
                  </a:cubicBezTo>
                  <a:lnTo>
                    <a:pt x="34160" y="273281"/>
                  </a:lnTo>
                  <a:cubicBezTo>
                    <a:pt x="15294" y="273281"/>
                    <a:pt x="0" y="257987"/>
                    <a:pt x="0" y="239121"/>
                  </a:cubicBezTo>
                  <a:lnTo>
                    <a:pt x="0" y="34160"/>
                  </a:lnTo>
                  <a:cubicBezTo>
                    <a:pt x="0" y="15294"/>
                    <a:pt x="15294" y="0"/>
                    <a:pt x="34160" y="0"/>
                  </a:cubicBezTo>
                  <a:close/>
                  <a:moveTo>
                    <a:pt x="72116" y="64524"/>
                  </a:moveTo>
                  <a:cubicBezTo>
                    <a:pt x="63731" y="64524"/>
                    <a:pt x="56934" y="71323"/>
                    <a:pt x="56934" y="79707"/>
                  </a:cubicBezTo>
                  <a:cubicBezTo>
                    <a:pt x="56934" y="88092"/>
                    <a:pt x="63731" y="94889"/>
                    <a:pt x="72116" y="94889"/>
                  </a:cubicBezTo>
                  <a:cubicBezTo>
                    <a:pt x="80501" y="94889"/>
                    <a:pt x="87299" y="88092"/>
                    <a:pt x="87299" y="79707"/>
                  </a:cubicBezTo>
                  <a:cubicBezTo>
                    <a:pt x="87299" y="71323"/>
                    <a:pt x="80501" y="64524"/>
                    <a:pt x="72116" y="64524"/>
                  </a:cubicBezTo>
                  <a:close/>
                  <a:moveTo>
                    <a:pt x="125254" y="68321"/>
                  </a:moveTo>
                  <a:cubicBezTo>
                    <a:pt x="118966" y="68321"/>
                    <a:pt x="113868" y="73419"/>
                    <a:pt x="113868" y="79707"/>
                  </a:cubicBezTo>
                  <a:cubicBezTo>
                    <a:pt x="113868" y="85996"/>
                    <a:pt x="118966" y="91094"/>
                    <a:pt x="125254" y="91094"/>
                  </a:cubicBezTo>
                  <a:lnTo>
                    <a:pt x="208757" y="91094"/>
                  </a:lnTo>
                  <a:cubicBezTo>
                    <a:pt x="215045" y="91094"/>
                    <a:pt x="220144" y="85996"/>
                    <a:pt x="220144" y="79707"/>
                  </a:cubicBezTo>
                  <a:cubicBezTo>
                    <a:pt x="220144" y="73419"/>
                    <a:pt x="215045" y="68321"/>
                    <a:pt x="208757" y="68321"/>
                  </a:cubicBezTo>
                  <a:lnTo>
                    <a:pt x="125254" y="68321"/>
                  </a:lnTo>
                  <a:close/>
                  <a:moveTo>
                    <a:pt x="72116" y="121458"/>
                  </a:moveTo>
                  <a:cubicBezTo>
                    <a:pt x="63731" y="121458"/>
                    <a:pt x="56934" y="128255"/>
                    <a:pt x="56934" y="136641"/>
                  </a:cubicBezTo>
                  <a:cubicBezTo>
                    <a:pt x="56934" y="145026"/>
                    <a:pt x="63731" y="151823"/>
                    <a:pt x="72116" y="151823"/>
                  </a:cubicBezTo>
                  <a:cubicBezTo>
                    <a:pt x="80501" y="151823"/>
                    <a:pt x="87299" y="145026"/>
                    <a:pt x="87299" y="136641"/>
                  </a:cubicBezTo>
                  <a:cubicBezTo>
                    <a:pt x="87299" y="128255"/>
                    <a:pt x="80501" y="121458"/>
                    <a:pt x="72116" y="121458"/>
                  </a:cubicBezTo>
                  <a:close/>
                  <a:moveTo>
                    <a:pt x="72116" y="178392"/>
                  </a:moveTo>
                  <a:cubicBezTo>
                    <a:pt x="63731" y="178392"/>
                    <a:pt x="56934" y="185189"/>
                    <a:pt x="56934" y="193575"/>
                  </a:cubicBezTo>
                  <a:cubicBezTo>
                    <a:pt x="56934" y="201959"/>
                    <a:pt x="63731" y="208757"/>
                    <a:pt x="72116" y="208757"/>
                  </a:cubicBezTo>
                  <a:cubicBezTo>
                    <a:pt x="80501" y="208757"/>
                    <a:pt x="87299" y="201959"/>
                    <a:pt x="87299" y="193575"/>
                  </a:cubicBezTo>
                  <a:cubicBezTo>
                    <a:pt x="87299" y="185189"/>
                    <a:pt x="80501" y="178392"/>
                    <a:pt x="72116" y="178392"/>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95" name="Freeform: Shape 94" descr="Icon of a bulleted list with a warning sign">
              <a:extLst>
                <a:ext uri="{FF2B5EF4-FFF2-40B4-BE49-F238E27FC236}">
                  <a16:creationId xmlns:a16="http://schemas.microsoft.com/office/drawing/2014/main" id="{DB9CD15A-96F3-9A37-B9FA-3A1AE2EBFAC3}"/>
                </a:ext>
              </a:extLst>
            </p:cNvPr>
            <p:cNvSpPr/>
            <p:nvPr/>
          </p:nvSpPr>
          <p:spPr>
            <a:xfrm>
              <a:off x="6562612" y="3883428"/>
              <a:ext cx="167019" cy="151789"/>
            </a:xfrm>
            <a:custGeom>
              <a:avLst/>
              <a:gdLst>
                <a:gd name="connsiteX0" fmla="*/ 77567 w 167019"/>
                <a:gd name="connsiteY0" fmla="*/ 788 h 151789"/>
                <a:gd name="connsiteX1" fmla="*/ 103225 w 167019"/>
                <a:gd name="connsiteY1" fmla="*/ 11445 h 151789"/>
                <a:gd name="connsiteX2" fmla="*/ 164015 w 167019"/>
                <a:gd name="connsiteY2" fmla="*/ 117690 h 151789"/>
                <a:gd name="connsiteX3" fmla="*/ 166216 w 167019"/>
                <a:gd name="connsiteY3" fmla="*/ 134983 h 151789"/>
                <a:gd name="connsiteX4" fmla="*/ 144293 w 167019"/>
                <a:gd name="connsiteY4" fmla="*/ 151789 h 151789"/>
                <a:gd name="connsiteX5" fmla="*/ 22744 w 167019"/>
                <a:gd name="connsiteY5" fmla="*/ 151789 h 151789"/>
                <a:gd name="connsiteX6" fmla="*/ 6680 w 167019"/>
                <a:gd name="connsiteY6" fmla="*/ 145109 h 151789"/>
                <a:gd name="connsiteX7" fmla="*/ 3036 w 167019"/>
                <a:gd name="connsiteY7" fmla="*/ 117690 h 151789"/>
                <a:gd name="connsiteX8" fmla="*/ 63796 w 167019"/>
                <a:gd name="connsiteY8" fmla="*/ 11430 h 151789"/>
                <a:gd name="connsiteX9" fmla="*/ 77567 w 167019"/>
                <a:gd name="connsiteY9" fmla="*/ 788 h 151789"/>
                <a:gd name="connsiteX10" fmla="*/ 83457 w 167019"/>
                <a:gd name="connsiteY10" fmla="*/ 30347 h 151789"/>
                <a:gd name="connsiteX11" fmla="*/ 75866 w 167019"/>
                <a:gd name="connsiteY11" fmla="*/ 37937 h 151789"/>
                <a:gd name="connsiteX12" fmla="*/ 75866 w 167019"/>
                <a:gd name="connsiteY12" fmla="*/ 83484 h 151789"/>
                <a:gd name="connsiteX13" fmla="*/ 83457 w 167019"/>
                <a:gd name="connsiteY13" fmla="*/ 91076 h 151789"/>
                <a:gd name="connsiteX14" fmla="*/ 91049 w 167019"/>
                <a:gd name="connsiteY14" fmla="*/ 83484 h 151789"/>
                <a:gd name="connsiteX15" fmla="*/ 91049 w 167019"/>
                <a:gd name="connsiteY15" fmla="*/ 37937 h 151789"/>
                <a:gd name="connsiteX16" fmla="*/ 83457 w 167019"/>
                <a:gd name="connsiteY16" fmla="*/ 30347 h 151789"/>
                <a:gd name="connsiteX17" fmla="*/ 83517 w 167019"/>
                <a:gd name="connsiteY17" fmla="*/ 106258 h 151789"/>
                <a:gd name="connsiteX18" fmla="*/ 72132 w 167019"/>
                <a:gd name="connsiteY18" fmla="*/ 117644 h 151789"/>
                <a:gd name="connsiteX19" fmla="*/ 83517 w 167019"/>
                <a:gd name="connsiteY19" fmla="*/ 129031 h 151789"/>
                <a:gd name="connsiteX20" fmla="*/ 94905 w 167019"/>
                <a:gd name="connsiteY20" fmla="*/ 117644 h 151789"/>
                <a:gd name="connsiteX21" fmla="*/ 83517 w 167019"/>
                <a:gd name="connsiteY21" fmla="*/ 106258 h 15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7019" h="151789">
                  <a:moveTo>
                    <a:pt x="77567" y="788"/>
                  </a:moveTo>
                  <a:cubicBezTo>
                    <a:pt x="87547" y="-1905"/>
                    <a:pt x="98088" y="2474"/>
                    <a:pt x="103225" y="11445"/>
                  </a:cubicBezTo>
                  <a:lnTo>
                    <a:pt x="164015" y="117690"/>
                  </a:lnTo>
                  <a:cubicBezTo>
                    <a:pt x="167128" y="123156"/>
                    <a:pt x="167749" y="129350"/>
                    <a:pt x="166216" y="134983"/>
                  </a:cubicBezTo>
                  <a:cubicBezTo>
                    <a:pt x="163560" y="144907"/>
                    <a:pt x="154566" y="151802"/>
                    <a:pt x="144293" y="151789"/>
                  </a:cubicBezTo>
                  <a:lnTo>
                    <a:pt x="22744" y="151789"/>
                  </a:lnTo>
                  <a:cubicBezTo>
                    <a:pt x="16473" y="151789"/>
                    <a:pt x="10795" y="149253"/>
                    <a:pt x="6680" y="145109"/>
                  </a:cubicBezTo>
                  <a:cubicBezTo>
                    <a:pt x="-606" y="137850"/>
                    <a:pt x="-2101" y="126599"/>
                    <a:pt x="3036" y="117690"/>
                  </a:cubicBezTo>
                  <a:lnTo>
                    <a:pt x="63796" y="11430"/>
                  </a:lnTo>
                  <a:cubicBezTo>
                    <a:pt x="66784" y="6188"/>
                    <a:pt x="71741" y="2356"/>
                    <a:pt x="77567" y="788"/>
                  </a:cubicBezTo>
                  <a:close/>
                  <a:moveTo>
                    <a:pt x="83457" y="30347"/>
                  </a:moveTo>
                  <a:cubicBezTo>
                    <a:pt x="79265" y="30347"/>
                    <a:pt x="75866" y="33745"/>
                    <a:pt x="75866" y="37937"/>
                  </a:cubicBezTo>
                  <a:lnTo>
                    <a:pt x="75866" y="83484"/>
                  </a:lnTo>
                  <a:cubicBezTo>
                    <a:pt x="75866" y="87676"/>
                    <a:pt x="79265" y="91076"/>
                    <a:pt x="83457" y="91076"/>
                  </a:cubicBezTo>
                  <a:cubicBezTo>
                    <a:pt x="87649" y="91076"/>
                    <a:pt x="91049" y="87676"/>
                    <a:pt x="91049" y="83484"/>
                  </a:cubicBezTo>
                  <a:lnTo>
                    <a:pt x="91049" y="37937"/>
                  </a:lnTo>
                  <a:cubicBezTo>
                    <a:pt x="91049" y="33745"/>
                    <a:pt x="87649" y="30347"/>
                    <a:pt x="83457" y="30347"/>
                  </a:cubicBezTo>
                  <a:close/>
                  <a:moveTo>
                    <a:pt x="83517" y="106258"/>
                  </a:moveTo>
                  <a:cubicBezTo>
                    <a:pt x="77229" y="106258"/>
                    <a:pt x="72132" y="111356"/>
                    <a:pt x="72132" y="117644"/>
                  </a:cubicBezTo>
                  <a:cubicBezTo>
                    <a:pt x="72132" y="123933"/>
                    <a:pt x="77229" y="129031"/>
                    <a:pt x="83517" y="129031"/>
                  </a:cubicBezTo>
                  <a:cubicBezTo>
                    <a:pt x="89807" y="129031"/>
                    <a:pt x="94905" y="123933"/>
                    <a:pt x="94905" y="117644"/>
                  </a:cubicBezTo>
                  <a:cubicBezTo>
                    <a:pt x="94905" y="111356"/>
                    <a:pt x="89807" y="106258"/>
                    <a:pt x="83517" y="106258"/>
                  </a:cubicBez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96" name="Group 95">
            <a:extLst>
              <a:ext uri="{FF2B5EF4-FFF2-40B4-BE49-F238E27FC236}">
                <a16:creationId xmlns:a16="http://schemas.microsoft.com/office/drawing/2014/main" id="{9B3F76D3-79B0-573B-23AE-B19F6572EEA5}"/>
              </a:ext>
            </a:extLst>
          </p:cNvPr>
          <p:cNvGrpSpPr/>
          <p:nvPr/>
        </p:nvGrpSpPr>
        <p:grpSpPr>
          <a:xfrm>
            <a:off x="1401023" y="2114550"/>
            <a:ext cx="477312" cy="419098"/>
            <a:chOff x="-2061385" y="3347724"/>
            <a:chExt cx="296509" cy="260348"/>
          </a:xfrm>
        </p:grpSpPr>
        <p:sp>
          <p:nvSpPr>
            <p:cNvPr id="97" name="Freeform: Shape 96" descr="Icon of a document with rolled bottom and money">
              <a:extLst>
                <a:ext uri="{FF2B5EF4-FFF2-40B4-BE49-F238E27FC236}">
                  <a16:creationId xmlns:a16="http://schemas.microsoft.com/office/drawing/2014/main" id="{E4DF7907-E16A-E1A8-A6BB-8349847DAD13}"/>
                </a:ext>
              </a:extLst>
            </p:cNvPr>
            <p:cNvSpPr>
              <a:spLocks/>
            </p:cNvSpPr>
            <p:nvPr/>
          </p:nvSpPr>
          <p:spPr>
            <a:xfrm>
              <a:off x="-2003529" y="3347724"/>
              <a:ext cx="238653" cy="238652"/>
            </a:xfrm>
            <a:custGeom>
              <a:avLst/>
              <a:gdLst>
                <a:gd name="connsiteX0" fmla="*/ 32544 w 238653"/>
                <a:gd name="connsiteY0" fmla="*/ 0 h 238652"/>
                <a:gd name="connsiteX1" fmla="*/ 155486 w 238653"/>
                <a:gd name="connsiteY1" fmla="*/ 0 h 238652"/>
                <a:gd name="connsiteX2" fmla="*/ 188030 w 238653"/>
                <a:gd name="connsiteY2" fmla="*/ 32544 h 238652"/>
                <a:gd name="connsiteX3" fmla="*/ 188030 w 238653"/>
                <a:gd name="connsiteY3" fmla="*/ 144638 h 238652"/>
                <a:gd name="connsiteX4" fmla="*/ 238653 w 238653"/>
                <a:gd name="connsiteY4" fmla="*/ 144638 h 238652"/>
                <a:gd name="connsiteX5" fmla="*/ 238653 w 238653"/>
                <a:gd name="connsiteY5" fmla="*/ 191645 h 238652"/>
                <a:gd name="connsiteX6" fmla="*/ 191646 w 238653"/>
                <a:gd name="connsiteY6" fmla="*/ 238652 h 238652"/>
                <a:gd name="connsiteX7" fmla="*/ 115711 w 238653"/>
                <a:gd name="connsiteY7" fmla="*/ 238652 h 238652"/>
                <a:gd name="connsiteX8" fmla="*/ 115711 w 238653"/>
                <a:gd name="connsiteY8" fmla="*/ 180797 h 238652"/>
                <a:gd name="connsiteX9" fmla="*/ 133790 w 238653"/>
                <a:gd name="connsiteY9" fmla="*/ 180797 h 238652"/>
                <a:gd name="connsiteX10" fmla="*/ 144638 w 238653"/>
                <a:gd name="connsiteY10" fmla="*/ 169950 h 238652"/>
                <a:gd name="connsiteX11" fmla="*/ 133790 w 238653"/>
                <a:gd name="connsiteY11" fmla="*/ 159102 h 238652"/>
                <a:gd name="connsiteX12" fmla="*/ 108479 w 238653"/>
                <a:gd name="connsiteY12" fmla="*/ 159102 h 238652"/>
                <a:gd name="connsiteX13" fmla="*/ 79551 w 238653"/>
                <a:gd name="connsiteY13" fmla="*/ 144638 h 238652"/>
                <a:gd name="connsiteX14" fmla="*/ 0 w 238653"/>
                <a:gd name="connsiteY14" fmla="*/ 144638 h 238652"/>
                <a:gd name="connsiteX15" fmla="*/ 0 w 238653"/>
                <a:gd name="connsiteY15" fmla="*/ 32544 h 238652"/>
                <a:gd name="connsiteX16" fmla="*/ 32544 w 238653"/>
                <a:gd name="connsiteY16" fmla="*/ 0 h 238652"/>
                <a:gd name="connsiteX17" fmla="*/ 54239 w 238653"/>
                <a:gd name="connsiteY17" fmla="*/ 57855 h 238652"/>
                <a:gd name="connsiteX18" fmla="*/ 43392 w 238653"/>
                <a:gd name="connsiteY18" fmla="*/ 68703 h 238652"/>
                <a:gd name="connsiteX19" fmla="*/ 54239 w 238653"/>
                <a:gd name="connsiteY19" fmla="*/ 79551 h 238652"/>
                <a:gd name="connsiteX20" fmla="*/ 133790 w 238653"/>
                <a:gd name="connsiteY20" fmla="*/ 79551 h 238652"/>
                <a:gd name="connsiteX21" fmla="*/ 144638 w 238653"/>
                <a:gd name="connsiteY21" fmla="*/ 68703 h 238652"/>
                <a:gd name="connsiteX22" fmla="*/ 133790 w 238653"/>
                <a:gd name="connsiteY22" fmla="*/ 57855 h 238652"/>
                <a:gd name="connsiteX23" fmla="*/ 54239 w 238653"/>
                <a:gd name="connsiteY23" fmla="*/ 57855 h 238652"/>
                <a:gd name="connsiteX24" fmla="*/ 54239 w 238653"/>
                <a:gd name="connsiteY24" fmla="*/ 108478 h 238652"/>
                <a:gd name="connsiteX25" fmla="*/ 43392 w 238653"/>
                <a:gd name="connsiteY25" fmla="*/ 119326 h 238652"/>
                <a:gd name="connsiteX26" fmla="*/ 54239 w 238653"/>
                <a:gd name="connsiteY26" fmla="*/ 130174 h 238652"/>
                <a:gd name="connsiteX27" fmla="*/ 133790 w 238653"/>
                <a:gd name="connsiteY27" fmla="*/ 130174 h 238652"/>
                <a:gd name="connsiteX28" fmla="*/ 144638 w 238653"/>
                <a:gd name="connsiteY28" fmla="*/ 119326 h 238652"/>
                <a:gd name="connsiteX29" fmla="*/ 133790 w 238653"/>
                <a:gd name="connsiteY29" fmla="*/ 108478 h 238652"/>
                <a:gd name="connsiteX30" fmla="*/ 54239 w 238653"/>
                <a:gd name="connsiteY30" fmla="*/ 108478 h 238652"/>
                <a:gd name="connsiteX31" fmla="*/ 188030 w 238653"/>
                <a:gd name="connsiteY31" fmla="*/ 166334 h 238652"/>
                <a:gd name="connsiteX32" fmla="*/ 188030 w 238653"/>
                <a:gd name="connsiteY32" fmla="*/ 216957 h 238652"/>
                <a:gd name="connsiteX33" fmla="*/ 191646 w 238653"/>
                <a:gd name="connsiteY33" fmla="*/ 216957 h 238652"/>
                <a:gd name="connsiteX34" fmla="*/ 216957 w 238653"/>
                <a:gd name="connsiteY34" fmla="*/ 191645 h 238652"/>
                <a:gd name="connsiteX35" fmla="*/ 216957 w 238653"/>
                <a:gd name="connsiteY35" fmla="*/ 166334 h 238652"/>
                <a:gd name="connsiteX36" fmla="*/ 188030 w 238653"/>
                <a:gd name="connsiteY36" fmla="*/ 166334 h 238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38653" h="238652">
                  <a:moveTo>
                    <a:pt x="32544" y="0"/>
                  </a:moveTo>
                  <a:lnTo>
                    <a:pt x="155486" y="0"/>
                  </a:lnTo>
                  <a:cubicBezTo>
                    <a:pt x="173459" y="0"/>
                    <a:pt x="188030" y="14570"/>
                    <a:pt x="188030" y="32544"/>
                  </a:cubicBezTo>
                  <a:lnTo>
                    <a:pt x="188030" y="144638"/>
                  </a:lnTo>
                  <a:lnTo>
                    <a:pt x="238653" y="144638"/>
                  </a:lnTo>
                  <a:lnTo>
                    <a:pt x="238653" y="191645"/>
                  </a:lnTo>
                  <a:cubicBezTo>
                    <a:pt x="238653" y="217606"/>
                    <a:pt x="217607" y="238652"/>
                    <a:pt x="191646" y="238652"/>
                  </a:cubicBezTo>
                  <a:lnTo>
                    <a:pt x="115711" y="238652"/>
                  </a:lnTo>
                  <a:lnTo>
                    <a:pt x="115711" y="180797"/>
                  </a:lnTo>
                  <a:lnTo>
                    <a:pt x="133790" y="180797"/>
                  </a:lnTo>
                  <a:cubicBezTo>
                    <a:pt x="139781" y="180797"/>
                    <a:pt x="144638" y="175940"/>
                    <a:pt x="144638" y="169950"/>
                  </a:cubicBezTo>
                  <a:cubicBezTo>
                    <a:pt x="144638" y="163959"/>
                    <a:pt x="139781" y="159102"/>
                    <a:pt x="133790" y="159102"/>
                  </a:cubicBezTo>
                  <a:lnTo>
                    <a:pt x="108479" y="159102"/>
                  </a:lnTo>
                  <a:cubicBezTo>
                    <a:pt x="101656" y="149989"/>
                    <a:pt x="90934" y="144629"/>
                    <a:pt x="79551" y="144638"/>
                  </a:cubicBezTo>
                  <a:lnTo>
                    <a:pt x="0" y="144638"/>
                  </a:lnTo>
                  <a:lnTo>
                    <a:pt x="0" y="32544"/>
                  </a:lnTo>
                  <a:cubicBezTo>
                    <a:pt x="0" y="14570"/>
                    <a:pt x="14570" y="0"/>
                    <a:pt x="32544" y="0"/>
                  </a:cubicBezTo>
                  <a:close/>
                  <a:moveTo>
                    <a:pt x="54239" y="57855"/>
                  </a:moveTo>
                  <a:cubicBezTo>
                    <a:pt x="48248" y="57855"/>
                    <a:pt x="43392" y="62712"/>
                    <a:pt x="43392" y="68703"/>
                  </a:cubicBezTo>
                  <a:cubicBezTo>
                    <a:pt x="43392" y="74694"/>
                    <a:pt x="48248" y="79551"/>
                    <a:pt x="54239" y="79551"/>
                  </a:cubicBezTo>
                  <a:lnTo>
                    <a:pt x="133790" y="79551"/>
                  </a:lnTo>
                  <a:cubicBezTo>
                    <a:pt x="139781" y="79551"/>
                    <a:pt x="144638" y="74694"/>
                    <a:pt x="144638" y="68703"/>
                  </a:cubicBezTo>
                  <a:cubicBezTo>
                    <a:pt x="144638" y="62712"/>
                    <a:pt x="139781" y="57855"/>
                    <a:pt x="133790" y="57855"/>
                  </a:cubicBezTo>
                  <a:lnTo>
                    <a:pt x="54239" y="57855"/>
                  </a:lnTo>
                  <a:close/>
                  <a:moveTo>
                    <a:pt x="54239" y="108478"/>
                  </a:moveTo>
                  <a:cubicBezTo>
                    <a:pt x="48248" y="108478"/>
                    <a:pt x="43392" y="113335"/>
                    <a:pt x="43392" y="119326"/>
                  </a:cubicBezTo>
                  <a:cubicBezTo>
                    <a:pt x="43392" y="125317"/>
                    <a:pt x="48248" y="130174"/>
                    <a:pt x="54239" y="130174"/>
                  </a:cubicBezTo>
                  <a:lnTo>
                    <a:pt x="133790" y="130174"/>
                  </a:lnTo>
                  <a:cubicBezTo>
                    <a:pt x="139781" y="130174"/>
                    <a:pt x="144638" y="125317"/>
                    <a:pt x="144638" y="119326"/>
                  </a:cubicBezTo>
                  <a:cubicBezTo>
                    <a:pt x="144638" y="113335"/>
                    <a:pt x="139781" y="108478"/>
                    <a:pt x="133790" y="108478"/>
                  </a:cubicBezTo>
                  <a:lnTo>
                    <a:pt x="54239" y="108478"/>
                  </a:lnTo>
                  <a:close/>
                  <a:moveTo>
                    <a:pt x="188030" y="166334"/>
                  </a:moveTo>
                  <a:lnTo>
                    <a:pt x="188030" y="216957"/>
                  </a:lnTo>
                  <a:lnTo>
                    <a:pt x="191646" y="216957"/>
                  </a:lnTo>
                  <a:cubicBezTo>
                    <a:pt x="205625" y="216957"/>
                    <a:pt x="216957" y="205624"/>
                    <a:pt x="216957" y="191645"/>
                  </a:cubicBezTo>
                  <a:lnTo>
                    <a:pt x="216957" y="166334"/>
                  </a:lnTo>
                  <a:lnTo>
                    <a:pt x="188030" y="166334"/>
                  </a:ln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98" name="Freeform: Shape 97" descr="Icon of a document with rolled bottom and money">
              <a:extLst>
                <a:ext uri="{FF2B5EF4-FFF2-40B4-BE49-F238E27FC236}">
                  <a16:creationId xmlns:a16="http://schemas.microsoft.com/office/drawing/2014/main" id="{B098AEB7-9A04-4D66-5F08-C2B4E94B387C}"/>
                </a:ext>
              </a:extLst>
            </p:cNvPr>
            <p:cNvSpPr>
              <a:spLocks/>
            </p:cNvSpPr>
            <p:nvPr/>
          </p:nvSpPr>
          <p:spPr>
            <a:xfrm>
              <a:off x="-2061385" y="3506826"/>
              <a:ext cx="159102" cy="101246"/>
            </a:xfrm>
            <a:custGeom>
              <a:avLst/>
              <a:gdLst>
                <a:gd name="connsiteX0" fmla="*/ 21696 w 159102"/>
                <a:gd name="connsiteY0" fmla="*/ 0 h 101246"/>
                <a:gd name="connsiteX1" fmla="*/ 137406 w 159102"/>
                <a:gd name="connsiteY1" fmla="*/ 0 h 101246"/>
                <a:gd name="connsiteX2" fmla="*/ 159102 w 159102"/>
                <a:gd name="connsiteY2" fmla="*/ 21695 h 101246"/>
                <a:gd name="connsiteX3" fmla="*/ 159102 w 159102"/>
                <a:gd name="connsiteY3" fmla="*/ 79550 h 101246"/>
                <a:gd name="connsiteX4" fmla="*/ 137406 w 159102"/>
                <a:gd name="connsiteY4" fmla="*/ 101246 h 101246"/>
                <a:gd name="connsiteX5" fmla="*/ 21696 w 159102"/>
                <a:gd name="connsiteY5" fmla="*/ 101246 h 101246"/>
                <a:gd name="connsiteX6" fmla="*/ 0 w 159102"/>
                <a:gd name="connsiteY6" fmla="*/ 79550 h 101246"/>
                <a:gd name="connsiteX7" fmla="*/ 0 w 159102"/>
                <a:gd name="connsiteY7" fmla="*/ 21695 h 101246"/>
                <a:gd name="connsiteX8" fmla="*/ 21696 w 159102"/>
                <a:gd name="connsiteY8" fmla="*/ 0 h 101246"/>
                <a:gd name="connsiteX9" fmla="*/ 28928 w 159102"/>
                <a:gd name="connsiteY9" fmla="*/ 14463 h 101246"/>
                <a:gd name="connsiteX10" fmla="*/ 14464 w 159102"/>
                <a:gd name="connsiteY10" fmla="*/ 28927 h 101246"/>
                <a:gd name="connsiteX11" fmla="*/ 14464 w 159102"/>
                <a:gd name="connsiteY11" fmla="*/ 43391 h 101246"/>
                <a:gd name="connsiteX12" fmla="*/ 43391 w 159102"/>
                <a:gd name="connsiteY12" fmla="*/ 14463 h 101246"/>
                <a:gd name="connsiteX13" fmla="*/ 28928 w 159102"/>
                <a:gd name="connsiteY13" fmla="*/ 14463 h 101246"/>
                <a:gd name="connsiteX14" fmla="*/ 115710 w 159102"/>
                <a:gd name="connsiteY14" fmla="*/ 14463 h 101246"/>
                <a:gd name="connsiteX15" fmla="*/ 144638 w 159102"/>
                <a:gd name="connsiteY15" fmla="*/ 43391 h 101246"/>
                <a:gd name="connsiteX16" fmla="*/ 144638 w 159102"/>
                <a:gd name="connsiteY16" fmla="*/ 28927 h 101246"/>
                <a:gd name="connsiteX17" fmla="*/ 130174 w 159102"/>
                <a:gd name="connsiteY17" fmla="*/ 14463 h 101246"/>
                <a:gd name="connsiteX18" fmla="*/ 115710 w 159102"/>
                <a:gd name="connsiteY18" fmla="*/ 14463 h 101246"/>
                <a:gd name="connsiteX19" fmla="*/ 79551 w 159102"/>
                <a:gd name="connsiteY19" fmla="*/ 25311 h 101246"/>
                <a:gd name="connsiteX20" fmla="*/ 54239 w 159102"/>
                <a:gd name="connsiteY20" fmla="*/ 50623 h 101246"/>
                <a:gd name="connsiteX21" fmla="*/ 79551 w 159102"/>
                <a:gd name="connsiteY21" fmla="*/ 75935 h 101246"/>
                <a:gd name="connsiteX22" fmla="*/ 104863 w 159102"/>
                <a:gd name="connsiteY22" fmla="*/ 50623 h 101246"/>
                <a:gd name="connsiteX23" fmla="*/ 79551 w 159102"/>
                <a:gd name="connsiteY23" fmla="*/ 25311 h 101246"/>
                <a:gd name="connsiteX24" fmla="*/ 144638 w 159102"/>
                <a:gd name="connsiteY24" fmla="*/ 57855 h 101246"/>
                <a:gd name="connsiteX25" fmla="*/ 115710 w 159102"/>
                <a:gd name="connsiteY25" fmla="*/ 86782 h 101246"/>
                <a:gd name="connsiteX26" fmla="*/ 130174 w 159102"/>
                <a:gd name="connsiteY26" fmla="*/ 86782 h 101246"/>
                <a:gd name="connsiteX27" fmla="*/ 144638 w 159102"/>
                <a:gd name="connsiteY27" fmla="*/ 72319 h 101246"/>
                <a:gd name="connsiteX28" fmla="*/ 144638 w 159102"/>
                <a:gd name="connsiteY28" fmla="*/ 57855 h 101246"/>
                <a:gd name="connsiteX29" fmla="*/ 14464 w 159102"/>
                <a:gd name="connsiteY29" fmla="*/ 57855 h 101246"/>
                <a:gd name="connsiteX30" fmla="*/ 14464 w 159102"/>
                <a:gd name="connsiteY30" fmla="*/ 72319 h 101246"/>
                <a:gd name="connsiteX31" fmla="*/ 28928 w 159102"/>
                <a:gd name="connsiteY31" fmla="*/ 86782 h 101246"/>
                <a:gd name="connsiteX32" fmla="*/ 43391 w 159102"/>
                <a:gd name="connsiteY32" fmla="*/ 86782 h 101246"/>
                <a:gd name="connsiteX33" fmla="*/ 14464 w 159102"/>
                <a:gd name="connsiteY33" fmla="*/ 57855 h 10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9102" h="101246">
                  <a:moveTo>
                    <a:pt x="21696" y="0"/>
                  </a:moveTo>
                  <a:lnTo>
                    <a:pt x="137406" y="0"/>
                  </a:lnTo>
                  <a:cubicBezTo>
                    <a:pt x="149388" y="0"/>
                    <a:pt x="159102" y="9713"/>
                    <a:pt x="159102" y="21695"/>
                  </a:cubicBezTo>
                  <a:lnTo>
                    <a:pt x="159102" y="79550"/>
                  </a:lnTo>
                  <a:cubicBezTo>
                    <a:pt x="159102" y="91532"/>
                    <a:pt x="149388" y="101246"/>
                    <a:pt x="137406" y="101246"/>
                  </a:cubicBezTo>
                  <a:lnTo>
                    <a:pt x="21696" y="101246"/>
                  </a:lnTo>
                  <a:cubicBezTo>
                    <a:pt x="9713" y="101246"/>
                    <a:pt x="0" y="91532"/>
                    <a:pt x="0" y="79550"/>
                  </a:cubicBezTo>
                  <a:lnTo>
                    <a:pt x="0" y="21695"/>
                  </a:lnTo>
                  <a:cubicBezTo>
                    <a:pt x="0" y="9713"/>
                    <a:pt x="9713" y="0"/>
                    <a:pt x="21696" y="0"/>
                  </a:cubicBezTo>
                  <a:close/>
                  <a:moveTo>
                    <a:pt x="28928" y="14463"/>
                  </a:moveTo>
                  <a:cubicBezTo>
                    <a:pt x="28928" y="22452"/>
                    <a:pt x="22452" y="28927"/>
                    <a:pt x="14464" y="28927"/>
                  </a:cubicBezTo>
                  <a:lnTo>
                    <a:pt x="14464" y="43391"/>
                  </a:lnTo>
                  <a:cubicBezTo>
                    <a:pt x="30440" y="43391"/>
                    <a:pt x="43391" y="30440"/>
                    <a:pt x="43391" y="14463"/>
                  </a:cubicBezTo>
                  <a:lnTo>
                    <a:pt x="28928" y="14463"/>
                  </a:lnTo>
                  <a:close/>
                  <a:moveTo>
                    <a:pt x="115710" y="14463"/>
                  </a:moveTo>
                  <a:cubicBezTo>
                    <a:pt x="115710" y="30440"/>
                    <a:pt x="128662" y="43391"/>
                    <a:pt x="144638" y="43391"/>
                  </a:cubicBezTo>
                  <a:lnTo>
                    <a:pt x="144638" y="28927"/>
                  </a:lnTo>
                  <a:cubicBezTo>
                    <a:pt x="136650" y="28927"/>
                    <a:pt x="130174" y="22452"/>
                    <a:pt x="130174" y="14463"/>
                  </a:cubicBezTo>
                  <a:lnTo>
                    <a:pt x="115710" y="14463"/>
                  </a:lnTo>
                  <a:close/>
                  <a:moveTo>
                    <a:pt x="79551" y="25311"/>
                  </a:moveTo>
                  <a:cubicBezTo>
                    <a:pt x="65572" y="25311"/>
                    <a:pt x="54239" y="36644"/>
                    <a:pt x="54239" y="50623"/>
                  </a:cubicBezTo>
                  <a:cubicBezTo>
                    <a:pt x="54239" y="64602"/>
                    <a:pt x="65572" y="75935"/>
                    <a:pt x="79551" y="75935"/>
                  </a:cubicBezTo>
                  <a:cubicBezTo>
                    <a:pt x="93530" y="75935"/>
                    <a:pt x="104863" y="64602"/>
                    <a:pt x="104863" y="50623"/>
                  </a:cubicBezTo>
                  <a:cubicBezTo>
                    <a:pt x="104863" y="36644"/>
                    <a:pt x="93530" y="25311"/>
                    <a:pt x="79551" y="25311"/>
                  </a:cubicBezTo>
                  <a:close/>
                  <a:moveTo>
                    <a:pt x="144638" y="57855"/>
                  </a:moveTo>
                  <a:cubicBezTo>
                    <a:pt x="128662" y="57855"/>
                    <a:pt x="115710" y="70806"/>
                    <a:pt x="115710" y="86782"/>
                  </a:cubicBezTo>
                  <a:lnTo>
                    <a:pt x="130174" y="86782"/>
                  </a:lnTo>
                  <a:cubicBezTo>
                    <a:pt x="130174" y="78794"/>
                    <a:pt x="136650" y="72319"/>
                    <a:pt x="144638" y="72319"/>
                  </a:cubicBezTo>
                  <a:lnTo>
                    <a:pt x="144638" y="57855"/>
                  </a:lnTo>
                  <a:close/>
                  <a:moveTo>
                    <a:pt x="14464" y="57855"/>
                  </a:moveTo>
                  <a:lnTo>
                    <a:pt x="14464" y="72319"/>
                  </a:lnTo>
                  <a:cubicBezTo>
                    <a:pt x="22452" y="72319"/>
                    <a:pt x="28928" y="78794"/>
                    <a:pt x="28928" y="86782"/>
                  </a:cubicBezTo>
                  <a:lnTo>
                    <a:pt x="43391" y="86782"/>
                  </a:lnTo>
                  <a:cubicBezTo>
                    <a:pt x="43391" y="70806"/>
                    <a:pt x="30440" y="57855"/>
                    <a:pt x="14464" y="57855"/>
                  </a:cubicBez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pic>
        <p:nvPicPr>
          <p:cNvPr id="99" name="Graphic 98">
            <a:extLst>
              <a:ext uri="{FF2B5EF4-FFF2-40B4-BE49-F238E27FC236}">
                <a16:creationId xmlns:a16="http://schemas.microsoft.com/office/drawing/2014/main" id="{CE177131-CF6D-3A2A-BCB4-A779A5B73C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5550" y="4290806"/>
            <a:ext cx="1753699" cy="1200047"/>
          </a:xfrm>
          <a:prstGeom prst="rect">
            <a:avLst/>
          </a:prstGeom>
        </p:spPr>
      </p:pic>
      <p:pic>
        <p:nvPicPr>
          <p:cNvPr id="100" name="Graphic 99">
            <a:extLst>
              <a:ext uri="{FF2B5EF4-FFF2-40B4-BE49-F238E27FC236}">
                <a16:creationId xmlns:a16="http://schemas.microsoft.com/office/drawing/2014/main" id="{6AB018EF-4846-67C1-78BE-2B0BCCC511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562" y="4290806"/>
            <a:ext cx="1830470" cy="1079136"/>
          </a:xfrm>
          <a:prstGeom prst="rect">
            <a:avLst/>
          </a:prstGeom>
        </p:spPr>
      </p:pic>
      <p:pic>
        <p:nvPicPr>
          <p:cNvPr id="101" name="Graphic 100">
            <a:extLst>
              <a:ext uri="{FF2B5EF4-FFF2-40B4-BE49-F238E27FC236}">
                <a16:creationId xmlns:a16="http://schemas.microsoft.com/office/drawing/2014/main" id="{B81FEA0F-23FB-9E38-B352-A0C5C1D98F6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84860" y="4121331"/>
            <a:ext cx="1777585" cy="1405164"/>
          </a:xfrm>
          <a:prstGeom prst="rect">
            <a:avLst/>
          </a:prstGeom>
        </p:spPr>
      </p:pic>
      <p:pic>
        <p:nvPicPr>
          <p:cNvPr id="102" name="Graphic 101">
            <a:extLst>
              <a:ext uri="{FF2B5EF4-FFF2-40B4-BE49-F238E27FC236}">
                <a16:creationId xmlns:a16="http://schemas.microsoft.com/office/drawing/2014/main" id="{DE8F2FE3-406E-1B19-4CE9-83CEB8B095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03745" y="4040894"/>
            <a:ext cx="1744980" cy="1513243"/>
          </a:xfrm>
          <a:prstGeom prst="rect">
            <a:avLst/>
          </a:prstGeom>
        </p:spPr>
      </p:pic>
      <p:pic>
        <p:nvPicPr>
          <p:cNvPr id="103" name="Graphic 102">
            <a:extLst>
              <a:ext uri="{FF2B5EF4-FFF2-40B4-BE49-F238E27FC236}">
                <a16:creationId xmlns:a16="http://schemas.microsoft.com/office/drawing/2014/main" id="{32329403-657F-ECEE-8AFF-1581A783E5D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98651" y="4043114"/>
            <a:ext cx="1714421" cy="1419835"/>
          </a:xfrm>
          <a:prstGeom prst="rect">
            <a:avLst/>
          </a:prstGeom>
        </p:spPr>
      </p:pic>
    </p:spTree>
    <p:extLst>
      <p:ext uri="{BB962C8B-B14F-4D97-AF65-F5344CB8AC3E}">
        <p14:creationId xmlns:p14="http://schemas.microsoft.com/office/powerpoint/2010/main" val="1108843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A879C-6045-F984-EDD3-DDEE59A78494}"/>
            </a:ext>
          </a:extLst>
        </p:cNvPr>
        <p:cNvGrpSpPr/>
        <p:nvPr/>
      </p:nvGrpSpPr>
      <p:grpSpPr>
        <a:xfrm>
          <a:off x="0" y="0"/>
          <a:ext cx="0" cy="0"/>
          <a:chOff x="0" y="0"/>
          <a:chExt cx="0" cy="0"/>
        </a:xfrm>
      </p:grpSpPr>
      <p:sp>
        <p:nvSpPr>
          <p:cNvPr id="26" name="Oval 25">
            <a:extLst>
              <a:ext uri="{FF2B5EF4-FFF2-40B4-BE49-F238E27FC236}">
                <a16:creationId xmlns:a16="http://schemas.microsoft.com/office/drawing/2014/main" id="{20D1BDD3-5A58-FE62-CE6E-FFCA4EB897FA}"/>
              </a:ext>
            </a:extLst>
          </p:cNvPr>
          <p:cNvSpPr/>
          <p:nvPr/>
        </p:nvSpPr>
        <p:spPr bwMode="auto">
          <a:xfrm>
            <a:off x="1089358" y="1691366"/>
            <a:ext cx="3602744" cy="3602714"/>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27" name="Freeform: Shape 26">
            <a:extLst>
              <a:ext uri="{FF2B5EF4-FFF2-40B4-BE49-F238E27FC236}">
                <a16:creationId xmlns:a16="http://schemas.microsoft.com/office/drawing/2014/main" id="{282FA5CE-8329-2CDF-47E6-B9217C732B70}"/>
              </a:ext>
            </a:extLst>
          </p:cNvPr>
          <p:cNvSpPr>
            <a:spLocks/>
          </p:cNvSpPr>
          <p:nvPr/>
        </p:nvSpPr>
        <p:spPr>
          <a:xfrm flipV="1">
            <a:off x="4347100" y="1558040"/>
            <a:ext cx="7454374" cy="3869366"/>
          </a:xfrm>
          <a:custGeom>
            <a:avLst/>
            <a:gdLst>
              <a:gd name="connsiteX0" fmla="*/ 840297 w 7386645"/>
              <a:gd name="connsiteY0" fmla="*/ 2454931 h 3868652"/>
              <a:gd name="connsiteX1" fmla="*/ 7386645 w 7386645"/>
              <a:gd name="connsiteY1" fmla="*/ 2454931 h 3868652"/>
              <a:gd name="connsiteX2" fmla="*/ 7386645 w 7386645"/>
              <a:gd name="connsiteY2" fmla="*/ 1413720 h 3868652"/>
              <a:gd name="connsiteX3" fmla="*/ 7386645 w 7386645"/>
              <a:gd name="connsiteY3" fmla="*/ 405279 h 3868652"/>
              <a:gd name="connsiteX4" fmla="*/ 6980977 w 7386645"/>
              <a:gd name="connsiteY4" fmla="*/ 0 h 3868652"/>
              <a:gd name="connsiteX5" fmla="*/ 35545 w 7386645"/>
              <a:gd name="connsiteY5" fmla="*/ 0 h 3868652"/>
              <a:gd name="connsiteX6" fmla="*/ 7067 w 7386645"/>
              <a:gd name="connsiteY6" fmla="*/ 14268 h 3868652"/>
              <a:gd name="connsiteX7" fmla="*/ 14277 w 7386645"/>
              <a:gd name="connsiteY7" fmla="*/ 64018 h 3868652"/>
              <a:gd name="connsiteX8" fmla="*/ 834793 w 7386645"/>
              <a:gd name="connsiteY8" fmla="*/ 1386413 h 3868652"/>
              <a:gd name="connsiteX9" fmla="*/ 840297 w 7386645"/>
              <a:gd name="connsiteY9" fmla="*/ 1413720 h 3868652"/>
              <a:gd name="connsiteX10" fmla="*/ 839995 w 7386645"/>
              <a:gd name="connsiteY10" fmla="*/ 1413720 h 3868652"/>
              <a:gd name="connsiteX11" fmla="*/ 861641 w 7386645"/>
              <a:gd name="connsiteY11" fmla="*/ 1521126 h 3868652"/>
              <a:gd name="connsiteX12" fmla="*/ 896901 w 7386645"/>
              <a:gd name="connsiteY12" fmla="*/ 1935076 h 3868652"/>
              <a:gd name="connsiteX13" fmla="*/ 861641 w 7386645"/>
              <a:gd name="connsiteY13" fmla="*/ 2349025 h 3868652"/>
              <a:gd name="connsiteX14" fmla="*/ 35545 w 7386645"/>
              <a:gd name="connsiteY14" fmla="*/ 3868652 h 3868652"/>
              <a:gd name="connsiteX15" fmla="*/ 6980977 w 7386645"/>
              <a:gd name="connsiteY15" fmla="*/ 3868652 h 3868652"/>
              <a:gd name="connsiteX16" fmla="*/ 7386645 w 7386645"/>
              <a:gd name="connsiteY16" fmla="*/ 3463373 h 3868652"/>
              <a:gd name="connsiteX17" fmla="*/ 7386645 w 7386645"/>
              <a:gd name="connsiteY17" fmla="*/ 2454932 h 3868652"/>
              <a:gd name="connsiteX18" fmla="*/ 840297 w 7386645"/>
              <a:gd name="connsiteY18" fmla="*/ 2454932 h 3868652"/>
              <a:gd name="connsiteX19" fmla="*/ 834793 w 7386645"/>
              <a:gd name="connsiteY19" fmla="*/ 2482239 h 3868652"/>
              <a:gd name="connsiteX20" fmla="*/ 14277 w 7386645"/>
              <a:gd name="connsiteY20" fmla="*/ 3804634 h 3868652"/>
              <a:gd name="connsiteX21" fmla="*/ 7067 w 7386645"/>
              <a:gd name="connsiteY21" fmla="*/ 3854384 h 3868652"/>
              <a:gd name="connsiteX22" fmla="*/ 35545 w 7386645"/>
              <a:gd name="connsiteY22" fmla="*/ 3868652 h 3868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386645" h="3868652">
                <a:moveTo>
                  <a:pt x="840297" y="2454931"/>
                </a:moveTo>
                <a:lnTo>
                  <a:pt x="7386645" y="2454931"/>
                </a:lnTo>
                <a:lnTo>
                  <a:pt x="7386645" y="1413720"/>
                </a:lnTo>
                <a:lnTo>
                  <a:pt x="7386645" y="405279"/>
                </a:lnTo>
                <a:cubicBezTo>
                  <a:pt x="7386645" y="181451"/>
                  <a:pt x="7205005" y="0"/>
                  <a:pt x="6980977" y="0"/>
                </a:cubicBezTo>
                <a:lnTo>
                  <a:pt x="35545" y="0"/>
                </a:lnTo>
                <a:cubicBezTo>
                  <a:pt x="24335" y="0"/>
                  <a:pt x="13781" y="5286"/>
                  <a:pt x="7067" y="14268"/>
                </a:cubicBezTo>
                <a:cubicBezTo>
                  <a:pt x="-4679" y="30004"/>
                  <a:pt x="-1449" y="52273"/>
                  <a:pt x="14277" y="64018"/>
                </a:cubicBezTo>
                <a:cubicBezTo>
                  <a:pt x="418557" y="397302"/>
                  <a:pt x="712893" y="858906"/>
                  <a:pt x="834793" y="1386413"/>
                </a:cubicBezTo>
                <a:lnTo>
                  <a:pt x="840297" y="1413720"/>
                </a:lnTo>
                <a:lnTo>
                  <a:pt x="839995" y="1413720"/>
                </a:lnTo>
                <a:lnTo>
                  <a:pt x="861641" y="1521126"/>
                </a:lnTo>
                <a:cubicBezTo>
                  <a:pt x="884821" y="1655642"/>
                  <a:pt x="896901" y="1793951"/>
                  <a:pt x="896901" y="1935076"/>
                </a:cubicBezTo>
                <a:cubicBezTo>
                  <a:pt x="896901" y="2076202"/>
                  <a:pt x="884821" y="2214510"/>
                  <a:pt x="861641" y="2349025"/>
                </a:cubicBezTo>
                <a:close/>
                <a:moveTo>
                  <a:pt x="35545" y="3868652"/>
                </a:moveTo>
                <a:lnTo>
                  <a:pt x="6980977" y="3868652"/>
                </a:lnTo>
                <a:cubicBezTo>
                  <a:pt x="7205005" y="3868652"/>
                  <a:pt x="7386645" y="3687201"/>
                  <a:pt x="7386645" y="3463373"/>
                </a:cubicBezTo>
                <a:lnTo>
                  <a:pt x="7386645" y="2454932"/>
                </a:lnTo>
                <a:lnTo>
                  <a:pt x="840297" y="2454932"/>
                </a:lnTo>
                <a:lnTo>
                  <a:pt x="834793" y="2482239"/>
                </a:lnTo>
                <a:cubicBezTo>
                  <a:pt x="712893" y="3009746"/>
                  <a:pt x="418557" y="3471350"/>
                  <a:pt x="14277" y="3804634"/>
                </a:cubicBezTo>
                <a:cubicBezTo>
                  <a:pt x="-1449" y="3816379"/>
                  <a:pt x="-4679" y="3838648"/>
                  <a:pt x="7067" y="3854384"/>
                </a:cubicBezTo>
                <a:cubicBezTo>
                  <a:pt x="13781" y="3863366"/>
                  <a:pt x="24335" y="3868652"/>
                  <a:pt x="35545" y="3868652"/>
                </a:cubicBezTo>
                <a:close/>
              </a:path>
            </a:pathLst>
          </a:custGeom>
          <a:solidFill>
            <a:srgbClr val="FFFFFF">
              <a:alpha val="66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28" name="TextBox 27">
            <a:extLst>
              <a:ext uri="{FF2B5EF4-FFF2-40B4-BE49-F238E27FC236}">
                <a16:creationId xmlns:a16="http://schemas.microsoft.com/office/drawing/2014/main" id="{4EA8462B-2E68-E7A5-FF16-15F43BAF0672}"/>
              </a:ext>
            </a:extLst>
          </p:cNvPr>
          <p:cNvSpPr txBox="1">
            <a:spLocks/>
          </p:cNvSpPr>
          <p:nvPr/>
        </p:nvSpPr>
        <p:spPr>
          <a:xfrm>
            <a:off x="5595478" y="2545638"/>
            <a:ext cx="6013909" cy="615553"/>
          </a:xfrm>
          <a:prstGeom prst="rect">
            <a:avLst/>
          </a:prstGeom>
          <a:noFill/>
        </p:spPr>
        <p:txBody>
          <a:bodyPr wrap="square" lIns="0" tIns="0" rIns="0" bIns="0" anchor="t">
            <a:spAutoFit/>
          </a:bodyPr>
          <a:lstStyle/>
          <a:p>
            <a:pPr>
              <a:defRPr/>
            </a:pPr>
            <a:r>
              <a:rPr lang="en-GB" sz="4000" noProof="0">
                <a:solidFill>
                  <a:srgbClr val="0078D4"/>
                </a:solidFill>
                <a:latin typeface="Segoe UI Semibold"/>
              </a:rPr>
              <a:t>Azure API Management</a:t>
            </a:r>
          </a:p>
        </p:txBody>
      </p:sp>
      <p:sp>
        <p:nvSpPr>
          <p:cNvPr id="29" name="TextBox 28">
            <a:extLst>
              <a:ext uri="{FF2B5EF4-FFF2-40B4-BE49-F238E27FC236}">
                <a16:creationId xmlns:a16="http://schemas.microsoft.com/office/drawing/2014/main" id="{4C5B63F5-608D-0CB9-3463-58A9D35FF100}"/>
              </a:ext>
            </a:extLst>
          </p:cNvPr>
          <p:cNvSpPr txBox="1">
            <a:spLocks/>
          </p:cNvSpPr>
          <p:nvPr/>
        </p:nvSpPr>
        <p:spPr>
          <a:xfrm>
            <a:off x="5524426" y="3636839"/>
            <a:ext cx="5880173" cy="1107996"/>
          </a:xfrm>
          <a:prstGeom prst="rect">
            <a:avLst/>
          </a:prstGeom>
          <a:noFill/>
        </p:spPr>
        <p:txBody>
          <a:bodyPr wrap="square" lIns="0" tIns="0" rIns="0" bIns="0" anchor="t">
            <a:spAutoFit/>
          </a:bodyPr>
          <a:lstStyle/>
          <a:p>
            <a:pPr>
              <a:defRPr/>
            </a:pPr>
            <a:r>
              <a:rPr lang="en-GB" sz="2400" noProof="0">
                <a:solidFill>
                  <a:srgbClr val="000000"/>
                </a:solidFill>
                <a:latin typeface="Segoe UI Semibold"/>
              </a:rPr>
              <a:t>Unleash AI’s full potential, knowing the AI APIs are managed, secured, and governed with a scalable API management solution</a:t>
            </a:r>
          </a:p>
        </p:txBody>
      </p:sp>
      <p:sp>
        <p:nvSpPr>
          <p:cNvPr id="30" name="Rectangle: Rounded Corners 29">
            <a:extLst>
              <a:ext uri="{FF2B5EF4-FFF2-40B4-BE49-F238E27FC236}">
                <a16:creationId xmlns:a16="http://schemas.microsoft.com/office/drawing/2014/main" id="{EE78A3B3-420D-0F7A-48F8-880D05B0B85B}"/>
              </a:ext>
            </a:extLst>
          </p:cNvPr>
          <p:cNvSpPr>
            <a:spLocks/>
          </p:cNvSpPr>
          <p:nvPr/>
        </p:nvSpPr>
        <p:spPr bwMode="auto">
          <a:xfrm>
            <a:off x="5595477" y="3376155"/>
            <a:ext cx="4023360" cy="45720"/>
          </a:xfrm>
          <a:prstGeom prst="roundRect">
            <a:avLst>
              <a:gd name="adj" fmla="val 50000"/>
            </a:avLst>
          </a:prstGeom>
          <a:gradFill>
            <a:gsLst>
              <a:gs pos="0">
                <a:srgbClr val="D59ED7">
                  <a:lumMod val="75000"/>
                </a:srgbClr>
              </a:gs>
              <a:gs pos="100000">
                <a:srgbClr val="0078D4"/>
              </a:gs>
            </a:gsLst>
            <a:lin ang="1380000" scaled="0"/>
          </a:gradFill>
          <a:ln w="9525" cap="flat" cmpd="sng" algn="ctr">
            <a:no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1600" b="0" i="0" u="none" strike="noStrike" kern="0" cap="none" spc="0" normalizeH="0" baseline="0" noProof="0">
              <a:ln>
                <a:noFill/>
              </a:ln>
              <a:solidFill>
                <a:srgbClr val="000000"/>
              </a:solidFill>
              <a:effectLst/>
              <a:uLnTx/>
              <a:uFillTx/>
              <a:latin typeface="Segoe UI"/>
              <a:ea typeface="+mn-ea"/>
              <a:cs typeface="Segoe UI" pitchFamily="34" charset="0"/>
            </a:endParaRPr>
          </a:p>
        </p:txBody>
      </p:sp>
      <p:grpSp>
        <p:nvGrpSpPr>
          <p:cNvPr id="31" name="Group 30">
            <a:extLst>
              <a:ext uri="{FF2B5EF4-FFF2-40B4-BE49-F238E27FC236}">
                <a16:creationId xmlns:a16="http://schemas.microsoft.com/office/drawing/2014/main" id="{1291DDBD-B98C-DC6E-07EB-6E2D5BD21222}"/>
              </a:ext>
            </a:extLst>
          </p:cNvPr>
          <p:cNvGrpSpPr/>
          <p:nvPr/>
        </p:nvGrpSpPr>
        <p:grpSpPr>
          <a:xfrm>
            <a:off x="4353626" y="1608936"/>
            <a:ext cx="7447848" cy="919509"/>
            <a:chOff x="4353626" y="1608936"/>
            <a:chExt cx="7447848" cy="919509"/>
          </a:xfrm>
          <a:solidFill>
            <a:srgbClr val="C03BC4">
              <a:alpha val="10000"/>
            </a:srgbClr>
          </a:solidFill>
        </p:grpSpPr>
        <p:pic>
          <p:nvPicPr>
            <p:cNvPr id="32" name="Graphic 31">
              <a:extLst>
                <a:ext uri="{FF2B5EF4-FFF2-40B4-BE49-F238E27FC236}">
                  <a16:creationId xmlns:a16="http://schemas.microsoft.com/office/drawing/2014/main" id="{EA08F18E-A918-A95D-09A7-2BE7443FA4D5}"/>
                </a:ext>
              </a:extLst>
            </p:cNvPr>
            <p:cNvPicPr>
              <a:picLocks noChangeAspect="1"/>
            </p:cNvPicPr>
            <p:nvPr/>
          </p:nvPicPr>
          <p:blipFill rotWithShape="1">
            <a:blip>
              <a:extLst>
                <a:ext uri="{96DAC541-7B7A-43D3-8B79-37D633B846F1}">
                  <asvg:svgBlip xmlns:asvg="http://schemas.microsoft.com/office/drawing/2016/SVG/main" r:embed="rId3"/>
                </a:ext>
              </a:extLst>
            </a:blip>
            <a:srcRect l="56772" t="23955" r="5443" b="23955"/>
            <a:stretch/>
          </p:blipFill>
          <p:spPr>
            <a:xfrm>
              <a:off x="4353626" y="1608936"/>
              <a:ext cx="1304703" cy="919509"/>
            </a:xfrm>
            <a:custGeom>
              <a:avLst/>
              <a:gdLst>
                <a:gd name="connsiteX0" fmla="*/ 0 w 1304703"/>
                <a:gd name="connsiteY0" fmla="*/ 0 h 919509"/>
                <a:gd name="connsiteX1" fmla="*/ 1304703 w 1304703"/>
                <a:gd name="connsiteY1" fmla="*/ 0 h 919509"/>
                <a:gd name="connsiteX2" fmla="*/ 1304703 w 1304703"/>
                <a:gd name="connsiteY2" fmla="*/ 919509 h 919509"/>
                <a:gd name="connsiteX3" fmla="*/ 696098 w 1304703"/>
                <a:gd name="connsiteY3" fmla="*/ 919509 h 919509"/>
                <a:gd name="connsiteX4" fmla="*/ 627440 w 1304703"/>
                <a:gd name="connsiteY4" fmla="*/ 773318 h 919509"/>
                <a:gd name="connsiteX5" fmla="*/ 7883 w 1304703"/>
                <a:gd name="connsiteY5" fmla="*/ 13134 h 91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703" h="919509">
                  <a:moveTo>
                    <a:pt x="0" y="0"/>
                  </a:moveTo>
                  <a:lnTo>
                    <a:pt x="1304703" y="0"/>
                  </a:lnTo>
                  <a:lnTo>
                    <a:pt x="1304703" y="919509"/>
                  </a:lnTo>
                  <a:lnTo>
                    <a:pt x="696098" y="919509"/>
                  </a:lnTo>
                  <a:lnTo>
                    <a:pt x="627440" y="773318"/>
                  </a:lnTo>
                  <a:cubicBezTo>
                    <a:pt x="474526" y="479950"/>
                    <a:pt x="262875" y="221475"/>
                    <a:pt x="7883" y="13134"/>
                  </a:cubicBezTo>
                  <a:close/>
                </a:path>
              </a:pathLst>
            </a:custGeom>
          </p:spPr>
        </p:pic>
        <p:pic>
          <p:nvPicPr>
            <p:cNvPr id="33" name="Graphic 32">
              <a:extLst>
                <a:ext uri="{FF2B5EF4-FFF2-40B4-BE49-F238E27FC236}">
                  <a16:creationId xmlns:a16="http://schemas.microsoft.com/office/drawing/2014/main" id="{928D668A-D97F-A402-F5FD-3637834F4648}"/>
                </a:ext>
              </a:extLst>
            </p:cNvPr>
            <p:cNvPicPr>
              <a:picLocks noChangeAspect="1"/>
            </p:cNvPicPr>
            <p:nvPr/>
          </p:nvPicPr>
          <p:blipFill rotWithShape="1">
            <a:blip>
              <a:extLst>
                <a:ext uri="{96DAC541-7B7A-43D3-8B79-37D633B846F1}">
                  <asvg:svgBlip xmlns:asvg="http://schemas.microsoft.com/office/drawing/2016/SVG/main" r:embed="rId3"/>
                </a:ext>
              </a:extLst>
            </a:blip>
            <a:srcRect l="5443" t="23955" r="5443" b="23955"/>
            <a:stretch/>
          </p:blipFill>
          <p:spPr>
            <a:xfrm flipH="1">
              <a:off x="5658328" y="1608936"/>
              <a:ext cx="3077052" cy="919509"/>
            </a:xfrm>
            <a:prstGeom prst="rect">
              <a:avLst/>
            </a:prstGeom>
          </p:spPr>
        </p:pic>
        <p:pic>
          <p:nvPicPr>
            <p:cNvPr id="34" name="Graphic 33">
              <a:extLst>
                <a:ext uri="{FF2B5EF4-FFF2-40B4-BE49-F238E27FC236}">
                  <a16:creationId xmlns:a16="http://schemas.microsoft.com/office/drawing/2014/main" id="{62A469CD-2009-9ECA-4B7F-476E6526AE3D}"/>
                </a:ext>
              </a:extLst>
            </p:cNvPr>
            <p:cNvPicPr>
              <a:picLocks noChangeAspect="1"/>
            </p:cNvPicPr>
            <p:nvPr/>
          </p:nvPicPr>
          <p:blipFill rotWithShape="1">
            <a:blip>
              <a:extLst>
                <a:ext uri="{96DAC541-7B7A-43D3-8B79-37D633B846F1}">
                  <asvg:svgBlip xmlns:asvg="http://schemas.microsoft.com/office/drawing/2016/SVG/main" r:embed="rId3"/>
                </a:ext>
              </a:extLst>
            </a:blip>
            <a:srcRect l="5443" t="23955" r="5759" b="23955"/>
            <a:stretch/>
          </p:blipFill>
          <p:spPr>
            <a:xfrm>
              <a:off x="8735380" y="1608936"/>
              <a:ext cx="3066094" cy="919509"/>
            </a:xfrm>
            <a:prstGeom prst="rect">
              <a:avLst/>
            </a:prstGeom>
          </p:spPr>
        </p:pic>
        <p:sp>
          <p:nvSpPr>
            <p:cNvPr id="35" name="Oval 34">
              <a:extLst>
                <a:ext uri="{FF2B5EF4-FFF2-40B4-BE49-F238E27FC236}">
                  <a16:creationId xmlns:a16="http://schemas.microsoft.com/office/drawing/2014/main" id="{677F54BB-496A-BF8F-AA74-CBE76B0FE53C}"/>
                </a:ext>
              </a:extLst>
            </p:cNvPr>
            <p:cNvSpPr/>
            <p:nvPr/>
          </p:nvSpPr>
          <p:spPr bwMode="auto">
            <a:xfrm>
              <a:off x="5615043" y="2039342"/>
              <a:ext cx="84378" cy="84378"/>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36" name="Oval 35">
              <a:extLst>
                <a:ext uri="{FF2B5EF4-FFF2-40B4-BE49-F238E27FC236}">
                  <a16:creationId xmlns:a16="http://schemas.microsoft.com/office/drawing/2014/main" id="{7BDACCDB-E315-DBD0-E955-D059B2D05EBD}"/>
                </a:ext>
              </a:extLst>
            </p:cNvPr>
            <p:cNvSpPr/>
            <p:nvPr/>
          </p:nvSpPr>
          <p:spPr bwMode="auto">
            <a:xfrm>
              <a:off x="5643425" y="2184223"/>
              <a:ext cx="27615" cy="27615"/>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37" name="Oval 36">
              <a:extLst>
                <a:ext uri="{FF2B5EF4-FFF2-40B4-BE49-F238E27FC236}">
                  <a16:creationId xmlns:a16="http://schemas.microsoft.com/office/drawing/2014/main" id="{6C194CB6-0683-78E1-4DDD-9B448F0D0863}"/>
                </a:ext>
              </a:extLst>
            </p:cNvPr>
            <p:cNvSpPr/>
            <p:nvPr/>
          </p:nvSpPr>
          <p:spPr bwMode="auto">
            <a:xfrm>
              <a:off x="5643425" y="2312228"/>
              <a:ext cx="27615" cy="27615"/>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38" name="Oval 37">
              <a:extLst>
                <a:ext uri="{FF2B5EF4-FFF2-40B4-BE49-F238E27FC236}">
                  <a16:creationId xmlns:a16="http://schemas.microsoft.com/office/drawing/2014/main" id="{4D8CB241-8E8A-AC5E-60C9-F6187BFD6FE1}"/>
                </a:ext>
              </a:extLst>
            </p:cNvPr>
            <p:cNvSpPr/>
            <p:nvPr/>
          </p:nvSpPr>
          <p:spPr bwMode="auto">
            <a:xfrm>
              <a:off x="5630740" y="1805145"/>
              <a:ext cx="56811" cy="56811"/>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39" name="Oval 38">
              <a:extLst>
                <a:ext uri="{FF2B5EF4-FFF2-40B4-BE49-F238E27FC236}">
                  <a16:creationId xmlns:a16="http://schemas.microsoft.com/office/drawing/2014/main" id="{3BEFEC92-B921-4EF9-B3AF-F49777CE9733}"/>
                </a:ext>
              </a:extLst>
            </p:cNvPr>
            <p:cNvSpPr/>
            <p:nvPr/>
          </p:nvSpPr>
          <p:spPr bwMode="auto">
            <a:xfrm>
              <a:off x="8705191" y="2058758"/>
              <a:ext cx="56811" cy="56811"/>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40" name="Oval 39">
              <a:extLst>
                <a:ext uri="{FF2B5EF4-FFF2-40B4-BE49-F238E27FC236}">
                  <a16:creationId xmlns:a16="http://schemas.microsoft.com/office/drawing/2014/main" id="{0EE757AD-3027-91FD-4278-3EADEA92479E}"/>
                </a:ext>
              </a:extLst>
            </p:cNvPr>
            <p:cNvSpPr/>
            <p:nvPr/>
          </p:nvSpPr>
          <p:spPr bwMode="auto">
            <a:xfrm>
              <a:off x="8719790" y="2307792"/>
              <a:ext cx="27615" cy="27615"/>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41" name="Oval 40">
              <a:extLst>
                <a:ext uri="{FF2B5EF4-FFF2-40B4-BE49-F238E27FC236}">
                  <a16:creationId xmlns:a16="http://schemas.microsoft.com/office/drawing/2014/main" id="{7F314FDC-A991-BD6E-6311-D3EE5EB26544}"/>
                </a:ext>
              </a:extLst>
            </p:cNvPr>
            <p:cNvSpPr/>
            <p:nvPr/>
          </p:nvSpPr>
          <p:spPr bwMode="auto">
            <a:xfrm>
              <a:off x="8719790" y="1778513"/>
              <a:ext cx="27615" cy="27615"/>
            </a:xfrm>
            <a:prstGeom prst="ellipse">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grpSp>
      <p:sp>
        <p:nvSpPr>
          <p:cNvPr id="42" name="Freeform 13_1">
            <a:extLst>
              <a:ext uri="{FF2B5EF4-FFF2-40B4-BE49-F238E27FC236}">
                <a16:creationId xmlns:a16="http://schemas.microsoft.com/office/drawing/2014/main" id="{2EDD3DDE-1F1D-8E00-62C2-C6DEDFB05255}"/>
              </a:ext>
            </a:extLst>
          </p:cNvPr>
          <p:cNvSpPr/>
          <p:nvPr/>
        </p:nvSpPr>
        <p:spPr>
          <a:xfrm>
            <a:off x="493381" y="1095375"/>
            <a:ext cx="4794698" cy="4794696"/>
          </a:xfrm>
          <a:prstGeom prst="arc">
            <a:avLst>
              <a:gd name="adj1" fmla="val 3494154"/>
              <a:gd name="adj2" fmla="val 18118396"/>
            </a:avLst>
          </a:prstGeom>
          <a:noFill/>
          <a:ln w="19050" cap="flat">
            <a:solidFill>
              <a:srgbClr val="FFFFFF">
                <a:alpha val="60000"/>
              </a:srgb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43" name="Freeform: Shape 42">
            <a:extLst>
              <a:ext uri="{FF2B5EF4-FFF2-40B4-BE49-F238E27FC236}">
                <a16:creationId xmlns:a16="http://schemas.microsoft.com/office/drawing/2014/main" id="{6048B07F-973E-F4A6-A09A-E7F37CCEFD05}"/>
              </a:ext>
            </a:extLst>
          </p:cNvPr>
          <p:cNvSpPr/>
          <p:nvPr/>
        </p:nvSpPr>
        <p:spPr>
          <a:xfrm>
            <a:off x="4095867" y="5481240"/>
            <a:ext cx="126354" cy="126286"/>
          </a:xfrm>
          <a:custGeom>
            <a:avLst/>
            <a:gdLst>
              <a:gd name="connsiteX0" fmla="*/ 227226 w 227225"/>
              <a:gd name="connsiteY0" fmla="*/ 113689 h 227377"/>
              <a:gd name="connsiteX1" fmla="*/ 113688 w 227225"/>
              <a:gd name="connsiteY1" fmla="*/ 227377 h 227377"/>
              <a:gd name="connsiteX2" fmla="*/ 0 w 227225"/>
              <a:gd name="connsiteY2" fmla="*/ 113689 h 227377"/>
              <a:gd name="connsiteX3" fmla="*/ 113688 w 227225"/>
              <a:gd name="connsiteY3" fmla="*/ 0 h 227377"/>
              <a:gd name="connsiteX4" fmla="*/ 227226 w 227225"/>
              <a:gd name="connsiteY4" fmla="*/ 113689 h 227377"/>
              <a:gd name="connsiteX5" fmla="*/ 227226 w 227225"/>
              <a:gd name="connsiteY5" fmla="*/ 113689 h 22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25" h="227377">
                <a:moveTo>
                  <a:pt x="227226" y="113689"/>
                </a:moveTo>
                <a:cubicBezTo>
                  <a:pt x="227226" y="176383"/>
                  <a:pt x="176381" y="227377"/>
                  <a:pt x="113688" y="227377"/>
                </a:cubicBezTo>
                <a:cubicBezTo>
                  <a:pt x="50994" y="227377"/>
                  <a:pt x="0" y="176532"/>
                  <a:pt x="0" y="113689"/>
                </a:cubicBezTo>
                <a:cubicBezTo>
                  <a:pt x="0" y="50845"/>
                  <a:pt x="50844" y="0"/>
                  <a:pt x="113688" y="0"/>
                </a:cubicBezTo>
                <a:cubicBezTo>
                  <a:pt x="176531" y="0"/>
                  <a:pt x="227226" y="50845"/>
                  <a:pt x="227226" y="113689"/>
                </a:cubicBezTo>
                <a:lnTo>
                  <a:pt x="227226" y="113689"/>
                </a:lnTo>
                <a:close/>
              </a:path>
            </a:pathLst>
          </a:custGeom>
          <a:solidFill>
            <a:srgbClr val="FFFFFF">
              <a:alpha val="60000"/>
            </a:srgbClr>
          </a:solidFill>
          <a:ln w="28575" cap="flat">
            <a:noFill/>
            <a:prstDash val="solid"/>
            <a:miter/>
          </a:ln>
        </p:spPr>
        <p:txBody>
          <a:bodyPr rtlCol="0" anchor="ctr"/>
          <a:lstStyle/>
          <a:p>
            <a:pPr>
              <a:defRPr/>
            </a:pPr>
            <a:endParaRPr lang="en-GB" noProof="0">
              <a:solidFill>
                <a:srgbClr val="FFFFFF"/>
              </a:solidFill>
              <a:latin typeface="Segoe UI"/>
            </a:endParaRPr>
          </a:p>
        </p:txBody>
      </p:sp>
      <p:sp>
        <p:nvSpPr>
          <p:cNvPr id="44" name="Freeform: Shape 43">
            <a:extLst>
              <a:ext uri="{FF2B5EF4-FFF2-40B4-BE49-F238E27FC236}">
                <a16:creationId xmlns:a16="http://schemas.microsoft.com/office/drawing/2014/main" id="{D111D030-0C56-DB38-2789-008DFDA29B37}"/>
              </a:ext>
            </a:extLst>
          </p:cNvPr>
          <p:cNvSpPr/>
          <p:nvPr/>
        </p:nvSpPr>
        <p:spPr>
          <a:xfrm>
            <a:off x="4095867" y="1408357"/>
            <a:ext cx="126354" cy="126286"/>
          </a:xfrm>
          <a:custGeom>
            <a:avLst/>
            <a:gdLst>
              <a:gd name="connsiteX0" fmla="*/ 227226 w 227225"/>
              <a:gd name="connsiteY0" fmla="*/ 113689 h 227377"/>
              <a:gd name="connsiteX1" fmla="*/ 113688 w 227225"/>
              <a:gd name="connsiteY1" fmla="*/ 227377 h 227377"/>
              <a:gd name="connsiteX2" fmla="*/ 0 w 227225"/>
              <a:gd name="connsiteY2" fmla="*/ 113689 h 227377"/>
              <a:gd name="connsiteX3" fmla="*/ 113688 w 227225"/>
              <a:gd name="connsiteY3" fmla="*/ 0 h 227377"/>
              <a:gd name="connsiteX4" fmla="*/ 227226 w 227225"/>
              <a:gd name="connsiteY4" fmla="*/ 113689 h 227377"/>
              <a:gd name="connsiteX5" fmla="*/ 227226 w 227225"/>
              <a:gd name="connsiteY5" fmla="*/ 113689 h 22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25" h="227377">
                <a:moveTo>
                  <a:pt x="227226" y="113689"/>
                </a:moveTo>
                <a:cubicBezTo>
                  <a:pt x="227226" y="176383"/>
                  <a:pt x="176381" y="227377"/>
                  <a:pt x="113688" y="227377"/>
                </a:cubicBezTo>
                <a:cubicBezTo>
                  <a:pt x="50994" y="227377"/>
                  <a:pt x="0" y="176532"/>
                  <a:pt x="0" y="113689"/>
                </a:cubicBezTo>
                <a:cubicBezTo>
                  <a:pt x="0" y="50845"/>
                  <a:pt x="50844" y="0"/>
                  <a:pt x="113688" y="0"/>
                </a:cubicBezTo>
                <a:cubicBezTo>
                  <a:pt x="176531" y="0"/>
                  <a:pt x="227226" y="50845"/>
                  <a:pt x="227226" y="113689"/>
                </a:cubicBezTo>
                <a:lnTo>
                  <a:pt x="227226" y="113689"/>
                </a:lnTo>
                <a:close/>
              </a:path>
            </a:pathLst>
          </a:custGeom>
          <a:solidFill>
            <a:srgbClr val="FFFFFF">
              <a:alpha val="60000"/>
            </a:srgbClr>
          </a:solidFill>
          <a:ln w="28575" cap="flat">
            <a:noFill/>
            <a:prstDash val="solid"/>
            <a:miter/>
          </a:ln>
        </p:spPr>
        <p:txBody>
          <a:bodyPr rtlCol="0" anchor="ctr"/>
          <a:lstStyle/>
          <a:p>
            <a:pPr>
              <a:defRPr/>
            </a:pPr>
            <a:endParaRPr lang="en-GB" noProof="0">
              <a:solidFill>
                <a:srgbClr val="FFFFFF"/>
              </a:solidFill>
              <a:latin typeface="Segoe UI"/>
            </a:endParaRPr>
          </a:p>
        </p:txBody>
      </p:sp>
      <p:grpSp>
        <p:nvGrpSpPr>
          <p:cNvPr id="45" name="Graphic 7">
            <a:extLst>
              <a:ext uri="{FF2B5EF4-FFF2-40B4-BE49-F238E27FC236}">
                <a16:creationId xmlns:a16="http://schemas.microsoft.com/office/drawing/2014/main" id="{756FBC27-CE55-20BB-35C9-0D7F492E7720}"/>
              </a:ext>
            </a:extLst>
          </p:cNvPr>
          <p:cNvGrpSpPr/>
          <p:nvPr/>
        </p:nvGrpSpPr>
        <p:grpSpPr>
          <a:xfrm>
            <a:off x="1849807" y="2685129"/>
            <a:ext cx="2081846" cy="1661346"/>
            <a:chOff x="7066221" y="4833443"/>
            <a:chExt cx="660673" cy="527235"/>
          </a:xfrm>
        </p:grpSpPr>
        <p:sp>
          <p:nvSpPr>
            <p:cNvPr id="46" name="Freeform: Shape 45">
              <a:extLst>
                <a:ext uri="{FF2B5EF4-FFF2-40B4-BE49-F238E27FC236}">
                  <a16:creationId xmlns:a16="http://schemas.microsoft.com/office/drawing/2014/main" id="{F4B9B3D9-203F-135A-EF25-B70397911FD0}"/>
                </a:ext>
              </a:extLst>
            </p:cNvPr>
            <p:cNvSpPr/>
            <p:nvPr/>
          </p:nvSpPr>
          <p:spPr>
            <a:xfrm>
              <a:off x="7066221" y="4833443"/>
              <a:ext cx="660673" cy="527235"/>
            </a:xfrm>
            <a:custGeom>
              <a:avLst/>
              <a:gdLst>
                <a:gd name="connsiteX0" fmla="*/ 269800 w 660673"/>
                <a:gd name="connsiteY0" fmla="*/ 360340 h 527235"/>
                <a:gd name="connsiteX1" fmla="*/ 152669 w 660673"/>
                <a:gd name="connsiteY1" fmla="*/ 360340 h 527235"/>
                <a:gd name="connsiteX2" fmla="*/ 152669 w 660673"/>
                <a:gd name="connsiteY2" fmla="*/ 360340 h 527235"/>
                <a:gd name="connsiteX3" fmla="*/ 47384 w 660673"/>
                <a:gd name="connsiteY3" fmla="*/ 257931 h 527235"/>
                <a:gd name="connsiteX4" fmla="*/ 152669 w 660673"/>
                <a:gd name="connsiteY4" fmla="*/ 155515 h 527235"/>
                <a:gd name="connsiteX5" fmla="*/ 188206 w 660673"/>
                <a:gd name="connsiteY5" fmla="*/ 159305 h 527235"/>
                <a:gd name="connsiteX6" fmla="*/ 210577 w 660673"/>
                <a:gd name="connsiteY6" fmla="*/ 165625 h 527235"/>
                <a:gd name="connsiteX7" fmla="*/ 217157 w 660673"/>
                <a:gd name="connsiteY7" fmla="*/ 144134 h 527235"/>
                <a:gd name="connsiteX8" fmla="*/ 379035 w 660673"/>
                <a:gd name="connsiteY8" fmla="*/ 37929 h 527235"/>
                <a:gd name="connsiteX9" fmla="*/ 539599 w 660673"/>
                <a:gd name="connsiteY9" fmla="*/ 192178 h 527235"/>
                <a:gd name="connsiteX10" fmla="*/ 533019 w 660673"/>
                <a:gd name="connsiteY10" fmla="*/ 233902 h 527235"/>
                <a:gd name="connsiteX11" fmla="*/ 523809 w 660673"/>
                <a:gd name="connsiteY11" fmla="*/ 265510 h 527235"/>
                <a:gd name="connsiteX12" fmla="*/ 559340 w 660673"/>
                <a:gd name="connsiteY12" fmla="*/ 261720 h 527235"/>
                <a:gd name="connsiteX13" fmla="*/ 565920 w 660673"/>
                <a:gd name="connsiteY13" fmla="*/ 261720 h 527235"/>
                <a:gd name="connsiteX14" fmla="*/ 613297 w 660673"/>
                <a:gd name="connsiteY14" fmla="*/ 307240 h 527235"/>
                <a:gd name="connsiteX15" fmla="*/ 572500 w 660673"/>
                <a:gd name="connsiteY15" fmla="*/ 352754 h 527235"/>
                <a:gd name="connsiteX16" fmla="*/ 455363 w 660673"/>
                <a:gd name="connsiteY16" fmla="*/ 352754 h 527235"/>
                <a:gd name="connsiteX17" fmla="*/ 411930 w 660673"/>
                <a:gd name="connsiteY17" fmla="*/ 271837 h 527235"/>
                <a:gd name="connsiteX18" fmla="*/ 302695 w 660673"/>
                <a:gd name="connsiteY18" fmla="*/ 227582 h 527235"/>
                <a:gd name="connsiteX19" fmla="*/ 222416 w 660673"/>
                <a:gd name="connsiteY19" fmla="*/ 249073 h 527235"/>
                <a:gd name="connsiteX20" fmla="*/ 247423 w 660673"/>
                <a:gd name="connsiteY20" fmla="*/ 287001 h 527235"/>
                <a:gd name="connsiteX21" fmla="*/ 305331 w 660673"/>
                <a:gd name="connsiteY21" fmla="*/ 273095 h 527235"/>
                <a:gd name="connsiteX22" fmla="*/ 381665 w 660673"/>
                <a:gd name="connsiteY22" fmla="*/ 304703 h 527235"/>
                <a:gd name="connsiteX23" fmla="*/ 414566 w 660673"/>
                <a:gd name="connsiteY23" fmla="*/ 378035 h 527235"/>
                <a:gd name="connsiteX24" fmla="*/ 381665 w 660673"/>
                <a:gd name="connsiteY24" fmla="*/ 451367 h 527235"/>
                <a:gd name="connsiteX25" fmla="*/ 305331 w 660673"/>
                <a:gd name="connsiteY25" fmla="*/ 482975 h 527235"/>
                <a:gd name="connsiteX26" fmla="*/ 247423 w 660673"/>
                <a:gd name="connsiteY26" fmla="*/ 465273 h 527235"/>
                <a:gd name="connsiteX27" fmla="*/ 222416 w 660673"/>
                <a:gd name="connsiteY27" fmla="*/ 503201 h 527235"/>
                <a:gd name="connsiteX28" fmla="*/ 302701 w 660673"/>
                <a:gd name="connsiteY28" fmla="*/ 527236 h 527235"/>
                <a:gd name="connsiteX29" fmla="*/ 411937 w 660673"/>
                <a:gd name="connsiteY29" fmla="*/ 484247 h 527235"/>
                <a:gd name="connsiteX30" fmla="*/ 455370 w 660673"/>
                <a:gd name="connsiteY30" fmla="*/ 395744 h 527235"/>
                <a:gd name="connsiteX31" fmla="*/ 575130 w 660673"/>
                <a:gd name="connsiteY31" fmla="*/ 395744 h 527235"/>
                <a:gd name="connsiteX32" fmla="*/ 577759 w 660673"/>
                <a:gd name="connsiteY32" fmla="*/ 395744 h 527235"/>
                <a:gd name="connsiteX33" fmla="*/ 660674 w 660673"/>
                <a:gd name="connsiteY33" fmla="*/ 304710 h 527235"/>
                <a:gd name="connsiteX34" fmla="*/ 580395 w 660673"/>
                <a:gd name="connsiteY34" fmla="*/ 223792 h 527235"/>
                <a:gd name="connsiteX35" fmla="*/ 583031 w 660673"/>
                <a:gd name="connsiteY35" fmla="*/ 199770 h 527235"/>
                <a:gd name="connsiteX36" fmla="*/ 371134 w 660673"/>
                <a:gd name="connsiteY36" fmla="*/ 1 h 527235"/>
                <a:gd name="connsiteX37" fmla="*/ 371134 w 660673"/>
                <a:gd name="connsiteY37" fmla="*/ 1 h 527235"/>
                <a:gd name="connsiteX38" fmla="*/ 184249 w 660673"/>
                <a:gd name="connsiteY38" fmla="*/ 118853 h 527235"/>
                <a:gd name="connsiteX39" fmla="*/ 153984 w 660673"/>
                <a:gd name="connsiteY39" fmla="*/ 115063 h 527235"/>
                <a:gd name="connsiteX40" fmla="*/ 1 w 660673"/>
                <a:gd name="connsiteY40" fmla="*/ 257931 h 527235"/>
                <a:gd name="connsiteX41" fmla="*/ 150033 w 660673"/>
                <a:gd name="connsiteY41" fmla="*/ 400805 h 527235"/>
                <a:gd name="connsiteX42" fmla="*/ 279009 w 660673"/>
                <a:gd name="connsiteY42" fmla="*/ 400805 h 527235"/>
                <a:gd name="connsiteX43" fmla="*/ 269800 w 660673"/>
                <a:gd name="connsiteY43" fmla="*/ 360346 h 527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60673" h="527235">
                  <a:moveTo>
                    <a:pt x="269800" y="360340"/>
                  </a:moveTo>
                  <a:lnTo>
                    <a:pt x="152669" y="360340"/>
                  </a:lnTo>
                  <a:lnTo>
                    <a:pt x="152669" y="360340"/>
                  </a:lnTo>
                  <a:cubicBezTo>
                    <a:pt x="94761" y="360340"/>
                    <a:pt x="47384" y="314819"/>
                    <a:pt x="47384" y="257931"/>
                  </a:cubicBezTo>
                  <a:cubicBezTo>
                    <a:pt x="47384" y="201042"/>
                    <a:pt x="92131" y="155515"/>
                    <a:pt x="152669" y="155515"/>
                  </a:cubicBezTo>
                  <a:cubicBezTo>
                    <a:pt x="163200" y="155515"/>
                    <a:pt x="175039" y="158046"/>
                    <a:pt x="188206" y="159305"/>
                  </a:cubicBezTo>
                  <a:lnTo>
                    <a:pt x="210577" y="165625"/>
                  </a:lnTo>
                  <a:lnTo>
                    <a:pt x="217157" y="144134"/>
                  </a:lnTo>
                  <a:cubicBezTo>
                    <a:pt x="238213" y="78387"/>
                    <a:pt x="304023" y="37929"/>
                    <a:pt x="379035" y="37929"/>
                  </a:cubicBezTo>
                  <a:cubicBezTo>
                    <a:pt x="469845" y="37929"/>
                    <a:pt x="539599" y="104940"/>
                    <a:pt x="539599" y="192178"/>
                  </a:cubicBezTo>
                  <a:cubicBezTo>
                    <a:pt x="539599" y="206084"/>
                    <a:pt x="536969" y="219996"/>
                    <a:pt x="533019" y="233902"/>
                  </a:cubicBezTo>
                  <a:lnTo>
                    <a:pt x="523809" y="265510"/>
                  </a:lnTo>
                  <a:lnTo>
                    <a:pt x="559340" y="261720"/>
                  </a:lnTo>
                  <a:lnTo>
                    <a:pt x="565920" y="261720"/>
                  </a:lnTo>
                  <a:cubicBezTo>
                    <a:pt x="592241" y="261720"/>
                    <a:pt x="613297" y="283212"/>
                    <a:pt x="613297" y="307240"/>
                  </a:cubicBezTo>
                  <a:cubicBezTo>
                    <a:pt x="613297" y="331269"/>
                    <a:pt x="594871" y="348965"/>
                    <a:pt x="572500" y="352754"/>
                  </a:cubicBezTo>
                  <a:lnTo>
                    <a:pt x="455363" y="352754"/>
                  </a:lnTo>
                  <a:cubicBezTo>
                    <a:pt x="451419" y="321146"/>
                    <a:pt x="434307" y="293328"/>
                    <a:pt x="411930" y="271837"/>
                  </a:cubicBezTo>
                  <a:cubicBezTo>
                    <a:pt x="382980" y="244018"/>
                    <a:pt x="343498" y="227582"/>
                    <a:pt x="302695" y="227582"/>
                  </a:cubicBezTo>
                  <a:cubicBezTo>
                    <a:pt x="273744" y="227582"/>
                    <a:pt x="244787" y="235167"/>
                    <a:pt x="222416" y="249073"/>
                  </a:cubicBezTo>
                  <a:lnTo>
                    <a:pt x="247423" y="287001"/>
                  </a:lnTo>
                  <a:cubicBezTo>
                    <a:pt x="265849" y="276885"/>
                    <a:pt x="284275" y="273095"/>
                    <a:pt x="305331" y="273095"/>
                  </a:cubicBezTo>
                  <a:cubicBezTo>
                    <a:pt x="334288" y="273095"/>
                    <a:pt x="363239" y="283212"/>
                    <a:pt x="381665" y="304703"/>
                  </a:cubicBezTo>
                  <a:cubicBezTo>
                    <a:pt x="402721" y="324936"/>
                    <a:pt x="414566" y="350223"/>
                    <a:pt x="414566" y="378035"/>
                  </a:cubicBezTo>
                  <a:cubicBezTo>
                    <a:pt x="414566" y="405847"/>
                    <a:pt x="404042" y="433665"/>
                    <a:pt x="381665" y="451367"/>
                  </a:cubicBezTo>
                  <a:cubicBezTo>
                    <a:pt x="360609" y="472858"/>
                    <a:pt x="334288" y="482975"/>
                    <a:pt x="305331" y="482975"/>
                  </a:cubicBezTo>
                  <a:cubicBezTo>
                    <a:pt x="284275" y="482975"/>
                    <a:pt x="264534" y="476654"/>
                    <a:pt x="247423" y="465273"/>
                  </a:cubicBezTo>
                  <a:lnTo>
                    <a:pt x="222416" y="503201"/>
                  </a:lnTo>
                  <a:cubicBezTo>
                    <a:pt x="247423" y="517120"/>
                    <a:pt x="276380" y="527236"/>
                    <a:pt x="302701" y="527236"/>
                  </a:cubicBezTo>
                  <a:cubicBezTo>
                    <a:pt x="343498" y="527236"/>
                    <a:pt x="382980" y="513330"/>
                    <a:pt x="411937" y="484247"/>
                  </a:cubicBezTo>
                  <a:cubicBezTo>
                    <a:pt x="436943" y="460224"/>
                    <a:pt x="451419" y="428617"/>
                    <a:pt x="455370" y="395744"/>
                  </a:cubicBezTo>
                  <a:lnTo>
                    <a:pt x="575130" y="395744"/>
                  </a:lnTo>
                  <a:lnTo>
                    <a:pt x="577759" y="395744"/>
                  </a:lnTo>
                  <a:cubicBezTo>
                    <a:pt x="625136" y="391954"/>
                    <a:pt x="660674" y="352754"/>
                    <a:pt x="660674" y="304710"/>
                  </a:cubicBezTo>
                  <a:cubicBezTo>
                    <a:pt x="660674" y="266782"/>
                    <a:pt x="623821" y="231378"/>
                    <a:pt x="580395" y="223792"/>
                  </a:cubicBezTo>
                  <a:cubicBezTo>
                    <a:pt x="583031" y="216207"/>
                    <a:pt x="583031" y="212411"/>
                    <a:pt x="583031" y="199770"/>
                  </a:cubicBezTo>
                  <a:cubicBezTo>
                    <a:pt x="583025" y="88504"/>
                    <a:pt x="501425" y="1"/>
                    <a:pt x="371134" y="1"/>
                  </a:cubicBezTo>
                  <a:lnTo>
                    <a:pt x="371134" y="1"/>
                  </a:lnTo>
                  <a:cubicBezTo>
                    <a:pt x="288226" y="1"/>
                    <a:pt x="214521" y="45521"/>
                    <a:pt x="184249" y="118853"/>
                  </a:cubicBezTo>
                  <a:cubicBezTo>
                    <a:pt x="173718" y="118853"/>
                    <a:pt x="165823" y="115063"/>
                    <a:pt x="153984" y="115063"/>
                  </a:cubicBezTo>
                  <a:cubicBezTo>
                    <a:pt x="68440" y="113791"/>
                    <a:pt x="1" y="177013"/>
                    <a:pt x="1" y="257931"/>
                  </a:cubicBezTo>
                  <a:cubicBezTo>
                    <a:pt x="1" y="337583"/>
                    <a:pt x="68440" y="400805"/>
                    <a:pt x="150033" y="400805"/>
                  </a:cubicBezTo>
                  <a:lnTo>
                    <a:pt x="279009" y="400805"/>
                  </a:lnTo>
                  <a:lnTo>
                    <a:pt x="269800" y="360346"/>
                  </a:lnTo>
                  <a:close/>
                </a:path>
              </a:pathLst>
            </a:custGeom>
            <a:solidFill>
              <a:srgbClr val="0078D4"/>
            </a:solidFill>
            <a:ln w="6601" cap="rnd">
              <a:noFill/>
              <a:prstDash val="solid"/>
              <a:round/>
            </a:ln>
          </p:spPr>
          <p:txBody>
            <a:bodyPr rtlCol="0" anchor="ctr"/>
            <a:lstStyle/>
            <a:p>
              <a:pPr>
                <a:defRPr/>
              </a:pPr>
              <a:endParaRPr lang="en-GB" noProof="0">
                <a:solidFill>
                  <a:srgbClr val="FFFFFF"/>
                </a:solidFill>
                <a:latin typeface="Segoe UI"/>
              </a:endParaRPr>
            </a:p>
          </p:txBody>
        </p:sp>
        <p:sp>
          <p:nvSpPr>
            <p:cNvPr id="47" name="Freeform: Shape 46">
              <a:extLst>
                <a:ext uri="{FF2B5EF4-FFF2-40B4-BE49-F238E27FC236}">
                  <a16:creationId xmlns:a16="http://schemas.microsoft.com/office/drawing/2014/main" id="{3442129A-4B9F-978D-C5E3-4635917FF228}"/>
                </a:ext>
              </a:extLst>
            </p:cNvPr>
            <p:cNvSpPr/>
            <p:nvPr/>
          </p:nvSpPr>
          <p:spPr>
            <a:xfrm>
              <a:off x="7292587" y="5139417"/>
              <a:ext cx="147396" cy="141602"/>
            </a:xfrm>
            <a:custGeom>
              <a:avLst/>
              <a:gdLst>
                <a:gd name="connsiteX0" fmla="*/ 1 w 147396"/>
                <a:gd name="connsiteY0" fmla="*/ 70802 h 141602"/>
                <a:gd name="connsiteX1" fmla="*/ 73699 w 147396"/>
                <a:gd name="connsiteY1" fmla="*/ 1 h 141602"/>
                <a:gd name="connsiteX2" fmla="*/ 147397 w 147396"/>
                <a:gd name="connsiteY2" fmla="*/ 70802 h 141602"/>
                <a:gd name="connsiteX3" fmla="*/ 73699 w 147396"/>
                <a:gd name="connsiteY3" fmla="*/ 141603 h 141602"/>
                <a:gd name="connsiteX4" fmla="*/ 1 w 147396"/>
                <a:gd name="connsiteY4" fmla="*/ 70802 h 141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396" h="141602">
                  <a:moveTo>
                    <a:pt x="1" y="70802"/>
                  </a:moveTo>
                  <a:cubicBezTo>
                    <a:pt x="1" y="31575"/>
                    <a:pt x="32869" y="1"/>
                    <a:pt x="73699" y="1"/>
                  </a:cubicBezTo>
                  <a:cubicBezTo>
                    <a:pt x="114528" y="1"/>
                    <a:pt x="147397" y="31575"/>
                    <a:pt x="147397" y="70802"/>
                  </a:cubicBezTo>
                  <a:cubicBezTo>
                    <a:pt x="147397" y="110028"/>
                    <a:pt x="114528" y="141603"/>
                    <a:pt x="73699" y="141603"/>
                  </a:cubicBezTo>
                  <a:cubicBezTo>
                    <a:pt x="32869" y="141603"/>
                    <a:pt x="1" y="110021"/>
                    <a:pt x="1" y="70802"/>
                  </a:cubicBezTo>
                  <a:close/>
                </a:path>
              </a:pathLst>
            </a:custGeom>
            <a:solidFill>
              <a:srgbClr val="B85CBC"/>
            </a:solidFill>
            <a:ln w="8687" cap="flat">
              <a:noFill/>
              <a:prstDash val="solid"/>
              <a:miter/>
            </a:ln>
          </p:spPr>
          <p:txBody>
            <a:bodyPr rtlCol="0" anchor="ctr"/>
            <a:lstStyle/>
            <a:p>
              <a:pPr>
                <a:defRPr/>
              </a:pPr>
              <a:endParaRPr lang="en-GB" noProof="0">
                <a:solidFill>
                  <a:srgbClr val="FFFFFF"/>
                </a:solidFill>
                <a:latin typeface="Segoe UI"/>
              </a:endParaRPr>
            </a:p>
          </p:txBody>
        </p:sp>
      </p:grpSp>
    </p:spTree>
    <p:extLst>
      <p:ext uri="{BB962C8B-B14F-4D97-AF65-F5344CB8AC3E}">
        <p14:creationId xmlns:p14="http://schemas.microsoft.com/office/powerpoint/2010/main" val="335470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125E9-96C0-E356-9AA9-E60F56CAB288}"/>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EA781B33-8C0D-2E8C-F233-EC4AC955FA7A}"/>
              </a:ext>
            </a:extLst>
          </p:cNvPr>
          <p:cNvSpPr txBox="1">
            <a:spLocks/>
          </p:cNvSpPr>
          <p:nvPr/>
        </p:nvSpPr>
        <p:spPr>
          <a:xfrm>
            <a:off x="461818" y="457200"/>
            <a:ext cx="11144965" cy="4924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200" b="0" i="0" u="none" strike="noStrike" kern="1200" cap="none" spc="-50" normalizeH="0" baseline="0" noProof="0">
                <a:ln w="3175">
                  <a:noFill/>
                </a:ln>
                <a:solidFill>
                  <a:srgbClr val="0F6FC6"/>
                </a:solidFill>
                <a:effectLst/>
                <a:uLnTx/>
                <a:uFillTx/>
                <a:latin typeface="Segoe Semibold"/>
                <a:ea typeface="+mj-ea"/>
                <a:cs typeface="Segoe UI" pitchFamily="34" charset="0"/>
              </a:rPr>
              <a:t>Azure API Management enables AI APIs</a:t>
            </a:r>
          </a:p>
        </p:txBody>
      </p:sp>
      <p:cxnSp>
        <p:nvCxnSpPr>
          <p:cNvPr id="117" name="Straight Connector 116">
            <a:extLst>
              <a:ext uri="{FF2B5EF4-FFF2-40B4-BE49-F238E27FC236}">
                <a16:creationId xmlns:a16="http://schemas.microsoft.com/office/drawing/2014/main" id="{46746DD9-2FAD-EF3A-525E-373F05D17FB2}"/>
              </a:ext>
            </a:extLst>
          </p:cNvPr>
          <p:cNvCxnSpPr>
            <a:cxnSpLocks/>
          </p:cNvCxnSpPr>
          <p:nvPr/>
        </p:nvCxnSpPr>
        <p:spPr>
          <a:xfrm>
            <a:off x="3073659" y="4000949"/>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cxnSp>
        <p:nvCxnSpPr>
          <p:cNvPr id="118" name="Straight Connector 117">
            <a:extLst>
              <a:ext uri="{FF2B5EF4-FFF2-40B4-BE49-F238E27FC236}">
                <a16:creationId xmlns:a16="http://schemas.microsoft.com/office/drawing/2014/main" id="{D45B6046-8B55-C073-9F7A-DB41D95E9A1A}"/>
              </a:ext>
            </a:extLst>
          </p:cNvPr>
          <p:cNvCxnSpPr>
            <a:cxnSpLocks/>
          </p:cNvCxnSpPr>
          <p:nvPr/>
        </p:nvCxnSpPr>
        <p:spPr>
          <a:xfrm>
            <a:off x="3073659" y="4789731"/>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cxnSp>
        <p:nvCxnSpPr>
          <p:cNvPr id="119" name="Straight Connector 118">
            <a:extLst>
              <a:ext uri="{FF2B5EF4-FFF2-40B4-BE49-F238E27FC236}">
                <a16:creationId xmlns:a16="http://schemas.microsoft.com/office/drawing/2014/main" id="{08D8B21F-C5C4-7FA4-3FE5-F23A2E5D17B1}"/>
              </a:ext>
            </a:extLst>
          </p:cNvPr>
          <p:cNvCxnSpPr>
            <a:cxnSpLocks/>
          </p:cNvCxnSpPr>
          <p:nvPr/>
        </p:nvCxnSpPr>
        <p:spPr>
          <a:xfrm>
            <a:off x="3073659" y="5578512"/>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cxnSp>
        <p:nvCxnSpPr>
          <p:cNvPr id="120" name="Straight Connector 119">
            <a:extLst>
              <a:ext uri="{FF2B5EF4-FFF2-40B4-BE49-F238E27FC236}">
                <a16:creationId xmlns:a16="http://schemas.microsoft.com/office/drawing/2014/main" id="{655AD62F-A354-F972-DCA4-BA40AB87E9D0}"/>
              </a:ext>
            </a:extLst>
          </p:cNvPr>
          <p:cNvCxnSpPr>
            <a:cxnSpLocks/>
          </p:cNvCxnSpPr>
          <p:nvPr/>
        </p:nvCxnSpPr>
        <p:spPr>
          <a:xfrm>
            <a:off x="3073659" y="3212167"/>
            <a:ext cx="6044682" cy="0"/>
          </a:xfrm>
          <a:prstGeom prst="line">
            <a:avLst/>
          </a:prstGeom>
          <a:solidFill>
            <a:srgbClr val="463668"/>
          </a:solidFill>
          <a:ln w="6350" cap="flat" cmpd="sng" algn="ctr">
            <a:gradFill flip="none" rotWithShape="1">
              <a:gsLst>
                <a:gs pos="75000">
                  <a:srgbClr val="FFFFFF"/>
                </a:gs>
                <a:gs pos="25000">
                  <a:srgbClr val="FFFFFF"/>
                </a:gs>
                <a:gs pos="0">
                  <a:srgbClr val="C03BC4">
                    <a:alpha val="39000"/>
                  </a:srgbClr>
                </a:gs>
                <a:gs pos="100000">
                  <a:srgbClr val="0078D4">
                    <a:alpha val="45000"/>
                  </a:srgbClr>
                </a:gs>
              </a:gsLst>
              <a:lin ang="0" scaled="1"/>
              <a:tileRect/>
            </a:gradFill>
            <a:prstDash val="solid"/>
            <a:headEnd type="none" w="med" len="med"/>
            <a:tailEnd type="none" w="med" len="med"/>
          </a:ln>
          <a:effectLst/>
        </p:spPr>
      </p:cxnSp>
      <p:sp>
        <p:nvSpPr>
          <p:cNvPr id="121" name="Oval 120">
            <a:extLst>
              <a:ext uri="{FF2B5EF4-FFF2-40B4-BE49-F238E27FC236}">
                <a16:creationId xmlns:a16="http://schemas.microsoft.com/office/drawing/2014/main" id="{1729DB93-E18A-02F1-6FFB-FE4184D23D7F}"/>
              </a:ext>
            </a:extLst>
          </p:cNvPr>
          <p:cNvSpPr>
            <a:spLocks/>
          </p:cNvSpPr>
          <p:nvPr/>
        </p:nvSpPr>
        <p:spPr>
          <a:xfrm flipV="1">
            <a:off x="2540129" y="3155875"/>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22" name="Oval 121">
            <a:extLst>
              <a:ext uri="{FF2B5EF4-FFF2-40B4-BE49-F238E27FC236}">
                <a16:creationId xmlns:a16="http://schemas.microsoft.com/office/drawing/2014/main" id="{88B2233B-089C-3158-8322-6201A455ABDB}"/>
              </a:ext>
            </a:extLst>
          </p:cNvPr>
          <p:cNvSpPr>
            <a:spLocks/>
          </p:cNvSpPr>
          <p:nvPr/>
        </p:nvSpPr>
        <p:spPr>
          <a:xfrm flipV="1">
            <a:off x="2540129" y="3944657"/>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23" name="Oval 122">
            <a:extLst>
              <a:ext uri="{FF2B5EF4-FFF2-40B4-BE49-F238E27FC236}">
                <a16:creationId xmlns:a16="http://schemas.microsoft.com/office/drawing/2014/main" id="{468D059F-BF55-8DD6-74F8-A3DE9AB0312E}"/>
              </a:ext>
            </a:extLst>
          </p:cNvPr>
          <p:cNvSpPr>
            <a:spLocks/>
          </p:cNvSpPr>
          <p:nvPr/>
        </p:nvSpPr>
        <p:spPr>
          <a:xfrm flipV="1">
            <a:off x="2540129" y="4733439"/>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24" name="Oval 123">
            <a:extLst>
              <a:ext uri="{FF2B5EF4-FFF2-40B4-BE49-F238E27FC236}">
                <a16:creationId xmlns:a16="http://schemas.microsoft.com/office/drawing/2014/main" id="{DC7BBDA9-B40A-0EC3-D557-D56AC8070335}"/>
              </a:ext>
            </a:extLst>
          </p:cNvPr>
          <p:cNvSpPr>
            <a:spLocks/>
          </p:cNvSpPr>
          <p:nvPr/>
        </p:nvSpPr>
        <p:spPr>
          <a:xfrm flipV="1">
            <a:off x="2540129" y="5522220"/>
            <a:ext cx="112584" cy="112584"/>
          </a:xfrm>
          <a:prstGeom prst="ellipse">
            <a:avLst/>
          </a:prstGeom>
          <a:solidFill>
            <a:srgbClr val="FFFFFF"/>
          </a:solidFill>
          <a:ln w="6350" cap="flat" cmpd="sng" algn="ctr">
            <a:noFill/>
            <a:prstDash val="solid"/>
            <a:headEnd type="none" w="med" len="med"/>
            <a:tailEnd type="none" w="med" len="med"/>
          </a:ln>
          <a:effectLst>
            <a:glow rad="63500">
              <a:srgbClr val="C5B4E3">
                <a:satMod val="175000"/>
                <a:alpha val="20000"/>
              </a:srgbClr>
            </a:glo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29" name="Rectangle: Rounded Corners 128">
            <a:extLst>
              <a:ext uri="{FF2B5EF4-FFF2-40B4-BE49-F238E27FC236}">
                <a16:creationId xmlns:a16="http://schemas.microsoft.com/office/drawing/2014/main" id="{42530FA1-2351-479D-E3CE-B74599096282}"/>
              </a:ext>
            </a:extLst>
          </p:cNvPr>
          <p:cNvSpPr/>
          <p:nvPr/>
        </p:nvSpPr>
        <p:spPr bwMode="auto">
          <a:xfrm>
            <a:off x="4570031" y="1624317"/>
            <a:ext cx="3051938" cy="2430723"/>
          </a:xfrm>
          <a:prstGeom prst="roundRect">
            <a:avLst>
              <a:gd name="adj" fmla="val 4955"/>
            </a:avLst>
          </a:prstGeom>
          <a:gradFill>
            <a:gsLst>
              <a:gs pos="0">
                <a:srgbClr val="B85CBC"/>
              </a:gs>
              <a:gs pos="546">
                <a:srgbClr val="B75CBC"/>
              </a:gs>
              <a:gs pos="1093">
                <a:srgbClr val="B75CBC"/>
              </a:gs>
              <a:gs pos="1639">
                <a:srgbClr val="B75CBC"/>
              </a:gs>
              <a:gs pos="2186">
                <a:srgbClr val="B75DBC"/>
              </a:gs>
              <a:gs pos="2732">
                <a:srgbClr val="B75DBD"/>
              </a:gs>
              <a:gs pos="3279">
                <a:srgbClr val="B75DBD"/>
              </a:gs>
              <a:gs pos="3825">
                <a:srgbClr val="B75DBD"/>
              </a:gs>
              <a:gs pos="4372">
                <a:srgbClr val="B75EBD"/>
              </a:gs>
              <a:gs pos="4918">
                <a:srgbClr val="B75EBE"/>
              </a:gs>
              <a:gs pos="5464">
                <a:srgbClr val="B75EBE"/>
              </a:gs>
              <a:gs pos="6011">
                <a:srgbClr val="B75FBE"/>
              </a:gs>
              <a:gs pos="6557">
                <a:srgbClr val="B65FBE"/>
              </a:gs>
              <a:gs pos="7104">
                <a:srgbClr val="B65FBF"/>
              </a:gs>
              <a:gs pos="7650">
                <a:srgbClr val="B65FBF"/>
              </a:gs>
              <a:gs pos="8197">
                <a:srgbClr val="B660BF"/>
              </a:gs>
              <a:gs pos="8743">
                <a:srgbClr val="B660BF"/>
              </a:gs>
              <a:gs pos="9290">
                <a:srgbClr val="B560C0"/>
              </a:gs>
              <a:gs pos="9836">
                <a:srgbClr val="B560C0"/>
              </a:gs>
              <a:gs pos="10383">
                <a:srgbClr val="B561C0"/>
              </a:gs>
              <a:gs pos="10929">
                <a:srgbClr val="B561C0"/>
              </a:gs>
              <a:gs pos="11475">
                <a:srgbClr val="B461C0"/>
              </a:gs>
              <a:gs pos="12022">
                <a:srgbClr val="B461C1"/>
              </a:gs>
              <a:gs pos="12568">
                <a:srgbClr val="B462C1"/>
              </a:gs>
              <a:gs pos="13115">
                <a:srgbClr val="B362C1"/>
              </a:gs>
              <a:gs pos="13661">
                <a:srgbClr val="B362C1"/>
              </a:gs>
              <a:gs pos="14208">
                <a:srgbClr val="B362C1"/>
              </a:gs>
              <a:gs pos="14754">
                <a:srgbClr val="B263C2"/>
              </a:gs>
              <a:gs pos="15301">
                <a:srgbClr val="B263C2"/>
              </a:gs>
              <a:gs pos="15847">
                <a:srgbClr val="B263C2"/>
              </a:gs>
              <a:gs pos="16393">
                <a:srgbClr val="B163C2"/>
              </a:gs>
              <a:gs pos="16940">
                <a:srgbClr val="B164C3"/>
              </a:gs>
              <a:gs pos="17486">
                <a:srgbClr val="B164C3"/>
              </a:gs>
              <a:gs pos="18033">
                <a:srgbClr val="B064C3"/>
              </a:gs>
              <a:gs pos="18579">
                <a:srgbClr val="B064C3"/>
              </a:gs>
              <a:gs pos="19126">
                <a:srgbClr val="AF65C3"/>
              </a:gs>
              <a:gs pos="19672">
                <a:srgbClr val="AF65C4"/>
              </a:gs>
              <a:gs pos="20219">
                <a:srgbClr val="AE65C4"/>
              </a:gs>
              <a:gs pos="20765">
                <a:srgbClr val="AE65C4"/>
              </a:gs>
              <a:gs pos="21312">
                <a:srgbClr val="AD66C4"/>
              </a:gs>
              <a:gs pos="21858">
                <a:srgbClr val="AD66C4"/>
              </a:gs>
              <a:gs pos="22404">
                <a:srgbClr val="AC66C5"/>
              </a:gs>
              <a:gs pos="22951">
                <a:srgbClr val="AC66C5"/>
              </a:gs>
              <a:gs pos="23497">
                <a:srgbClr val="AB67C5"/>
              </a:gs>
              <a:gs pos="24044">
                <a:srgbClr val="AB67C5"/>
              </a:gs>
              <a:gs pos="24590">
                <a:srgbClr val="AA67C5"/>
              </a:gs>
              <a:gs pos="25137">
                <a:srgbClr val="AA67C6"/>
              </a:gs>
              <a:gs pos="25683">
                <a:srgbClr val="A967C6"/>
              </a:gs>
              <a:gs pos="26230">
                <a:srgbClr val="A968C6"/>
              </a:gs>
              <a:gs pos="26776">
                <a:srgbClr val="A868C6"/>
              </a:gs>
              <a:gs pos="27322">
                <a:srgbClr val="A768C6"/>
              </a:gs>
              <a:gs pos="27869">
                <a:srgbClr val="A768C6"/>
              </a:gs>
              <a:gs pos="28415">
                <a:srgbClr val="A669C7"/>
              </a:gs>
              <a:gs pos="28962">
                <a:srgbClr val="A569C7"/>
              </a:gs>
              <a:gs pos="29508">
                <a:srgbClr val="A569C7"/>
              </a:gs>
              <a:gs pos="30055">
                <a:srgbClr val="A469C7"/>
              </a:gs>
              <a:gs pos="30601">
                <a:srgbClr val="A469C7"/>
              </a:gs>
              <a:gs pos="31148">
                <a:srgbClr val="A36AC8"/>
              </a:gs>
              <a:gs pos="31694">
                <a:srgbClr val="A26AC8"/>
              </a:gs>
              <a:gs pos="32240">
                <a:srgbClr val="A16AC8"/>
              </a:gs>
              <a:gs pos="32787">
                <a:srgbClr val="A16AC8"/>
              </a:gs>
              <a:gs pos="33333">
                <a:srgbClr val="A06AC8"/>
              </a:gs>
              <a:gs pos="33880">
                <a:srgbClr val="9F6BC8"/>
              </a:gs>
              <a:gs pos="34426">
                <a:srgbClr val="9F6BC9"/>
              </a:gs>
              <a:gs pos="34973">
                <a:srgbClr val="9E6BC9"/>
              </a:gs>
              <a:gs pos="35519">
                <a:srgbClr val="9D6BC9"/>
              </a:gs>
              <a:gs pos="36066">
                <a:srgbClr val="9C6BC9"/>
              </a:gs>
              <a:gs pos="36612">
                <a:srgbClr val="9C6CC9"/>
              </a:gs>
              <a:gs pos="37159">
                <a:srgbClr val="9B6CC9"/>
              </a:gs>
              <a:gs pos="37705">
                <a:srgbClr val="9A6CCA"/>
              </a:gs>
              <a:gs pos="38251">
                <a:srgbClr val="996CCA"/>
              </a:gs>
              <a:gs pos="38798">
                <a:srgbClr val="986CCA"/>
              </a:gs>
              <a:gs pos="39344">
                <a:srgbClr val="976DCA"/>
              </a:gs>
              <a:gs pos="39891">
                <a:srgbClr val="976DCA"/>
              </a:gs>
              <a:gs pos="40437">
                <a:srgbClr val="966DCA"/>
              </a:gs>
              <a:gs pos="40984">
                <a:srgbClr val="956DCB"/>
              </a:gs>
              <a:gs pos="41530">
                <a:srgbClr val="946DCB"/>
              </a:gs>
              <a:gs pos="42077">
                <a:srgbClr val="936DCB"/>
              </a:gs>
              <a:gs pos="42623">
                <a:srgbClr val="926ECB"/>
              </a:gs>
              <a:gs pos="43169">
                <a:srgbClr val="916ECB"/>
              </a:gs>
              <a:gs pos="43716">
                <a:srgbClr val="916ECB"/>
              </a:gs>
              <a:gs pos="44262">
                <a:srgbClr val="906ECB"/>
              </a:gs>
              <a:gs pos="44809">
                <a:srgbClr val="8F6ECC"/>
              </a:gs>
              <a:gs pos="45355">
                <a:srgbClr val="8E6ECC"/>
              </a:gs>
              <a:gs pos="45902">
                <a:srgbClr val="8D6FCC"/>
              </a:gs>
              <a:gs pos="46448">
                <a:srgbClr val="8C6FCC"/>
              </a:gs>
              <a:gs pos="46995">
                <a:srgbClr val="8B6FCC"/>
              </a:gs>
              <a:gs pos="47541">
                <a:srgbClr val="8A6FCC"/>
              </a:gs>
              <a:gs pos="48087">
                <a:srgbClr val="896FCC"/>
              </a:gs>
              <a:gs pos="48634">
                <a:srgbClr val="886FCD"/>
              </a:gs>
              <a:gs pos="49180">
                <a:srgbClr val="8770CD"/>
              </a:gs>
              <a:gs pos="49727">
                <a:srgbClr val="8670CD"/>
              </a:gs>
              <a:gs pos="50273">
                <a:srgbClr val="8570CD"/>
              </a:gs>
              <a:gs pos="50820">
                <a:srgbClr val="8470CD"/>
              </a:gs>
              <a:gs pos="51366">
                <a:srgbClr val="8370CD"/>
              </a:gs>
              <a:gs pos="51913">
                <a:srgbClr val="8270CD"/>
              </a:gs>
              <a:gs pos="52459">
                <a:srgbClr val="8171CE"/>
              </a:gs>
              <a:gs pos="53005">
                <a:srgbClr val="8071CE"/>
              </a:gs>
              <a:gs pos="53552">
                <a:srgbClr val="7E71CE"/>
              </a:gs>
              <a:gs pos="54098">
                <a:srgbClr val="7D71CE"/>
              </a:gs>
              <a:gs pos="54645">
                <a:srgbClr val="7C71CE"/>
              </a:gs>
              <a:gs pos="55191">
                <a:srgbClr val="7B71CE"/>
              </a:gs>
              <a:gs pos="55738">
                <a:srgbClr val="7A71CE"/>
              </a:gs>
              <a:gs pos="56284">
                <a:srgbClr val="7972CE"/>
              </a:gs>
              <a:gs pos="56831">
                <a:srgbClr val="7872CF"/>
              </a:gs>
              <a:gs pos="57377">
                <a:srgbClr val="7772CF"/>
              </a:gs>
              <a:gs pos="57924">
                <a:srgbClr val="7572CF"/>
              </a:gs>
              <a:gs pos="58470">
                <a:srgbClr val="7472CF"/>
              </a:gs>
              <a:gs pos="59016">
                <a:srgbClr val="7372CF"/>
              </a:gs>
              <a:gs pos="59563">
                <a:srgbClr val="7272CF"/>
              </a:gs>
              <a:gs pos="60109">
                <a:srgbClr val="7173CF"/>
              </a:gs>
              <a:gs pos="60656">
                <a:srgbClr val="6F73CF"/>
              </a:gs>
              <a:gs pos="61202">
                <a:srgbClr val="6E73CF"/>
              </a:gs>
              <a:gs pos="61749">
                <a:srgbClr val="6D73D0"/>
              </a:gs>
              <a:gs pos="62295">
                <a:srgbClr val="6C73D0"/>
              </a:gs>
              <a:gs pos="62841">
                <a:srgbClr val="6A73D0"/>
              </a:gs>
              <a:gs pos="63388">
                <a:srgbClr val="6973D0"/>
              </a:gs>
              <a:gs pos="63934">
                <a:srgbClr val="6873D0"/>
              </a:gs>
              <a:gs pos="64481">
                <a:srgbClr val="6773D0"/>
              </a:gs>
              <a:gs pos="65027">
                <a:srgbClr val="6574D0"/>
              </a:gs>
              <a:gs pos="65574">
                <a:srgbClr val="6474D0"/>
              </a:gs>
              <a:gs pos="66120">
                <a:srgbClr val="6374D0"/>
              </a:gs>
              <a:gs pos="66667">
                <a:srgbClr val="6174D0"/>
              </a:gs>
              <a:gs pos="67213">
                <a:srgbClr val="6074D1"/>
              </a:gs>
              <a:gs pos="67760">
                <a:srgbClr val="5F74D1"/>
              </a:gs>
              <a:gs pos="68306">
                <a:srgbClr val="5D74D1"/>
              </a:gs>
              <a:gs pos="68853">
                <a:srgbClr val="5C74D1"/>
              </a:gs>
              <a:gs pos="69399">
                <a:srgbClr val="5B74D1"/>
              </a:gs>
              <a:gs pos="69945">
                <a:srgbClr val="5975D1"/>
              </a:gs>
              <a:gs pos="70492">
                <a:srgbClr val="5875D1"/>
              </a:gs>
              <a:gs pos="71038">
                <a:srgbClr val="5775D1"/>
              </a:gs>
              <a:gs pos="71585">
                <a:srgbClr val="5575D1"/>
              </a:gs>
              <a:gs pos="72131">
                <a:srgbClr val="5475D1"/>
              </a:gs>
              <a:gs pos="72678">
                <a:srgbClr val="5275D1"/>
              </a:gs>
              <a:gs pos="73224">
                <a:srgbClr val="5175D1"/>
              </a:gs>
              <a:gs pos="73770">
                <a:srgbClr val="4F75D2"/>
              </a:gs>
              <a:gs pos="74317">
                <a:srgbClr val="4E75D2"/>
              </a:gs>
              <a:gs pos="74863">
                <a:srgbClr val="4D75D2"/>
              </a:gs>
              <a:gs pos="75410">
                <a:srgbClr val="4B75D2"/>
              </a:gs>
              <a:gs pos="75956">
                <a:srgbClr val="4A76D2"/>
              </a:gs>
              <a:gs pos="76503">
                <a:srgbClr val="4876D2"/>
              </a:gs>
              <a:gs pos="77049">
                <a:srgbClr val="4776D2"/>
              </a:gs>
              <a:gs pos="77596">
                <a:srgbClr val="4576D2"/>
              </a:gs>
              <a:gs pos="78142">
                <a:srgbClr val="4476D2"/>
              </a:gs>
              <a:gs pos="78689">
                <a:srgbClr val="4276D2"/>
              </a:gs>
              <a:gs pos="79235">
                <a:srgbClr val="4176D2"/>
              </a:gs>
              <a:gs pos="79781">
                <a:srgbClr val="3F76D2"/>
              </a:gs>
              <a:gs pos="80328">
                <a:srgbClr val="3D76D2"/>
              </a:gs>
              <a:gs pos="80874">
                <a:srgbClr val="3C76D2"/>
              </a:gs>
              <a:gs pos="81421">
                <a:srgbClr val="3A76D2"/>
              </a:gs>
              <a:gs pos="81967">
                <a:srgbClr val="3976D3"/>
              </a:gs>
              <a:gs pos="82514">
                <a:srgbClr val="3776D3"/>
              </a:gs>
              <a:gs pos="83060">
                <a:srgbClr val="3676D3"/>
              </a:gs>
              <a:gs pos="83607">
                <a:srgbClr val="3477D3"/>
              </a:gs>
              <a:gs pos="84153">
                <a:srgbClr val="3277D3"/>
              </a:gs>
              <a:gs pos="84699">
                <a:srgbClr val="3177D3"/>
              </a:gs>
              <a:gs pos="85246">
                <a:srgbClr val="2F77D3"/>
              </a:gs>
              <a:gs pos="85792">
                <a:srgbClr val="2D77D3"/>
              </a:gs>
              <a:gs pos="86339">
                <a:srgbClr val="2C77D3"/>
              </a:gs>
              <a:gs pos="86885">
                <a:srgbClr val="2A77D3"/>
              </a:gs>
              <a:gs pos="87432">
                <a:srgbClr val="2877D3"/>
              </a:gs>
              <a:gs pos="87978">
                <a:srgbClr val="2777D3"/>
              </a:gs>
              <a:gs pos="88525">
                <a:srgbClr val="2577D3"/>
              </a:gs>
              <a:gs pos="89071">
                <a:srgbClr val="2377D3"/>
              </a:gs>
              <a:gs pos="89618">
                <a:srgbClr val="2277D3"/>
              </a:gs>
              <a:gs pos="90164">
                <a:srgbClr val="2077D3"/>
              </a:gs>
              <a:gs pos="90710">
                <a:srgbClr val="1E77D3"/>
              </a:gs>
              <a:gs pos="91257">
                <a:srgbClr val="1D77D3"/>
              </a:gs>
              <a:gs pos="91803">
                <a:srgbClr val="1B77D3"/>
              </a:gs>
              <a:gs pos="92350">
                <a:srgbClr val="1977D3"/>
              </a:gs>
              <a:gs pos="92896">
                <a:srgbClr val="1777D3"/>
              </a:gs>
              <a:gs pos="93443">
                <a:srgbClr val="1577D3"/>
              </a:gs>
              <a:gs pos="93989">
                <a:srgbClr val="1477D3"/>
              </a:gs>
              <a:gs pos="94535">
                <a:srgbClr val="1277D3"/>
              </a:gs>
              <a:gs pos="95082">
                <a:srgbClr val="1077D3"/>
              </a:gs>
              <a:gs pos="95628">
                <a:srgbClr val="0E77D3"/>
              </a:gs>
              <a:gs pos="96175">
                <a:srgbClr val="0C77D3"/>
              </a:gs>
              <a:gs pos="96721">
                <a:srgbClr val="0B77D3"/>
              </a:gs>
              <a:gs pos="97268">
                <a:srgbClr val="0977D3"/>
              </a:gs>
              <a:gs pos="97814">
                <a:srgbClr val="0777D3"/>
              </a:gs>
              <a:gs pos="98361">
                <a:srgbClr val="0577D3"/>
              </a:gs>
              <a:gs pos="98907">
                <a:srgbClr val="0377D3"/>
              </a:gs>
              <a:gs pos="99454">
                <a:srgbClr val="0177D3"/>
              </a:gs>
              <a:gs pos="100000">
                <a:srgbClr val="0078D4"/>
              </a:gs>
            </a:gsLst>
            <a:lin ang="1379994" scaled="1"/>
          </a:gradFill>
          <a:ln w="11471" cap="flat">
            <a:noFill/>
            <a:prstDash val="solid"/>
            <a:miter/>
          </a:ln>
        </p:spPr>
        <p:txBody>
          <a:bodyPr wrap="square" rtlCol="0" anchor="ctr">
            <a:noAutofit/>
          </a:bodyPr>
          <a:lstStyle/>
          <a:p>
            <a:pPr algn="ctr">
              <a:defRPr/>
            </a:pPr>
            <a:endParaRPr lang="en-GB" sz="1600" noProof="0">
              <a:solidFill>
                <a:srgbClr val="FFFFFF"/>
              </a:solidFill>
              <a:latin typeface="Segoe UI"/>
            </a:endParaRPr>
          </a:p>
        </p:txBody>
      </p:sp>
      <p:pic>
        <p:nvPicPr>
          <p:cNvPr id="130" name="Graphic 129">
            <a:extLst>
              <a:ext uri="{FF2B5EF4-FFF2-40B4-BE49-F238E27FC236}">
                <a16:creationId xmlns:a16="http://schemas.microsoft.com/office/drawing/2014/main" id="{06B11658-0417-9EE3-86C8-161D9470F64A}"/>
              </a:ext>
            </a:extLst>
          </p:cNvPr>
          <p:cNvPicPr>
            <a:picLocks/>
          </p:cNvPicPr>
          <p:nvPr/>
        </p:nvPicPr>
        <p:blipFill>
          <a:blip>
            <a:extLst>
              <a:ext uri="{96DAC541-7B7A-43D3-8B79-37D633B846F1}">
                <asvg:svgBlip xmlns:asvg="http://schemas.microsoft.com/office/drawing/2016/SVG/main" r:embed="rId3"/>
              </a:ext>
            </a:extLst>
          </a:blip>
          <a:srcRect l="7079" t="67795" r="7079"/>
          <a:stretch>
            <a:fillRect/>
          </a:stretch>
        </p:blipFill>
        <p:spPr>
          <a:xfrm flipV="1">
            <a:off x="4570031" y="1721437"/>
            <a:ext cx="3051938" cy="755064"/>
          </a:xfrm>
          <a:custGeom>
            <a:avLst/>
            <a:gdLst>
              <a:gd name="connsiteX0" fmla="*/ 3051938 w 3051938"/>
              <a:gd name="connsiteY0" fmla="*/ 0 h 755064"/>
              <a:gd name="connsiteX1" fmla="*/ 3051938 w 3051938"/>
              <a:gd name="connsiteY1" fmla="*/ 657033 h 755064"/>
              <a:gd name="connsiteX2" fmla="*/ 3040054 w 3051938"/>
              <a:gd name="connsiteY2" fmla="*/ 715897 h 755064"/>
              <a:gd name="connsiteX3" fmla="*/ 3013647 w 3051938"/>
              <a:gd name="connsiteY3" fmla="*/ 755064 h 755064"/>
              <a:gd name="connsiteX4" fmla="*/ 38292 w 3051938"/>
              <a:gd name="connsiteY4" fmla="*/ 755064 h 755064"/>
              <a:gd name="connsiteX5" fmla="*/ 11884 w 3051938"/>
              <a:gd name="connsiteY5" fmla="*/ 715897 h 755064"/>
              <a:gd name="connsiteX6" fmla="*/ 0 w 3051938"/>
              <a:gd name="connsiteY6" fmla="*/ 657033 h 755064"/>
              <a:gd name="connsiteX7" fmla="*/ 0 w 3051938"/>
              <a:gd name="connsiteY7" fmla="*/ 195925 h 755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938" h="755064">
                <a:moveTo>
                  <a:pt x="3051938" y="0"/>
                </a:moveTo>
                <a:lnTo>
                  <a:pt x="3051938" y="657033"/>
                </a:lnTo>
                <a:cubicBezTo>
                  <a:pt x="3051938" y="677913"/>
                  <a:pt x="3047707" y="697804"/>
                  <a:pt x="3040054" y="715897"/>
                </a:cubicBezTo>
                <a:lnTo>
                  <a:pt x="3013647" y="755064"/>
                </a:lnTo>
                <a:lnTo>
                  <a:pt x="38292" y="755064"/>
                </a:lnTo>
                <a:lnTo>
                  <a:pt x="11884" y="715897"/>
                </a:lnTo>
                <a:cubicBezTo>
                  <a:pt x="4232" y="697804"/>
                  <a:pt x="0" y="677913"/>
                  <a:pt x="0" y="657033"/>
                </a:cubicBezTo>
                <a:lnTo>
                  <a:pt x="0" y="195925"/>
                </a:lnTo>
                <a:close/>
              </a:path>
            </a:pathLst>
          </a:custGeom>
        </p:spPr>
      </p:pic>
      <p:sp>
        <p:nvSpPr>
          <p:cNvPr id="131" name="TextBox 130">
            <a:extLst>
              <a:ext uri="{FF2B5EF4-FFF2-40B4-BE49-F238E27FC236}">
                <a16:creationId xmlns:a16="http://schemas.microsoft.com/office/drawing/2014/main" id="{27404799-9039-7948-D290-2328ADB4593D}"/>
              </a:ext>
            </a:extLst>
          </p:cNvPr>
          <p:cNvSpPr txBox="1"/>
          <p:nvPr/>
        </p:nvSpPr>
        <p:spPr>
          <a:xfrm>
            <a:off x="4704477" y="2392650"/>
            <a:ext cx="1349908" cy="442918"/>
          </a:xfrm>
          <a:prstGeom prst="roundRect">
            <a:avLst>
              <a:gd name="adj" fmla="val 7680"/>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CZ"/>
            </a:defPPr>
            <a:lvl1pPr lvl="0" algn="ctr" defTabSz="457200">
              <a:defRPr>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Segoe UI Semibold"/>
                <a:ea typeface="+mn-ea"/>
                <a:cs typeface="+mn-cs"/>
              </a:rPr>
              <a:t>Cost efficiency</a:t>
            </a:r>
          </a:p>
        </p:txBody>
      </p:sp>
      <p:sp>
        <p:nvSpPr>
          <p:cNvPr id="132" name="TextBox 131">
            <a:extLst>
              <a:ext uri="{FF2B5EF4-FFF2-40B4-BE49-F238E27FC236}">
                <a16:creationId xmlns:a16="http://schemas.microsoft.com/office/drawing/2014/main" id="{F11C6F4A-9F69-C103-7FCE-243ED06B94EE}"/>
              </a:ext>
            </a:extLst>
          </p:cNvPr>
          <p:cNvSpPr txBox="1"/>
          <p:nvPr/>
        </p:nvSpPr>
        <p:spPr>
          <a:xfrm>
            <a:off x="6146838" y="2392650"/>
            <a:ext cx="1349908" cy="442918"/>
          </a:xfrm>
          <a:prstGeom prst="roundRect">
            <a:avLst>
              <a:gd name="adj" fmla="val 7700"/>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CZ"/>
            </a:defPPr>
            <a:lvl1pPr lvl="0" algn="ctr" defTabSz="457200">
              <a:defRPr>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Segoe UI Semibold"/>
                <a:ea typeface="+mn-ea"/>
                <a:cs typeface="+mn-cs"/>
              </a:rPr>
              <a:t>High reliability</a:t>
            </a:r>
          </a:p>
        </p:txBody>
      </p:sp>
      <p:sp>
        <p:nvSpPr>
          <p:cNvPr id="133" name="TextBox 132">
            <a:extLst>
              <a:ext uri="{FF2B5EF4-FFF2-40B4-BE49-F238E27FC236}">
                <a16:creationId xmlns:a16="http://schemas.microsoft.com/office/drawing/2014/main" id="{763B2B29-51F7-AF8C-A7EF-689D30737A3F}"/>
              </a:ext>
            </a:extLst>
          </p:cNvPr>
          <p:cNvSpPr txBox="1"/>
          <p:nvPr/>
        </p:nvSpPr>
        <p:spPr>
          <a:xfrm>
            <a:off x="4704477" y="2933441"/>
            <a:ext cx="1349908" cy="442918"/>
          </a:xfrm>
          <a:prstGeom prst="roundRect">
            <a:avLst>
              <a:gd name="adj" fmla="val 7700"/>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CZ"/>
            </a:defPPr>
            <a:lvl1pPr lvl="0" algn="ctr" defTabSz="457200">
              <a:defRPr>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Segoe UI Semibold"/>
                <a:ea typeface="+mn-ea"/>
                <a:cs typeface="+mn-cs"/>
              </a:rPr>
              <a:t>Robust security</a:t>
            </a:r>
          </a:p>
        </p:txBody>
      </p:sp>
      <p:sp>
        <p:nvSpPr>
          <p:cNvPr id="134" name="TextBox 133">
            <a:extLst>
              <a:ext uri="{FF2B5EF4-FFF2-40B4-BE49-F238E27FC236}">
                <a16:creationId xmlns:a16="http://schemas.microsoft.com/office/drawing/2014/main" id="{BC555286-FA23-CBE4-BF4D-82F96154EDE3}"/>
              </a:ext>
            </a:extLst>
          </p:cNvPr>
          <p:cNvSpPr txBox="1"/>
          <p:nvPr/>
        </p:nvSpPr>
        <p:spPr>
          <a:xfrm>
            <a:off x="6146838" y="2933441"/>
            <a:ext cx="1349908" cy="442918"/>
          </a:xfrm>
          <a:prstGeom prst="roundRect">
            <a:avLst>
              <a:gd name="adj" fmla="val 7700"/>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CZ"/>
            </a:defPPr>
            <a:lvl1pPr lvl="0" algn="ctr" defTabSz="457200">
              <a:defRPr>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Segoe UI Semibold"/>
                <a:ea typeface="+mn-ea"/>
                <a:cs typeface="+mn-cs"/>
              </a:rPr>
              <a:t>Developer enablement</a:t>
            </a:r>
          </a:p>
        </p:txBody>
      </p:sp>
      <p:sp>
        <p:nvSpPr>
          <p:cNvPr id="135" name="TextBox 134">
            <a:extLst>
              <a:ext uri="{FF2B5EF4-FFF2-40B4-BE49-F238E27FC236}">
                <a16:creationId xmlns:a16="http://schemas.microsoft.com/office/drawing/2014/main" id="{E045F041-3AF1-71B1-C5DB-049B50D8478E}"/>
              </a:ext>
            </a:extLst>
          </p:cNvPr>
          <p:cNvSpPr txBox="1"/>
          <p:nvPr/>
        </p:nvSpPr>
        <p:spPr>
          <a:xfrm>
            <a:off x="5421046" y="3480485"/>
            <a:ext cx="1349908" cy="442918"/>
          </a:xfrm>
          <a:prstGeom prst="roundRect">
            <a:avLst>
              <a:gd name="adj" fmla="val 7700"/>
            </a:avLst>
          </a:prstGeom>
          <a:solidFill>
            <a:srgbClr val="FFFFFF">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CZ"/>
            </a:defPPr>
            <a:lvl1pPr lvl="0" algn="ctr" defTabSz="457200">
              <a:defRPr>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Segoe UI Semibold"/>
                <a:ea typeface="+mn-ea"/>
                <a:cs typeface="+mn-cs"/>
              </a:rPr>
              <a:t>Enhanced governance</a:t>
            </a:r>
          </a:p>
        </p:txBody>
      </p:sp>
      <p:grpSp>
        <p:nvGrpSpPr>
          <p:cNvPr id="136" name="Group 135">
            <a:extLst>
              <a:ext uri="{FF2B5EF4-FFF2-40B4-BE49-F238E27FC236}">
                <a16:creationId xmlns:a16="http://schemas.microsoft.com/office/drawing/2014/main" id="{60349ED5-8BDE-E965-8392-8E3358B34F63}"/>
              </a:ext>
            </a:extLst>
          </p:cNvPr>
          <p:cNvGrpSpPr/>
          <p:nvPr/>
        </p:nvGrpSpPr>
        <p:grpSpPr>
          <a:xfrm>
            <a:off x="656511" y="2086294"/>
            <a:ext cx="2417148" cy="4166270"/>
            <a:chOff x="656511" y="1723688"/>
            <a:chExt cx="2417148" cy="4166270"/>
          </a:xfrm>
        </p:grpSpPr>
        <p:sp>
          <p:nvSpPr>
            <p:cNvPr id="137" name="Rectangle: Rounded Corners 136">
              <a:extLst>
                <a:ext uri="{FF2B5EF4-FFF2-40B4-BE49-F238E27FC236}">
                  <a16:creationId xmlns:a16="http://schemas.microsoft.com/office/drawing/2014/main" id="{1C407CCF-83F6-5BAE-999C-8D3420CBD379}"/>
                </a:ext>
              </a:extLst>
            </p:cNvPr>
            <p:cNvSpPr/>
            <p:nvPr/>
          </p:nvSpPr>
          <p:spPr bwMode="auto">
            <a:xfrm>
              <a:off x="656511" y="2201878"/>
              <a:ext cx="2417148" cy="3688080"/>
            </a:xfrm>
            <a:prstGeom prst="roundRect">
              <a:avLst>
                <a:gd name="adj" fmla="val 6300"/>
              </a:avLst>
            </a:prstGeom>
            <a:gradFill flip="none" rotWithShape="1">
              <a:gsLst>
                <a:gs pos="0">
                  <a:srgbClr val="FFFFFF">
                    <a:alpha val="70000"/>
                  </a:srgbClr>
                </a:gs>
                <a:gs pos="55132">
                  <a:srgbClr val="FFFFFF"/>
                </a:gs>
                <a:gs pos="21000">
                  <a:srgbClr val="FFFFFF"/>
                </a:gs>
                <a:gs pos="89000">
                  <a:srgbClr val="FCF5FC"/>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38" name="Rectangle: Rounded Corners 137">
              <a:extLst>
                <a:ext uri="{FF2B5EF4-FFF2-40B4-BE49-F238E27FC236}">
                  <a16:creationId xmlns:a16="http://schemas.microsoft.com/office/drawing/2014/main" id="{1A9E04E4-0DD3-2AA3-4759-A4244D565837}"/>
                </a:ext>
              </a:extLst>
            </p:cNvPr>
            <p:cNvSpPr/>
            <p:nvPr/>
          </p:nvSpPr>
          <p:spPr bwMode="auto">
            <a:xfrm>
              <a:off x="787659" y="2339038"/>
              <a:ext cx="2154852" cy="3550920"/>
            </a:xfrm>
            <a:prstGeom prst="roundRect">
              <a:avLst>
                <a:gd name="adj" fmla="val 6300"/>
              </a:avLst>
            </a:prstGeom>
            <a:gradFill flip="none" rotWithShape="1">
              <a:gsLst>
                <a:gs pos="0">
                  <a:srgbClr val="FFFFFF">
                    <a:alpha val="70000"/>
                  </a:srgbClr>
                </a:gs>
                <a:gs pos="55132">
                  <a:srgbClr val="FFFFFF">
                    <a:alpha val="28000"/>
                  </a:srgbClr>
                </a:gs>
                <a:gs pos="21000">
                  <a:srgbClr val="FFFFFF">
                    <a:alpha val="50000"/>
                  </a:srgbClr>
                </a:gs>
                <a:gs pos="89000">
                  <a:srgbClr val="FCF5FC">
                    <a:alpha val="0"/>
                  </a:srgbClr>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39" name="TextBox 138">
              <a:extLst>
                <a:ext uri="{FF2B5EF4-FFF2-40B4-BE49-F238E27FC236}">
                  <a16:creationId xmlns:a16="http://schemas.microsoft.com/office/drawing/2014/main" id="{5C33DEB8-1C2A-777B-DBD2-4179264A0B08}"/>
                </a:ext>
                <a:ext uri="{C183D7F6-B498-43B3-948B-1728B52AA6E4}">
                  <adec:decorative xmlns:adec="http://schemas.microsoft.com/office/drawing/2017/decorative" val="1"/>
                </a:ext>
              </a:extLst>
            </p:cNvPr>
            <p:cNvSpPr txBox="1"/>
            <p:nvPr/>
          </p:nvSpPr>
          <p:spPr>
            <a:xfrm>
              <a:off x="856919" y="2957449"/>
              <a:ext cx="101513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Conversational Agents</a:t>
              </a:r>
            </a:p>
          </p:txBody>
        </p:sp>
        <p:sp>
          <p:nvSpPr>
            <p:cNvPr id="140" name="TextBox 139">
              <a:extLst>
                <a:ext uri="{FF2B5EF4-FFF2-40B4-BE49-F238E27FC236}">
                  <a16:creationId xmlns:a16="http://schemas.microsoft.com/office/drawing/2014/main" id="{8C231233-109A-E951-C037-745ECDEF2567}"/>
                </a:ext>
                <a:ext uri="{C183D7F6-B498-43B3-948B-1728B52AA6E4}">
                  <adec:decorative xmlns:adec="http://schemas.microsoft.com/office/drawing/2017/decorative" val="1"/>
                </a:ext>
              </a:extLst>
            </p:cNvPr>
            <p:cNvSpPr txBox="1"/>
            <p:nvPr/>
          </p:nvSpPr>
          <p:spPr>
            <a:xfrm>
              <a:off x="856919" y="4106512"/>
              <a:ext cx="101513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Personalized Content</a:t>
              </a:r>
            </a:p>
          </p:txBody>
        </p:sp>
        <p:sp>
          <p:nvSpPr>
            <p:cNvPr id="141" name="TextBox 140">
              <a:extLst>
                <a:ext uri="{FF2B5EF4-FFF2-40B4-BE49-F238E27FC236}">
                  <a16:creationId xmlns:a16="http://schemas.microsoft.com/office/drawing/2014/main" id="{A02192A4-88AE-D1DE-0976-9C5D99391CF1}"/>
                </a:ext>
                <a:ext uri="{C183D7F6-B498-43B3-948B-1728B52AA6E4}">
                  <adec:decorative xmlns:adec="http://schemas.microsoft.com/office/drawing/2017/decorative" val="1"/>
                </a:ext>
              </a:extLst>
            </p:cNvPr>
            <p:cNvSpPr txBox="1"/>
            <p:nvPr/>
          </p:nvSpPr>
          <p:spPr>
            <a:xfrm>
              <a:off x="1930005" y="4106512"/>
              <a:ext cx="97397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Voice Assistants</a:t>
              </a:r>
            </a:p>
          </p:txBody>
        </p:sp>
        <p:sp>
          <p:nvSpPr>
            <p:cNvPr id="142" name="TextBox 141">
              <a:extLst>
                <a:ext uri="{FF2B5EF4-FFF2-40B4-BE49-F238E27FC236}">
                  <a16:creationId xmlns:a16="http://schemas.microsoft.com/office/drawing/2014/main" id="{1CDC9D0D-727F-14E9-4AA3-D776D63B0B07}"/>
                </a:ext>
                <a:ext uri="{C183D7F6-B498-43B3-948B-1728B52AA6E4}">
                  <adec:decorative xmlns:adec="http://schemas.microsoft.com/office/drawing/2017/decorative" val="1"/>
                </a:ext>
              </a:extLst>
            </p:cNvPr>
            <p:cNvSpPr txBox="1"/>
            <p:nvPr/>
          </p:nvSpPr>
          <p:spPr>
            <a:xfrm>
              <a:off x="1930005" y="2957449"/>
              <a:ext cx="97397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Chat on your Data</a:t>
              </a:r>
            </a:p>
          </p:txBody>
        </p:sp>
        <p:sp>
          <p:nvSpPr>
            <p:cNvPr id="143" name="TextBox 142">
              <a:extLst>
                <a:ext uri="{FF2B5EF4-FFF2-40B4-BE49-F238E27FC236}">
                  <a16:creationId xmlns:a16="http://schemas.microsoft.com/office/drawing/2014/main" id="{C1B24C9D-4872-58C3-93B3-E46A49E5CE79}"/>
                </a:ext>
                <a:ext uri="{C183D7F6-B498-43B3-948B-1728B52AA6E4}">
                  <adec:decorative xmlns:adec="http://schemas.microsoft.com/office/drawing/2017/decorative" val="1"/>
                </a:ext>
              </a:extLst>
            </p:cNvPr>
            <p:cNvSpPr txBox="1"/>
            <p:nvPr/>
          </p:nvSpPr>
          <p:spPr>
            <a:xfrm>
              <a:off x="856919" y="5255574"/>
              <a:ext cx="101513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Content Generation</a:t>
              </a:r>
            </a:p>
          </p:txBody>
        </p:sp>
        <p:sp>
          <p:nvSpPr>
            <p:cNvPr id="144" name="TextBox 143">
              <a:extLst>
                <a:ext uri="{FF2B5EF4-FFF2-40B4-BE49-F238E27FC236}">
                  <a16:creationId xmlns:a16="http://schemas.microsoft.com/office/drawing/2014/main" id="{F738E3E4-32A3-3306-7764-83A62179299F}"/>
                </a:ext>
                <a:ext uri="{C183D7F6-B498-43B3-948B-1728B52AA6E4}">
                  <adec:decorative xmlns:adec="http://schemas.microsoft.com/office/drawing/2017/decorative" val="1"/>
                </a:ext>
              </a:extLst>
            </p:cNvPr>
            <p:cNvSpPr txBox="1"/>
            <p:nvPr/>
          </p:nvSpPr>
          <p:spPr>
            <a:xfrm>
              <a:off x="1930005" y="5248765"/>
              <a:ext cx="973979" cy="369332"/>
            </a:xfrm>
            <a:prstGeom prst="rect">
              <a:avLst/>
            </a:prstGeom>
            <a:noFill/>
          </p:spPr>
          <p:txBody>
            <a:bodyPr wrap="square" lIns="0" tIns="0" rIns="0" bIns="0" rtlCol="0">
              <a:spAutoFit/>
            </a:bodyPr>
            <a:lstStyle/>
            <a:p>
              <a:pPr marL="0" marR="0" lvl="0" indent="0" algn="ctr" defTabSz="914367"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w="3175">
                    <a:noFill/>
                  </a:ln>
                  <a:solidFill>
                    <a:srgbClr val="000000"/>
                  </a:solidFill>
                  <a:effectLst/>
                  <a:uLnTx/>
                  <a:uFillTx/>
                  <a:latin typeface="Segoe UI"/>
                  <a:cs typeface="Segoe UI" pitchFamily="34" charset="0"/>
                </a:rPr>
                <a:t>Your own Copilot</a:t>
              </a:r>
            </a:p>
          </p:txBody>
        </p:sp>
        <p:grpSp>
          <p:nvGrpSpPr>
            <p:cNvPr id="145" name="Group 144">
              <a:extLst>
                <a:ext uri="{FF2B5EF4-FFF2-40B4-BE49-F238E27FC236}">
                  <a16:creationId xmlns:a16="http://schemas.microsoft.com/office/drawing/2014/main" id="{C12B83D7-2B85-D8E7-CEAC-7F957E11F23C}"/>
                </a:ext>
              </a:extLst>
            </p:cNvPr>
            <p:cNvGrpSpPr/>
            <p:nvPr/>
          </p:nvGrpSpPr>
          <p:grpSpPr>
            <a:xfrm>
              <a:off x="1244483" y="2493247"/>
              <a:ext cx="240010" cy="310522"/>
              <a:chOff x="1244483" y="2493247"/>
              <a:chExt cx="240010" cy="310522"/>
            </a:xfrm>
          </p:grpSpPr>
          <p:sp>
            <p:nvSpPr>
              <p:cNvPr id="174" name="Freeform: Shape 173">
                <a:extLst>
                  <a:ext uri="{FF2B5EF4-FFF2-40B4-BE49-F238E27FC236}">
                    <a16:creationId xmlns:a16="http://schemas.microsoft.com/office/drawing/2014/main" id="{101E3526-3C3D-0CD5-34F0-AC5A9321BFE2}"/>
                  </a:ext>
                </a:extLst>
              </p:cNvPr>
              <p:cNvSpPr/>
              <p:nvPr/>
            </p:nvSpPr>
            <p:spPr>
              <a:xfrm>
                <a:off x="1244483" y="2524462"/>
                <a:ext cx="240010" cy="279307"/>
              </a:xfrm>
              <a:custGeom>
                <a:avLst/>
                <a:gdLst>
                  <a:gd name="connsiteX0" fmla="*/ 3365760 w 3392437"/>
                  <a:gd name="connsiteY0" fmla="*/ 3147190 h 3947912"/>
                  <a:gd name="connsiteX1" fmla="*/ 2596981 w 3392437"/>
                  <a:gd name="connsiteY1" fmla="*/ 2549246 h 3947912"/>
                  <a:gd name="connsiteX2" fmla="*/ 2148559 w 3392437"/>
                  <a:gd name="connsiteY2" fmla="*/ 2282436 h 3947912"/>
                  <a:gd name="connsiteX3" fmla="*/ 2147974 w 3392437"/>
                  <a:gd name="connsiteY3" fmla="*/ 2141253 h 3947912"/>
                  <a:gd name="connsiteX4" fmla="*/ 2096426 w 3392437"/>
                  <a:gd name="connsiteY4" fmla="*/ 2146373 h 3947912"/>
                  <a:gd name="connsiteX5" fmla="*/ 1914570 w 3392437"/>
                  <a:gd name="connsiteY5" fmla="*/ 2146373 h 3947912"/>
                  <a:gd name="connsiteX6" fmla="*/ 1651418 w 3392437"/>
                  <a:gd name="connsiteY6" fmla="*/ 1883173 h 3947912"/>
                  <a:gd name="connsiteX7" fmla="*/ 1914570 w 3392437"/>
                  <a:gd name="connsiteY7" fmla="*/ 1620313 h 3947912"/>
                  <a:gd name="connsiteX8" fmla="*/ 2096426 w 3392437"/>
                  <a:gd name="connsiteY8" fmla="*/ 1620313 h 3947912"/>
                  <a:gd name="connsiteX9" fmla="*/ 2259409 w 3392437"/>
                  <a:gd name="connsiteY9" fmla="*/ 1676933 h 3947912"/>
                  <a:gd name="connsiteX10" fmla="*/ 2452286 w 3392437"/>
                  <a:gd name="connsiteY10" fmla="*/ 1634700 h 3947912"/>
                  <a:gd name="connsiteX11" fmla="*/ 2607759 w 3392437"/>
                  <a:gd name="connsiteY11" fmla="*/ 1097276 h 3947912"/>
                  <a:gd name="connsiteX12" fmla="*/ 1572170 w 3392437"/>
                  <a:gd name="connsiteY12" fmla="*/ 8287 h 3947912"/>
                  <a:gd name="connsiteX13" fmla="*/ 792711 w 3392437"/>
                  <a:gd name="connsiteY13" fmla="*/ 862214 h 3947912"/>
                  <a:gd name="connsiteX14" fmla="*/ 1112970 w 3392437"/>
                  <a:gd name="connsiteY14" fmla="*/ 1908678 h 3947912"/>
                  <a:gd name="connsiteX15" fmla="*/ 1262493 w 3392437"/>
                  <a:gd name="connsiteY15" fmla="*/ 2218258 h 3947912"/>
                  <a:gd name="connsiteX16" fmla="*/ 963594 w 3392437"/>
                  <a:gd name="connsiteY16" fmla="*/ 2463902 h 3947912"/>
                  <a:gd name="connsiteX17" fmla="*/ 600663 w 3392437"/>
                  <a:gd name="connsiteY17" fmla="*/ 2645368 h 3947912"/>
                  <a:gd name="connsiteX18" fmla="*/ 24127 w 3392437"/>
                  <a:gd name="connsiteY18" fmla="*/ 3168502 h 3947912"/>
                  <a:gd name="connsiteX19" fmla="*/ 718096 w 3392437"/>
                  <a:gd name="connsiteY19" fmla="*/ 3883929 h 3947912"/>
                  <a:gd name="connsiteX20" fmla="*/ 1700235 w 3392437"/>
                  <a:gd name="connsiteY20" fmla="*/ 3947912 h 3947912"/>
                  <a:gd name="connsiteX21" fmla="*/ 3365760 w 3392437"/>
                  <a:gd name="connsiteY21" fmla="*/ 3520900 h 3947912"/>
                  <a:gd name="connsiteX22" fmla="*/ 3365760 w 3392437"/>
                  <a:gd name="connsiteY22" fmla="*/ 3147190 h 394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392437" h="3947912">
                    <a:moveTo>
                      <a:pt x="3365760" y="3147190"/>
                    </a:moveTo>
                    <a:cubicBezTo>
                      <a:pt x="3267541" y="2854875"/>
                      <a:pt x="2876080" y="2671897"/>
                      <a:pt x="2596981" y="2549246"/>
                    </a:cubicBezTo>
                    <a:cubicBezTo>
                      <a:pt x="2487643" y="2501356"/>
                      <a:pt x="2184940" y="2420108"/>
                      <a:pt x="2148559" y="2282436"/>
                    </a:cubicBezTo>
                    <a:cubicBezTo>
                      <a:pt x="2135538" y="2232839"/>
                      <a:pt x="2137293" y="2186071"/>
                      <a:pt x="2147974" y="2141253"/>
                    </a:cubicBezTo>
                    <a:cubicBezTo>
                      <a:pt x="2131149" y="2144472"/>
                      <a:pt x="2114080" y="2146373"/>
                      <a:pt x="2096426" y="2146373"/>
                    </a:cubicBezTo>
                    <a:lnTo>
                      <a:pt x="1914570" y="2146373"/>
                    </a:lnTo>
                    <a:cubicBezTo>
                      <a:pt x="1769388" y="2146373"/>
                      <a:pt x="1651418" y="2028257"/>
                      <a:pt x="1651418" y="1883173"/>
                    </a:cubicBezTo>
                    <a:cubicBezTo>
                      <a:pt x="1651418" y="1738185"/>
                      <a:pt x="1769436" y="1620313"/>
                      <a:pt x="1914570" y="1620313"/>
                    </a:cubicBezTo>
                    <a:lnTo>
                      <a:pt x="2096426" y="1620313"/>
                    </a:lnTo>
                    <a:cubicBezTo>
                      <a:pt x="2156508" y="1620313"/>
                      <a:pt x="2213469" y="1640649"/>
                      <a:pt x="2259409" y="1676933"/>
                    </a:cubicBezTo>
                    <a:cubicBezTo>
                      <a:pt x="2326757" y="1667959"/>
                      <a:pt x="2391716" y="1653573"/>
                      <a:pt x="2452286" y="1634700"/>
                    </a:cubicBezTo>
                    <a:cubicBezTo>
                      <a:pt x="2531827" y="1468059"/>
                      <a:pt x="2593859" y="1268793"/>
                      <a:pt x="2607759" y="1097276"/>
                    </a:cubicBezTo>
                    <a:cubicBezTo>
                      <a:pt x="2667109" y="363415"/>
                      <a:pt x="2217224" y="-65938"/>
                      <a:pt x="1572170" y="8287"/>
                    </a:cubicBezTo>
                    <a:cubicBezTo>
                      <a:pt x="1103168" y="62273"/>
                      <a:pt x="822996" y="411988"/>
                      <a:pt x="792711" y="862214"/>
                    </a:cubicBezTo>
                    <a:cubicBezTo>
                      <a:pt x="762085" y="1321121"/>
                      <a:pt x="932236" y="1660059"/>
                      <a:pt x="1112970" y="1908678"/>
                    </a:cubicBezTo>
                    <a:cubicBezTo>
                      <a:pt x="1192121" y="2017382"/>
                      <a:pt x="1275270" y="2087267"/>
                      <a:pt x="1262493" y="2218258"/>
                    </a:cubicBezTo>
                    <a:cubicBezTo>
                      <a:pt x="1247668" y="2373145"/>
                      <a:pt x="1082051" y="2416305"/>
                      <a:pt x="963594" y="2463902"/>
                    </a:cubicBezTo>
                    <a:cubicBezTo>
                      <a:pt x="823240" y="2520278"/>
                      <a:pt x="672059" y="2605817"/>
                      <a:pt x="600663" y="2645368"/>
                    </a:cubicBezTo>
                    <a:cubicBezTo>
                      <a:pt x="354726" y="2781186"/>
                      <a:pt x="84795" y="2944754"/>
                      <a:pt x="24127" y="3168502"/>
                    </a:cubicBezTo>
                    <a:cubicBezTo>
                      <a:pt x="-110229" y="3664375"/>
                      <a:pt x="343509" y="3814580"/>
                      <a:pt x="718096" y="3883929"/>
                    </a:cubicBezTo>
                    <a:cubicBezTo>
                      <a:pt x="1039575" y="3943230"/>
                      <a:pt x="1402067" y="3947912"/>
                      <a:pt x="1700235" y="3947912"/>
                    </a:cubicBezTo>
                    <a:cubicBezTo>
                      <a:pt x="2239560" y="3947912"/>
                      <a:pt x="3209361" y="3926308"/>
                      <a:pt x="3365760" y="3520900"/>
                    </a:cubicBezTo>
                    <a:cubicBezTo>
                      <a:pt x="3410236" y="3405856"/>
                      <a:pt x="3391167" y="3222537"/>
                      <a:pt x="3365760" y="3147190"/>
                    </a:cubicBezTo>
                    <a:close/>
                  </a:path>
                </a:pathLst>
              </a:custGeom>
              <a:solidFill>
                <a:srgbClr val="0078D4"/>
              </a:solidFill>
              <a:ln w="48768"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75" name="Freeform: Shape 174">
                <a:extLst>
                  <a:ext uri="{FF2B5EF4-FFF2-40B4-BE49-F238E27FC236}">
                    <a16:creationId xmlns:a16="http://schemas.microsoft.com/office/drawing/2014/main" id="{5BDFBA04-476F-2076-4D73-3374798B96F2}"/>
                  </a:ext>
                </a:extLst>
              </p:cNvPr>
              <p:cNvSpPr/>
              <p:nvPr/>
            </p:nvSpPr>
            <p:spPr>
              <a:xfrm>
                <a:off x="1257441" y="2493247"/>
                <a:ext cx="214092" cy="174161"/>
              </a:xfrm>
              <a:custGeom>
                <a:avLst/>
                <a:gdLst>
                  <a:gd name="connsiteX0" fmla="*/ 2028359 w 3026103"/>
                  <a:gd name="connsiteY0" fmla="*/ 2250302 h 2461711"/>
                  <a:gd name="connsiteX1" fmla="*/ 1913364 w 3026103"/>
                  <a:gd name="connsiteY1" fmla="*/ 2187733 h 2461711"/>
                  <a:gd name="connsiteX2" fmla="*/ 1731508 w 3026103"/>
                  <a:gd name="connsiteY2" fmla="*/ 2187733 h 2461711"/>
                  <a:gd name="connsiteX3" fmla="*/ 1594421 w 3026103"/>
                  <a:gd name="connsiteY3" fmla="*/ 2324527 h 2461711"/>
                  <a:gd name="connsiteX4" fmla="*/ 1731508 w 3026103"/>
                  <a:gd name="connsiteY4" fmla="*/ 2461711 h 2461711"/>
                  <a:gd name="connsiteX5" fmla="*/ 1913364 w 3026103"/>
                  <a:gd name="connsiteY5" fmla="*/ 2461711 h 2461711"/>
                  <a:gd name="connsiteX6" fmla="*/ 2034260 w 3026103"/>
                  <a:gd name="connsiteY6" fmla="*/ 2387633 h 2461711"/>
                  <a:gd name="connsiteX7" fmla="*/ 2663123 w 3026103"/>
                  <a:gd name="connsiteY7" fmla="*/ 2175882 h 2461711"/>
                  <a:gd name="connsiteX8" fmla="*/ 2786067 w 3026103"/>
                  <a:gd name="connsiteY8" fmla="*/ 2212214 h 2461711"/>
                  <a:gd name="connsiteX9" fmla="*/ 2797479 w 3026103"/>
                  <a:gd name="connsiteY9" fmla="*/ 2212214 h 2461711"/>
                  <a:gd name="connsiteX10" fmla="*/ 3026103 w 3026103"/>
                  <a:gd name="connsiteY10" fmla="*/ 1983346 h 2461711"/>
                  <a:gd name="connsiteX11" fmla="*/ 3026103 w 3026103"/>
                  <a:gd name="connsiteY11" fmla="*/ 1526487 h 2461711"/>
                  <a:gd name="connsiteX12" fmla="*/ 2895795 w 3026103"/>
                  <a:gd name="connsiteY12" fmla="*/ 1320491 h 2461711"/>
                  <a:gd name="connsiteX13" fmla="*/ 1513076 w 3026103"/>
                  <a:gd name="connsiteY13" fmla="*/ 0 h 2461711"/>
                  <a:gd name="connsiteX14" fmla="*/ 130406 w 3026103"/>
                  <a:gd name="connsiteY14" fmla="*/ 1320491 h 2461711"/>
                  <a:gd name="connsiteX15" fmla="*/ 0 w 3026103"/>
                  <a:gd name="connsiteY15" fmla="*/ 1526487 h 2461711"/>
                  <a:gd name="connsiteX16" fmla="*/ 0 w 3026103"/>
                  <a:gd name="connsiteY16" fmla="*/ 1983346 h 2461711"/>
                  <a:gd name="connsiteX17" fmla="*/ 228429 w 3026103"/>
                  <a:gd name="connsiteY17" fmla="*/ 2212214 h 2461711"/>
                  <a:gd name="connsiteX18" fmla="*/ 239987 w 3026103"/>
                  <a:gd name="connsiteY18" fmla="*/ 2212214 h 2461711"/>
                  <a:gd name="connsiteX19" fmla="*/ 468563 w 3026103"/>
                  <a:gd name="connsiteY19" fmla="*/ 1983346 h 2461711"/>
                  <a:gd name="connsiteX20" fmla="*/ 468563 w 3026103"/>
                  <a:gd name="connsiteY20" fmla="*/ 1526487 h 2461711"/>
                  <a:gd name="connsiteX21" fmla="*/ 341376 w 3026103"/>
                  <a:gd name="connsiteY21" fmla="*/ 1322052 h 2461711"/>
                  <a:gd name="connsiteX22" fmla="*/ 1513076 w 3026103"/>
                  <a:gd name="connsiteY22" fmla="*/ 211214 h 2461711"/>
                  <a:gd name="connsiteX23" fmla="*/ 2684630 w 3026103"/>
                  <a:gd name="connsiteY23" fmla="*/ 1322052 h 2461711"/>
                  <a:gd name="connsiteX24" fmla="*/ 2557589 w 3026103"/>
                  <a:gd name="connsiteY24" fmla="*/ 1526487 h 2461711"/>
                  <a:gd name="connsiteX25" fmla="*/ 2557589 w 3026103"/>
                  <a:gd name="connsiteY25" fmla="*/ 1983346 h 2461711"/>
                  <a:gd name="connsiteX26" fmla="*/ 2573878 w 3026103"/>
                  <a:gd name="connsiteY26" fmla="*/ 2068300 h 2461711"/>
                  <a:gd name="connsiteX27" fmla="*/ 2028359 w 3026103"/>
                  <a:gd name="connsiteY27" fmla="*/ 2250302 h 246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26103" h="2461711">
                    <a:moveTo>
                      <a:pt x="2028359" y="2250302"/>
                    </a:moveTo>
                    <a:cubicBezTo>
                      <a:pt x="2003682" y="2212702"/>
                      <a:pt x="1961498" y="2187733"/>
                      <a:pt x="1913364" y="2187733"/>
                    </a:cubicBezTo>
                    <a:lnTo>
                      <a:pt x="1731508" y="2187733"/>
                    </a:lnTo>
                    <a:cubicBezTo>
                      <a:pt x="1655625" y="2187733"/>
                      <a:pt x="1594421" y="2249034"/>
                      <a:pt x="1594421" y="2324527"/>
                    </a:cubicBezTo>
                    <a:cubicBezTo>
                      <a:pt x="1594421" y="2400312"/>
                      <a:pt x="1655625" y="2461711"/>
                      <a:pt x="1731508" y="2461711"/>
                    </a:cubicBezTo>
                    <a:lnTo>
                      <a:pt x="1913364" y="2461711"/>
                    </a:lnTo>
                    <a:cubicBezTo>
                      <a:pt x="1966472" y="2461711"/>
                      <a:pt x="2011534" y="2431426"/>
                      <a:pt x="2034260" y="2387633"/>
                    </a:cubicBezTo>
                    <a:cubicBezTo>
                      <a:pt x="2287805" y="2367686"/>
                      <a:pt x="2508333" y="2290243"/>
                      <a:pt x="2663123" y="2175882"/>
                    </a:cubicBezTo>
                    <a:cubicBezTo>
                      <a:pt x="2698675" y="2198803"/>
                      <a:pt x="2740713" y="2212214"/>
                      <a:pt x="2786067" y="2212214"/>
                    </a:cubicBezTo>
                    <a:lnTo>
                      <a:pt x="2797479" y="2212214"/>
                    </a:lnTo>
                    <a:cubicBezTo>
                      <a:pt x="2923886" y="2212214"/>
                      <a:pt x="3026103" y="2109899"/>
                      <a:pt x="3026103" y="1983346"/>
                    </a:cubicBezTo>
                    <a:lnTo>
                      <a:pt x="3026103" y="1526487"/>
                    </a:lnTo>
                    <a:cubicBezTo>
                      <a:pt x="3026103" y="1435486"/>
                      <a:pt x="2972751" y="1356970"/>
                      <a:pt x="2895795" y="1320491"/>
                    </a:cubicBezTo>
                    <a:cubicBezTo>
                      <a:pt x="2862243" y="586874"/>
                      <a:pt x="2254935" y="0"/>
                      <a:pt x="1513076" y="0"/>
                    </a:cubicBezTo>
                    <a:cubicBezTo>
                      <a:pt x="771217" y="0"/>
                      <a:pt x="163812" y="586874"/>
                      <a:pt x="130406" y="1320491"/>
                    </a:cubicBezTo>
                    <a:cubicBezTo>
                      <a:pt x="53303" y="1357018"/>
                      <a:pt x="0" y="1435486"/>
                      <a:pt x="0" y="1526487"/>
                    </a:cubicBezTo>
                    <a:lnTo>
                      <a:pt x="0" y="1983346"/>
                    </a:lnTo>
                    <a:cubicBezTo>
                      <a:pt x="0" y="2109899"/>
                      <a:pt x="102315" y="2212214"/>
                      <a:pt x="228429" y="2212214"/>
                    </a:cubicBezTo>
                    <a:lnTo>
                      <a:pt x="239987" y="2212214"/>
                    </a:lnTo>
                    <a:cubicBezTo>
                      <a:pt x="366199" y="2212214"/>
                      <a:pt x="468563" y="2109899"/>
                      <a:pt x="468563" y="1983346"/>
                    </a:cubicBezTo>
                    <a:lnTo>
                      <a:pt x="468563" y="1526487"/>
                    </a:lnTo>
                    <a:cubicBezTo>
                      <a:pt x="468563" y="1436803"/>
                      <a:pt x="416722" y="1359457"/>
                      <a:pt x="341376" y="1322052"/>
                    </a:cubicBezTo>
                    <a:cubicBezTo>
                      <a:pt x="374002" y="703917"/>
                      <a:pt x="886944" y="211214"/>
                      <a:pt x="1513076" y="211214"/>
                    </a:cubicBezTo>
                    <a:cubicBezTo>
                      <a:pt x="2138965" y="211214"/>
                      <a:pt x="2652150" y="703917"/>
                      <a:pt x="2684630" y="1322052"/>
                    </a:cubicBezTo>
                    <a:cubicBezTo>
                      <a:pt x="2609381" y="1359506"/>
                      <a:pt x="2557589" y="1436803"/>
                      <a:pt x="2557589" y="1526487"/>
                    </a:cubicBezTo>
                    <a:lnTo>
                      <a:pt x="2557589" y="1983346"/>
                    </a:lnTo>
                    <a:cubicBezTo>
                      <a:pt x="2557589" y="2013680"/>
                      <a:pt x="2563490" y="2041916"/>
                      <a:pt x="2573878" y="2068300"/>
                    </a:cubicBezTo>
                    <a:cubicBezTo>
                      <a:pt x="2440643" y="2163641"/>
                      <a:pt x="2246693" y="2231575"/>
                      <a:pt x="2028359" y="2250302"/>
                    </a:cubicBezTo>
                    <a:close/>
                  </a:path>
                </a:pathLst>
              </a:custGeom>
              <a:solidFill>
                <a:srgbClr val="AA67C4"/>
              </a:solidFill>
              <a:ln w="48768"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146" name="Group 145">
              <a:extLst>
                <a:ext uri="{FF2B5EF4-FFF2-40B4-BE49-F238E27FC236}">
                  <a16:creationId xmlns:a16="http://schemas.microsoft.com/office/drawing/2014/main" id="{C41EAE64-D38F-9972-56CE-9E10212C8B6E}"/>
                </a:ext>
              </a:extLst>
            </p:cNvPr>
            <p:cNvGrpSpPr/>
            <p:nvPr/>
          </p:nvGrpSpPr>
          <p:grpSpPr>
            <a:xfrm>
              <a:off x="2302536" y="2498246"/>
              <a:ext cx="228918" cy="300522"/>
              <a:chOff x="2302536" y="2498246"/>
              <a:chExt cx="228918" cy="300522"/>
            </a:xfrm>
          </p:grpSpPr>
          <p:sp>
            <p:nvSpPr>
              <p:cNvPr id="170" name="Freeform: Shape 169">
                <a:extLst>
                  <a:ext uri="{FF2B5EF4-FFF2-40B4-BE49-F238E27FC236}">
                    <a16:creationId xmlns:a16="http://schemas.microsoft.com/office/drawing/2014/main" id="{BB2F4658-59C2-6611-14B9-BCD674CB20EE}"/>
                  </a:ext>
                </a:extLst>
              </p:cNvPr>
              <p:cNvSpPr/>
              <p:nvPr/>
            </p:nvSpPr>
            <p:spPr>
              <a:xfrm>
                <a:off x="2302536" y="2498246"/>
                <a:ext cx="228918" cy="87370"/>
              </a:xfrm>
              <a:custGeom>
                <a:avLst/>
                <a:gdLst>
                  <a:gd name="connsiteX0" fmla="*/ 1857375 w 3714749"/>
                  <a:gd name="connsiteY0" fmla="*/ 1417799 h 1417798"/>
                  <a:gd name="connsiteX1" fmla="*/ 3714750 w 3714749"/>
                  <a:gd name="connsiteY1" fmla="*/ 703424 h 1417798"/>
                  <a:gd name="connsiteX2" fmla="*/ 0 w 3714749"/>
                  <a:gd name="connsiteY2" fmla="*/ 703424 h 1417798"/>
                  <a:gd name="connsiteX3" fmla="*/ 1857375 w 3714749"/>
                  <a:gd name="connsiteY3" fmla="*/ 1417799 h 1417798"/>
                </a:gdLst>
                <a:ahLst/>
                <a:cxnLst>
                  <a:cxn ang="0">
                    <a:pos x="connsiteX0" y="connsiteY0"/>
                  </a:cxn>
                  <a:cxn ang="0">
                    <a:pos x="connsiteX1" y="connsiteY1"/>
                  </a:cxn>
                  <a:cxn ang="0">
                    <a:pos x="connsiteX2" y="connsiteY2"/>
                  </a:cxn>
                  <a:cxn ang="0">
                    <a:pos x="connsiteX3" y="connsiteY3"/>
                  </a:cxn>
                </a:cxnLst>
                <a:rect l="l" t="t" r="r" b="b"/>
                <a:pathLst>
                  <a:path w="3714749" h="1417798">
                    <a:moveTo>
                      <a:pt x="1857375" y="1417799"/>
                    </a:moveTo>
                    <a:cubicBezTo>
                      <a:pt x="2780338" y="1417799"/>
                      <a:pt x="3714750" y="1172368"/>
                      <a:pt x="3714750" y="703424"/>
                    </a:cubicBezTo>
                    <a:cubicBezTo>
                      <a:pt x="3714750" y="-234475"/>
                      <a:pt x="0" y="-234475"/>
                      <a:pt x="0" y="703424"/>
                    </a:cubicBezTo>
                    <a:cubicBezTo>
                      <a:pt x="0" y="1172368"/>
                      <a:pt x="934412" y="1417799"/>
                      <a:pt x="1857375" y="1417799"/>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71" name="Freeform: Shape 170">
                <a:extLst>
                  <a:ext uri="{FF2B5EF4-FFF2-40B4-BE49-F238E27FC236}">
                    <a16:creationId xmlns:a16="http://schemas.microsoft.com/office/drawing/2014/main" id="{46362119-66A1-A2D4-D44B-86B7F94EAF30}"/>
                  </a:ext>
                </a:extLst>
              </p:cNvPr>
              <p:cNvSpPr/>
              <p:nvPr/>
            </p:nvSpPr>
            <p:spPr>
              <a:xfrm>
                <a:off x="2302536" y="2653549"/>
                <a:ext cx="228918" cy="74639"/>
              </a:xfrm>
              <a:custGeom>
                <a:avLst/>
                <a:gdLst>
                  <a:gd name="connsiteX0" fmla="*/ 3709026 w 3714749"/>
                  <a:gd name="connsiteY0" fmla="*/ 850630 h 1211208"/>
                  <a:gd name="connsiteX1" fmla="*/ 3714750 w 3714749"/>
                  <a:gd name="connsiteY1" fmla="*/ 847801 h 1211208"/>
                  <a:gd name="connsiteX2" fmla="*/ 3714750 w 3714749"/>
                  <a:gd name="connsiteY2" fmla="*/ 0 h 1211208"/>
                  <a:gd name="connsiteX3" fmla="*/ 0 w 3714749"/>
                  <a:gd name="connsiteY3" fmla="*/ 1467 h 1211208"/>
                  <a:gd name="connsiteX4" fmla="*/ 0 w 3714749"/>
                  <a:gd name="connsiteY4" fmla="*/ 844906 h 1211208"/>
                  <a:gd name="connsiteX5" fmla="*/ 5725 w 3714749"/>
                  <a:gd name="connsiteY5" fmla="*/ 847763 h 1211208"/>
                  <a:gd name="connsiteX6" fmla="*/ 3709026 w 3714749"/>
                  <a:gd name="connsiteY6" fmla="*/ 850630 h 1211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14749" h="1211208">
                    <a:moveTo>
                      <a:pt x="3709026" y="850630"/>
                    </a:moveTo>
                    <a:cubicBezTo>
                      <a:pt x="3710978" y="849744"/>
                      <a:pt x="3712798" y="848697"/>
                      <a:pt x="3714750" y="847801"/>
                    </a:cubicBezTo>
                    <a:lnTo>
                      <a:pt x="3714750" y="0"/>
                    </a:lnTo>
                    <a:cubicBezTo>
                      <a:pt x="2630243" y="438969"/>
                      <a:pt x="1161745" y="472012"/>
                      <a:pt x="0" y="1467"/>
                    </a:cubicBezTo>
                    <a:lnTo>
                      <a:pt x="0" y="844906"/>
                    </a:lnTo>
                    <a:cubicBezTo>
                      <a:pt x="1953" y="845763"/>
                      <a:pt x="3772" y="846915"/>
                      <a:pt x="5725" y="847763"/>
                    </a:cubicBezTo>
                    <a:cubicBezTo>
                      <a:pt x="1118454" y="1343187"/>
                      <a:pt x="2635987" y="1320470"/>
                      <a:pt x="3709026" y="850630"/>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72" name="Freeform: Shape 171">
                <a:extLst>
                  <a:ext uri="{FF2B5EF4-FFF2-40B4-BE49-F238E27FC236}">
                    <a16:creationId xmlns:a16="http://schemas.microsoft.com/office/drawing/2014/main" id="{3A1CF240-5D85-31FE-58A9-A7CFC2ABD7C2}"/>
                  </a:ext>
                </a:extLst>
              </p:cNvPr>
              <p:cNvSpPr/>
              <p:nvPr/>
            </p:nvSpPr>
            <p:spPr>
              <a:xfrm>
                <a:off x="2302536" y="2724409"/>
                <a:ext cx="228918" cy="74359"/>
              </a:xfrm>
              <a:custGeom>
                <a:avLst/>
                <a:gdLst>
                  <a:gd name="connsiteX0" fmla="*/ 1857375 w 3714749"/>
                  <a:gd name="connsiteY0" fmla="*/ 1206655 h 1206655"/>
                  <a:gd name="connsiteX1" fmla="*/ 3714750 w 3714749"/>
                  <a:gd name="connsiteY1" fmla="*/ 492280 h 1206655"/>
                  <a:gd name="connsiteX2" fmla="*/ 3714750 w 3714749"/>
                  <a:gd name="connsiteY2" fmla="*/ 0 h 1206655"/>
                  <a:gd name="connsiteX3" fmla="*/ 0 w 3714749"/>
                  <a:gd name="connsiteY3" fmla="*/ 4115 h 1206655"/>
                  <a:gd name="connsiteX4" fmla="*/ 0 w 3714749"/>
                  <a:gd name="connsiteY4" fmla="*/ 492280 h 1206655"/>
                  <a:gd name="connsiteX5" fmla="*/ 1857375 w 3714749"/>
                  <a:gd name="connsiteY5" fmla="*/ 1206655 h 1206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4749" h="1206655">
                    <a:moveTo>
                      <a:pt x="1857375" y="1206655"/>
                    </a:moveTo>
                    <a:cubicBezTo>
                      <a:pt x="2780338" y="1206655"/>
                      <a:pt x="3714750" y="961225"/>
                      <a:pt x="3714750" y="492280"/>
                    </a:cubicBezTo>
                    <a:lnTo>
                      <a:pt x="3714750" y="0"/>
                    </a:lnTo>
                    <a:cubicBezTo>
                      <a:pt x="2525687" y="480393"/>
                      <a:pt x="1079840" y="441179"/>
                      <a:pt x="0" y="4115"/>
                    </a:cubicBezTo>
                    <a:lnTo>
                      <a:pt x="0" y="492280"/>
                    </a:lnTo>
                    <a:cubicBezTo>
                      <a:pt x="0" y="961234"/>
                      <a:pt x="934412" y="1206655"/>
                      <a:pt x="1857375" y="1206655"/>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73" name="Freeform: Shape 172">
                <a:extLst>
                  <a:ext uri="{FF2B5EF4-FFF2-40B4-BE49-F238E27FC236}">
                    <a16:creationId xmlns:a16="http://schemas.microsoft.com/office/drawing/2014/main" id="{16C44F8C-5860-D3A2-615A-462358C08EB0}"/>
                  </a:ext>
                </a:extLst>
              </p:cNvPr>
              <p:cNvSpPr/>
              <p:nvPr/>
            </p:nvSpPr>
            <p:spPr>
              <a:xfrm>
                <a:off x="2302536" y="2575375"/>
                <a:ext cx="228918" cy="81768"/>
              </a:xfrm>
              <a:custGeom>
                <a:avLst/>
                <a:gdLst>
                  <a:gd name="connsiteX0" fmla="*/ 3709026 w 3714749"/>
                  <a:gd name="connsiteY0" fmla="*/ 958101 h 1326892"/>
                  <a:gd name="connsiteX1" fmla="*/ 3714750 w 3714749"/>
                  <a:gd name="connsiteY1" fmla="*/ 955539 h 1326892"/>
                  <a:gd name="connsiteX2" fmla="*/ 3714750 w 3714749"/>
                  <a:gd name="connsiteY2" fmla="*/ 0 h 1326892"/>
                  <a:gd name="connsiteX3" fmla="*/ 1857375 w 3714749"/>
                  <a:gd name="connsiteY3" fmla="*/ 451942 h 1326892"/>
                  <a:gd name="connsiteX4" fmla="*/ 0 w 3714749"/>
                  <a:gd name="connsiteY4" fmla="*/ 0 h 1326892"/>
                  <a:gd name="connsiteX5" fmla="*/ 0 w 3714749"/>
                  <a:gd name="connsiteY5" fmla="*/ 960949 h 1326892"/>
                  <a:gd name="connsiteX6" fmla="*/ 5725 w 3714749"/>
                  <a:gd name="connsiteY6" fmla="*/ 963806 h 1326892"/>
                  <a:gd name="connsiteX7" fmla="*/ 3709026 w 3714749"/>
                  <a:gd name="connsiteY7" fmla="*/ 958101 h 132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4749" h="1326892">
                    <a:moveTo>
                      <a:pt x="3709026" y="958101"/>
                    </a:moveTo>
                    <a:cubicBezTo>
                      <a:pt x="3710959" y="957329"/>
                      <a:pt x="3712807" y="956301"/>
                      <a:pt x="3714750" y="955539"/>
                    </a:cubicBezTo>
                    <a:lnTo>
                      <a:pt x="3714750" y="0"/>
                    </a:lnTo>
                    <a:cubicBezTo>
                      <a:pt x="3310662" y="324936"/>
                      <a:pt x="2544451" y="451942"/>
                      <a:pt x="1857375" y="451942"/>
                    </a:cubicBezTo>
                    <a:cubicBezTo>
                      <a:pt x="1170299" y="451942"/>
                      <a:pt x="404089" y="324936"/>
                      <a:pt x="0" y="0"/>
                    </a:cubicBezTo>
                    <a:lnTo>
                      <a:pt x="0" y="960949"/>
                    </a:lnTo>
                    <a:cubicBezTo>
                      <a:pt x="1953" y="961806"/>
                      <a:pt x="3772" y="962959"/>
                      <a:pt x="5725" y="963806"/>
                    </a:cubicBezTo>
                    <a:cubicBezTo>
                      <a:pt x="1089898" y="1449305"/>
                      <a:pt x="2631929" y="1448429"/>
                      <a:pt x="3709026" y="958101"/>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147" name="Group 146">
              <a:extLst>
                <a:ext uri="{FF2B5EF4-FFF2-40B4-BE49-F238E27FC236}">
                  <a16:creationId xmlns:a16="http://schemas.microsoft.com/office/drawing/2014/main" id="{3688EB62-50DA-6FE2-C10B-F546616390A9}"/>
                </a:ext>
              </a:extLst>
            </p:cNvPr>
            <p:cNvGrpSpPr/>
            <p:nvPr/>
          </p:nvGrpSpPr>
          <p:grpSpPr>
            <a:xfrm>
              <a:off x="1239885" y="4813377"/>
              <a:ext cx="249206" cy="266510"/>
              <a:chOff x="1239885" y="4813377"/>
              <a:chExt cx="249206" cy="266510"/>
            </a:xfrm>
          </p:grpSpPr>
          <p:sp>
            <p:nvSpPr>
              <p:cNvPr id="168" name="Freeform: Shape 167">
                <a:extLst>
                  <a:ext uri="{FF2B5EF4-FFF2-40B4-BE49-F238E27FC236}">
                    <a16:creationId xmlns:a16="http://schemas.microsoft.com/office/drawing/2014/main" id="{5ABDCBEF-16BC-E3A4-C368-D5A7D9FA23C7}"/>
                  </a:ext>
                </a:extLst>
              </p:cNvPr>
              <p:cNvSpPr/>
              <p:nvPr/>
            </p:nvSpPr>
            <p:spPr>
              <a:xfrm>
                <a:off x="1239885" y="4813377"/>
                <a:ext cx="212435" cy="251060"/>
              </a:xfrm>
              <a:custGeom>
                <a:avLst/>
                <a:gdLst>
                  <a:gd name="connsiteX0" fmla="*/ 457200 w 3352800"/>
                  <a:gd name="connsiteY0" fmla="*/ 0 h 3962400"/>
                  <a:gd name="connsiteX1" fmla="*/ 2895600 w 3352800"/>
                  <a:gd name="connsiteY1" fmla="*/ 0 h 3962400"/>
                  <a:gd name="connsiteX2" fmla="*/ 3352800 w 3352800"/>
                  <a:gd name="connsiteY2" fmla="*/ 457200 h 3962400"/>
                  <a:gd name="connsiteX3" fmla="*/ 3352800 w 3352800"/>
                  <a:gd name="connsiteY3" fmla="*/ 1325118 h 3962400"/>
                  <a:gd name="connsiteX4" fmla="*/ 3155747 w 3352800"/>
                  <a:gd name="connsiteY4" fmla="*/ 1356208 h 3962400"/>
                  <a:gd name="connsiteX5" fmla="*/ 2806294 w 3352800"/>
                  <a:gd name="connsiteY5" fmla="*/ 1665275 h 3962400"/>
                  <a:gd name="connsiteX6" fmla="*/ 1993087 w 3352800"/>
                  <a:gd name="connsiteY6" fmla="*/ 3331769 h 3962400"/>
                  <a:gd name="connsiteX7" fmla="*/ 1956968 w 3352800"/>
                  <a:gd name="connsiteY7" fmla="*/ 3914547 h 3962400"/>
                  <a:gd name="connsiteX8" fmla="*/ 1973428 w 3352800"/>
                  <a:gd name="connsiteY8" fmla="*/ 3962400 h 3962400"/>
                  <a:gd name="connsiteX9" fmla="*/ 457200 w 3352800"/>
                  <a:gd name="connsiteY9" fmla="*/ 3962400 h 3962400"/>
                  <a:gd name="connsiteX10" fmla="*/ 0 w 3352800"/>
                  <a:gd name="connsiteY10" fmla="*/ 3505200 h 3962400"/>
                  <a:gd name="connsiteX11" fmla="*/ 0 w 3352800"/>
                  <a:gd name="connsiteY11" fmla="*/ 457200 h 3962400"/>
                  <a:gd name="connsiteX12" fmla="*/ 457200 w 3352800"/>
                  <a:gd name="connsiteY12" fmla="*/ 0 h 3962400"/>
                  <a:gd name="connsiteX13" fmla="*/ 609600 w 3352800"/>
                  <a:gd name="connsiteY13" fmla="*/ 914400 h 3962400"/>
                  <a:gd name="connsiteX14" fmla="*/ 457200 w 3352800"/>
                  <a:gd name="connsiteY14" fmla="*/ 1066800 h 3962400"/>
                  <a:gd name="connsiteX15" fmla="*/ 609600 w 3352800"/>
                  <a:gd name="connsiteY15" fmla="*/ 1219200 h 3962400"/>
                  <a:gd name="connsiteX16" fmla="*/ 2438400 w 3352800"/>
                  <a:gd name="connsiteY16" fmla="*/ 1219200 h 3962400"/>
                  <a:gd name="connsiteX17" fmla="*/ 2590800 w 3352800"/>
                  <a:gd name="connsiteY17" fmla="*/ 1066800 h 3962400"/>
                  <a:gd name="connsiteX18" fmla="*/ 2438400 w 3352800"/>
                  <a:gd name="connsiteY18" fmla="*/ 914400 h 3962400"/>
                  <a:gd name="connsiteX19" fmla="*/ 609600 w 3352800"/>
                  <a:gd name="connsiteY19" fmla="*/ 914400 h 3962400"/>
                  <a:gd name="connsiteX20" fmla="*/ 609600 w 3352800"/>
                  <a:gd name="connsiteY20" fmla="*/ 1524000 h 3962400"/>
                  <a:gd name="connsiteX21" fmla="*/ 457200 w 3352800"/>
                  <a:gd name="connsiteY21" fmla="*/ 1676400 h 3962400"/>
                  <a:gd name="connsiteX22" fmla="*/ 609600 w 3352800"/>
                  <a:gd name="connsiteY22" fmla="*/ 1828800 h 3962400"/>
                  <a:gd name="connsiteX23" fmla="*/ 2286000 w 3352800"/>
                  <a:gd name="connsiteY23" fmla="*/ 1828800 h 3962400"/>
                  <a:gd name="connsiteX24" fmla="*/ 2438400 w 3352800"/>
                  <a:gd name="connsiteY24" fmla="*/ 1676400 h 3962400"/>
                  <a:gd name="connsiteX25" fmla="*/ 2286000 w 3352800"/>
                  <a:gd name="connsiteY25" fmla="*/ 1524000 h 3962400"/>
                  <a:gd name="connsiteX26" fmla="*/ 609600 w 3352800"/>
                  <a:gd name="connsiteY26" fmla="*/ 1524000 h 3962400"/>
                  <a:gd name="connsiteX27" fmla="*/ 609600 w 3352800"/>
                  <a:gd name="connsiteY27" fmla="*/ 2133600 h 3962400"/>
                  <a:gd name="connsiteX28" fmla="*/ 457200 w 3352800"/>
                  <a:gd name="connsiteY28" fmla="*/ 2286000 h 3962400"/>
                  <a:gd name="connsiteX29" fmla="*/ 609600 w 3352800"/>
                  <a:gd name="connsiteY29" fmla="*/ 2438400 h 3962400"/>
                  <a:gd name="connsiteX30" fmla="*/ 1981200 w 3352800"/>
                  <a:gd name="connsiteY30" fmla="*/ 2438400 h 3962400"/>
                  <a:gd name="connsiteX31" fmla="*/ 2133600 w 3352800"/>
                  <a:gd name="connsiteY31" fmla="*/ 2286000 h 3962400"/>
                  <a:gd name="connsiteX32" fmla="*/ 1981200 w 3352800"/>
                  <a:gd name="connsiteY32" fmla="*/ 2133600 h 3962400"/>
                  <a:gd name="connsiteX33" fmla="*/ 609600 w 3352800"/>
                  <a:gd name="connsiteY33" fmla="*/ 2133600 h 3962400"/>
                  <a:gd name="connsiteX34" fmla="*/ 609600 w 3352800"/>
                  <a:gd name="connsiteY34" fmla="*/ 2743200 h 3962400"/>
                  <a:gd name="connsiteX35" fmla="*/ 457200 w 3352800"/>
                  <a:gd name="connsiteY35" fmla="*/ 2895600 h 3962400"/>
                  <a:gd name="connsiteX36" fmla="*/ 609600 w 3352800"/>
                  <a:gd name="connsiteY36" fmla="*/ 3048000 h 3962400"/>
                  <a:gd name="connsiteX37" fmla="*/ 1676400 w 3352800"/>
                  <a:gd name="connsiteY37" fmla="*/ 3048000 h 3962400"/>
                  <a:gd name="connsiteX38" fmla="*/ 1828800 w 3352800"/>
                  <a:gd name="connsiteY38" fmla="*/ 2895600 h 3962400"/>
                  <a:gd name="connsiteX39" fmla="*/ 1676400 w 3352800"/>
                  <a:gd name="connsiteY39" fmla="*/ 2743200 h 3962400"/>
                  <a:gd name="connsiteX40" fmla="*/ 609600 w 3352800"/>
                  <a:gd name="connsiteY40" fmla="*/ 2743200 h 39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52800" h="3962400">
                    <a:moveTo>
                      <a:pt x="457200" y="0"/>
                    </a:moveTo>
                    <a:lnTo>
                      <a:pt x="2895600" y="0"/>
                    </a:lnTo>
                    <a:cubicBezTo>
                      <a:pt x="3147670" y="0"/>
                      <a:pt x="3352800" y="205130"/>
                      <a:pt x="3352800" y="457200"/>
                    </a:cubicBezTo>
                    <a:lnTo>
                      <a:pt x="3352800" y="1325118"/>
                    </a:lnTo>
                    <a:cubicBezTo>
                      <a:pt x="3286659" y="1325423"/>
                      <a:pt x="3220212" y="1333957"/>
                      <a:pt x="3155747" y="1356208"/>
                    </a:cubicBezTo>
                    <a:cubicBezTo>
                      <a:pt x="3001670" y="1409243"/>
                      <a:pt x="2877769" y="1519123"/>
                      <a:pt x="2806294" y="1665275"/>
                    </a:cubicBezTo>
                    <a:lnTo>
                      <a:pt x="1993087" y="3331769"/>
                    </a:lnTo>
                    <a:cubicBezTo>
                      <a:pt x="1903628" y="3514497"/>
                      <a:pt x="1890674" y="3721151"/>
                      <a:pt x="1956968" y="3914547"/>
                    </a:cubicBezTo>
                    <a:lnTo>
                      <a:pt x="1973428" y="3962400"/>
                    </a:lnTo>
                    <a:lnTo>
                      <a:pt x="457200" y="3962400"/>
                    </a:lnTo>
                    <a:cubicBezTo>
                      <a:pt x="205130" y="3962400"/>
                      <a:pt x="0" y="3757270"/>
                      <a:pt x="0" y="3505200"/>
                    </a:cubicBezTo>
                    <a:lnTo>
                      <a:pt x="0" y="457200"/>
                    </a:lnTo>
                    <a:cubicBezTo>
                      <a:pt x="0" y="205130"/>
                      <a:pt x="205130" y="0"/>
                      <a:pt x="457200" y="0"/>
                    </a:cubicBezTo>
                    <a:close/>
                    <a:moveTo>
                      <a:pt x="609600" y="914400"/>
                    </a:moveTo>
                    <a:cubicBezTo>
                      <a:pt x="525323" y="914400"/>
                      <a:pt x="457200" y="982675"/>
                      <a:pt x="457200" y="1066800"/>
                    </a:cubicBezTo>
                    <a:cubicBezTo>
                      <a:pt x="457200" y="1150925"/>
                      <a:pt x="525323" y="1219200"/>
                      <a:pt x="609600" y="1219200"/>
                    </a:cubicBezTo>
                    <a:lnTo>
                      <a:pt x="2438400" y="1219200"/>
                    </a:lnTo>
                    <a:cubicBezTo>
                      <a:pt x="2522677" y="1219200"/>
                      <a:pt x="2590800" y="1150925"/>
                      <a:pt x="2590800" y="1066800"/>
                    </a:cubicBezTo>
                    <a:cubicBezTo>
                      <a:pt x="2590800" y="982675"/>
                      <a:pt x="2522677" y="914400"/>
                      <a:pt x="2438400" y="914400"/>
                    </a:cubicBezTo>
                    <a:lnTo>
                      <a:pt x="609600" y="914400"/>
                    </a:lnTo>
                    <a:close/>
                    <a:moveTo>
                      <a:pt x="609600" y="1524000"/>
                    </a:moveTo>
                    <a:cubicBezTo>
                      <a:pt x="525323" y="1524000"/>
                      <a:pt x="457200" y="1592275"/>
                      <a:pt x="457200" y="1676400"/>
                    </a:cubicBezTo>
                    <a:cubicBezTo>
                      <a:pt x="457200" y="1760525"/>
                      <a:pt x="525323" y="1828800"/>
                      <a:pt x="609600" y="1828800"/>
                    </a:cubicBezTo>
                    <a:lnTo>
                      <a:pt x="2286000" y="1828800"/>
                    </a:lnTo>
                    <a:cubicBezTo>
                      <a:pt x="2370277" y="1828800"/>
                      <a:pt x="2438400" y="1760525"/>
                      <a:pt x="2438400" y="1676400"/>
                    </a:cubicBezTo>
                    <a:cubicBezTo>
                      <a:pt x="2438400" y="1592275"/>
                      <a:pt x="2370277" y="1524000"/>
                      <a:pt x="2286000" y="1524000"/>
                    </a:cubicBezTo>
                    <a:lnTo>
                      <a:pt x="609600" y="1524000"/>
                    </a:lnTo>
                    <a:close/>
                    <a:moveTo>
                      <a:pt x="609600" y="2133600"/>
                    </a:moveTo>
                    <a:cubicBezTo>
                      <a:pt x="525323" y="2133600"/>
                      <a:pt x="457200" y="2201875"/>
                      <a:pt x="457200" y="2286000"/>
                    </a:cubicBezTo>
                    <a:cubicBezTo>
                      <a:pt x="457200" y="2370125"/>
                      <a:pt x="525323" y="2438400"/>
                      <a:pt x="609600" y="2438400"/>
                    </a:cubicBezTo>
                    <a:lnTo>
                      <a:pt x="1981200" y="2438400"/>
                    </a:lnTo>
                    <a:cubicBezTo>
                      <a:pt x="2065477" y="2438400"/>
                      <a:pt x="2133600" y="2370125"/>
                      <a:pt x="2133600" y="2286000"/>
                    </a:cubicBezTo>
                    <a:cubicBezTo>
                      <a:pt x="2133600" y="2201875"/>
                      <a:pt x="2065477" y="2133600"/>
                      <a:pt x="1981200" y="2133600"/>
                    </a:cubicBezTo>
                    <a:lnTo>
                      <a:pt x="609600" y="2133600"/>
                    </a:lnTo>
                    <a:close/>
                    <a:moveTo>
                      <a:pt x="609600" y="2743200"/>
                    </a:moveTo>
                    <a:cubicBezTo>
                      <a:pt x="525323" y="2743200"/>
                      <a:pt x="457200" y="2811475"/>
                      <a:pt x="457200" y="2895600"/>
                    </a:cubicBezTo>
                    <a:cubicBezTo>
                      <a:pt x="457200" y="2979725"/>
                      <a:pt x="525323" y="3048000"/>
                      <a:pt x="609600" y="3048000"/>
                    </a:cubicBezTo>
                    <a:lnTo>
                      <a:pt x="1676400" y="3048000"/>
                    </a:lnTo>
                    <a:cubicBezTo>
                      <a:pt x="1760677" y="3048000"/>
                      <a:pt x="1828800" y="2979725"/>
                      <a:pt x="1828800" y="2895600"/>
                    </a:cubicBezTo>
                    <a:cubicBezTo>
                      <a:pt x="1828800" y="2811475"/>
                      <a:pt x="1760677" y="2743200"/>
                      <a:pt x="1676400" y="2743200"/>
                    </a:cubicBezTo>
                    <a:lnTo>
                      <a:pt x="609600" y="2743200"/>
                    </a:ln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69" name="Freeform: Shape 168">
                <a:extLst>
                  <a:ext uri="{FF2B5EF4-FFF2-40B4-BE49-F238E27FC236}">
                    <a16:creationId xmlns:a16="http://schemas.microsoft.com/office/drawing/2014/main" id="{1EF467C2-802E-8219-4310-234063A23430}"/>
                  </a:ext>
                </a:extLst>
              </p:cNvPr>
              <p:cNvSpPr/>
              <p:nvPr/>
            </p:nvSpPr>
            <p:spPr>
              <a:xfrm>
                <a:off x="1380560" y="4916501"/>
                <a:ext cx="108531" cy="163386"/>
              </a:xfrm>
              <a:custGeom>
                <a:avLst/>
                <a:gdLst>
                  <a:gd name="connsiteX0" fmla="*/ 1152612 w 1712921"/>
                  <a:gd name="connsiteY0" fmla="*/ 552 h 2578665"/>
                  <a:gd name="connsiteX1" fmla="*/ 1267597 w 1712921"/>
                  <a:gd name="connsiteY1" fmla="*/ 31147 h 2578665"/>
                  <a:gd name="connsiteX2" fmla="*/ 1541613 w 1712921"/>
                  <a:gd name="connsiteY2" fmla="*/ 164801 h 2578665"/>
                  <a:gd name="connsiteX3" fmla="*/ 1696146 w 1712921"/>
                  <a:gd name="connsiteY3" fmla="*/ 339604 h 2578665"/>
                  <a:gd name="connsiteX4" fmla="*/ 1681821 w 1712921"/>
                  <a:gd name="connsiteY4" fmla="*/ 572319 h 2578665"/>
                  <a:gd name="connsiteX5" fmla="*/ 868310 w 1712921"/>
                  <a:gd name="connsiteY5" fmla="*/ 2239423 h 2578665"/>
                  <a:gd name="connsiteX6" fmla="*/ 606029 w 1712921"/>
                  <a:gd name="connsiteY6" fmla="*/ 2471223 h 2578665"/>
                  <a:gd name="connsiteX7" fmla="*/ 317841 w 1712921"/>
                  <a:gd name="connsiteY7" fmla="*/ 2570283 h 2578665"/>
                  <a:gd name="connsiteX8" fmla="*/ 268311 w 1712921"/>
                  <a:gd name="connsiteY8" fmla="*/ 2578665 h 2578665"/>
                  <a:gd name="connsiteX9" fmla="*/ 124293 w 1712921"/>
                  <a:gd name="connsiteY9" fmla="*/ 2475795 h 2578665"/>
                  <a:gd name="connsiteX10" fmla="*/ 25080 w 1712921"/>
                  <a:gd name="connsiteY10" fmla="*/ 2187607 h 2578665"/>
                  <a:gd name="connsiteX11" fmla="*/ 46721 w 1712921"/>
                  <a:gd name="connsiteY11" fmla="*/ 1838153 h 2578665"/>
                  <a:gd name="connsiteX12" fmla="*/ 860232 w 1712921"/>
                  <a:gd name="connsiteY12" fmla="*/ 171355 h 2578665"/>
                  <a:gd name="connsiteX13" fmla="*/ 1034883 w 1712921"/>
                  <a:gd name="connsiteY13" fmla="*/ 16821 h 2578665"/>
                  <a:gd name="connsiteX14" fmla="*/ 1152612 w 1712921"/>
                  <a:gd name="connsiteY14" fmla="*/ 552 h 257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2921" h="2578665">
                    <a:moveTo>
                      <a:pt x="1152612" y="552"/>
                    </a:moveTo>
                    <a:cubicBezTo>
                      <a:pt x="1192045" y="2952"/>
                      <a:pt x="1231022" y="13163"/>
                      <a:pt x="1267597" y="31147"/>
                    </a:cubicBezTo>
                    <a:lnTo>
                      <a:pt x="1541613" y="164801"/>
                    </a:lnTo>
                    <a:cubicBezTo>
                      <a:pt x="1614765" y="200463"/>
                      <a:pt x="1669629" y="262642"/>
                      <a:pt x="1696146" y="339604"/>
                    </a:cubicBezTo>
                    <a:cubicBezTo>
                      <a:pt x="1722664" y="416566"/>
                      <a:pt x="1717635" y="499167"/>
                      <a:pt x="1681821" y="572319"/>
                    </a:cubicBezTo>
                    <a:lnTo>
                      <a:pt x="868310" y="2239423"/>
                    </a:lnTo>
                    <a:cubicBezTo>
                      <a:pt x="814512" y="2349303"/>
                      <a:pt x="721396" y="2431599"/>
                      <a:pt x="606029" y="2471223"/>
                    </a:cubicBezTo>
                    <a:lnTo>
                      <a:pt x="317841" y="2570283"/>
                    </a:lnTo>
                    <a:cubicBezTo>
                      <a:pt x="301534" y="2575922"/>
                      <a:pt x="284618" y="2578665"/>
                      <a:pt x="268311" y="2578665"/>
                    </a:cubicBezTo>
                    <a:cubicBezTo>
                      <a:pt x="205065" y="2578665"/>
                      <a:pt x="145933" y="2539041"/>
                      <a:pt x="124293" y="2475795"/>
                    </a:cubicBezTo>
                    <a:lnTo>
                      <a:pt x="25080" y="2187607"/>
                    </a:lnTo>
                    <a:cubicBezTo>
                      <a:pt x="-14696" y="2071783"/>
                      <a:pt x="-6924" y="1947729"/>
                      <a:pt x="46721" y="1838153"/>
                    </a:cubicBezTo>
                    <a:lnTo>
                      <a:pt x="860232" y="171355"/>
                    </a:lnTo>
                    <a:cubicBezTo>
                      <a:pt x="895741" y="98203"/>
                      <a:pt x="957921" y="43339"/>
                      <a:pt x="1034883" y="16821"/>
                    </a:cubicBezTo>
                    <a:cubicBezTo>
                      <a:pt x="1073288" y="3562"/>
                      <a:pt x="1113178" y="-1848"/>
                      <a:pt x="1152612" y="552"/>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148" name="Group 147">
              <a:extLst>
                <a:ext uri="{FF2B5EF4-FFF2-40B4-BE49-F238E27FC236}">
                  <a16:creationId xmlns:a16="http://schemas.microsoft.com/office/drawing/2014/main" id="{C22AF402-C6BC-FB91-6542-D98B5A028407}"/>
                </a:ext>
              </a:extLst>
            </p:cNvPr>
            <p:cNvGrpSpPr/>
            <p:nvPr/>
          </p:nvGrpSpPr>
          <p:grpSpPr>
            <a:xfrm>
              <a:off x="2312835" y="3646551"/>
              <a:ext cx="208320" cy="302038"/>
              <a:chOff x="2312835" y="3646551"/>
              <a:chExt cx="208320" cy="302038"/>
            </a:xfrm>
          </p:grpSpPr>
          <p:sp>
            <p:nvSpPr>
              <p:cNvPr id="164" name="Freeform: Shape 163">
                <a:extLst>
                  <a:ext uri="{FF2B5EF4-FFF2-40B4-BE49-F238E27FC236}">
                    <a16:creationId xmlns:a16="http://schemas.microsoft.com/office/drawing/2014/main" id="{64C267D4-51DC-5954-3CEB-504276A06FB8}"/>
                  </a:ext>
                </a:extLst>
              </p:cNvPr>
              <p:cNvSpPr/>
              <p:nvPr/>
            </p:nvSpPr>
            <p:spPr>
              <a:xfrm>
                <a:off x="2312835" y="3789277"/>
                <a:ext cx="208320" cy="159312"/>
              </a:xfrm>
              <a:custGeom>
                <a:avLst/>
                <a:gdLst>
                  <a:gd name="connsiteX0" fmla="*/ 2575255 w 2575255"/>
                  <a:gd name="connsiteY0" fmla="*/ 74242 h 1969412"/>
                  <a:gd name="connsiteX1" fmla="*/ 2496221 w 2575255"/>
                  <a:gd name="connsiteY1" fmla="*/ 39 h 1969412"/>
                  <a:gd name="connsiteX2" fmla="*/ 2422017 w 2575255"/>
                  <a:gd name="connsiteY2" fmla="*/ 74242 h 1969412"/>
                  <a:gd name="connsiteX3" fmla="*/ 1287628 w 2575255"/>
                  <a:gd name="connsiteY3" fmla="*/ 1208632 h 1969412"/>
                  <a:gd name="connsiteX4" fmla="*/ 153238 w 2575255"/>
                  <a:gd name="connsiteY4" fmla="*/ 74242 h 1969412"/>
                  <a:gd name="connsiteX5" fmla="*/ 74204 w 2575255"/>
                  <a:gd name="connsiteY5" fmla="*/ 39 h 1969412"/>
                  <a:gd name="connsiteX6" fmla="*/ 0 w 2575255"/>
                  <a:gd name="connsiteY6" fmla="*/ 74242 h 1969412"/>
                  <a:gd name="connsiteX7" fmla="*/ 1211275 w 2575255"/>
                  <a:gd name="connsiteY7" fmla="*/ 1358060 h 1969412"/>
                  <a:gd name="connsiteX8" fmla="*/ 1211275 w 2575255"/>
                  <a:gd name="connsiteY8" fmla="*/ 1816174 h 1969412"/>
                  <a:gd name="connsiteX9" fmla="*/ 826922 w 2575255"/>
                  <a:gd name="connsiteY9" fmla="*/ 1816174 h 1969412"/>
                  <a:gd name="connsiteX10" fmla="*/ 752719 w 2575255"/>
                  <a:gd name="connsiteY10" fmla="*/ 1895209 h 1969412"/>
                  <a:gd name="connsiteX11" fmla="*/ 826922 w 2575255"/>
                  <a:gd name="connsiteY11" fmla="*/ 1969413 h 1969412"/>
                  <a:gd name="connsiteX12" fmla="*/ 1748028 w 2575255"/>
                  <a:gd name="connsiteY12" fmla="*/ 1969413 h 1969412"/>
                  <a:gd name="connsiteX13" fmla="*/ 1822232 w 2575255"/>
                  <a:gd name="connsiteY13" fmla="*/ 1890378 h 1969412"/>
                  <a:gd name="connsiteX14" fmla="*/ 1748028 w 2575255"/>
                  <a:gd name="connsiteY14" fmla="*/ 1816174 h 1969412"/>
                  <a:gd name="connsiteX15" fmla="*/ 1364056 w 2575255"/>
                  <a:gd name="connsiteY15" fmla="*/ 1816174 h 1969412"/>
                  <a:gd name="connsiteX16" fmla="*/ 1364056 w 2575255"/>
                  <a:gd name="connsiteY16" fmla="*/ 1358060 h 1969412"/>
                  <a:gd name="connsiteX17" fmla="*/ 2575255 w 2575255"/>
                  <a:gd name="connsiteY17" fmla="*/ 74242 h 1969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75255" h="1969412">
                    <a:moveTo>
                      <a:pt x="2575255" y="74242"/>
                    </a:moveTo>
                    <a:cubicBezTo>
                      <a:pt x="2573922" y="31929"/>
                      <a:pt x="2538534" y="-1295"/>
                      <a:pt x="2496221" y="39"/>
                    </a:cubicBezTo>
                    <a:cubicBezTo>
                      <a:pt x="2455781" y="1319"/>
                      <a:pt x="2423290" y="33803"/>
                      <a:pt x="2422017" y="74242"/>
                    </a:cubicBezTo>
                    <a:cubicBezTo>
                      <a:pt x="2422017" y="700751"/>
                      <a:pt x="1914136" y="1208632"/>
                      <a:pt x="1287628" y="1208632"/>
                    </a:cubicBezTo>
                    <a:cubicBezTo>
                      <a:pt x="661119" y="1208632"/>
                      <a:pt x="153238" y="700751"/>
                      <a:pt x="153238" y="74242"/>
                    </a:cubicBezTo>
                    <a:cubicBezTo>
                      <a:pt x="151905" y="31929"/>
                      <a:pt x="116517" y="-1295"/>
                      <a:pt x="74204" y="39"/>
                    </a:cubicBezTo>
                    <a:cubicBezTo>
                      <a:pt x="33764" y="1319"/>
                      <a:pt x="1273" y="33803"/>
                      <a:pt x="0" y="74242"/>
                    </a:cubicBezTo>
                    <a:cubicBezTo>
                      <a:pt x="1120" y="755006"/>
                      <a:pt x="531724" y="1317392"/>
                      <a:pt x="1211275" y="1358060"/>
                    </a:cubicBezTo>
                    <a:lnTo>
                      <a:pt x="1211275" y="1816174"/>
                    </a:lnTo>
                    <a:lnTo>
                      <a:pt x="826922" y="1816174"/>
                    </a:lnTo>
                    <a:cubicBezTo>
                      <a:pt x="784609" y="1817508"/>
                      <a:pt x="751385" y="1852895"/>
                      <a:pt x="752719" y="1895209"/>
                    </a:cubicBezTo>
                    <a:cubicBezTo>
                      <a:pt x="753999" y="1935648"/>
                      <a:pt x="786483" y="1968140"/>
                      <a:pt x="826922" y="1969413"/>
                    </a:cubicBezTo>
                    <a:lnTo>
                      <a:pt x="1748028" y="1969413"/>
                    </a:lnTo>
                    <a:cubicBezTo>
                      <a:pt x="1790342" y="1968079"/>
                      <a:pt x="1823565" y="1932692"/>
                      <a:pt x="1822232" y="1890378"/>
                    </a:cubicBezTo>
                    <a:cubicBezTo>
                      <a:pt x="1820951" y="1849939"/>
                      <a:pt x="1788467" y="1817447"/>
                      <a:pt x="1748028" y="1816174"/>
                    </a:cubicBezTo>
                    <a:lnTo>
                      <a:pt x="1364056" y="1816174"/>
                    </a:lnTo>
                    <a:lnTo>
                      <a:pt x="1364056" y="1358060"/>
                    </a:lnTo>
                    <a:cubicBezTo>
                      <a:pt x="2043577" y="1317354"/>
                      <a:pt x="2574135" y="754983"/>
                      <a:pt x="2575255" y="74242"/>
                    </a:cubicBezTo>
                    <a:close/>
                  </a:path>
                </a:pathLst>
              </a:custGeom>
              <a:solidFill>
                <a:srgbClr val="AA67C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65" name="Freeform: Shape 164">
                <a:extLst>
                  <a:ext uri="{FF2B5EF4-FFF2-40B4-BE49-F238E27FC236}">
                    <a16:creationId xmlns:a16="http://schemas.microsoft.com/office/drawing/2014/main" id="{6B8A3FD7-D6F8-87AB-2458-14752C5FF680}"/>
                  </a:ext>
                </a:extLst>
              </p:cNvPr>
              <p:cNvSpPr/>
              <p:nvPr/>
            </p:nvSpPr>
            <p:spPr>
              <a:xfrm>
                <a:off x="2349936" y="3778344"/>
                <a:ext cx="134093" cy="89181"/>
              </a:xfrm>
              <a:custGeom>
                <a:avLst/>
                <a:gdLst>
                  <a:gd name="connsiteX0" fmla="*/ 828827 w 1657654"/>
                  <a:gd name="connsiteY0" fmla="*/ 1102462 h 1102461"/>
                  <a:gd name="connsiteX1" fmla="*/ 1657655 w 1657654"/>
                  <a:gd name="connsiteY1" fmla="*/ 273558 h 1102461"/>
                  <a:gd name="connsiteX2" fmla="*/ 1657655 w 1657654"/>
                  <a:gd name="connsiteY2" fmla="*/ 0 h 1102461"/>
                  <a:gd name="connsiteX3" fmla="*/ 0 w 1657654"/>
                  <a:gd name="connsiteY3" fmla="*/ 0 h 1102461"/>
                  <a:gd name="connsiteX4" fmla="*/ 0 w 1657654"/>
                  <a:gd name="connsiteY4" fmla="*/ 273558 h 1102461"/>
                  <a:gd name="connsiteX5" fmla="*/ 828827 w 1657654"/>
                  <a:gd name="connsiteY5" fmla="*/ 1102462 h 1102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7654" h="1102461">
                    <a:moveTo>
                      <a:pt x="828827" y="1102462"/>
                    </a:moveTo>
                    <a:cubicBezTo>
                      <a:pt x="1286469" y="1102126"/>
                      <a:pt x="1657358" y="731200"/>
                      <a:pt x="1657655" y="273558"/>
                    </a:cubicBezTo>
                    <a:lnTo>
                      <a:pt x="1657655" y="0"/>
                    </a:lnTo>
                    <a:lnTo>
                      <a:pt x="0" y="0"/>
                    </a:lnTo>
                    <a:lnTo>
                      <a:pt x="0" y="273558"/>
                    </a:lnTo>
                    <a:cubicBezTo>
                      <a:pt x="297" y="731200"/>
                      <a:pt x="371185" y="1102126"/>
                      <a:pt x="828827" y="1102462"/>
                    </a:cubicBezTo>
                    <a:close/>
                  </a:path>
                </a:pathLst>
              </a:custGeom>
              <a:solidFill>
                <a:srgbClr val="0078D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66" name="Freeform: Shape 165">
                <a:extLst>
                  <a:ext uri="{FF2B5EF4-FFF2-40B4-BE49-F238E27FC236}">
                    <a16:creationId xmlns:a16="http://schemas.microsoft.com/office/drawing/2014/main" id="{7F4F77B3-F877-0F52-2374-B32E937A3CF9}"/>
                  </a:ext>
                </a:extLst>
              </p:cNvPr>
              <p:cNvSpPr/>
              <p:nvPr/>
            </p:nvSpPr>
            <p:spPr>
              <a:xfrm>
                <a:off x="2349936" y="3741946"/>
                <a:ext cx="134099" cy="30198"/>
              </a:xfrm>
              <a:custGeom>
                <a:avLst/>
                <a:gdLst>
                  <a:gd name="connsiteX0" fmla="*/ 0 w 1657730"/>
                  <a:gd name="connsiteY0" fmla="*/ 0 h 373303"/>
                  <a:gd name="connsiteX1" fmla="*/ 1657731 w 1657730"/>
                  <a:gd name="connsiteY1" fmla="*/ 0 h 373303"/>
                  <a:gd name="connsiteX2" fmla="*/ 1657731 w 1657730"/>
                  <a:gd name="connsiteY2" fmla="*/ 373304 h 373303"/>
                  <a:gd name="connsiteX3" fmla="*/ 0 w 1657730"/>
                  <a:gd name="connsiteY3" fmla="*/ 373304 h 373303"/>
                </a:gdLst>
                <a:ahLst/>
                <a:cxnLst>
                  <a:cxn ang="0">
                    <a:pos x="connsiteX0" y="connsiteY0"/>
                  </a:cxn>
                  <a:cxn ang="0">
                    <a:pos x="connsiteX1" y="connsiteY1"/>
                  </a:cxn>
                  <a:cxn ang="0">
                    <a:pos x="connsiteX2" y="connsiteY2"/>
                  </a:cxn>
                  <a:cxn ang="0">
                    <a:pos x="connsiteX3" y="connsiteY3"/>
                  </a:cxn>
                </a:cxnLst>
                <a:rect l="l" t="t" r="r" b="b"/>
                <a:pathLst>
                  <a:path w="1657730" h="373303">
                    <a:moveTo>
                      <a:pt x="0" y="0"/>
                    </a:moveTo>
                    <a:lnTo>
                      <a:pt x="1657731" y="0"/>
                    </a:lnTo>
                    <a:lnTo>
                      <a:pt x="1657731" y="373304"/>
                    </a:lnTo>
                    <a:lnTo>
                      <a:pt x="0" y="373304"/>
                    </a:lnTo>
                    <a:close/>
                  </a:path>
                </a:pathLst>
              </a:custGeom>
              <a:solidFill>
                <a:srgbClr val="AA67C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67" name="Freeform: Shape 166">
                <a:extLst>
                  <a:ext uri="{FF2B5EF4-FFF2-40B4-BE49-F238E27FC236}">
                    <a16:creationId xmlns:a16="http://schemas.microsoft.com/office/drawing/2014/main" id="{D3F23B5D-F4E5-A539-3FEE-974E7B01E64C}"/>
                  </a:ext>
                </a:extLst>
              </p:cNvPr>
              <p:cNvSpPr/>
              <p:nvPr/>
            </p:nvSpPr>
            <p:spPr>
              <a:xfrm>
                <a:off x="2349936" y="3646551"/>
                <a:ext cx="134093" cy="89200"/>
              </a:xfrm>
              <a:custGeom>
                <a:avLst/>
                <a:gdLst>
                  <a:gd name="connsiteX0" fmla="*/ 1657655 w 1657654"/>
                  <a:gd name="connsiteY0" fmla="*/ 1102690 h 1102690"/>
                  <a:gd name="connsiteX1" fmla="*/ 1657655 w 1657654"/>
                  <a:gd name="connsiteY1" fmla="*/ 828827 h 1102690"/>
                  <a:gd name="connsiteX2" fmla="*/ 828827 w 1657654"/>
                  <a:gd name="connsiteY2" fmla="*/ 0 h 1102690"/>
                  <a:gd name="connsiteX3" fmla="*/ 0 w 1657654"/>
                  <a:gd name="connsiteY3" fmla="*/ 828827 h 1102690"/>
                  <a:gd name="connsiteX4" fmla="*/ 0 w 1657654"/>
                  <a:gd name="connsiteY4" fmla="*/ 1102690 h 1102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654" h="1102690">
                    <a:moveTo>
                      <a:pt x="1657655" y="1102690"/>
                    </a:moveTo>
                    <a:lnTo>
                      <a:pt x="1657655" y="828827"/>
                    </a:lnTo>
                    <a:cubicBezTo>
                      <a:pt x="1657655" y="371079"/>
                      <a:pt x="1286576" y="0"/>
                      <a:pt x="828827" y="0"/>
                    </a:cubicBezTo>
                    <a:cubicBezTo>
                      <a:pt x="371079" y="0"/>
                      <a:pt x="0" y="371079"/>
                      <a:pt x="0" y="828827"/>
                    </a:cubicBezTo>
                    <a:lnTo>
                      <a:pt x="0" y="1102690"/>
                    </a:lnTo>
                    <a:close/>
                  </a:path>
                </a:pathLst>
              </a:custGeom>
              <a:solidFill>
                <a:srgbClr val="0078D4"/>
              </a:solidFill>
              <a:ln w="762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149" name="Group 148">
              <a:extLst>
                <a:ext uri="{FF2B5EF4-FFF2-40B4-BE49-F238E27FC236}">
                  <a16:creationId xmlns:a16="http://schemas.microsoft.com/office/drawing/2014/main" id="{CBCFEF2E-7D5F-171C-4A49-33A6D8C92BB0}"/>
                </a:ext>
              </a:extLst>
            </p:cNvPr>
            <p:cNvGrpSpPr/>
            <p:nvPr/>
          </p:nvGrpSpPr>
          <p:grpSpPr>
            <a:xfrm>
              <a:off x="2270575" y="4803853"/>
              <a:ext cx="292840" cy="285558"/>
              <a:chOff x="2270575" y="4803853"/>
              <a:chExt cx="292840" cy="285558"/>
            </a:xfrm>
          </p:grpSpPr>
          <p:sp>
            <p:nvSpPr>
              <p:cNvPr id="155" name="Freeform: Shape 154">
                <a:extLst>
                  <a:ext uri="{FF2B5EF4-FFF2-40B4-BE49-F238E27FC236}">
                    <a16:creationId xmlns:a16="http://schemas.microsoft.com/office/drawing/2014/main" id="{479DD9C9-1924-6C10-B5A5-F9D43D643CD6}"/>
                  </a:ext>
                </a:extLst>
              </p:cNvPr>
              <p:cNvSpPr/>
              <p:nvPr/>
            </p:nvSpPr>
            <p:spPr>
              <a:xfrm>
                <a:off x="2364417" y="4809964"/>
                <a:ext cx="105156" cy="78096"/>
              </a:xfrm>
              <a:custGeom>
                <a:avLst/>
                <a:gdLst>
                  <a:gd name="connsiteX0" fmla="*/ 1641653 w 1641652"/>
                  <a:gd name="connsiteY0" fmla="*/ 1219200 h 1219200"/>
                  <a:gd name="connsiteX1" fmla="*/ 820826 w 1641652"/>
                  <a:gd name="connsiteY1" fmla="*/ 0 h 1219200"/>
                  <a:gd name="connsiteX2" fmla="*/ 0 w 1641652"/>
                  <a:gd name="connsiteY2" fmla="*/ 1219200 h 1219200"/>
                </a:gdLst>
                <a:ahLst/>
                <a:cxnLst>
                  <a:cxn ang="0">
                    <a:pos x="connsiteX0" y="connsiteY0"/>
                  </a:cxn>
                  <a:cxn ang="0">
                    <a:pos x="connsiteX1" y="connsiteY1"/>
                  </a:cxn>
                  <a:cxn ang="0">
                    <a:pos x="connsiteX2" y="connsiteY2"/>
                  </a:cxn>
                </a:cxnLst>
                <a:rect l="l" t="t" r="r" b="b"/>
                <a:pathLst>
                  <a:path w="1641652" h="1219200">
                    <a:moveTo>
                      <a:pt x="1641653" y="1219200"/>
                    </a:moveTo>
                    <a:cubicBezTo>
                      <a:pt x="1480871" y="472440"/>
                      <a:pt x="1137971" y="0"/>
                      <a:pt x="820826" y="0"/>
                    </a:cubicBezTo>
                    <a:cubicBezTo>
                      <a:pt x="503682" y="0"/>
                      <a:pt x="160782" y="472440"/>
                      <a:pt x="0" y="1219200"/>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56" name="Freeform: Shape 155">
                <a:extLst>
                  <a:ext uri="{FF2B5EF4-FFF2-40B4-BE49-F238E27FC236}">
                    <a16:creationId xmlns:a16="http://schemas.microsoft.com/office/drawing/2014/main" id="{21739FDD-E86D-FBEB-4463-5E8D17B07E50}"/>
                  </a:ext>
                </a:extLst>
              </p:cNvPr>
              <p:cNvSpPr/>
              <p:nvPr/>
            </p:nvSpPr>
            <p:spPr>
              <a:xfrm>
                <a:off x="2358423" y="4907584"/>
                <a:ext cx="117144" cy="78096"/>
              </a:xfrm>
              <a:custGeom>
                <a:avLst/>
                <a:gdLst>
                  <a:gd name="connsiteX0" fmla="*/ 0 w 1828800"/>
                  <a:gd name="connsiteY0" fmla="*/ 609600 h 1219200"/>
                  <a:gd name="connsiteX1" fmla="*/ 40691 w 1828800"/>
                  <a:gd name="connsiteY1" fmla="*/ 1219200 h 1219200"/>
                  <a:gd name="connsiteX2" fmla="*/ 1788109 w 1828800"/>
                  <a:gd name="connsiteY2" fmla="*/ 1219200 h 1219200"/>
                  <a:gd name="connsiteX3" fmla="*/ 1828800 w 1828800"/>
                  <a:gd name="connsiteY3" fmla="*/ 609600 h 1219200"/>
                  <a:gd name="connsiteX4" fmla="*/ 1788109 w 1828800"/>
                  <a:gd name="connsiteY4" fmla="*/ 0 h 1219200"/>
                  <a:gd name="connsiteX5" fmla="*/ 40691 w 1828800"/>
                  <a:gd name="connsiteY5" fmla="*/ 0 h 1219200"/>
                  <a:gd name="connsiteX6" fmla="*/ 0 w 1828800"/>
                  <a:gd name="connsiteY6" fmla="*/ 6096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219200">
                    <a:moveTo>
                      <a:pt x="0" y="609600"/>
                    </a:moveTo>
                    <a:cubicBezTo>
                      <a:pt x="-38" y="813481"/>
                      <a:pt x="13564" y="1017133"/>
                      <a:pt x="40691" y="1219200"/>
                    </a:cubicBezTo>
                    <a:lnTo>
                      <a:pt x="1788109" y="1219200"/>
                    </a:lnTo>
                    <a:cubicBezTo>
                      <a:pt x="1815236" y="1017133"/>
                      <a:pt x="1828831" y="813481"/>
                      <a:pt x="1828800" y="609600"/>
                    </a:cubicBezTo>
                    <a:cubicBezTo>
                      <a:pt x="1828831" y="405719"/>
                      <a:pt x="1815236" y="202067"/>
                      <a:pt x="1788109" y="0"/>
                    </a:cubicBezTo>
                    <a:lnTo>
                      <a:pt x="40691" y="0"/>
                    </a:lnTo>
                    <a:cubicBezTo>
                      <a:pt x="13564" y="202067"/>
                      <a:pt x="-38" y="405719"/>
                      <a:pt x="0" y="609600"/>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57" name="Freeform: Shape 156">
                <a:extLst>
                  <a:ext uri="{FF2B5EF4-FFF2-40B4-BE49-F238E27FC236}">
                    <a16:creationId xmlns:a16="http://schemas.microsoft.com/office/drawing/2014/main" id="{C905926B-FE99-9E3B-FA2E-DE6E2733A821}"/>
                  </a:ext>
                </a:extLst>
              </p:cNvPr>
              <p:cNvSpPr/>
              <p:nvPr/>
            </p:nvSpPr>
            <p:spPr>
              <a:xfrm>
                <a:off x="2364417" y="5005204"/>
                <a:ext cx="105156" cy="78096"/>
              </a:xfrm>
              <a:custGeom>
                <a:avLst/>
                <a:gdLst>
                  <a:gd name="connsiteX0" fmla="*/ 0 w 1641652"/>
                  <a:gd name="connsiteY0" fmla="*/ 0 h 1219200"/>
                  <a:gd name="connsiteX1" fmla="*/ 820826 w 1641652"/>
                  <a:gd name="connsiteY1" fmla="*/ 1219200 h 1219200"/>
                  <a:gd name="connsiteX2" fmla="*/ 1641653 w 1641652"/>
                  <a:gd name="connsiteY2" fmla="*/ 0 h 1219200"/>
                </a:gdLst>
                <a:ahLst/>
                <a:cxnLst>
                  <a:cxn ang="0">
                    <a:pos x="connsiteX0" y="connsiteY0"/>
                  </a:cxn>
                  <a:cxn ang="0">
                    <a:pos x="connsiteX1" y="connsiteY1"/>
                  </a:cxn>
                  <a:cxn ang="0">
                    <a:pos x="connsiteX2" y="connsiteY2"/>
                  </a:cxn>
                </a:cxnLst>
                <a:rect l="l" t="t" r="r" b="b"/>
                <a:pathLst>
                  <a:path w="1641652" h="1219200">
                    <a:moveTo>
                      <a:pt x="0" y="0"/>
                    </a:moveTo>
                    <a:cubicBezTo>
                      <a:pt x="160782" y="746760"/>
                      <a:pt x="503682" y="1219200"/>
                      <a:pt x="820826" y="1219200"/>
                    </a:cubicBezTo>
                    <a:cubicBezTo>
                      <a:pt x="1137971" y="1219200"/>
                      <a:pt x="1480871" y="746760"/>
                      <a:pt x="1641653" y="0"/>
                    </a:cubicBezTo>
                    <a:close/>
                  </a:path>
                </a:pathLst>
              </a:custGeom>
              <a:solidFill>
                <a:srgbClr val="AA67C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58" name="Freeform: Shape 157">
                <a:extLst>
                  <a:ext uri="{FF2B5EF4-FFF2-40B4-BE49-F238E27FC236}">
                    <a16:creationId xmlns:a16="http://schemas.microsoft.com/office/drawing/2014/main" id="{2ACBAA09-3911-7BE4-8337-D05A5ACBB7E4}"/>
                  </a:ext>
                </a:extLst>
              </p:cNvPr>
              <p:cNvSpPr/>
              <p:nvPr/>
            </p:nvSpPr>
            <p:spPr>
              <a:xfrm>
                <a:off x="2449063" y="4803853"/>
                <a:ext cx="102003" cy="84207"/>
              </a:xfrm>
              <a:custGeom>
                <a:avLst/>
                <a:gdLst>
                  <a:gd name="connsiteX0" fmla="*/ 632308 w 1592427"/>
                  <a:gd name="connsiteY0" fmla="*/ 1314602 h 1314602"/>
                  <a:gd name="connsiteX1" fmla="*/ 1592428 w 1592427"/>
                  <a:gd name="connsiteY1" fmla="*/ 1314602 h 1314602"/>
                  <a:gd name="connsiteX2" fmla="*/ 0 w 1592427"/>
                  <a:gd name="connsiteY2" fmla="*/ 0 h 1314602"/>
                  <a:gd name="connsiteX3" fmla="*/ 632308 w 1592427"/>
                  <a:gd name="connsiteY3" fmla="*/ 1314602 h 1314602"/>
                </a:gdLst>
                <a:ahLst/>
                <a:cxnLst>
                  <a:cxn ang="0">
                    <a:pos x="connsiteX0" y="connsiteY0"/>
                  </a:cxn>
                  <a:cxn ang="0">
                    <a:pos x="connsiteX1" y="connsiteY1"/>
                  </a:cxn>
                  <a:cxn ang="0">
                    <a:pos x="connsiteX2" y="connsiteY2"/>
                  </a:cxn>
                  <a:cxn ang="0">
                    <a:pos x="connsiteX3" y="connsiteY3"/>
                  </a:cxn>
                </a:cxnLst>
                <a:rect l="l" t="t" r="r" b="b"/>
                <a:pathLst>
                  <a:path w="1592427" h="1314602">
                    <a:moveTo>
                      <a:pt x="632308" y="1314602"/>
                    </a:moveTo>
                    <a:lnTo>
                      <a:pt x="1592428" y="1314602"/>
                    </a:lnTo>
                    <a:cubicBezTo>
                      <a:pt x="1299881" y="648846"/>
                      <a:pt x="709117" y="161143"/>
                      <a:pt x="0" y="0"/>
                    </a:cubicBezTo>
                    <a:cubicBezTo>
                      <a:pt x="289103" y="254356"/>
                      <a:pt x="515874" y="724662"/>
                      <a:pt x="632308" y="1314602"/>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59" name="Freeform: Shape 158">
                <a:extLst>
                  <a:ext uri="{FF2B5EF4-FFF2-40B4-BE49-F238E27FC236}">
                    <a16:creationId xmlns:a16="http://schemas.microsoft.com/office/drawing/2014/main" id="{D82219A6-DE24-E651-0010-16B05BF725CF}"/>
                  </a:ext>
                </a:extLst>
              </p:cNvPr>
              <p:cNvSpPr/>
              <p:nvPr/>
            </p:nvSpPr>
            <p:spPr>
              <a:xfrm>
                <a:off x="2492670" y="4907584"/>
                <a:ext cx="70745" cy="78096"/>
              </a:xfrm>
              <a:custGeom>
                <a:avLst/>
                <a:gdLst>
                  <a:gd name="connsiteX0" fmla="*/ 1021232 w 1104438"/>
                  <a:gd name="connsiteY0" fmla="*/ 0 h 1219200"/>
                  <a:gd name="connsiteX1" fmla="*/ 152 w 1104438"/>
                  <a:gd name="connsiteY1" fmla="*/ 0 h 1219200"/>
                  <a:gd name="connsiteX2" fmla="*/ 37795 w 1104438"/>
                  <a:gd name="connsiteY2" fmla="*/ 609600 h 1219200"/>
                  <a:gd name="connsiteX3" fmla="*/ 0 w 1104438"/>
                  <a:gd name="connsiteY3" fmla="*/ 1219200 h 1219200"/>
                  <a:gd name="connsiteX4" fmla="*/ 1021080 w 1104438"/>
                  <a:gd name="connsiteY4" fmla="*/ 1219200 h 1219200"/>
                  <a:gd name="connsiteX5" fmla="*/ 1021080 w 1104438"/>
                  <a:gd name="connsiteY5" fmla="*/ 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4438" h="1219200">
                    <a:moveTo>
                      <a:pt x="1021232" y="0"/>
                    </a:moveTo>
                    <a:lnTo>
                      <a:pt x="152" y="0"/>
                    </a:lnTo>
                    <a:cubicBezTo>
                      <a:pt x="25298" y="202219"/>
                      <a:pt x="37871" y="405811"/>
                      <a:pt x="37795" y="609600"/>
                    </a:cubicBezTo>
                    <a:cubicBezTo>
                      <a:pt x="37810" y="813389"/>
                      <a:pt x="25191" y="1016980"/>
                      <a:pt x="0" y="1219200"/>
                    </a:cubicBezTo>
                    <a:lnTo>
                      <a:pt x="1021080" y="1219200"/>
                    </a:lnTo>
                    <a:cubicBezTo>
                      <a:pt x="1132225" y="820400"/>
                      <a:pt x="1132225" y="398800"/>
                      <a:pt x="1021080" y="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60" name="Freeform: Shape 159">
                <a:extLst>
                  <a:ext uri="{FF2B5EF4-FFF2-40B4-BE49-F238E27FC236}">
                    <a16:creationId xmlns:a16="http://schemas.microsoft.com/office/drawing/2014/main" id="{00C544E5-9147-D39B-D667-9C9BBEBDC103}"/>
                  </a:ext>
                </a:extLst>
              </p:cNvPr>
              <p:cNvSpPr/>
              <p:nvPr/>
            </p:nvSpPr>
            <p:spPr>
              <a:xfrm>
                <a:off x="2449063" y="5005204"/>
                <a:ext cx="102023" cy="84207"/>
              </a:xfrm>
              <a:custGeom>
                <a:avLst/>
                <a:gdLst>
                  <a:gd name="connsiteX0" fmla="*/ 0 w 1592732"/>
                  <a:gd name="connsiteY0" fmla="*/ 1314602 h 1314602"/>
                  <a:gd name="connsiteX1" fmla="*/ 1592732 w 1592732"/>
                  <a:gd name="connsiteY1" fmla="*/ 0 h 1314602"/>
                  <a:gd name="connsiteX2" fmla="*/ 632613 w 1592732"/>
                  <a:gd name="connsiteY2" fmla="*/ 0 h 1314602"/>
                  <a:gd name="connsiteX3" fmla="*/ 0 w 1592732"/>
                  <a:gd name="connsiteY3" fmla="*/ 1314602 h 1314602"/>
                </a:gdLst>
                <a:ahLst/>
                <a:cxnLst>
                  <a:cxn ang="0">
                    <a:pos x="connsiteX0" y="connsiteY0"/>
                  </a:cxn>
                  <a:cxn ang="0">
                    <a:pos x="connsiteX1" y="connsiteY1"/>
                  </a:cxn>
                  <a:cxn ang="0">
                    <a:pos x="connsiteX2" y="connsiteY2"/>
                  </a:cxn>
                  <a:cxn ang="0">
                    <a:pos x="connsiteX3" y="connsiteY3"/>
                  </a:cxn>
                </a:cxnLst>
                <a:rect l="l" t="t" r="r" b="b"/>
                <a:pathLst>
                  <a:path w="1592732" h="1314602">
                    <a:moveTo>
                      <a:pt x="0" y="1314602"/>
                    </a:moveTo>
                    <a:cubicBezTo>
                      <a:pt x="709224" y="1153546"/>
                      <a:pt x="1300124" y="665836"/>
                      <a:pt x="1592732" y="0"/>
                    </a:cubicBezTo>
                    <a:lnTo>
                      <a:pt x="632613" y="0"/>
                    </a:lnTo>
                    <a:cubicBezTo>
                      <a:pt x="515874" y="589940"/>
                      <a:pt x="289103" y="1060247"/>
                      <a:pt x="0" y="1314602"/>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61" name="Freeform: Shape 160">
                <a:extLst>
                  <a:ext uri="{FF2B5EF4-FFF2-40B4-BE49-F238E27FC236}">
                    <a16:creationId xmlns:a16="http://schemas.microsoft.com/office/drawing/2014/main" id="{2DDC77E8-E546-F612-6275-B7317B5B442D}"/>
                  </a:ext>
                </a:extLst>
              </p:cNvPr>
              <p:cNvSpPr/>
              <p:nvPr/>
            </p:nvSpPr>
            <p:spPr>
              <a:xfrm>
                <a:off x="2282923" y="5005204"/>
                <a:ext cx="102023" cy="84207"/>
              </a:xfrm>
              <a:custGeom>
                <a:avLst/>
                <a:gdLst>
                  <a:gd name="connsiteX0" fmla="*/ 960120 w 1592732"/>
                  <a:gd name="connsiteY0" fmla="*/ 0 h 1314602"/>
                  <a:gd name="connsiteX1" fmla="*/ 0 w 1592732"/>
                  <a:gd name="connsiteY1" fmla="*/ 0 h 1314602"/>
                  <a:gd name="connsiteX2" fmla="*/ 1592732 w 1592732"/>
                  <a:gd name="connsiteY2" fmla="*/ 1314602 h 1314602"/>
                  <a:gd name="connsiteX3" fmla="*/ 960120 w 1592732"/>
                  <a:gd name="connsiteY3" fmla="*/ 0 h 1314602"/>
                </a:gdLst>
                <a:ahLst/>
                <a:cxnLst>
                  <a:cxn ang="0">
                    <a:pos x="connsiteX0" y="connsiteY0"/>
                  </a:cxn>
                  <a:cxn ang="0">
                    <a:pos x="connsiteX1" y="connsiteY1"/>
                  </a:cxn>
                  <a:cxn ang="0">
                    <a:pos x="connsiteX2" y="connsiteY2"/>
                  </a:cxn>
                  <a:cxn ang="0">
                    <a:pos x="connsiteX3" y="connsiteY3"/>
                  </a:cxn>
                </a:cxnLst>
                <a:rect l="l" t="t" r="r" b="b"/>
                <a:pathLst>
                  <a:path w="1592732" h="1314602">
                    <a:moveTo>
                      <a:pt x="960120" y="0"/>
                    </a:moveTo>
                    <a:lnTo>
                      <a:pt x="0" y="0"/>
                    </a:lnTo>
                    <a:cubicBezTo>
                      <a:pt x="292602" y="665836"/>
                      <a:pt x="883502" y="1153546"/>
                      <a:pt x="1592732" y="1314602"/>
                    </a:cubicBezTo>
                    <a:cubicBezTo>
                      <a:pt x="1303325" y="1060247"/>
                      <a:pt x="1076554" y="589940"/>
                      <a:pt x="960120" y="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62" name="Freeform: Shape 161">
                <a:extLst>
                  <a:ext uri="{FF2B5EF4-FFF2-40B4-BE49-F238E27FC236}">
                    <a16:creationId xmlns:a16="http://schemas.microsoft.com/office/drawing/2014/main" id="{8815E573-BBE8-AE22-AAE2-785B524CC9A5}"/>
                  </a:ext>
                </a:extLst>
              </p:cNvPr>
              <p:cNvSpPr/>
              <p:nvPr/>
            </p:nvSpPr>
            <p:spPr>
              <a:xfrm>
                <a:off x="2282904" y="4803853"/>
                <a:ext cx="102023" cy="84207"/>
              </a:xfrm>
              <a:custGeom>
                <a:avLst/>
                <a:gdLst>
                  <a:gd name="connsiteX0" fmla="*/ 1592732 w 1592732"/>
                  <a:gd name="connsiteY0" fmla="*/ 0 h 1314602"/>
                  <a:gd name="connsiteX1" fmla="*/ 0 w 1592732"/>
                  <a:gd name="connsiteY1" fmla="*/ 1314602 h 1314602"/>
                  <a:gd name="connsiteX2" fmla="*/ 960120 w 1592732"/>
                  <a:gd name="connsiteY2" fmla="*/ 1314602 h 1314602"/>
                  <a:gd name="connsiteX3" fmla="*/ 1592732 w 1592732"/>
                  <a:gd name="connsiteY3" fmla="*/ 0 h 1314602"/>
                </a:gdLst>
                <a:ahLst/>
                <a:cxnLst>
                  <a:cxn ang="0">
                    <a:pos x="connsiteX0" y="connsiteY0"/>
                  </a:cxn>
                  <a:cxn ang="0">
                    <a:pos x="connsiteX1" y="connsiteY1"/>
                  </a:cxn>
                  <a:cxn ang="0">
                    <a:pos x="connsiteX2" y="connsiteY2"/>
                  </a:cxn>
                  <a:cxn ang="0">
                    <a:pos x="connsiteX3" y="connsiteY3"/>
                  </a:cxn>
                </a:cxnLst>
                <a:rect l="l" t="t" r="r" b="b"/>
                <a:pathLst>
                  <a:path w="1592732" h="1314602">
                    <a:moveTo>
                      <a:pt x="1592732" y="0"/>
                    </a:moveTo>
                    <a:cubicBezTo>
                      <a:pt x="883502" y="161056"/>
                      <a:pt x="292602" y="648773"/>
                      <a:pt x="0" y="1314602"/>
                    </a:cubicBezTo>
                    <a:lnTo>
                      <a:pt x="960120" y="1314602"/>
                    </a:lnTo>
                    <a:cubicBezTo>
                      <a:pt x="1076858" y="724662"/>
                      <a:pt x="1303630" y="254356"/>
                      <a:pt x="1592732" y="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63" name="Freeform: Shape 162">
                <a:extLst>
                  <a:ext uri="{FF2B5EF4-FFF2-40B4-BE49-F238E27FC236}">
                    <a16:creationId xmlns:a16="http://schemas.microsoft.com/office/drawing/2014/main" id="{CFE5BBCD-CD87-2321-669E-67338727269F}"/>
                  </a:ext>
                </a:extLst>
              </p:cNvPr>
              <p:cNvSpPr/>
              <p:nvPr/>
            </p:nvSpPr>
            <p:spPr>
              <a:xfrm>
                <a:off x="2270575" y="4907584"/>
                <a:ext cx="70745" cy="78096"/>
              </a:xfrm>
              <a:custGeom>
                <a:avLst/>
                <a:gdLst>
                  <a:gd name="connsiteX0" fmla="*/ 1066640 w 1104435"/>
                  <a:gd name="connsiteY0" fmla="*/ 609600 h 1219200"/>
                  <a:gd name="connsiteX1" fmla="*/ 1104436 w 1104435"/>
                  <a:gd name="connsiteY1" fmla="*/ 0 h 1219200"/>
                  <a:gd name="connsiteX2" fmla="*/ 83355 w 1104435"/>
                  <a:gd name="connsiteY2" fmla="*/ 0 h 1219200"/>
                  <a:gd name="connsiteX3" fmla="*/ 83355 w 1104435"/>
                  <a:gd name="connsiteY3" fmla="*/ 1219200 h 1219200"/>
                  <a:gd name="connsiteX4" fmla="*/ 1104436 w 1104435"/>
                  <a:gd name="connsiteY4" fmla="*/ 1219200 h 1219200"/>
                  <a:gd name="connsiteX5" fmla="*/ 1066640 w 1104435"/>
                  <a:gd name="connsiteY5" fmla="*/ 60960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4435" h="1219200">
                    <a:moveTo>
                      <a:pt x="1066640" y="609600"/>
                    </a:moveTo>
                    <a:cubicBezTo>
                      <a:pt x="1066620" y="405811"/>
                      <a:pt x="1079244" y="202219"/>
                      <a:pt x="1104436" y="0"/>
                    </a:cubicBezTo>
                    <a:lnTo>
                      <a:pt x="83355" y="0"/>
                    </a:lnTo>
                    <a:cubicBezTo>
                      <a:pt x="-27785" y="398800"/>
                      <a:pt x="-27785" y="820400"/>
                      <a:pt x="83355" y="1219200"/>
                    </a:cubicBezTo>
                    <a:lnTo>
                      <a:pt x="1104436" y="1219200"/>
                    </a:lnTo>
                    <a:cubicBezTo>
                      <a:pt x="1079244" y="1016980"/>
                      <a:pt x="1066620" y="813389"/>
                      <a:pt x="1066640" y="609600"/>
                    </a:cubicBezTo>
                    <a:close/>
                  </a:path>
                </a:pathLst>
              </a:custGeom>
              <a:solidFill>
                <a:srgbClr val="0078D4"/>
              </a:solidFill>
              <a:ln w="15240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150" name="Group 149">
              <a:extLst>
                <a:ext uri="{FF2B5EF4-FFF2-40B4-BE49-F238E27FC236}">
                  <a16:creationId xmlns:a16="http://schemas.microsoft.com/office/drawing/2014/main" id="{1C3D4ABA-B0FC-1F31-EDA9-12139EB002CF}"/>
                </a:ext>
              </a:extLst>
            </p:cNvPr>
            <p:cNvGrpSpPr/>
            <p:nvPr/>
          </p:nvGrpSpPr>
          <p:grpSpPr>
            <a:xfrm>
              <a:off x="1193038" y="3626120"/>
              <a:ext cx="342900" cy="342900"/>
              <a:chOff x="1193038" y="3626120"/>
              <a:chExt cx="342900" cy="342900"/>
            </a:xfrm>
          </p:grpSpPr>
          <p:sp>
            <p:nvSpPr>
              <p:cNvPr id="152" name="Freeform: Shape 151">
                <a:extLst>
                  <a:ext uri="{FF2B5EF4-FFF2-40B4-BE49-F238E27FC236}">
                    <a16:creationId xmlns:a16="http://schemas.microsoft.com/office/drawing/2014/main" id="{37A23A28-99CD-2E87-99E5-A87D08063891}"/>
                  </a:ext>
                </a:extLst>
              </p:cNvPr>
              <p:cNvSpPr/>
              <p:nvPr/>
            </p:nvSpPr>
            <p:spPr>
              <a:xfrm>
                <a:off x="1314259" y="3727249"/>
                <a:ext cx="100459" cy="100459"/>
              </a:xfrm>
              <a:custGeom>
                <a:avLst/>
                <a:gdLst>
                  <a:gd name="connsiteX0" fmla="*/ 714375 w 1428750"/>
                  <a:gd name="connsiteY0" fmla="*/ 0 h 1428750"/>
                  <a:gd name="connsiteX1" fmla="*/ 0 w 1428750"/>
                  <a:gd name="connsiteY1" fmla="*/ 714375 h 1428750"/>
                  <a:gd name="connsiteX2" fmla="*/ 714375 w 1428750"/>
                  <a:gd name="connsiteY2" fmla="*/ 1428750 h 1428750"/>
                  <a:gd name="connsiteX3" fmla="*/ 1428750 w 1428750"/>
                  <a:gd name="connsiteY3" fmla="*/ 714375 h 1428750"/>
                  <a:gd name="connsiteX4" fmla="*/ 714375 w 1428750"/>
                  <a:gd name="connsiteY4" fmla="*/ 0 h 1428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0" h="1428750">
                    <a:moveTo>
                      <a:pt x="714375" y="0"/>
                    </a:moveTo>
                    <a:cubicBezTo>
                      <a:pt x="320488" y="0"/>
                      <a:pt x="0" y="320488"/>
                      <a:pt x="0" y="714375"/>
                    </a:cubicBezTo>
                    <a:cubicBezTo>
                      <a:pt x="0" y="1108262"/>
                      <a:pt x="320488" y="1428750"/>
                      <a:pt x="714375" y="1428750"/>
                    </a:cubicBezTo>
                    <a:cubicBezTo>
                      <a:pt x="1108262" y="1428750"/>
                      <a:pt x="1428750" y="1108262"/>
                      <a:pt x="1428750" y="714375"/>
                    </a:cubicBezTo>
                    <a:cubicBezTo>
                      <a:pt x="1428750" y="320488"/>
                      <a:pt x="1108262" y="0"/>
                      <a:pt x="714375" y="0"/>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53" name="Freeform: Shape 152">
                <a:extLst>
                  <a:ext uri="{FF2B5EF4-FFF2-40B4-BE49-F238E27FC236}">
                    <a16:creationId xmlns:a16="http://schemas.microsoft.com/office/drawing/2014/main" id="{68DCFBD1-CCFB-0CB6-0F8E-E63793460FD6}"/>
                  </a:ext>
                </a:extLst>
              </p:cNvPr>
              <p:cNvSpPr/>
              <p:nvPr/>
            </p:nvSpPr>
            <p:spPr>
              <a:xfrm>
                <a:off x="1193038" y="3626120"/>
                <a:ext cx="342900" cy="342900"/>
              </a:xfrm>
              <a:custGeom>
                <a:avLst/>
                <a:gdLst>
                  <a:gd name="connsiteX0" fmla="*/ 4779131 w 4876800"/>
                  <a:gd name="connsiteY0" fmla="*/ 2017166 h 4876800"/>
                  <a:gd name="connsiteX1" fmla="*/ 4521527 w 4876800"/>
                  <a:gd name="connsiteY1" fmla="*/ 1934423 h 4876800"/>
                  <a:gd name="connsiteX2" fmla="*/ 4267591 w 4876800"/>
                  <a:gd name="connsiteY2" fmla="*/ 1322041 h 4876800"/>
                  <a:gd name="connsiteX3" fmla="*/ 4384653 w 4876800"/>
                  <a:gd name="connsiteY3" fmla="*/ 1087917 h 4876800"/>
                  <a:gd name="connsiteX4" fmla="*/ 4357859 w 4876800"/>
                  <a:gd name="connsiteY4" fmla="*/ 923001 h 4876800"/>
                  <a:gd name="connsiteX5" fmla="*/ 3953790 w 4876800"/>
                  <a:gd name="connsiteY5" fmla="*/ 518932 h 4876800"/>
                  <a:gd name="connsiteX6" fmla="*/ 3788874 w 4876800"/>
                  <a:gd name="connsiteY6" fmla="*/ 492138 h 4876800"/>
                  <a:gd name="connsiteX7" fmla="*/ 3554606 w 4876800"/>
                  <a:gd name="connsiteY7" fmla="*/ 609343 h 4876800"/>
                  <a:gd name="connsiteX8" fmla="*/ 2992450 w 4876800"/>
                  <a:gd name="connsiteY8" fmla="*/ 369637 h 4876800"/>
                  <a:gd name="connsiteX9" fmla="*/ 2851957 w 4876800"/>
                  <a:gd name="connsiteY9" fmla="*/ 78972 h 4876800"/>
                  <a:gd name="connsiteX10" fmla="*/ 2724150 w 4876800"/>
                  <a:gd name="connsiteY10" fmla="*/ 0 h 4876800"/>
                  <a:gd name="connsiteX11" fmla="*/ 2152650 w 4876800"/>
                  <a:gd name="connsiteY11" fmla="*/ 0 h 4876800"/>
                  <a:gd name="connsiteX12" fmla="*/ 2024844 w 4876800"/>
                  <a:gd name="connsiteY12" fmla="*/ 78972 h 4876800"/>
                  <a:gd name="connsiteX13" fmla="*/ 1884340 w 4876800"/>
                  <a:gd name="connsiteY13" fmla="*/ 369646 h 4876800"/>
                  <a:gd name="connsiteX14" fmla="*/ 1322184 w 4876800"/>
                  <a:gd name="connsiteY14" fmla="*/ 609352 h 4876800"/>
                  <a:gd name="connsiteX15" fmla="*/ 1087917 w 4876800"/>
                  <a:gd name="connsiteY15" fmla="*/ 492147 h 4876800"/>
                  <a:gd name="connsiteX16" fmla="*/ 923001 w 4876800"/>
                  <a:gd name="connsiteY16" fmla="*/ 518941 h 4876800"/>
                  <a:gd name="connsiteX17" fmla="*/ 518932 w 4876800"/>
                  <a:gd name="connsiteY17" fmla="*/ 923001 h 4876800"/>
                  <a:gd name="connsiteX18" fmla="*/ 492138 w 4876800"/>
                  <a:gd name="connsiteY18" fmla="*/ 1087917 h 4876800"/>
                  <a:gd name="connsiteX19" fmla="*/ 609343 w 4876800"/>
                  <a:gd name="connsiteY19" fmla="*/ 1322184 h 4876800"/>
                  <a:gd name="connsiteX20" fmla="*/ 369637 w 4876800"/>
                  <a:gd name="connsiteY20" fmla="*/ 1884340 h 4876800"/>
                  <a:gd name="connsiteX21" fmla="*/ 78972 w 4876800"/>
                  <a:gd name="connsiteY21" fmla="*/ 2024844 h 4876800"/>
                  <a:gd name="connsiteX22" fmla="*/ 0 w 4876800"/>
                  <a:gd name="connsiteY22" fmla="*/ 2152650 h 4876800"/>
                  <a:gd name="connsiteX23" fmla="*/ 0 w 4876800"/>
                  <a:gd name="connsiteY23" fmla="*/ 2724150 h 4876800"/>
                  <a:gd name="connsiteX24" fmla="*/ 78972 w 4876800"/>
                  <a:gd name="connsiteY24" fmla="*/ 2851957 h 4876800"/>
                  <a:gd name="connsiteX25" fmla="*/ 369646 w 4876800"/>
                  <a:gd name="connsiteY25" fmla="*/ 2992460 h 4876800"/>
                  <a:gd name="connsiteX26" fmla="*/ 583959 w 4876800"/>
                  <a:gd name="connsiteY26" fmla="*/ 3508848 h 4876800"/>
                  <a:gd name="connsiteX27" fmla="*/ 484337 w 4876800"/>
                  <a:gd name="connsiteY27" fmla="*/ 3807571 h 4876800"/>
                  <a:gd name="connsiteX28" fmla="*/ 518941 w 4876800"/>
                  <a:gd name="connsiteY28" fmla="*/ 3953799 h 4876800"/>
                  <a:gd name="connsiteX29" fmla="*/ 923011 w 4876800"/>
                  <a:gd name="connsiteY29" fmla="*/ 4357869 h 4876800"/>
                  <a:gd name="connsiteX30" fmla="*/ 1069238 w 4876800"/>
                  <a:gd name="connsiteY30" fmla="*/ 4392473 h 4876800"/>
                  <a:gd name="connsiteX31" fmla="*/ 1367961 w 4876800"/>
                  <a:gd name="connsiteY31" fmla="*/ 4292851 h 4876800"/>
                  <a:gd name="connsiteX32" fmla="*/ 1934442 w 4876800"/>
                  <a:gd name="connsiteY32" fmla="*/ 4521394 h 4876800"/>
                  <a:gd name="connsiteX33" fmla="*/ 2017186 w 4876800"/>
                  <a:gd name="connsiteY33" fmla="*/ 4779141 h 4876800"/>
                  <a:gd name="connsiteX34" fmla="*/ 2152650 w 4876800"/>
                  <a:gd name="connsiteY34" fmla="*/ 4876800 h 4876800"/>
                  <a:gd name="connsiteX35" fmla="*/ 2724150 w 4876800"/>
                  <a:gd name="connsiteY35" fmla="*/ 4876800 h 4876800"/>
                  <a:gd name="connsiteX36" fmla="*/ 2859634 w 4876800"/>
                  <a:gd name="connsiteY36" fmla="*/ 4779131 h 4876800"/>
                  <a:gd name="connsiteX37" fmla="*/ 2942378 w 4876800"/>
                  <a:gd name="connsiteY37" fmla="*/ 4521384 h 4876800"/>
                  <a:gd name="connsiteX38" fmla="*/ 3508858 w 4876800"/>
                  <a:gd name="connsiteY38" fmla="*/ 4292841 h 4876800"/>
                  <a:gd name="connsiteX39" fmla="*/ 3807581 w 4876800"/>
                  <a:gd name="connsiteY39" fmla="*/ 4392464 h 4876800"/>
                  <a:gd name="connsiteX40" fmla="*/ 3953808 w 4876800"/>
                  <a:gd name="connsiteY40" fmla="*/ 4357859 h 4876800"/>
                  <a:gd name="connsiteX41" fmla="*/ 4357878 w 4876800"/>
                  <a:gd name="connsiteY41" fmla="*/ 3953790 h 4876800"/>
                  <a:gd name="connsiteX42" fmla="*/ 4392483 w 4876800"/>
                  <a:gd name="connsiteY42" fmla="*/ 3807562 h 4876800"/>
                  <a:gd name="connsiteX43" fmla="*/ 4292861 w 4876800"/>
                  <a:gd name="connsiteY43" fmla="*/ 3508839 h 4876800"/>
                  <a:gd name="connsiteX44" fmla="*/ 4521403 w 4876800"/>
                  <a:gd name="connsiteY44" fmla="*/ 2942358 h 4876800"/>
                  <a:gd name="connsiteX45" fmla="*/ 4779150 w 4876800"/>
                  <a:gd name="connsiteY45" fmla="*/ 2859615 h 4876800"/>
                  <a:gd name="connsiteX46" fmla="*/ 4876800 w 4876800"/>
                  <a:gd name="connsiteY46" fmla="*/ 2724150 h 4876800"/>
                  <a:gd name="connsiteX47" fmla="*/ 4876800 w 4876800"/>
                  <a:gd name="connsiteY47" fmla="*/ 2152650 h 4876800"/>
                  <a:gd name="connsiteX48" fmla="*/ 4779131 w 4876800"/>
                  <a:gd name="connsiteY48" fmla="*/ 2017166 h 4876800"/>
                  <a:gd name="connsiteX49" fmla="*/ 2438400 w 4876800"/>
                  <a:gd name="connsiteY49" fmla="*/ 4010025 h 4876800"/>
                  <a:gd name="connsiteX50" fmla="*/ 866775 w 4876800"/>
                  <a:gd name="connsiteY50" fmla="*/ 2438400 h 4876800"/>
                  <a:gd name="connsiteX51" fmla="*/ 2438400 w 4876800"/>
                  <a:gd name="connsiteY51" fmla="*/ 866775 h 4876800"/>
                  <a:gd name="connsiteX52" fmla="*/ 4010025 w 4876800"/>
                  <a:gd name="connsiteY52" fmla="*/ 2438400 h 4876800"/>
                  <a:gd name="connsiteX53" fmla="*/ 2438400 w 4876800"/>
                  <a:gd name="connsiteY53" fmla="*/ 4010025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876800" h="4876800">
                    <a:moveTo>
                      <a:pt x="4779131" y="2017166"/>
                    </a:moveTo>
                    <a:lnTo>
                      <a:pt x="4521527" y="1934423"/>
                    </a:lnTo>
                    <a:cubicBezTo>
                      <a:pt x="4469340" y="1717881"/>
                      <a:pt x="4384234" y="1512494"/>
                      <a:pt x="4267591" y="1322041"/>
                    </a:cubicBezTo>
                    <a:lnTo>
                      <a:pt x="4384653" y="1087917"/>
                    </a:lnTo>
                    <a:cubicBezTo>
                      <a:pt x="4412142" y="1032948"/>
                      <a:pt x="4401398" y="966530"/>
                      <a:pt x="4357859" y="923001"/>
                    </a:cubicBezTo>
                    <a:lnTo>
                      <a:pt x="3953790" y="518932"/>
                    </a:lnTo>
                    <a:cubicBezTo>
                      <a:pt x="3910117" y="475259"/>
                      <a:pt x="3843985" y="464791"/>
                      <a:pt x="3788874" y="492138"/>
                    </a:cubicBezTo>
                    <a:lnTo>
                      <a:pt x="3554606" y="609343"/>
                    </a:lnTo>
                    <a:cubicBezTo>
                      <a:pt x="3380756" y="503168"/>
                      <a:pt x="3192256" y="422796"/>
                      <a:pt x="2992450" y="369637"/>
                    </a:cubicBezTo>
                    <a:lnTo>
                      <a:pt x="2851957" y="78972"/>
                    </a:lnTo>
                    <a:cubicBezTo>
                      <a:pt x="2827677" y="30556"/>
                      <a:pt x="2778290" y="0"/>
                      <a:pt x="2724150" y="0"/>
                    </a:cubicBezTo>
                    <a:lnTo>
                      <a:pt x="2152650" y="0"/>
                    </a:lnTo>
                    <a:cubicBezTo>
                      <a:pt x="2098510" y="0"/>
                      <a:pt x="2049123" y="30556"/>
                      <a:pt x="2024844" y="78972"/>
                    </a:cubicBezTo>
                    <a:lnTo>
                      <a:pt x="1884340" y="369646"/>
                    </a:lnTo>
                    <a:cubicBezTo>
                      <a:pt x="1684534" y="422805"/>
                      <a:pt x="1496035" y="503177"/>
                      <a:pt x="1322184" y="609352"/>
                    </a:cubicBezTo>
                    <a:lnTo>
                      <a:pt x="1087917" y="492147"/>
                    </a:lnTo>
                    <a:cubicBezTo>
                      <a:pt x="1032662" y="464382"/>
                      <a:pt x="966673" y="475126"/>
                      <a:pt x="923001" y="518941"/>
                    </a:cubicBezTo>
                    <a:lnTo>
                      <a:pt x="518932" y="923001"/>
                    </a:lnTo>
                    <a:cubicBezTo>
                      <a:pt x="475402" y="966530"/>
                      <a:pt x="464658" y="1032948"/>
                      <a:pt x="492138" y="1087917"/>
                    </a:cubicBezTo>
                    <a:lnTo>
                      <a:pt x="609343" y="1322184"/>
                    </a:lnTo>
                    <a:cubicBezTo>
                      <a:pt x="503168" y="1496035"/>
                      <a:pt x="422796" y="1684534"/>
                      <a:pt x="369637" y="1884340"/>
                    </a:cubicBezTo>
                    <a:lnTo>
                      <a:pt x="78972" y="2024844"/>
                    </a:lnTo>
                    <a:cubicBezTo>
                      <a:pt x="30556" y="2049123"/>
                      <a:pt x="0" y="2098510"/>
                      <a:pt x="0" y="2152650"/>
                    </a:cubicBezTo>
                    <a:lnTo>
                      <a:pt x="0" y="2724150"/>
                    </a:lnTo>
                    <a:cubicBezTo>
                      <a:pt x="0" y="2778290"/>
                      <a:pt x="30556" y="2827677"/>
                      <a:pt x="78972" y="2851957"/>
                    </a:cubicBezTo>
                    <a:lnTo>
                      <a:pt x="369646" y="2992460"/>
                    </a:lnTo>
                    <a:cubicBezTo>
                      <a:pt x="417919" y="3172863"/>
                      <a:pt x="489775" y="3346018"/>
                      <a:pt x="583959" y="3508848"/>
                    </a:cubicBezTo>
                    <a:lnTo>
                      <a:pt x="484337" y="3807571"/>
                    </a:lnTo>
                    <a:cubicBezTo>
                      <a:pt x="467316" y="3858920"/>
                      <a:pt x="480708" y="3915566"/>
                      <a:pt x="518941" y="3953799"/>
                    </a:cubicBezTo>
                    <a:lnTo>
                      <a:pt x="923011" y="4357869"/>
                    </a:lnTo>
                    <a:cubicBezTo>
                      <a:pt x="961377" y="4396102"/>
                      <a:pt x="1017746" y="4409494"/>
                      <a:pt x="1069238" y="4392473"/>
                    </a:cubicBezTo>
                    <a:lnTo>
                      <a:pt x="1367961" y="4292851"/>
                    </a:lnTo>
                    <a:cubicBezTo>
                      <a:pt x="1547536" y="4397074"/>
                      <a:pt x="1737427" y="4473674"/>
                      <a:pt x="1934442" y="4521394"/>
                    </a:cubicBezTo>
                    <a:lnTo>
                      <a:pt x="2017186" y="4779141"/>
                    </a:lnTo>
                    <a:cubicBezTo>
                      <a:pt x="2036569" y="4837452"/>
                      <a:pt x="2091118" y="4876800"/>
                      <a:pt x="2152650" y="4876800"/>
                    </a:cubicBezTo>
                    <a:lnTo>
                      <a:pt x="2724150" y="4876800"/>
                    </a:lnTo>
                    <a:cubicBezTo>
                      <a:pt x="2785682" y="4876800"/>
                      <a:pt x="2840241" y="4837452"/>
                      <a:pt x="2859634" y="4779131"/>
                    </a:cubicBezTo>
                    <a:lnTo>
                      <a:pt x="2942378" y="4521384"/>
                    </a:lnTo>
                    <a:cubicBezTo>
                      <a:pt x="3139393" y="4473664"/>
                      <a:pt x="3329283" y="4397064"/>
                      <a:pt x="3508858" y="4292841"/>
                    </a:cubicBezTo>
                    <a:lnTo>
                      <a:pt x="3807581" y="4392464"/>
                    </a:lnTo>
                    <a:cubicBezTo>
                      <a:pt x="3859063" y="4409485"/>
                      <a:pt x="3915718" y="4396093"/>
                      <a:pt x="3953808" y="4357859"/>
                    </a:cubicBezTo>
                    <a:lnTo>
                      <a:pt x="4357878" y="3953790"/>
                    </a:lnTo>
                    <a:cubicBezTo>
                      <a:pt x="4396112" y="3915556"/>
                      <a:pt x="4409504" y="3858911"/>
                      <a:pt x="4392483" y="3807562"/>
                    </a:cubicBezTo>
                    <a:lnTo>
                      <a:pt x="4292861" y="3508839"/>
                    </a:lnTo>
                    <a:cubicBezTo>
                      <a:pt x="4397083" y="3329264"/>
                      <a:pt x="4473683" y="3139373"/>
                      <a:pt x="4521403" y="2942358"/>
                    </a:cubicBezTo>
                    <a:lnTo>
                      <a:pt x="4779150" y="2859615"/>
                    </a:lnTo>
                    <a:cubicBezTo>
                      <a:pt x="4837452" y="2840241"/>
                      <a:pt x="4876800" y="2785682"/>
                      <a:pt x="4876800" y="2724150"/>
                    </a:cubicBezTo>
                    <a:lnTo>
                      <a:pt x="4876800" y="2152650"/>
                    </a:lnTo>
                    <a:cubicBezTo>
                      <a:pt x="4876800" y="2091118"/>
                      <a:pt x="4837452" y="2036569"/>
                      <a:pt x="4779131" y="2017166"/>
                    </a:cubicBezTo>
                    <a:close/>
                    <a:moveTo>
                      <a:pt x="2438400" y="4010025"/>
                    </a:moveTo>
                    <a:cubicBezTo>
                      <a:pt x="1571806" y="4010025"/>
                      <a:pt x="866775" y="3304994"/>
                      <a:pt x="866775" y="2438400"/>
                    </a:cubicBezTo>
                    <a:cubicBezTo>
                      <a:pt x="866775" y="1571806"/>
                      <a:pt x="1571806" y="866775"/>
                      <a:pt x="2438400" y="866775"/>
                    </a:cubicBezTo>
                    <a:cubicBezTo>
                      <a:pt x="3304994" y="866775"/>
                      <a:pt x="4010025" y="1571806"/>
                      <a:pt x="4010025" y="2438400"/>
                    </a:cubicBezTo>
                    <a:cubicBezTo>
                      <a:pt x="4010025" y="3304994"/>
                      <a:pt x="3304994" y="4010025"/>
                      <a:pt x="2438400" y="4010025"/>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154" name="Freeform: Shape 153">
                <a:extLst>
                  <a:ext uri="{FF2B5EF4-FFF2-40B4-BE49-F238E27FC236}">
                    <a16:creationId xmlns:a16="http://schemas.microsoft.com/office/drawing/2014/main" id="{F309F10A-6D3A-3CD9-9E9D-CEB8C62B976D}"/>
                  </a:ext>
                </a:extLst>
              </p:cNvPr>
              <p:cNvSpPr/>
              <p:nvPr/>
            </p:nvSpPr>
            <p:spPr>
              <a:xfrm>
                <a:off x="1297485" y="3827873"/>
                <a:ext cx="133997" cy="60110"/>
              </a:xfrm>
              <a:custGeom>
                <a:avLst/>
                <a:gdLst>
                  <a:gd name="connsiteX0" fmla="*/ 1647787 w 1905733"/>
                  <a:gd name="connsiteY0" fmla="*/ 0 h 854897"/>
                  <a:gd name="connsiteX1" fmla="*/ 952929 w 1905733"/>
                  <a:gd name="connsiteY1" fmla="*/ 283397 h 854897"/>
                  <a:gd name="connsiteX2" fmla="*/ 258051 w 1905733"/>
                  <a:gd name="connsiteY2" fmla="*/ 0 h 854897"/>
                  <a:gd name="connsiteX3" fmla="*/ 0 w 1905733"/>
                  <a:gd name="connsiteY3" fmla="*/ 424453 h 854897"/>
                  <a:gd name="connsiteX4" fmla="*/ 952929 w 1905733"/>
                  <a:gd name="connsiteY4" fmla="*/ 854897 h 854897"/>
                  <a:gd name="connsiteX5" fmla="*/ 1905734 w 1905733"/>
                  <a:gd name="connsiteY5" fmla="*/ 424596 h 854897"/>
                  <a:gd name="connsiteX6" fmla="*/ 1647787 w 1905733"/>
                  <a:gd name="connsiteY6" fmla="*/ 0 h 854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5733" h="854897">
                    <a:moveTo>
                      <a:pt x="1647787" y="0"/>
                    </a:moveTo>
                    <a:cubicBezTo>
                      <a:pt x="1467622" y="174688"/>
                      <a:pt x="1223048" y="283397"/>
                      <a:pt x="952929" y="283397"/>
                    </a:cubicBezTo>
                    <a:cubicBezTo>
                      <a:pt x="682809" y="283397"/>
                      <a:pt x="438198" y="174688"/>
                      <a:pt x="258051" y="0"/>
                    </a:cubicBezTo>
                    <a:cubicBezTo>
                      <a:pt x="140008" y="116700"/>
                      <a:pt x="49425" y="261337"/>
                      <a:pt x="0" y="424453"/>
                    </a:cubicBezTo>
                    <a:cubicBezTo>
                      <a:pt x="235572" y="686629"/>
                      <a:pt x="573519" y="854897"/>
                      <a:pt x="952929" y="854897"/>
                    </a:cubicBezTo>
                    <a:cubicBezTo>
                      <a:pt x="1332262" y="854897"/>
                      <a:pt x="1670180" y="686695"/>
                      <a:pt x="1905734" y="424596"/>
                    </a:cubicBezTo>
                    <a:cubicBezTo>
                      <a:pt x="1856356" y="261404"/>
                      <a:pt x="1765802" y="116710"/>
                      <a:pt x="1647787" y="0"/>
                    </a:cubicBezTo>
                    <a:close/>
                  </a:path>
                </a:pathLst>
              </a:custGeom>
              <a:solidFill>
                <a:srgbClr val="AA67C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sp>
          <p:nvSpPr>
            <p:cNvPr id="151" name="Freeform: Shape 150">
              <a:extLst>
                <a:ext uri="{FF2B5EF4-FFF2-40B4-BE49-F238E27FC236}">
                  <a16:creationId xmlns:a16="http://schemas.microsoft.com/office/drawing/2014/main" id="{88576740-53A8-7BF1-E630-3AD221C795CF}"/>
                </a:ext>
              </a:extLst>
            </p:cNvPr>
            <p:cNvSpPr/>
            <p:nvPr/>
          </p:nvSpPr>
          <p:spPr bwMode="auto">
            <a:xfrm>
              <a:off x="787659" y="1723688"/>
              <a:ext cx="2154852" cy="482457"/>
            </a:xfrm>
            <a:custGeom>
              <a:avLst/>
              <a:gdLst>
                <a:gd name="connsiteX0" fmla="*/ 135756 w 2154852"/>
                <a:gd name="connsiteY0" fmla="*/ 0 h 482457"/>
                <a:gd name="connsiteX1" fmla="*/ 2019096 w 2154852"/>
                <a:gd name="connsiteY1" fmla="*/ 0 h 482457"/>
                <a:gd name="connsiteX2" fmla="*/ 2154852 w 2154852"/>
                <a:gd name="connsiteY2" fmla="*/ 135756 h 482457"/>
                <a:gd name="connsiteX3" fmla="*/ 2154852 w 2154852"/>
                <a:gd name="connsiteY3" fmla="*/ 482457 h 482457"/>
                <a:gd name="connsiteX4" fmla="*/ 2133720 w 2154852"/>
                <a:gd name="connsiteY4" fmla="*/ 478190 h 482457"/>
                <a:gd name="connsiteX5" fmla="*/ 21132 w 2154852"/>
                <a:gd name="connsiteY5" fmla="*/ 478190 h 482457"/>
                <a:gd name="connsiteX6" fmla="*/ 0 w 2154852"/>
                <a:gd name="connsiteY6" fmla="*/ 482457 h 482457"/>
                <a:gd name="connsiteX7" fmla="*/ 0 w 2154852"/>
                <a:gd name="connsiteY7" fmla="*/ 135756 h 482457"/>
                <a:gd name="connsiteX8" fmla="*/ 135756 w 2154852"/>
                <a:gd name="connsiteY8" fmla="*/ 0 h 48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852" h="482457">
                  <a:moveTo>
                    <a:pt x="135756" y="0"/>
                  </a:moveTo>
                  <a:lnTo>
                    <a:pt x="2019096" y="0"/>
                  </a:lnTo>
                  <a:cubicBezTo>
                    <a:pt x="2094072" y="0"/>
                    <a:pt x="2154852" y="60780"/>
                    <a:pt x="2154852" y="135756"/>
                  </a:cubicBezTo>
                  <a:lnTo>
                    <a:pt x="2154852" y="482457"/>
                  </a:lnTo>
                  <a:lnTo>
                    <a:pt x="2133720" y="478190"/>
                  </a:lnTo>
                  <a:lnTo>
                    <a:pt x="21132" y="478190"/>
                  </a:lnTo>
                  <a:lnTo>
                    <a:pt x="0" y="482457"/>
                  </a:lnTo>
                  <a:lnTo>
                    <a:pt x="0" y="135756"/>
                  </a:lnTo>
                  <a:cubicBezTo>
                    <a:pt x="0" y="60780"/>
                    <a:pt x="60780" y="0"/>
                    <a:pt x="135756" y="0"/>
                  </a:cubicBezTo>
                  <a:close/>
                </a:path>
              </a:pathLst>
            </a:custGeom>
            <a:solidFill>
              <a:srgbClr val="C03BC4">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Segoe UI Semibold"/>
                  <a:ea typeface="+mn-ea"/>
                  <a:cs typeface="+mn-cs"/>
                </a:rPr>
                <a:t>Intelligent Apps</a:t>
              </a:r>
            </a:p>
          </p:txBody>
        </p:sp>
      </p:grpSp>
      <p:sp>
        <p:nvSpPr>
          <p:cNvPr id="176" name="Rectangle: Rounded Corners 175">
            <a:extLst>
              <a:ext uri="{FF2B5EF4-FFF2-40B4-BE49-F238E27FC236}">
                <a16:creationId xmlns:a16="http://schemas.microsoft.com/office/drawing/2014/main" id="{3500D50F-8A23-CD65-3291-94B7BB356C31}"/>
              </a:ext>
            </a:extLst>
          </p:cNvPr>
          <p:cNvSpPr/>
          <p:nvPr/>
        </p:nvSpPr>
        <p:spPr bwMode="auto">
          <a:xfrm>
            <a:off x="9118341" y="2564484"/>
            <a:ext cx="2417148" cy="3688080"/>
          </a:xfrm>
          <a:prstGeom prst="roundRect">
            <a:avLst>
              <a:gd name="adj" fmla="val 6300"/>
            </a:avLst>
          </a:prstGeom>
          <a:gradFill flip="none" rotWithShape="1">
            <a:gsLst>
              <a:gs pos="0">
                <a:srgbClr val="FFFFFF">
                  <a:alpha val="70000"/>
                </a:srgbClr>
              </a:gs>
              <a:gs pos="55132">
                <a:srgbClr val="FFFFFF"/>
              </a:gs>
              <a:gs pos="21000">
                <a:srgbClr val="FFFFFF"/>
              </a:gs>
              <a:gs pos="89000">
                <a:srgbClr val="FCF5FC"/>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77" name="Rectangle: Rounded Corners 176">
            <a:extLst>
              <a:ext uri="{FF2B5EF4-FFF2-40B4-BE49-F238E27FC236}">
                <a16:creationId xmlns:a16="http://schemas.microsoft.com/office/drawing/2014/main" id="{51358E50-8F7C-C868-448C-92869A5C520F}"/>
              </a:ext>
            </a:extLst>
          </p:cNvPr>
          <p:cNvSpPr/>
          <p:nvPr/>
        </p:nvSpPr>
        <p:spPr bwMode="auto">
          <a:xfrm>
            <a:off x="9249489" y="2707168"/>
            <a:ext cx="2154852" cy="3550920"/>
          </a:xfrm>
          <a:prstGeom prst="roundRect">
            <a:avLst>
              <a:gd name="adj" fmla="val 6300"/>
            </a:avLst>
          </a:prstGeom>
          <a:gradFill flip="none" rotWithShape="1">
            <a:gsLst>
              <a:gs pos="0">
                <a:srgbClr val="FFFFFF">
                  <a:alpha val="70000"/>
                </a:srgbClr>
              </a:gs>
              <a:gs pos="55132">
                <a:srgbClr val="FFFFFF">
                  <a:alpha val="28000"/>
                </a:srgbClr>
              </a:gs>
              <a:gs pos="21000">
                <a:srgbClr val="FFFFFF">
                  <a:alpha val="50000"/>
                </a:srgbClr>
              </a:gs>
              <a:gs pos="78000">
                <a:srgbClr val="FCF5FC"/>
              </a:gs>
              <a:gs pos="100000">
                <a:srgbClr val="FFFFFF">
                  <a:alpha val="0"/>
                </a:srgbClr>
              </a:gs>
            </a:gsLst>
            <a:lin ang="5400000" scaled="1"/>
            <a:tileRect/>
          </a:gra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178" name="TextBox 177">
            <a:extLst>
              <a:ext uri="{FF2B5EF4-FFF2-40B4-BE49-F238E27FC236}">
                <a16:creationId xmlns:a16="http://schemas.microsoft.com/office/drawing/2014/main" id="{2D7FBB4C-8258-8EA4-0A12-134DB02335BC}"/>
              </a:ext>
              <a:ext uri="{C183D7F6-B498-43B3-948B-1728B52AA6E4}">
                <adec:decorative xmlns:adec="http://schemas.microsoft.com/office/drawing/2017/decorative" val="1"/>
              </a:ext>
            </a:extLst>
          </p:cNvPr>
          <p:cNvSpPr txBox="1"/>
          <p:nvPr/>
        </p:nvSpPr>
        <p:spPr>
          <a:xfrm>
            <a:off x="10238121" y="5875743"/>
            <a:ext cx="1107277" cy="184666"/>
          </a:xfrm>
          <a:prstGeom prst="rect">
            <a:avLst/>
          </a:prstGeom>
          <a:noFill/>
        </p:spPr>
        <p:txBody>
          <a:bodyPr wrap="square" lIns="0" tIns="0" rIns="0" bIns="0" rtlCol="0">
            <a:spAutoFit/>
          </a:bodyPr>
          <a:lstStyle/>
          <a:p>
            <a:pPr algn="ctr" defTabSz="914367">
              <a:defRPr/>
            </a:pPr>
            <a:r>
              <a:rPr lang="en-GB" sz="1200" noProof="0">
                <a:ln w="3175">
                  <a:noFill/>
                </a:ln>
                <a:solidFill>
                  <a:srgbClr val="000000"/>
                </a:solidFill>
                <a:latin typeface="Segoe UI"/>
                <a:cs typeface="Segoe UI" pitchFamily="34" charset="0"/>
              </a:rPr>
              <a:t>and more!</a:t>
            </a:r>
          </a:p>
        </p:txBody>
      </p:sp>
      <p:grpSp>
        <p:nvGrpSpPr>
          <p:cNvPr id="179" name="Group 178">
            <a:extLst>
              <a:ext uri="{FF2B5EF4-FFF2-40B4-BE49-F238E27FC236}">
                <a16:creationId xmlns:a16="http://schemas.microsoft.com/office/drawing/2014/main" id="{B27CA2D6-8F17-64DE-F118-7879E03EFE03}"/>
              </a:ext>
            </a:extLst>
          </p:cNvPr>
          <p:cNvGrpSpPr/>
          <p:nvPr/>
        </p:nvGrpSpPr>
        <p:grpSpPr>
          <a:xfrm>
            <a:off x="9312926" y="4653301"/>
            <a:ext cx="1107277" cy="664753"/>
            <a:chOff x="9442597" y="3284277"/>
            <a:chExt cx="1107277" cy="664753"/>
          </a:xfrm>
        </p:grpSpPr>
        <p:pic>
          <p:nvPicPr>
            <p:cNvPr id="180" name="Picture 4" descr="News | Mistral AI | Open-weight models">
              <a:extLst>
                <a:ext uri="{FF2B5EF4-FFF2-40B4-BE49-F238E27FC236}">
                  <a16:creationId xmlns:a16="http://schemas.microsoft.com/office/drawing/2014/main" id="{3152E470-54C9-29C9-D3FB-9E71BDCEF3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57717" y="3284277"/>
              <a:ext cx="625106" cy="400068"/>
            </a:xfrm>
            <a:prstGeom prst="rect">
              <a:avLst/>
            </a:prstGeom>
            <a:noFill/>
            <a:extLst>
              <a:ext uri="{909E8E84-426E-40DD-AFC4-6F175D3DCCD1}">
                <a14:hiddenFill xmlns:a14="http://schemas.microsoft.com/office/drawing/2010/main">
                  <a:solidFill>
                    <a:srgbClr val="FFFFFF"/>
                  </a:solidFill>
                </a14:hiddenFill>
              </a:ext>
            </a:extLst>
          </p:spPr>
        </p:pic>
        <p:sp>
          <p:nvSpPr>
            <p:cNvPr id="181" name="TextBox 180">
              <a:extLst>
                <a:ext uri="{FF2B5EF4-FFF2-40B4-BE49-F238E27FC236}">
                  <a16:creationId xmlns:a16="http://schemas.microsoft.com/office/drawing/2014/main" id="{5C47673E-A891-65CD-459E-6167B1EA2F5D}"/>
                </a:ext>
                <a:ext uri="{C183D7F6-B498-43B3-948B-1728B52AA6E4}">
                  <adec:decorative xmlns:adec="http://schemas.microsoft.com/office/drawing/2017/decorative" val="1"/>
                </a:ext>
              </a:extLst>
            </p:cNvPr>
            <p:cNvSpPr txBox="1"/>
            <p:nvPr/>
          </p:nvSpPr>
          <p:spPr>
            <a:xfrm>
              <a:off x="9442597" y="3764364"/>
              <a:ext cx="1107277" cy="184666"/>
            </a:xfrm>
            <a:prstGeom prst="rect">
              <a:avLst/>
            </a:prstGeom>
            <a:noFill/>
          </p:spPr>
          <p:txBody>
            <a:bodyPr wrap="square" lIns="0" tIns="0" rIns="0" bIns="0" rtlCol="0">
              <a:spAutoFit/>
            </a:bodyPr>
            <a:lstStyle/>
            <a:p>
              <a:pPr algn="ctr" defTabSz="914367">
                <a:defRPr/>
              </a:pPr>
              <a:r>
                <a:rPr lang="en-GB" sz="1200" noProof="0">
                  <a:ln w="3175">
                    <a:noFill/>
                  </a:ln>
                  <a:solidFill>
                    <a:srgbClr val="000000"/>
                  </a:solidFill>
                  <a:latin typeface="Segoe UI"/>
                  <a:cs typeface="Segoe UI" pitchFamily="34" charset="0"/>
                </a:rPr>
                <a:t>Mistral</a:t>
              </a:r>
            </a:p>
          </p:txBody>
        </p:sp>
      </p:grpSp>
      <p:grpSp>
        <p:nvGrpSpPr>
          <p:cNvPr id="182" name="Group 181">
            <a:extLst>
              <a:ext uri="{FF2B5EF4-FFF2-40B4-BE49-F238E27FC236}">
                <a16:creationId xmlns:a16="http://schemas.microsoft.com/office/drawing/2014/main" id="{C5AB8C89-4991-C5B5-05E4-F46EF0E5588F}"/>
              </a:ext>
            </a:extLst>
          </p:cNvPr>
          <p:cNvGrpSpPr/>
          <p:nvPr/>
        </p:nvGrpSpPr>
        <p:grpSpPr>
          <a:xfrm>
            <a:off x="10238121" y="3820885"/>
            <a:ext cx="1107277" cy="740681"/>
            <a:chOff x="9442597" y="4928726"/>
            <a:chExt cx="1107277" cy="740681"/>
          </a:xfrm>
        </p:grpSpPr>
        <p:pic>
          <p:nvPicPr>
            <p:cNvPr id="183" name="Picture 182" descr="A yellow emoji with hands on it  Description automatically generated">
              <a:extLst>
                <a:ext uri="{FF2B5EF4-FFF2-40B4-BE49-F238E27FC236}">
                  <a16:creationId xmlns:a16="http://schemas.microsoft.com/office/drawing/2014/main" id="{ED678D3A-E3F5-3A94-3859-BEE3D106774E}"/>
                </a:ext>
              </a:extLst>
            </p:cNvPr>
            <p:cNvPicPr>
              <a:picLocks noChangeAspect="1"/>
            </p:cNvPicPr>
            <p:nvPr/>
          </p:nvPicPr>
          <p:blipFill>
            <a:blip r:embed="rId5"/>
            <a:stretch>
              <a:fillRect/>
            </a:stretch>
          </p:blipFill>
          <p:spPr>
            <a:xfrm>
              <a:off x="9673538" y="4928726"/>
              <a:ext cx="593467" cy="551924"/>
            </a:xfrm>
            <a:prstGeom prst="rect">
              <a:avLst/>
            </a:prstGeom>
          </p:spPr>
        </p:pic>
        <p:sp>
          <p:nvSpPr>
            <p:cNvPr id="184" name="TextBox 183">
              <a:extLst>
                <a:ext uri="{FF2B5EF4-FFF2-40B4-BE49-F238E27FC236}">
                  <a16:creationId xmlns:a16="http://schemas.microsoft.com/office/drawing/2014/main" id="{4B78CFF7-1A43-93DB-8178-B10B3402A561}"/>
                </a:ext>
                <a:ext uri="{C183D7F6-B498-43B3-948B-1728B52AA6E4}">
                  <adec:decorative xmlns:adec="http://schemas.microsoft.com/office/drawing/2017/decorative" val="1"/>
                </a:ext>
              </a:extLst>
            </p:cNvPr>
            <p:cNvSpPr txBox="1"/>
            <p:nvPr/>
          </p:nvSpPr>
          <p:spPr>
            <a:xfrm>
              <a:off x="9442597" y="5484741"/>
              <a:ext cx="1107277" cy="184666"/>
            </a:xfrm>
            <a:prstGeom prst="rect">
              <a:avLst/>
            </a:prstGeom>
            <a:noFill/>
          </p:spPr>
          <p:txBody>
            <a:bodyPr wrap="square" lIns="0" tIns="0" rIns="0" bIns="0" rtlCol="0">
              <a:spAutoFit/>
            </a:bodyPr>
            <a:lstStyle/>
            <a:p>
              <a:pPr algn="ctr" defTabSz="914367">
                <a:defRPr/>
              </a:pPr>
              <a:r>
                <a:rPr lang="en-GB" sz="1200" noProof="0">
                  <a:ln w="3175">
                    <a:noFill/>
                  </a:ln>
                  <a:solidFill>
                    <a:srgbClr val="000000"/>
                  </a:solidFill>
                  <a:latin typeface="Segoe UI"/>
                  <a:cs typeface="Segoe UI" pitchFamily="34" charset="0"/>
                </a:rPr>
                <a:t>Hugging Face</a:t>
              </a:r>
            </a:p>
          </p:txBody>
        </p:sp>
      </p:grpSp>
      <p:grpSp>
        <p:nvGrpSpPr>
          <p:cNvPr id="185" name="Group 184">
            <a:extLst>
              <a:ext uri="{FF2B5EF4-FFF2-40B4-BE49-F238E27FC236}">
                <a16:creationId xmlns:a16="http://schemas.microsoft.com/office/drawing/2014/main" id="{EAA0795E-D710-A8AA-FA76-9B07DB7402D4}"/>
              </a:ext>
            </a:extLst>
          </p:cNvPr>
          <p:cNvGrpSpPr/>
          <p:nvPr/>
        </p:nvGrpSpPr>
        <p:grpSpPr>
          <a:xfrm>
            <a:off x="9312926" y="3866881"/>
            <a:ext cx="1107277" cy="691012"/>
            <a:chOff x="9442597" y="2497857"/>
            <a:chExt cx="1107277" cy="691012"/>
          </a:xfrm>
        </p:grpSpPr>
        <p:sp>
          <p:nvSpPr>
            <p:cNvPr id="186" name="TextBox 185">
              <a:extLst>
                <a:ext uri="{FF2B5EF4-FFF2-40B4-BE49-F238E27FC236}">
                  <a16:creationId xmlns:a16="http://schemas.microsoft.com/office/drawing/2014/main" id="{F693EB05-AA68-B087-D71D-B77A7B2D9027}"/>
                </a:ext>
                <a:ext uri="{C183D7F6-B498-43B3-948B-1728B52AA6E4}">
                  <adec:decorative xmlns:adec="http://schemas.microsoft.com/office/drawing/2017/decorative" val="1"/>
                </a:ext>
              </a:extLst>
            </p:cNvPr>
            <p:cNvSpPr txBox="1"/>
            <p:nvPr/>
          </p:nvSpPr>
          <p:spPr>
            <a:xfrm>
              <a:off x="9442597" y="3004203"/>
              <a:ext cx="1107277" cy="184666"/>
            </a:xfrm>
            <a:prstGeom prst="rect">
              <a:avLst/>
            </a:prstGeom>
            <a:noFill/>
          </p:spPr>
          <p:txBody>
            <a:bodyPr wrap="square" lIns="0" tIns="0" rIns="0" bIns="0" rtlCol="0">
              <a:spAutoFit/>
            </a:bodyPr>
            <a:lstStyle/>
            <a:p>
              <a:pPr algn="ctr" defTabSz="914367">
                <a:defRPr/>
              </a:pPr>
              <a:r>
                <a:rPr lang="en-GB" sz="1200" noProof="0">
                  <a:ln w="3175">
                    <a:noFill/>
                  </a:ln>
                  <a:solidFill>
                    <a:srgbClr val="000000"/>
                  </a:solidFill>
                  <a:latin typeface="Segoe UI"/>
                  <a:cs typeface="Segoe UI" pitchFamily="34" charset="0"/>
                </a:rPr>
                <a:t>OpenAI</a:t>
              </a:r>
            </a:p>
          </p:txBody>
        </p:sp>
        <p:pic>
          <p:nvPicPr>
            <p:cNvPr id="187" name="Picture 186" descr="A black background with a black square  Description automatically generated with medium confidence">
              <a:extLst>
                <a:ext uri="{FF2B5EF4-FFF2-40B4-BE49-F238E27FC236}">
                  <a16:creationId xmlns:a16="http://schemas.microsoft.com/office/drawing/2014/main" id="{5AF3B384-8840-7F0E-97C2-0EE8FC2E93D1}"/>
                </a:ext>
              </a:extLst>
            </p:cNvPr>
            <p:cNvPicPr>
              <a:picLocks noChangeAspect="1"/>
            </p:cNvPicPr>
            <p:nvPr/>
          </p:nvPicPr>
          <p:blipFill>
            <a:blip r:embed="rId6"/>
            <a:stretch>
              <a:fillRect/>
            </a:stretch>
          </p:blipFill>
          <p:spPr>
            <a:xfrm>
              <a:off x="9746850" y="2497857"/>
              <a:ext cx="446845" cy="452591"/>
            </a:xfrm>
            <a:prstGeom prst="rect">
              <a:avLst/>
            </a:prstGeom>
          </p:spPr>
        </p:pic>
      </p:grpSp>
      <p:grpSp>
        <p:nvGrpSpPr>
          <p:cNvPr id="188" name="Group 187">
            <a:extLst>
              <a:ext uri="{FF2B5EF4-FFF2-40B4-BE49-F238E27FC236}">
                <a16:creationId xmlns:a16="http://schemas.microsoft.com/office/drawing/2014/main" id="{D7C84D94-0962-DA1A-BE03-8731AB66D5B4}"/>
              </a:ext>
            </a:extLst>
          </p:cNvPr>
          <p:cNvGrpSpPr/>
          <p:nvPr/>
        </p:nvGrpSpPr>
        <p:grpSpPr>
          <a:xfrm>
            <a:off x="9308430" y="5425060"/>
            <a:ext cx="1107277" cy="631423"/>
            <a:chOff x="10367792" y="2557446"/>
            <a:chExt cx="1107277" cy="631423"/>
          </a:xfrm>
        </p:grpSpPr>
        <p:sp>
          <p:nvSpPr>
            <p:cNvPr id="189" name="TextBox 188">
              <a:extLst>
                <a:ext uri="{FF2B5EF4-FFF2-40B4-BE49-F238E27FC236}">
                  <a16:creationId xmlns:a16="http://schemas.microsoft.com/office/drawing/2014/main" id="{C6B5FA3F-F0DA-D0F6-567A-42D65B844BF6}"/>
                </a:ext>
                <a:ext uri="{C183D7F6-B498-43B3-948B-1728B52AA6E4}">
                  <adec:decorative xmlns:adec="http://schemas.microsoft.com/office/drawing/2017/decorative" val="1"/>
                </a:ext>
              </a:extLst>
            </p:cNvPr>
            <p:cNvSpPr txBox="1"/>
            <p:nvPr/>
          </p:nvSpPr>
          <p:spPr>
            <a:xfrm>
              <a:off x="10367792" y="3004203"/>
              <a:ext cx="1107277" cy="184666"/>
            </a:xfrm>
            <a:prstGeom prst="rect">
              <a:avLst/>
            </a:prstGeom>
            <a:noFill/>
          </p:spPr>
          <p:txBody>
            <a:bodyPr wrap="square" lIns="0" tIns="0" rIns="0" bIns="0" rtlCol="0">
              <a:spAutoFit/>
            </a:bodyPr>
            <a:lstStyle/>
            <a:p>
              <a:pPr algn="ctr" defTabSz="914367">
                <a:defRPr/>
              </a:pPr>
              <a:r>
                <a:rPr lang="en-GB" sz="1200" noProof="0" err="1">
                  <a:ln w="3175">
                    <a:noFill/>
                  </a:ln>
                  <a:solidFill>
                    <a:srgbClr val="000000"/>
                  </a:solidFill>
                  <a:latin typeface="Segoe UI"/>
                  <a:cs typeface="Segoe UI" pitchFamily="34" charset="0"/>
                </a:rPr>
                <a:t>LLaMa</a:t>
              </a:r>
              <a:endParaRPr lang="en-GB" sz="1200" noProof="0">
                <a:ln w="3175">
                  <a:noFill/>
                </a:ln>
                <a:solidFill>
                  <a:srgbClr val="000000"/>
                </a:solidFill>
                <a:latin typeface="Segoe UI"/>
                <a:cs typeface="Segoe UI" pitchFamily="34" charset="0"/>
              </a:endParaRPr>
            </a:p>
          </p:txBody>
        </p:sp>
        <p:pic>
          <p:nvPicPr>
            <p:cNvPr id="190" name="Picture 2" descr="Meta Logo and symbol, meaning, history, PNG">
              <a:extLst>
                <a:ext uri="{FF2B5EF4-FFF2-40B4-BE49-F238E27FC236}">
                  <a16:creationId xmlns:a16="http://schemas.microsoft.com/office/drawing/2014/main" id="{FB0B9C62-0B69-2A9A-99F3-8E9580B7B7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99104" y="2557446"/>
              <a:ext cx="592723" cy="3334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1" name="Group 190">
            <a:extLst>
              <a:ext uri="{FF2B5EF4-FFF2-40B4-BE49-F238E27FC236}">
                <a16:creationId xmlns:a16="http://schemas.microsoft.com/office/drawing/2014/main" id="{A1563A2C-EF4C-0B91-57B3-A2D63817FDA5}"/>
              </a:ext>
            </a:extLst>
          </p:cNvPr>
          <p:cNvGrpSpPr/>
          <p:nvPr/>
        </p:nvGrpSpPr>
        <p:grpSpPr>
          <a:xfrm>
            <a:off x="10238121" y="4523478"/>
            <a:ext cx="1107277" cy="794576"/>
            <a:chOff x="10367792" y="3154454"/>
            <a:chExt cx="1107277" cy="794576"/>
          </a:xfrm>
        </p:grpSpPr>
        <p:sp>
          <p:nvSpPr>
            <p:cNvPr id="192" name="TextBox 191">
              <a:extLst>
                <a:ext uri="{FF2B5EF4-FFF2-40B4-BE49-F238E27FC236}">
                  <a16:creationId xmlns:a16="http://schemas.microsoft.com/office/drawing/2014/main" id="{B66F7AFF-2C6F-099D-1C2B-525EBCC02024}"/>
                </a:ext>
                <a:ext uri="{C183D7F6-B498-43B3-948B-1728B52AA6E4}">
                  <adec:decorative xmlns:adec="http://schemas.microsoft.com/office/drawing/2017/decorative" val="1"/>
                </a:ext>
              </a:extLst>
            </p:cNvPr>
            <p:cNvSpPr txBox="1"/>
            <p:nvPr/>
          </p:nvSpPr>
          <p:spPr>
            <a:xfrm>
              <a:off x="10367792" y="3764364"/>
              <a:ext cx="1107277" cy="184666"/>
            </a:xfrm>
            <a:prstGeom prst="rect">
              <a:avLst/>
            </a:prstGeom>
            <a:noFill/>
          </p:spPr>
          <p:txBody>
            <a:bodyPr wrap="square" lIns="0" tIns="0" rIns="0" bIns="0" rtlCol="0">
              <a:spAutoFit/>
            </a:bodyPr>
            <a:lstStyle/>
            <a:p>
              <a:pPr algn="ctr" defTabSz="914367">
                <a:defRPr/>
              </a:pPr>
              <a:r>
                <a:rPr lang="en-GB" sz="1200" noProof="0">
                  <a:ln w="3175">
                    <a:noFill/>
                  </a:ln>
                  <a:solidFill>
                    <a:srgbClr val="000000"/>
                  </a:solidFill>
                  <a:latin typeface="Segoe UI"/>
                  <a:cs typeface="Segoe UI" pitchFamily="34" charset="0"/>
                </a:rPr>
                <a:t>Cohere</a:t>
              </a:r>
            </a:p>
          </p:txBody>
        </p:sp>
        <p:pic>
          <p:nvPicPr>
            <p:cNvPr id="193" name="Picture 6" descr="AI Development Cloud Platform | Deploy &amp; Manage AI Logic">
              <a:extLst>
                <a:ext uri="{FF2B5EF4-FFF2-40B4-BE49-F238E27FC236}">
                  <a16:creationId xmlns:a16="http://schemas.microsoft.com/office/drawing/2014/main" id="{B0959D40-D8E5-D30C-04D0-6AD33264B7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73931" y="3154454"/>
              <a:ext cx="643068" cy="6597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4" name="Group 193">
            <a:extLst>
              <a:ext uri="{FF2B5EF4-FFF2-40B4-BE49-F238E27FC236}">
                <a16:creationId xmlns:a16="http://schemas.microsoft.com/office/drawing/2014/main" id="{B8359D70-D620-0C1C-0967-52A63B0C57B8}"/>
              </a:ext>
            </a:extLst>
          </p:cNvPr>
          <p:cNvGrpSpPr/>
          <p:nvPr/>
        </p:nvGrpSpPr>
        <p:grpSpPr>
          <a:xfrm>
            <a:off x="9312926" y="2821445"/>
            <a:ext cx="2032472" cy="904032"/>
            <a:chOff x="9442597" y="3989824"/>
            <a:chExt cx="2032472" cy="904032"/>
          </a:xfrm>
        </p:grpSpPr>
        <p:sp>
          <p:nvSpPr>
            <p:cNvPr id="195" name="TextBox 194">
              <a:extLst>
                <a:ext uri="{FF2B5EF4-FFF2-40B4-BE49-F238E27FC236}">
                  <a16:creationId xmlns:a16="http://schemas.microsoft.com/office/drawing/2014/main" id="{8876507D-6DE0-858E-5B79-6C2B46CF676A}"/>
                </a:ext>
                <a:ext uri="{C183D7F6-B498-43B3-948B-1728B52AA6E4}">
                  <adec:decorative xmlns:adec="http://schemas.microsoft.com/office/drawing/2017/decorative" val="1"/>
                </a:ext>
              </a:extLst>
            </p:cNvPr>
            <p:cNvSpPr txBox="1"/>
            <p:nvPr/>
          </p:nvSpPr>
          <p:spPr>
            <a:xfrm>
              <a:off x="10367792" y="4524524"/>
              <a:ext cx="1107277" cy="369332"/>
            </a:xfrm>
            <a:prstGeom prst="rect">
              <a:avLst/>
            </a:prstGeom>
            <a:noFill/>
          </p:spPr>
          <p:txBody>
            <a:bodyPr wrap="square" lIns="0" tIns="0" rIns="0" bIns="0" rtlCol="0">
              <a:spAutoFit/>
            </a:bodyPr>
            <a:lstStyle/>
            <a:p>
              <a:pPr algn="ctr" defTabSz="914367">
                <a:defRPr/>
              </a:pPr>
              <a:r>
                <a:rPr lang="en-GB" sz="1200" noProof="0">
                  <a:ln w="3175">
                    <a:noFill/>
                  </a:ln>
                  <a:solidFill>
                    <a:srgbClr val="000000"/>
                  </a:solidFill>
                  <a:latin typeface="Segoe UI"/>
                  <a:cs typeface="Segoe UI" pitchFamily="34" charset="0"/>
                </a:rPr>
                <a:t>Azure </a:t>
              </a:r>
              <a:br>
                <a:rPr lang="en-GB" sz="1200" noProof="0">
                  <a:ln w="3175">
                    <a:noFill/>
                  </a:ln>
                  <a:solidFill>
                    <a:srgbClr val="000000"/>
                  </a:solidFill>
                  <a:latin typeface="Segoe UI"/>
                  <a:cs typeface="Segoe UI" pitchFamily="34" charset="0"/>
                </a:rPr>
              </a:br>
              <a:r>
                <a:rPr lang="en-GB" sz="1200" noProof="0">
                  <a:ln w="3175">
                    <a:noFill/>
                  </a:ln>
                  <a:solidFill>
                    <a:srgbClr val="000000"/>
                  </a:solidFill>
                  <a:latin typeface="Segoe UI"/>
                  <a:cs typeface="Segoe UI" pitchFamily="34" charset="0"/>
                </a:rPr>
                <a:t>AI Search</a:t>
              </a:r>
            </a:p>
          </p:txBody>
        </p:sp>
        <p:sp>
          <p:nvSpPr>
            <p:cNvPr id="197" name="TextBox 196">
              <a:extLst>
                <a:ext uri="{FF2B5EF4-FFF2-40B4-BE49-F238E27FC236}">
                  <a16:creationId xmlns:a16="http://schemas.microsoft.com/office/drawing/2014/main" id="{826FFF91-111F-7978-C63C-110FBA2AA86E}"/>
                </a:ext>
                <a:ext uri="{C183D7F6-B498-43B3-948B-1728B52AA6E4}">
                  <adec:decorative xmlns:adec="http://schemas.microsoft.com/office/drawing/2017/decorative" val="1"/>
                </a:ext>
              </a:extLst>
            </p:cNvPr>
            <p:cNvSpPr txBox="1"/>
            <p:nvPr/>
          </p:nvSpPr>
          <p:spPr>
            <a:xfrm>
              <a:off x="9442597" y="4524524"/>
              <a:ext cx="1107277" cy="369332"/>
            </a:xfrm>
            <a:prstGeom prst="rect">
              <a:avLst/>
            </a:prstGeom>
            <a:noFill/>
          </p:spPr>
          <p:txBody>
            <a:bodyPr wrap="square" lIns="0" tIns="0" rIns="0" bIns="0" rtlCol="0">
              <a:spAutoFit/>
            </a:bodyPr>
            <a:lstStyle/>
            <a:p>
              <a:pPr algn="ctr" defTabSz="914367">
                <a:defRPr/>
              </a:pPr>
              <a:r>
                <a:rPr lang="en-GB" sz="1200" noProof="0">
                  <a:ln w="3175">
                    <a:noFill/>
                  </a:ln>
                  <a:solidFill>
                    <a:srgbClr val="000000"/>
                  </a:solidFill>
                  <a:latin typeface="Segoe UI"/>
                  <a:cs typeface="Segoe UI" pitchFamily="34" charset="0"/>
                </a:rPr>
                <a:t>Microsoft Foundry</a:t>
              </a:r>
            </a:p>
          </p:txBody>
        </p:sp>
        <p:pic>
          <p:nvPicPr>
            <p:cNvPr id="198" name="Picture 2" descr="Azure AI search logo">
              <a:extLst>
                <a:ext uri="{FF2B5EF4-FFF2-40B4-BE49-F238E27FC236}">
                  <a16:creationId xmlns:a16="http://schemas.microsoft.com/office/drawing/2014/main" id="{B993D577-BA5B-3B49-04E5-3C27FF182256}"/>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9412" r="19412"/>
            <a:stretch/>
          </p:blipFill>
          <p:spPr bwMode="auto">
            <a:xfrm>
              <a:off x="10598733" y="3989824"/>
              <a:ext cx="593467" cy="5092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9" name="Group 198">
            <a:extLst>
              <a:ext uri="{FF2B5EF4-FFF2-40B4-BE49-F238E27FC236}">
                <a16:creationId xmlns:a16="http://schemas.microsoft.com/office/drawing/2014/main" id="{C6EE6028-AA85-5ABB-336D-86CAF31AE7A5}"/>
              </a:ext>
            </a:extLst>
          </p:cNvPr>
          <p:cNvGrpSpPr/>
          <p:nvPr/>
        </p:nvGrpSpPr>
        <p:grpSpPr>
          <a:xfrm>
            <a:off x="10611050" y="5440957"/>
            <a:ext cx="309488" cy="309488"/>
            <a:chOff x="3721100" y="3446945"/>
            <a:chExt cx="309488" cy="309488"/>
          </a:xfrm>
          <a:solidFill>
            <a:srgbClr val="0078D4"/>
          </a:solidFill>
        </p:grpSpPr>
        <p:sp>
          <p:nvSpPr>
            <p:cNvPr id="200" name="Rectangle: Rounded Corners 199">
              <a:extLst>
                <a:ext uri="{FF2B5EF4-FFF2-40B4-BE49-F238E27FC236}">
                  <a16:creationId xmlns:a16="http://schemas.microsoft.com/office/drawing/2014/main" id="{6D8ADA5D-B5F3-0AEA-98E5-28CFD2FB7242}"/>
                </a:ext>
              </a:extLst>
            </p:cNvPr>
            <p:cNvSpPr/>
            <p:nvPr/>
          </p:nvSpPr>
          <p:spPr bwMode="auto">
            <a:xfrm>
              <a:off x="3721100" y="3567208"/>
              <a:ext cx="309488" cy="68961"/>
            </a:xfrm>
            <a:prstGeom prst="roundRect">
              <a:avLst>
                <a:gd name="adj" fmla="val 50000"/>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201" name="Rectangle: Rounded Corners 200">
              <a:extLst>
                <a:ext uri="{FF2B5EF4-FFF2-40B4-BE49-F238E27FC236}">
                  <a16:creationId xmlns:a16="http://schemas.microsoft.com/office/drawing/2014/main" id="{9A3B7340-E614-53F0-6B6E-EDF6CDE49637}"/>
                </a:ext>
              </a:extLst>
            </p:cNvPr>
            <p:cNvSpPr/>
            <p:nvPr/>
          </p:nvSpPr>
          <p:spPr bwMode="auto">
            <a:xfrm rot="5400000">
              <a:off x="3721100" y="3567208"/>
              <a:ext cx="309488" cy="68961"/>
            </a:xfrm>
            <a:prstGeom prst="roundRect">
              <a:avLst>
                <a:gd name="adj" fmla="val 50000"/>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grpSp>
      <p:sp>
        <p:nvSpPr>
          <p:cNvPr id="202" name="Freeform: Shape 201">
            <a:extLst>
              <a:ext uri="{FF2B5EF4-FFF2-40B4-BE49-F238E27FC236}">
                <a16:creationId xmlns:a16="http://schemas.microsoft.com/office/drawing/2014/main" id="{3055F772-89A5-4E28-98AA-DD774254D29C}"/>
              </a:ext>
            </a:extLst>
          </p:cNvPr>
          <p:cNvSpPr/>
          <p:nvPr/>
        </p:nvSpPr>
        <p:spPr bwMode="auto">
          <a:xfrm>
            <a:off x="9249489" y="2086294"/>
            <a:ext cx="2154852" cy="482457"/>
          </a:xfrm>
          <a:custGeom>
            <a:avLst/>
            <a:gdLst>
              <a:gd name="connsiteX0" fmla="*/ 135756 w 2154852"/>
              <a:gd name="connsiteY0" fmla="*/ 0 h 482457"/>
              <a:gd name="connsiteX1" fmla="*/ 2019096 w 2154852"/>
              <a:gd name="connsiteY1" fmla="*/ 0 h 482457"/>
              <a:gd name="connsiteX2" fmla="*/ 2154852 w 2154852"/>
              <a:gd name="connsiteY2" fmla="*/ 135756 h 482457"/>
              <a:gd name="connsiteX3" fmla="*/ 2154852 w 2154852"/>
              <a:gd name="connsiteY3" fmla="*/ 482457 h 482457"/>
              <a:gd name="connsiteX4" fmla="*/ 2133720 w 2154852"/>
              <a:gd name="connsiteY4" fmla="*/ 478190 h 482457"/>
              <a:gd name="connsiteX5" fmla="*/ 21132 w 2154852"/>
              <a:gd name="connsiteY5" fmla="*/ 478190 h 482457"/>
              <a:gd name="connsiteX6" fmla="*/ 0 w 2154852"/>
              <a:gd name="connsiteY6" fmla="*/ 482457 h 482457"/>
              <a:gd name="connsiteX7" fmla="*/ 0 w 2154852"/>
              <a:gd name="connsiteY7" fmla="*/ 135756 h 482457"/>
              <a:gd name="connsiteX8" fmla="*/ 135756 w 2154852"/>
              <a:gd name="connsiteY8" fmla="*/ 0 h 48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852" h="482457">
                <a:moveTo>
                  <a:pt x="135756" y="0"/>
                </a:moveTo>
                <a:lnTo>
                  <a:pt x="2019096" y="0"/>
                </a:lnTo>
                <a:cubicBezTo>
                  <a:pt x="2094072" y="0"/>
                  <a:pt x="2154852" y="60780"/>
                  <a:pt x="2154852" y="135756"/>
                </a:cubicBezTo>
                <a:lnTo>
                  <a:pt x="2154852" y="482457"/>
                </a:lnTo>
                <a:lnTo>
                  <a:pt x="2133720" y="478190"/>
                </a:lnTo>
                <a:lnTo>
                  <a:pt x="21132" y="478190"/>
                </a:lnTo>
                <a:lnTo>
                  <a:pt x="0" y="482457"/>
                </a:lnTo>
                <a:lnTo>
                  <a:pt x="0" y="135756"/>
                </a:lnTo>
                <a:cubicBezTo>
                  <a:pt x="0" y="60780"/>
                  <a:pt x="60780" y="0"/>
                  <a:pt x="135756" y="0"/>
                </a:cubicBezTo>
                <a:close/>
              </a:path>
            </a:pathLst>
          </a:custGeom>
          <a:solidFill>
            <a:srgbClr val="0078D4">
              <a:alpha val="30000"/>
            </a:srgbClr>
          </a:solidFill>
          <a:ln w="3175" cap="flat" cmpd="sng" algn="ctr">
            <a:solidFill>
              <a:srgbClr val="FFFFFF"/>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a:ln>
                  <a:noFill/>
                </a:ln>
                <a:solidFill>
                  <a:srgbClr val="000000"/>
                </a:solidFill>
                <a:effectLst/>
                <a:uLnTx/>
                <a:uFillTx/>
                <a:latin typeface="Segoe UI Semibold"/>
                <a:ea typeface="+mn-ea"/>
                <a:cs typeface="+mn-cs"/>
              </a:rPr>
              <a:t>AI Services</a:t>
            </a:r>
          </a:p>
        </p:txBody>
      </p:sp>
      <p:grpSp>
        <p:nvGrpSpPr>
          <p:cNvPr id="203" name="Group 202">
            <a:extLst>
              <a:ext uri="{FF2B5EF4-FFF2-40B4-BE49-F238E27FC236}">
                <a16:creationId xmlns:a16="http://schemas.microsoft.com/office/drawing/2014/main" id="{734FB00E-BC22-9AC3-D3CC-3CCEF128D320}"/>
              </a:ext>
            </a:extLst>
          </p:cNvPr>
          <p:cNvGrpSpPr/>
          <p:nvPr/>
        </p:nvGrpSpPr>
        <p:grpSpPr>
          <a:xfrm>
            <a:off x="5633489" y="1195284"/>
            <a:ext cx="925023" cy="923433"/>
            <a:chOff x="5563890" y="1174676"/>
            <a:chExt cx="925023" cy="923433"/>
          </a:xfrm>
        </p:grpSpPr>
        <p:sp>
          <p:nvSpPr>
            <p:cNvPr id="204" name="Oval 203">
              <a:extLst>
                <a:ext uri="{FF2B5EF4-FFF2-40B4-BE49-F238E27FC236}">
                  <a16:creationId xmlns:a16="http://schemas.microsoft.com/office/drawing/2014/main" id="{EC690591-35F3-8E15-7777-B2ABFF0B43C4}"/>
                </a:ext>
              </a:extLst>
            </p:cNvPr>
            <p:cNvSpPr/>
            <p:nvPr/>
          </p:nvSpPr>
          <p:spPr bwMode="auto">
            <a:xfrm>
              <a:off x="5563890" y="1174676"/>
              <a:ext cx="925023" cy="923433"/>
            </a:xfrm>
            <a:prstGeom prst="ellipse">
              <a:avLst/>
            </a:prstGeom>
            <a:solidFill>
              <a:srgbClr val="8B6ECA"/>
            </a:solidFill>
            <a:ln w="12700" cap="flat" cmpd="sng" algn="ctr">
              <a:no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200" b="0" i="0" u="none" strike="noStrike" kern="0" cap="none" spc="0" normalizeH="0" baseline="0" noProof="0">
                <a:ln>
                  <a:noFill/>
                </a:ln>
                <a:solidFill>
                  <a:srgbClr val="FFFFFF"/>
                </a:solidFill>
                <a:effectLst/>
                <a:uLnTx/>
                <a:uFillTx/>
                <a:latin typeface="Segoe UI Semibold"/>
                <a:ea typeface="+mn-ea"/>
                <a:cs typeface="Segoe UI Semibold" panose="020B0702040204020203" pitchFamily="34" charset="0"/>
              </a:endParaRPr>
            </a:p>
          </p:txBody>
        </p:sp>
        <p:sp>
          <p:nvSpPr>
            <p:cNvPr id="205" name="Oval 204">
              <a:extLst>
                <a:ext uri="{FF2B5EF4-FFF2-40B4-BE49-F238E27FC236}">
                  <a16:creationId xmlns:a16="http://schemas.microsoft.com/office/drawing/2014/main" id="{F4ACD20E-B209-A078-74E3-C6680EDFC363}"/>
                </a:ext>
              </a:extLst>
            </p:cNvPr>
            <p:cNvSpPr/>
            <p:nvPr/>
          </p:nvSpPr>
          <p:spPr bwMode="auto">
            <a:xfrm>
              <a:off x="5618794" y="1229484"/>
              <a:ext cx="812838" cy="811441"/>
            </a:xfrm>
            <a:prstGeom prst="ellipse">
              <a:avLst/>
            </a:prstGeom>
            <a:solidFill>
              <a:srgbClr val="FFFFFF"/>
            </a:solidFill>
            <a:ln w="12700" cap="flat" cmpd="sng" algn="ctr">
              <a:no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200" b="0" i="0" u="none" strike="noStrike" kern="0" cap="none" spc="0" normalizeH="0" baseline="0" noProof="0">
                <a:ln>
                  <a:noFill/>
                </a:ln>
                <a:solidFill>
                  <a:srgbClr val="FFFFFF"/>
                </a:solidFill>
                <a:effectLst/>
                <a:uLnTx/>
                <a:uFillTx/>
                <a:latin typeface="Segoe UI Semibold"/>
                <a:ea typeface="+mn-ea"/>
                <a:cs typeface="Segoe UI Semibold" panose="020B0702040204020203" pitchFamily="34" charset="0"/>
              </a:endParaRPr>
            </a:p>
          </p:txBody>
        </p:sp>
        <p:pic>
          <p:nvPicPr>
            <p:cNvPr id="206" name="Graphic 205">
              <a:extLst>
                <a:ext uri="{FF2B5EF4-FFF2-40B4-BE49-F238E27FC236}">
                  <a16:creationId xmlns:a16="http://schemas.microsoft.com/office/drawing/2014/main" id="{49203FE4-7957-9A84-FD58-4ADD3D13E1B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687543" y="1306904"/>
              <a:ext cx="669024" cy="669018"/>
            </a:xfrm>
            <a:prstGeom prst="rect">
              <a:avLst/>
            </a:prstGeom>
          </p:spPr>
        </p:pic>
      </p:grpSp>
      <p:sp>
        <p:nvSpPr>
          <p:cNvPr id="207" name="Rectangle: Rounded Corners 206">
            <a:extLst>
              <a:ext uri="{FF2B5EF4-FFF2-40B4-BE49-F238E27FC236}">
                <a16:creationId xmlns:a16="http://schemas.microsoft.com/office/drawing/2014/main" id="{C4874059-9FC3-CFA0-4983-95B7EE282FF1}"/>
              </a:ext>
            </a:extLst>
          </p:cNvPr>
          <p:cNvSpPr/>
          <p:nvPr/>
        </p:nvSpPr>
        <p:spPr bwMode="auto">
          <a:xfrm>
            <a:off x="4570031" y="4653302"/>
            <a:ext cx="3051938" cy="1599262"/>
          </a:xfrm>
          <a:prstGeom prst="roundRect">
            <a:avLst>
              <a:gd name="adj" fmla="val 4955"/>
            </a:avLst>
          </a:prstGeom>
          <a:gradFill>
            <a:gsLst>
              <a:gs pos="0">
                <a:srgbClr val="B85CBC"/>
              </a:gs>
              <a:gs pos="546">
                <a:srgbClr val="B75CBC"/>
              </a:gs>
              <a:gs pos="1093">
                <a:srgbClr val="B75CBC"/>
              </a:gs>
              <a:gs pos="1639">
                <a:srgbClr val="B75CBC"/>
              </a:gs>
              <a:gs pos="2186">
                <a:srgbClr val="B75DBC"/>
              </a:gs>
              <a:gs pos="2732">
                <a:srgbClr val="B75DBD"/>
              </a:gs>
              <a:gs pos="3279">
                <a:srgbClr val="B75DBD"/>
              </a:gs>
              <a:gs pos="3825">
                <a:srgbClr val="B75DBD"/>
              </a:gs>
              <a:gs pos="4372">
                <a:srgbClr val="B75EBD"/>
              </a:gs>
              <a:gs pos="4918">
                <a:srgbClr val="B75EBE"/>
              </a:gs>
              <a:gs pos="5464">
                <a:srgbClr val="B75EBE"/>
              </a:gs>
              <a:gs pos="6011">
                <a:srgbClr val="B75FBE"/>
              </a:gs>
              <a:gs pos="6557">
                <a:srgbClr val="B65FBE"/>
              </a:gs>
              <a:gs pos="7104">
                <a:srgbClr val="B65FBF"/>
              </a:gs>
              <a:gs pos="7650">
                <a:srgbClr val="B65FBF"/>
              </a:gs>
              <a:gs pos="8197">
                <a:srgbClr val="B660BF"/>
              </a:gs>
              <a:gs pos="8743">
                <a:srgbClr val="B660BF"/>
              </a:gs>
              <a:gs pos="9290">
                <a:srgbClr val="B560C0"/>
              </a:gs>
              <a:gs pos="9836">
                <a:srgbClr val="B560C0"/>
              </a:gs>
              <a:gs pos="10383">
                <a:srgbClr val="B561C0"/>
              </a:gs>
              <a:gs pos="10929">
                <a:srgbClr val="B561C0"/>
              </a:gs>
              <a:gs pos="11475">
                <a:srgbClr val="B461C0"/>
              </a:gs>
              <a:gs pos="12022">
                <a:srgbClr val="B461C1"/>
              </a:gs>
              <a:gs pos="12568">
                <a:srgbClr val="B462C1"/>
              </a:gs>
              <a:gs pos="13115">
                <a:srgbClr val="B362C1"/>
              </a:gs>
              <a:gs pos="13661">
                <a:srgbClr val="B362C1"/>
              </a:gs>
              <a:gs pos="14208">
                <a:srgbClr val="B362C1"/>
              </a:gs>
              <a:gs pos="14754">
                <a:srgbClr val="B263C2"/>
              </a:gs>
              <a:gs pos="15301">
                <a:srgbClr val="B263C2"/>
              </a:gs>
              <a:gs pos="15847">
                <a:srgbClr val="B263C2"/>
              </a:gs>
              <a:gs pos="16393">
                <a:srgbClr val="B163C2"/>
              </a:gs>
              <a:gs pos="16940">
                <a:srgbClr val="B164C3"/>
              </a:gs>
              <a:gs pos="17486">
                <a:srgbClr val="B164C3"/>
              </a:gs>
              <a:gs pos="18033">
                <a:srgbClr val="B064C3"/>
              </a:gs>
              <a:gs pos="18579">
                <a:srgbClr val="B064C3"/>
              </a:gs>
              <a:gs pos="19126">
                <a:srgbClr val="AF65C3"/>
              </a:gs>
              <a:gs pos="19672">
                <a:srgbClr val="AF65C4"/>
              </a:gs>
              <a:gs pos="20219">
                <a:srgbClr val="AE65C4"/>
              </a:gs>
              <a:gs pos="20765">
                <a:srgbClr val="AE65C4"/>
              </a:gs>
              <a:gs pos="21312">
                <a:srgbClr val="AD66C4"/>
              </a:gs>
              <a:gs pos="21858">
                <a:srgbClr val="AD66C4"/>
              </a:gs>
              <a:gs pos="22404">
                <a:srgbClr val="AC66C5"/>
              </a:gs>
              <a:gs pos="22951">
                <a:srgbClr val="AC66C5"/>
              </a:gs>
              <a:gs pos="23497">
                <a:srgbClr val="AB67C5"/>
              </a:gs>
              <a:gs pos="24044">
                <a:srgbClr val="AB67C5"/>
              </a:gs>
              <a:gs pos="24590">
                <a:srgbClr val="AA67C5"/>
              </a:gs>
              <a:gs pos="25137">
                <a:srgbClr val="AA67C6"/>
              </a:gs>
              <a:gs pos="25683">
                <a:srgbClr val="A967C6"/>
              </a:gs>
              <a:gs pos="26230">
                <a:srgbClr val="A968C6"/>
              </a:gs>
              <a:gs pos="26776">
                <a:srgbClr val="A868C6"/>
              </a:gs>
              <a:gs pos="27322">
                <a:srgbClr val="A768C6"/>
              </a:gs>
              <a:gs pos="27869">
                <a:srgbClr val="A768C6"/>
              </a:gs>
              <a:gs pos="28415">
                <a:srgbClr val="A669C7"/>
              </a:gs>
              <a:gs pos="28962">
                <a:srgbClr val="A569C7"/>
              </a:gs>
              <a:gs pos="29508">
                <a:srgbClr val="A569C7"/>
              </a:gs>
              <a:gs pos="30055">
                <a:srgbClr val="A469C7"/>
              </a:gs>
              <a:gs pos="30601">
                <a:srgbClr val="A469C7"/>
              </a:gs>
              <a:gs pos="31148">
                <a:srgbClr val="A36AC8"/>
              </a:gs>
              <a:gs pos="31694">
                <a:srgbClr val="A26AC8"/>
              </a:gs>
              <a:gs pos="32240">
                <a:srgbClr val="A16AC8"/>
              </a:gs>
              <a:gs pos="32787">
                <a:srgbClr val="A16AC8"/>
              </a:gs>
              <a:gs pos="33333">
                <a:srgbClr val="A06AC8"/>
              </a:gs>
              <a:gs pos="33880">
                <a:srgbClr val="9F6BC8"/>
              </a:gs>
              <a:gs pos="34426">
                <a:srgbClr val="9F6BC9"/>
              </a:gs>
              <a:gs pos="34973">
                <a:srgbClr val="9E6BC9"/>
              </a:gs>
              <a:gs pos="35519">
                <a:srgbClr val="9D6BC9"/>
              </a:gs>
              <a:gs pos="36066">
                <a:srgbClr val="9C6BC9"/>
              </a:gs>
              <a:gs pos="36612">
                <a:srgbClr val="9C6CC9"/>
              </a:gs>
              <a:gs pos="37159">
                <a:srgbClr val="9B6CC9"/>
              </a:gs>
              <a:gs pos="37705">
                <a:srgbClr val="9A6CCA"/>
              </a:gs>
              <a:gs pos="38251">
                <a:srgbClr val="996CCA"/>
              </a:gs>
              <a:gs pos="38798">
                <a:srgbClr val="986CCA"/>
              </a:gs>
              <a:gs pos="39344">
                <a:srgbClr val="976DCA"/>
              </a:gs>
              <a:gs pos="39891">
                <a:srgbClr val="976DCA"/>
              </a:gs>
              <a:gs pos="40437">
                <a:srgbClr val="966DCA"/>
              </a:gs>
              <a:gs pos="40984">
                <a:srgbClr val="956DCB"/>
              </a:gs>
              <a:gs pos="41530">
                <a:srgbClr val="946DCB"/>
              </a:gs>
              <a:gs pos="42077">
                <a:srgbClr val="936DCB"/>
              </a:gs>
              <a:gs pos="42623">
                <a:srgbClr val="926ECB"/>
              </a:gs>
              <a:gs pos="43169">
                <a:srgbClr val="916ECB"/>
              </a:gs>
              <a:gs pos="43716">
                <a:srgbClr val="916ECB"/>
              </a:gs>
              <a:gs pos="44262">
                <a:srgbClr val="906ECB"/>
              </a:gs>
              <a:gs pos="44809">
                <a:srgbClr val="8F6ECC"/>
              </a:gs>
              <a:gs pos="45355">
                <a:srgbClr val="8E6ECC"/>
              </a:gs>
              <a:gs pos="45902">
                <a:srgbClr val="8D6FCC"/>
              </a:gs>
              <a:gs pos="46448">
                <a:srgbClr val="8C6FCC"/>
              </a:gs>
              <a:gs pos="46995">
                <a:srgbClr val="8B6FCC"/>
              </a:gs>
              <a:gs pos="47541">
                <a:srgbClr val="8A6FCC"/>
              </a:gs>
              <a:gs pos="48087">
                <a:srgbClr val="896FCC"/>
              </a:gs>
              <a:gs pos="48634">
                <a:srgbClr val="886FCD"/>
              </a:gs>
              <a:gs pos="49180">
                <a:srgbClr val="8770CD"/>
              </a:gs>
              <a:gs pos="49727">
                <a:srgbClr val="8670CD"/>
              </a:gs>
              <a:gs pos="50273">
                <a:srgbClr val="8570CD"/>
              </a:gs>
              <a:gs pos="50820">
                <a:srgbClr val="8470CD"/>
              </a:gs>
              <a:gs pos="51366">
                <a:srgbClr val="8370CD"/>
              </a:gs>
              <a:gs pos="51913">
                <a:srgbClr val="8270CD"/>
              </a:gs>
              <a:gs pos="52459">
                <a:srgbClr val="8171CE"/>
              </a:gs>
              <a:gs pos="53005">
                <a:srgbClr val="8071CE"/>
              </a:gs>
              <a:gs pos="53552">
                <a:srgbClr val="7E71CE"/>
              </a:gs>
              <a:gs pos="54098">
                <a:srgbClr val="7D71CE"/>
              </a:gs>
              <a:gs pos="54645">
                <a:srgbClr val="7C71CE"/>
              </a:gs>
              <a:gs pos="55191">
                <a:srgbClr val="7B71CE"/>
              </a:gs>
              <a:gs pos="55738">
                <a:srgbClr val="7A71CE"/>
              </a:gs>
              <a:gs pos="56284">
                <a:srgbClr val="7972CE"/>
              </a:gs>
              <a:gs pos="56831">
                <a:srgbClr val="7872CF"/>
              </a:gs>
              <a:gs pos="57377">
                <a:srgbClr val="7772CF"/>
              </a:gs>
              <a:gs pos="57924">
                <a:srgbClr val="7572CF"/>
              </a:gs>
              <a:gs pos="58470">
                <a:srgbClr val="7472CF"/>
              </a:gs>
              <a:gs pos="59016">
                <a:srgbClr val="7372CF"/>
              </a:gs>
              <a:gs pos="59563">
                <a:srgbClr val="7272CF"/>
              </a:gs>
              <a:gs pos="60109">
                <a:srgbClr val="7173CF"/>
              </a:gs>
              <a:gs pos="60656">
                <a:srgbClr val="6F73CF"/>
              </a:gs>
              <a:gs pos="61202">
                <a:srgbClr val="6E73CF"/>
              </a:gs>
              <a:gs pos="61749">
                <a:srgbClr val="6D73D0"/>
              </a:gs>
              <a:gs pos="62295">
                <a:srgbClr val="6C73D0"/>
              </a:gs>
              <a:gs pos="62841">
                <a:srgbClr val="6A73D0"/>
              </a:gs>
              <a:gs pos="63388">
                <a:srgbClr val="6973D0"/>
              </a:gs>
              <a:gs pos="63934">
                <a:srgbClr val="6873D0"/>
              </a:gs>
              <a:gs pos="64481">
                <a:srgbClr val="6773D0"/>
              </a:gs>
              <a:gs pos="65027">
                <a:srgbClr val="6574D0"/>
              </a:gs>
              <a:gs pos="65574">
                <a:srgbClr val="6474D0"/>
              </a:gs>
              <a:gs pos="66120">
                <a:srgbClr val="6374D0"/>
              </a:gs>
              <a:gs pos="66667">
                <a:srgbClr val="6174D0"/>
              </a:gs>
              <a:gs pos="67213">
                <a:srgbClr val="6074D1"/>
              </a:gs>
              <a:gs pos="67760">
                <a:srgbClr val="5F74D1"/>
              </a:gs>
              <a:gs pos="68306">
                <a:srgbClr val="5D74D1"/>
              </a:gs>
              <a:gs pos="68853">
                <a:srgbClr val="5C74D1"/>
              </a:gs>
              <a:gs pos="69399">
                <a:srgbClr val="5B74D1"/>
              </a:gs>
              <a:gs pos="69945">
                <a:srgbClr val="5975D1"/>
              </a:gs>
              <a:gs pos="70492">
                <a:srgbClr val="5875D1"/>
              </a:gs>
              <a:gs pos="71038">
                <a:srgbClr val="5775D1"/>
              </a:gs>
              <a:gs pos="71585">
                <a:srgbClr val="5575D1"/>
              </a:gs>
              <a:gs pos="72131">
                <a:srgbClr val="5475D1"/>
              </a:gs>
              <a:gs pos="72678">
                <a:srgbClr val="5275D1"/>
              </a:gs>
              <a:gs pos="73224">
                <a:srgbClr val="5175D1"/>
              </a:gs>
              <a:gs pos="73770">
                <a:srgbClr val="4F75D2"/>
              </a:gs>
              <a:gs pos="74317">
                <a:srgbClr val="4E75D2"/>
              </a:gs>
              <a:gs pos="74863">
                <a:srgbClr val="4D75D2"/>
              </a:gs>
              <a:gs pos="75410">
                <a:srgbClr val="4B75D2"/>
              </a:gs>
              <a:gs pos="75956">
                <a:srgbClr val="4A76D2"/>
              </a:gs>
              <a:gs pos="76503">
                <a:srgbClr val="4876D2"/>
              </a:gs>
              <a:gs pos="77049">
                <a:srgbClr val="4776D2"/>
              </a:gs>
              <a:gs pos="77596">
                <a:srgbClr val="4576D2"/>
              </a:gs>
              <a:gs pos="78142">
                <a:srgbClr val="4476D2"/>
              </a:gs>
              <a:gs pos="78689">
                <a:srgbClr val="4276D2"/>
              </a:gs>
              <a:gs pos="79235">
                <a:srgbClr val="4176D2"/>
              </a:gs>
              <a:gs pos="79781">
                <a:srgbClr val="3F76D2"/>
              </a:gs>
              <a:gs pos="80328">
                <a:srgbClr val="3D76D2"/>
              </a:gs>
              <a:gs pos="80874">
                <a:srgbClr val="3C76D2"/>
              </a:gs>
              <a:gs pos="81421">
                <a:srgbClr val="3A76D2"/>
              </a:gs>
              <a:gs pos="81967">
                <a:srgbClr val="3976D3"/>
              </a:gs>
              <a:gs pos="82514">
                <a:srgbClr val="3776D3"/>
              </a:gs>
              <a:gs pos="83060">
                <a:srgbClr val="3676D3"/>
              </a:gs>
              <a:gs pos="83607">
                <a:srgbClr val="3477D3"/>
              </a:gs>
              <a:gs pos="84153">
                <a:srgbClr val="3277D3"/>
              </a:gs>
              <a:gs pos="84699">
                <a:srgbClr val="3177D3"/>
              </a:gs>
              <a:gs pos="85246">
                <a:srgbClr val="2F77D3"/>
              </a:gs>
              <a:gs pos="85792">
                <a:srgbClr val="2D77D3"/>
              </a:gs>
              <a:gs pos="86339">
                <a:srgbClr val="2C77D3"/>
              </a:gs>
              <a:gs pos="86885">
                <a:srgbClr val="2A77D3"/>
              </a:gs>
              <a:gs pos="87432">
                <a:srgbClr val="2877D3"/>
              </a:gs>
              <a:gs pos="87978">
                <a:srgbClr val="2777D3"/>
              </a:gs>
              <a:gs pos="88525">
                <a:srgbClr val="2577D3"/>
              </a:gs>
              <a:gs pos="89071">
                <a:srgbClr val="2377D3"/>
              </a:gs>
              <a:gs pos="89618">
                <a:srgbClr val="2277D3"/>
              </a:gs>
              <a:gs pos="90164">
                <a:srgbClr val="2077D3"/>
              </a:gs>
              <a:gs pos="90710">
                <a:srgbClr val="1E77D3"/>
              </a:gs>
              <a:gs pos="91257">
                <a:srgbClr val="1D77D3"/>
              </a:gs>
              <a:gs pos="91803">
                <a:srgbClr val="1B77D3"/>
              </a:gs>
              <a:gs pos="92350">
                <a:srgbClr val="1977D3"/>
              </a:gs>
              <a:gs pos="92896">
                <a:srgbClr val="1777D3"/>
              </a:gs>
              <a:gs pos="93443">
                <a:srgbClr val="1577D3"/>
              </a:gs>
              <a:gs pos="93989">
                <a:srgbClr val="1477D3"/>
              </a:gs>
              <a:gs pos="94535">
                <a:srgbClr val="1277D3"/>
              </a:gs>
              <a:gs pos="95082">
                <a:srgbClr val="1077D3"/>
              </a:gs>
              <a:gs pos="95628">
                <a:srgbClr val="0E77D3"/>
              </a:gs>
              <a:gs pos="96175">
                <a:srgbClr val="0C77D3"/>
              </a:gs>
              <a:gs pos="96721">
                <a:srgbClr val="0B77D3"/>
              </a:gs>
              <a:gs pos="97268">
                <a:srgbClr val="0977D3"/>
              </a:gs>
              <a:gs pos="97814">
                <a:srgbClr val="0777D3"/>
              </a:gs>
              <a:gs pos="98361">
                <a:srgbClr val="0577D3"/>
              </a:gs>
              <a:gs pos="98907">
                <a:srgbClr val="0377D3"/>
              </a:gs>
              <a:gs pos="99454">
                <a:srgbClr val="0177D3"/>
              </a:gs>
              <a:gs pos="100000">
                <a:srgbClr val="0078D4"/>
              </a:gs>
            </a:gsLst>
            <a:lin ang="1379994" scaled="1"/>
          </a:gradFill>
          <a:ln w="11471" cap="flat">
            <a:noFill/>
            <a:prstDash val="solid"/>
            <a:miter/>
          </a:ln>
        </p:spPr>
        <p:txBody>
          <a:bodyPr wrap="square" rtlCol="0" anchor="ctr">
            <a:noAutofit/>
          </a:bodyPr>
          <a:lstStyle/>
          <a:p>
            <a:pPr algn="ctr">
              <a:defRPr/>
            </a:pPr>
            <a:endParaRPr lang="en-GB" sz="1600" noProof="0">
              <a:solidFill>
                <a:srgbClr val="FFFFFF"/>
              </a:solidFill>
              <a:latin typeface="Segoe UI"/>
            </a:endParaRPr>
          </a:p>
        </p:txBody>
      </p:sp>
      <p:pic>
        <p:nvPicPr>
          <p:cNvPr id="208" name="Graphic 207">
            <a:extLst>
              <a:ext uri="{FF2B5EF4-FFF2-40B4-BE49-F238E27FC236}">
                <a16:creationId xmlns:a16="http://schemas.microsoft.com/office/drawing/2014/main" id="{CA27268A-1DC2-71DD-A641-4D403D05DACC}"/>
              </a:ext>
            </a:extLst>
          </p:cNvPr>
          <p:cNvPicPr>
            <a:picLocks/>
          </p:cNvPicPr>
          <p:nvPr/>
        </p:nvPicPr>
        <p:blipFill>
          <a:blip>
            <a:extLst>
              <a:ext uri="{96DAC541-7B7A-43D3-8B79-37D633B846F1}">
                <asvg:svgBlip xmlns:asvg="http://schemas.microsoft.com/office/drawing/2016/SVG/main" r:embed="rId3"/>
              </a:ext>
            </a:extLst>
          </a:blip>
          <a:srcRect l="7079" t="67795" r="7079"/>
          <a:stretch>
            <a:fillRect/>
          </a:stretch>
        </p:blipFill>
        <p:spPr>
          <a:xfrm flipV="1">
            <a:off x="4570031" y="4750421"/>
            <a:ext cx="3051938" cy="755064"/>
          </a:xfrm>
          <a:custGeom>
            <a:avLst/>
            <a:gdLst>
              <a:gd name="connsiteX0" fmla="*/ 3051938 w 3051938"/>
              <a:gd name="connsiteY0" fmla="*/ 0 h 755064"/>
              <a:gd name="connsiteX1" fmla="*/ 3051938 w 3051938"/>
              <a:gd name="connsiteY1" fmla="*/ 657033 h 755064"/>
              <a:gd name="connsiteX2" fmla="*/ 3040054 w 3051938"/>
              <a:gd name="connsiteY2" fmla="*/ 715897 h 755064"/>
              <a:gd name="connsiteX3" fmla="*/ 3013647 w 3051938"/>
              <a:gd name="connsiteY3" fmla="*/ 755064 h 755064"/>
              <a:gd name="connsiteX4" fmla="*/ 38292 w 3051938"/>
              <a:gd name="connsiteY4" fmla="*/ 755064 h 755064"/>
              <a:gd name="connsiteX5" fmla="*/ 11884 w 3051938"/>
              <a:gd name="connsiteY5" fmla="*/ 715897 h 755064"/>
              <a:gd name="connsiteX6" fmla="*/ 0 w 3051938"/>
              <a:gd name="connsiteY6" fmla="*/ 657033 h 755064"/>
              <a:gd name="connsiteX7" fmla="*/ 0 w 3051938"/>
              <a:gd name="connsiteY7" fmla="*/ 195925 h 755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1938" h="755064">
                <a:moveTo>
                  <a:pt x="3051938" y="0"/>
                </a:moveTo>
                <a:lnTo>
                  <a:pt x="3051938" y="657033"/>
                </a:lnTo>
                <a:cubicBezTo>
                  <a:pt x="3051938" y="677913"/>
                  <a:pt x="3047707" y="697804"/>
                  <a:pt x="3040054" y="715897"/>
                </a:cubicBezTo>
                <a:lnTo>
                  <a:pt x="3013647" y="755064"/>
                </a:lnTo>
                <a:lnTo>
                  <a:pt x="38292" y="755064"/>
                </a:lnTo>
                <a:lnTo>
                  <a:pt x="11884" y="715897"/>
                </a:lnTo>
                <a:cubicBezTo>
                  <a:pt x="4232" y="697804"/>
                  <a:pt x="0" y="677913"/>
                  <a:pt x="0" y="657033"/>
                </a:cubicBezTo>
                <a:lnTo>
                  <a:pt x="0" y="195925"/>
                </a:lnTo>
                <a:close/>
              </a:path>
            </a:pathLst>
          </a:custGeom>
        </p:spPr>
      </p:pic>
      <p:sp>
        <p:nvSpPr>
          <p:cNvPr id="209" name="TextBox 208">
            <a:extLst>
              <a:ext uri="{FF2B5EF4-FFF2-40B4-BE49-F238E27FC236}">
                <a16:creationId xmlns:a16="http://schemas.microsoft.com/office/drawing/2014/main" id="{CDECC86E-A570-96E5-9994-BCA47CE46FD9}"/>
              </a:ext>
            </a:extLst>
          </p:cNvPr>
          <p:cNvSpPr txBox="1"/>
          <p:nvPr/>
        </p:nvSpPr>
        <p:spPr>
          <a:xfrm>
            <a:off x="4645472" y="5868921"/>
            <a:ext cx="890729" cy="308994"/>
          </a:xfrm>
          <a:prstGeom prst="roundRect">
            <a:avLst>
              <a:gd name="adj" fmla="val 7700"/>
            </a:avLst>
          </a:prstGeom>
          <a:noFill/>
          <a:ln w="3175" cap="flat" cmpd="sng" algn="ctr">
            <a:no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CZ"/>
            </a:defPPr>
            <a:lvl1pPr lvl="0" algn="ctr" defTabSz="457200">
              <a:defRPr>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Defender for APIs</a:t>
            </a:r>
          </a:p>
        </p:txBody>
      </p:sp>
      <p:grpSp>
        <p:nvGrpSpPr>
          <p:cNvPr id="210" name="Group 209">
            <a:extLst>
              <a:ext uri="{FF2B5EF4-FFF2-40B4-BE49-F238E27FC236}">
                <a16:creationId xmlns:a16="http://schemas.microsoft.com/office/drawing/2014/main" id="{C2284464-D60E-8942-E505-2C4F69A1C3BB}"/>
              </a:ext>
            </a:extLst>
          </p:cNvPr>
          <p:cNvGrpSpPr/>
          <p:nvPr/>
        </p:nvGrpSpPr>
        <p:grpSpPr>
          <a:xfrm>
            <a:off x="5904118" y="4153826"/>
            <a:ext cx="383763" cy="383763"/>
            <a:chOff x="10415707" y="7456454"/>
            <a:chExt cx="383763" cy="383763"/>
          </a:xfrm>
        </p:grpSpPr>
        <p:sp>
          <p:nvSpPr>
            <p:cNvPr id="211" name="Oval 210">
              <a:extLst>
                <a:ext uri="{FF2B5EF4-FFF2-40B4-BE49-F238E27FC236}">
                  <a16:creationId xmlns:a16="http://schemas.microsoft.com/office/drawing/2014/main" id="{1D516355-8AE6-1F1B-F0F4-C1C4183595C2}"/>
                </a:ext>
              </a:extLst>
            </p:cNvPr>
            <p:cNvSpPr/>
            <p:nvPr/>
          </p:nvSpPr>
          <p:spPr bwMode="auto">
            <a:xfrm>
              <a:off x="10415707" y="7456454"/>
              <a:ext cx="383763" cy="383763"/>
            </a:xfrm>
            <a:prstGeom prst="ellipse">
              <a:avLst/>
            </a:prstGeom>
            <a:solidFill>
              <a:srgbClr val="8071CE"/>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grpSp>
          <p:nvGrpSpPr>
            <p:cNvPr id="212" name="Group 211">
              <a:extLst>
                <a:ext uri="{FF2B5EF4-FFF2-40B4-BE49-F238E27FC236}">
                  <a16:creationId xmlns:a16="http://schemas.microsoft.com/office/drawing/2014/main" id="{F375D22A-8685-B795-F88B-95C8033BA1CE}"/>
                </a:ext>
              </a:extLst>
            </p:cNvPr>
            <p:cNvGrpSpPr/>
            <p:nvPr/>
          </p:nvGrpSpPr>
          <p:grpSpPr>
            <a:xfrm>
              <a:off x="10487834" y="7528581"/>
              <a:ext cx="239509" cy="239509"/>
              <a:chOff x="3721100" y="3446945"/>
              <a:chExt cx="309488" cy="309488"/>
            </a:xfrm>
            <a:solidFill>
              <a:srgbClr val="FFFFFF"/>
            </a:solidFill>
          </p:grpSpPr>
          <p:sp>
            <p:nvSpPr>
              <p:cNvPr id="213" name="Rectangle: Rounded Corners 212">
                <a:extLst>
                  <a:ext uri="{FF2B5EF4-FFF2-40B4-BE49-F238E27FC236}">
                    <a16:creationId xmlns:a16="http://schemas.microsoft.com/office/drawing/2014/main" id="{97FF35D9-AC6D-DCD0-B389-B8AD70CB55A9}"/>
                  </a:ext>
                </a:extLst>
              </p:cNvPr>
              <p:cNvSpPr/>
              <p:nvPr/>
            </p:nvSpPr>
            <p:spPr bwMode="auto">
              <a:xfrm>
                <a:off x="3721100" y="3567208"/>
                <a:ext cx="309488" cy="68961"/>
              </a:xfrm>
              <a:prstGeom prst="roundRect">
                <a:avLst>
                  <a:gd name="adj" fmla="val 50000"/>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214" name="Rectangle: Rounded Corners 213">
                <a:extLst>
                  <a:ext uri="{FF2B5EF4-FFF2-40B4-BE49-F238E27FC236}">
                    <a16:creationId xmlns:a16="http://schemas.microsoft.com/office/drawing/2014/main" id="{A949367A-9BDC-E9CD-7403-A372022DE75A}"/>
                  </a:ext>
                </a:extLst>
              </p:cNvPr>
              <p:cNvSpPr/>
              <p:nvPr/>
            </p:nvSpPr>
            <p:spPr bwMode="auto">
              <a:xfrm rot="5400000">
                <a:off x="3721100" y="3567208"/>
                <a:ext cx="309488" cy="68961"/>
              </a:xfrm>
              <a:prstGeom prst="roundRect">
                <a:avLst>
                  <a:gd name="adj" fmla="val 50000"/>
                </a:avLst>
              </a:prstGeom>
              <a:grp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grpSp>
      </p:grpSp>
      <p:sp>
        <p:nvSpPr>
          <p:cNvPr id="215" name="TextBox 214">
            <a:extLst>
              <a:ext uri="{FF2B5EF4-FFF2-40B4-BE49-F238E27FC236}">
                <a16:creationId xmlns:a16="http://schemas.microsoft.com/office/drawing/2014/main" id="{34BCFD10-B226-B5D0-72DE-B5DA8D586B25}"/>
              </a:ext>
            </a:extLst>
          </p:cNvPr>
          <p:cNvSpPr txBox="1"/>
          <p:nvPr/>
        </p:nvSpPr>
        <p:spPr>
          <a:xfrm>
            <a:off x="4956168" y="4838794"/>
            <a:ext cx="2279663" cy="246221"/>
          </a:xfrm>
          <a:prstGeom prst="rect">
            <a:avLst/>
          </a:prstGeom>
          <a:noFill/>
        </p:spPr>
        <p:txBody>
          <a:bodyPr wrap="none" lIns="0" tIns="0" rIns="0" bIns="0" rtlCol="0">
            <a:spAutoFit/>
          </a:bodyPr>
          <a:lstStyle/>
          <a:p>
            <a:pPr>
              <a:defRPr/>
            </a:pPr>
            <a:r>
              <a:rPr lang="en-GB" sz="1600" noProof="0">
                <a:solidFill>
                  <a:srgbClr val="FFFFFF"/>
                </a:solidFill>
                <a:latin typeface="Segoe UI Semibold"/>
              </a:rPr>
              <a:t>Native Azure integration</a:t>
            </a:r>
          </a:p>
        </p:txBody>
      </p:sp>
      <p:sp>
        <p:nvSpPr>
          <p:cNvPr id="216" name="Oval 215">
            <a:extLst>
              <a:ext uri="{FF2B5EF4-FFF2-40B4-BE49-F238E27FC236}">
                <a16:creationId xmlns:a16="http://schemas.microsoft.com/office/drawing/2014/main" id="{75805ADF-4774-5A71-D81C-B9C91DF49C1D}"/>
              </a:ext>
            </a:extLst>
          </p:cNvPr>
          <p:cNvSpPr/>
          <p:nvPr/>
        </p:nvSpPr>
        <p:spPr bwMode="auto">
          <a:xfrm>
            <a:off x="4771984" y="5261700"/>
            <a:ext cx="561476" cy="560511"/>
          </a:xfrm>
          <a:prstGeom prst="ellipse">
            <a:avLst/>
          </a:prstGeom>
          <a:solidFill>
            <a:srgbClr val="FFFFFF"/>
          </a:solidFill>
          <a:ln w="28575" cap="flat" cmpd="sng" algn="ctr">
            <a:solidFill>
              <a:srgbClr val="8071CE"/>
            </a:solid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200" b="0" i="0" u="none" strike="noStrike" kern="0" cap="none" spc="0" normalizeH="0" baseline="0" noProof="0">
              <a:ln>
                <a:noFill/>
              </a:ln>
              <a:solidFill>
                <a:srgbClr val="FFFFFF"/>
              </a:solidFill>
              <a:effectLst/>
              <a:uLnTx/>
              <a:uFillTx/>
              <a:latin typeface="Segoe UI Semibold"/>
              <a:ea typeface="+mn-ea"/>
              <a:cs typeface="Segoe UI Semibold" panose="020B0702040204020203" pitchFamily="34" charset="0"/>
            </a:endParaRPr>
          </a:p>
        </p:txBody>
      </p:sp>
      <p:pic>
        <p:nvPicPr>
          <p:cNvPr id="217" name="Picture 216" descr="A blue shield with a yellow lock  Description automatically generated">
            <a:extLst>
              <a:ext uri="{FF2B5EF4-FFF2-40B4-BE49-F238E27FC236}">
                <a16:creationId xmlns:a16="http://schemas.microsoft.com/office/drawing/2014/main" id="{80F623F7-EC48-D269-CE5D-45FA06F02C97}"/>
              </a:ext>
            </a:extLst>
          </p:cNvPr>
          <p:cNvPicPr>
            <a:picLocks noChangeAspect="1"/>
          </p:cNvPicPr>
          <p:nvPr/>
        </p:nvPicPr>
        <p:blipFill>
          <a:blip r:embed="rId11"/>
          <a:stretch>
            <a:fillRect/>
          </a:stretch>
        </p:blipFill>
        <p:spPr>
          <a:xfrm>
            <a:off x="4882780" y="5381638"/>
            <a:ext cx="359134" cy="359134"/>
          </a:xfrm>
          <a:prstGeom prst="rect">
            <a:avLst/>
          </a:prstGeom>
        </p:spPr>
      </p:pic>
      <p:grpSp>
        <p:nvGrpSpPr>
          <p:cNvPr id="218" name="Group 217">
            <a:extLst>
              <a:ext uri="{FF2B5EF4-FFF2-40B4-BE49-F238E27FC236}">
                <a16:creationId xmlns:a16="http://schemas.microsoft.com/office/drawing/2014/main" id="{68FEF321-9A7F-BB9B-0821-F688E3272B1D}"/>
              </a:ext>
            </a:extLst>
          </p:cNvPr>
          <p:cNvGrpSpPr/>
          <p:nvPr/>
        </p:nvGrpSpPr>
        <p:grpSpPr>
          <a:xfrm>
            <a:off x="5434631" y="5261700"/>
            <a:ext cx="605844" cy="560511"/>
            <a:chOff x="2925013" y="7107702"/>
            <a:chExt cx="605844" cy="560511"/>
          </a:xfrm>
        </p:grpSpPr>
        <p:sp>
          <p:nvSpPr>
            <p:cNvPr id="219" name="Oval 218">
              <a:extLst>
                <a:ext uri="{FF2B5EF4-FFF2-40B4-BE49-F238E27FC236}">
                  <a16:creationId xmlns:a16="http://schemas.microsoft.com/office/drawing/2014/main" id="{7376BD50-D4FA-F372-53B1-8BB50E3C428F}"/>
                </a:ext>
              </a:extLst>
            </p:cNvPr>
            <p:cNvSpPr/>
            <p:nvPr/>
          </p:nvSpPr>
          <p:spPr bwMode="auto">
            <a:xfrm>
              <a:off x="2937672" y="7107702"/>
              <a:ext cx="561476" cy="560511"/>
            </a:xfrm>
            <a:prstGeom prst="ellipse">
              <a:avLst/>
            </a:prstGeom>
            <a:solidFill>
              <a:srgbClr val="FFFFFF"/>
            </a:solidFill>
            <a:ln w="28575" cap="flat" cmpd="sng" algn="ctr">
              <a:solidFill>
                <a:srgbClr val="8071CE"/>
              </a:solid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200" b="0" i="0" u="none" strike="noStrike" kern="0" cap="none" spc="0" normalizeH="0" baseline="0" noProof="0">
                <a:ln>
                  <a:noFill/>
                </a:ln>
                <a:solidFill>
                  <a:srgbClr val="FFFFFF"/>
                </a:solidFill>
                <a:effectLst/>
                <a:uLnTx/>
                <a:uFillTx/>
                <a:latin typeface="Segoe UI Semibold"/>
                <a:ea typeface="+mn-ea"/>
                <a:cs typeface="Segoe UI Semibold" panose="020B0702040204020203" pitchFamily="34" charset="0"/>
              </a:endParaRPr>
            </a:p>
          </p:txBody>
        </p:sp>
        <p:pic>
          <p:nvPicPr>
            <p:cNvPr id="220" name="Picture 219" descr="A logo with blue circles and grey hexagons  Description automatically generated">
              <a:extLst>
                <a:ext uri="{FF2B5EF4-FFF2-40B4-BE49-F238E27FC236}">
                  <a16:creationId xmlns:a16="http://schemas.microsoft.com/office/drawing/2014/main" id="{8B5F2D00-5FEE-31C4-C518-A4D89D7629A2}"/>
                </a:ext>
              </a:extLst>
            </p:cNvPr>
            <p:cNvPicPr>
              <a:picLocks noChangeAspect="1"/>
            </p:cNvPicPr>
            <p:nvPr/>
          </p:nvPicPr>
          <p:blipFill>
            <a:blip r:embed="rId12"/>
            <a:stretch>
              <a:fillRect/>
            </a:stretch>
          </p:blipFill>
          <p:spPr>
            <a:xfrm>
              <a:off x="2925013" y="7228923"/>
              <a:ext cx="605844" cy="318068"/>
            </a:xfrm>
            <a:prstGeom prst="rect">
              <a:avLst/>
            </a:prstGeom>
          </p:spPr>
        </p:pic>
      </p:grpSp>
      <p:grpSp>
        <p:nvGrpSpPr>
          <p:cNvPr id="221" name="Group 220">
            <a:extLst>
              <a:ext uri="{FF2B5EF4-FFF2-40B4-BE49-F238E27FC236}">
                <a16:creationId xmlns:a16="http://schemas.microsoft.com/office/drawing/2014/main" id="{8C38515D-6BFF-88D2-D552-CDD7313D0A8D}"/>
              </a:ext>
            </a:extLst>
          </p:cNvPr>
          <p:cNvGrpSpPr/>
          <p:nvPr/>
        </p:nvGrpSpPr>
        <p:grpSpPr>
          <a:xfrm>
            <a:off x="6081405" y="5271144"/>
            <a:ext cx="707255" cy="560511"/>
            <a:chOff x="3497041" y="7107702"/>
            <a:chExt cx="707255" cy="560511"/>
          </a:xfrm>
        </p:grpSpPr>
        <p:sp>
          <p:nvSpPr>
            <p:cNvPr id="222" name="Oval 221">
              <a:extLst>
                <a:ext uri="{FF2B5EF4-FFF2-40B4-BE49-F238E27FC236}">
                  <a16:creationId xmlns:a16="http://schemas.microsoft.com/office/drawing/2014/main" id="{F1FCCEAA-B017-8C8E-F4BF-6CBCCE0FE7F0}"/>
                </a:ext>
              </a:extLst>
            </p:cNvPr>
            <p:cNvSpPr/>
            <p:nvPr/>
          </p:nvSpPr>
          <p:spPr bwMode="auto">
            <a:xfrm>
              <a:off x="3560405" y="7107702"/>
              <a:ext cx="561476" cy="560511"/>
            </a:xfrm>
            <a:prstGeom prst="ellipse">
              <a:avLst/>
            </a:prstGeom>
            <a:solidFill>
              <a:srgbClr val="FFFFFF"/>
            </a:solidFill>
            <a:ln w="28575" cap="flat" cmpd="sng" algn="ctr">
              <a:solidFill>
                <a:srgbClr val="8071CE"/>
              </a:solid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200" b="0" i="0" u="none" strike="noStrike" kern="0" cap="none" spc="0" normalizeH="0" baseline="0" noProof="0">
                <a:ln>
                  <a:noFill/>
                </a:ln>
                <a:solidFill>
                  <a:srgbClr val="FFFFFF"/>
                </a:solidFill>
                <a:effectLst/>
                <a:uLnTx/>
                <a:uFillTx/>
                <a:latin typeface="Segoe UI Semibold"/>
                <a:ea typeface="+mn-ea"/>
                <a:cs typeface="Segoe UI Semibold" panose="020B0702040204020203" pitchFamily="34" charset="0"/>
              </a:endParaRPr>
            </a:p>
          </p:txBody>
        </p:sp>
        <p:pic>
          <p:nvPicPr>
            <p:cNvPr id="223" name="Picture 222" descr="A blue and white gauge with a red needle  Description automatically generated">
              <a:extLst>
                <a:ext uri="{FF2B5EF4-FFF2-40B4-BE49-F238E27FC236}">
                  <a16:creationId xmlns:a16="http://schemas.microsoft.com/office/drawing/2014/main" id="{34635158-103F-4E83-EE00-2FECF4724152}"/>
                </a:ext>
              </a:extLst>
            </p:cNvPr>
            <p:cNvPicPr>
              <a:picLocks noChangeAspect="1"/>
            </p:cNvPicPr>
            <p:nvPr/>
          </p:nvPicPr>
          <p:blipFill>
            <a:blip r:embed="rId13"/>
            <a:stretch>
              <a:fillRect/>
            </a:stretch>
          </p:blipFill>
          <p:spPr>
            <a:xfrm>
              <a:off x="3497041" y="7202303"/>
              <a:ext cx="707255" cy="371309"/>
            </a:xfrm>
            <a:prstGeom prst="rect">
              <a:avLst/>
            </a:prstGeom>
          </p:spPr>
        </p:pic>
      </p:grpSp>
      <p:grpSp>
        <p:nvGrpSpPr>
          <p:cNvPr id="224" name="Group 223">
            <a:extLst>
              <a:ext uri="{FF2B5EF4-FFF2-40B4-BE49-F238E27FC236}">
                <a16:creationId xmlns:a16="http://schemas.microsoft.com/office/drawing/2014/main" id="{D2795D57-A40A-FEF8-F89F-C635050057A3}"/>
              </a:ext>
            </a:extLst>
          </p:cNvPr>
          <p:cNvGrpSpPr/>
          <p:nvPr/>
        </p:nvGrpSpPr>
        <p:grpSpPr>
          <a:xfrm>
            <a:off x="6832160" y="5271144"/>
            <a:ext cx="561476" cy="560511"/>
            <a:chOff x="6762290" y="5572182"/>
            <a:chExt cx="561476" cy="560511"/>
          </a:xfrm>
        </p:grpSpPr>
        <p:sp>
          <p:nvSpPr>
            <p:cNvPr id="225" name="Oval 224">
              <a:extLst>
                <a:ext uri="{FF2B5EF4-FFF2-40B4-BE49-F238E27FC236}">
                  <a16:creationId xmlns:a16="http://schemas.microsoft.com/office/drawing/2014/main" id="{043D7283-B5CB-2227-0635-7AB0A5D1095C}"/>
                </a:ext>
              </a:extLst>
            </p:cNvPr>
            <p:cNvSpPr/>
            <p:nvPr/>
          </p:nvSpPr>
          <p:spPr bwMode="auto">
            <a:xfrm>
              <a:off x="6762290" y="5572182"/>
              <a:ext cx="561476" cy="560511"/>
            </a:xfrm>
            <a:prstGeom prst="ellipse">
              <a:avLst/>
            </a:prstGeom>
            <a:solidFill>
              <a:srgbClr val="FFFFFF"/>
            </a:solidFill>
            <a:ln w="28575" cap="flat" cmpd="sng" algn="ctr">
              <a:solidFill>
                <a:srgbClr val="8071CE"/>
              </a:solidFill>
              <a:prstDash val="solid"/>
              <a:headEnd type="none" w="med" len="med"/>
              <a:tailEnd type="none" w="med" len="med"/>
            </a:ln>
            <a:effectLst>
              <a:outerShdw blurRad="114300" algn="ctr" rotWithShape="0">
                <a:prstClr val="black">
                  <a:alpha val="8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200" b="0" i="0" u="none" strike="noStrike" kern="0" cap="none" spc="0" normalizeH="0" baseline="0" noProof="0">
                <a:ln>
                  <a:noFill/>
                </a:ln>
                <a:solidFill>
                  <a:srgbClr val="FFFFFF"/>
                </a:solidFill>
                <a:effectLst/>
                <a:uLnTx/>
                <a:uFillTx/>
                <a:latin typeface="Segoe UI Semibold"/>
                <a:ea typeface="+mn-ea"/>
                <a:cs typeface="Segoe UI Semibold" panose="020B0702040204020203" pitchFamily="34" charset="0"/>
              </a:endParaRPr>
            </a:p>
          </p:txBody>
        </p:sp>
        <p:pic>
          <p:nvPicPr>
            <p:cNvPr id="226" name="Graphic 342">
              <a:extLst>
                <a:ext uri="{FF2B5EF4-FFF2-40B4-BE49-F238E27FC236}">
                  <a16:creationId xmlns:a16="http://schemas.microsoft.com/office/drawing/2014/main" id="{6C053361-46C5-64FD-9DF9-98E90B0AFBBD}"/>
                </a:ext>
              </a:extLst>
            </p:cNvPr>
            <p:cNvPicPr>
              <a:picLocks noChangeAspect="1"/>
            </p:cNvPicPr>
            <p:nvPr/>
          </p:nvPicPr>
          <p:blipFill>
            <a:blip r:embed="rId14"/>
            <a:srcRect/>
            <a:stretch/>
          </p:blipFill>
          <p:spPr>
            <a:xfrm>
              <a:off x="6877514" y="5682758"/>
              <a:ext cx="339357" cy="339357"/>
            </a:xfrm>
            <a:prstGeom prst="rect">
              <a:avLst/>
            </a:prstGeom>
          </p:spPr>
        </p:pic>
      </p:grpSp>
      <p:sp>
        <p:nvSpPr>
          <p:cNvPr id="227" name="TextBox 226">
            <a:extLst>
              <a:ext uri="{FF2B5EF4-FFF2-40B4-BE49-F238E27FC236}">
                <a16:creationId xmlns:a16="http://schemas.microsoft.com/office/drawing/2014/main" id="{EE1917BE-BFA7-4E0A-6249-84B36F1BAA18}"/>
              </a:ext>
            </a:extLst>
          </p:cNvPr>
          <p:cNvSpPr txBox="1"/>
          <p:nvPr/>
        </p:nvSpPr>
        <p:spPr>
          <a:xfrm>
            <a:off x="5291067" y="5858275"/>
            <a:ext cx="890729" cy="308994"/>
          </a:xfrm>
          <a:prstGeom prst="roundRect">
            <a:avLst>
              <a:gd name="adj" fmla="val 7700"/>
            </a:avLst>
          </a:prstGeom>
          <a:noFill/>
          <a:ln w="3175" cap="flat" cmpd="sng" algn="ctr">
            <a:no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CZ"/>
            </a:defPPr>
            <a:lvl1pPr lvl="0" algn="ctr" defTabSz="457200">
              <a:defRPr>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Policy</a:t>
            </a:r>
          </a:p>
        </p:txBody>
      </p:sp>
      <p:sp>
        <p:nvSpPr>
          <p:cNvPr id="228" name="TextBox 227">
            <a:extLst>
              <a:ext uri="{FF2B5EF4-FFF2-40B4-BE49-F238E27FC236}">
                <a16:creationId xmlns:a16="http://schemas.microsoft.com/office/drawing/2014/main" id="{800B2D07-B98E-CEC0-D719-D05C6E6E8743}"/>
              </a:ext>
            </a:extLst>
          </p:cNvPr>
          <p:cNvSpPr txBox="1"/>
          <p:nvPr/>
        </p:nvSpPr>
        <p:spPr>
          <a:xfrm>
            <a:off x="5995575" y="5868921"/>
            <a:ext cx="890729" cy="308994"/>
          </a:xfrm>
          <a:prstGeom prst="roundRect">
            <a:avLst>
              <a:gd name="adj" fmla="val 7700"/>
            </a:avLst>
          </a:prstGeom>
          <a:noFill/>
          <a:ln w="3175" cap="flat" cmpd="sng" algn="ctr">
            <a:no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CZ"/>
            </a:defPPr>
            <a:lvl1pPr lvl="0" algn="ctr" defTabSz="457200">
              <a:defRPr>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Monitor</a:t>
            </a:r>
          </a:p>
        </p:txBody>
      </p:sp>
      <p:sp>
        <p:nvSpPr>
          <p:cNvPr id="229" name="TextBox 228">
            <a:extLst>
              <a:ext uri="{FF2B5EF4-FFF2-40B4-BE49-F238E27FC236}">
                <a16:creationId xmlns:a16="http://schemas.microsoft.com/office/drawing/2014/main" id="{FDCFE704-0936-CEAE-D7ED-78B31E55D8E9}"/>
              </a:ext>
            </a:extLst>
          </p:cNvPr>
          <p:cNvSpPr txBox="1"/>
          <p:nvPr/>
        </p:nvSpPr>
        <p:spPr>
          <a:xfrm>
            <a:off x="6669230" y="5868921"/>
            <a:ext cx="890729" cy="308994"/>
          </a:xfrm>
          <a:prstGeom prst="roundRect">
            <a:avLst>
              <a:gd name="adj" fmla="val 7700"/>
            </a:avLst>
          </a:prstGeom>
          <a:noFill/>
          <a:ln w="3175" cap="flat" cmpd="sng" algn="ctr">
            <a:no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CZ"/>
            </a:defPPr>
            <a:lvl1pPr lvl="0" algn="ctr" defTabSz="457200">
              <a:defRPr>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 and more</a:t>
            </a:r>
          </a:p>
        </p:txBody>
      </p:sp>
      <p:pic>
        <p:nvPicPr>
          <p:cNvPr id="258" name="!! Logo Foundry">
            <a:extLst>
              <a:ext uri="{FF2B5EF4-FFF2-40B4-BE49-F238E27FC236}">
                <a16:creationId xmlns:a16="http://schemas.microsoft.com/office/drawing/2014/main" id="{0828A2E0-BC1B-6990-7C1A-1C727E4ED07F}"/>
              </a:ext>
              <a:ext uri="{C183D7F6-B498-43B3-948B-1728B52AA6E4}">
                <adec:decorative xmlns:adec="http://schemas.microsoft.com/office/drawing/2017/decorative" val="1"/>
              </a:ext>
            </a:extLst>
          </p:cNvPr>
          <p:cNvPicPr>
            <a:picLocks noChangeAspect="1"/>
          </p:cNvPicPr>
          <p:nvPr/>
        </p:nvPicPr>
        <p:blipFill>
          <a:blip r:embed="rId15"/>
          <a:stretch>
            <a:fillRect/>
          </a:stretch>
        </p:blipFill>
        <p:spPr>
          <a:xfrm>
            <a:off x="9625087" y="2896099"/>
            <a:ext cx="438937" cy="460046"/>
          </a:xfrm>
          <a:prstGeom prst="rect">
            <a:avLst/>
          </a:prstGeom>
          <a:effectLst>
            <a:outerShdw blurRad="330200" sx="102000" sy="102000" algn="ctr" rotWithShape="0">
              <a:schemeClr val="bg1">
                <a:alpha val="40000"/>
              </a:schemeClr>
            </a:outerShdw>
          </a:effectLst>
        </p:spPr>
      </p:pic>
    </p:spTree>
    <p:extLst>
      <p:ext uri="{BB962C8B-B14F-4D97-AF65-F5344CB8AC3E}">
        <p14:creationId xmlns:p14="http://schemas.microsoft.com/office/powerpoint/2010/main" val="922142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A5D08-4030-119E-7234-A34C2871AE6D}"/>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14FED32D-1D97-6DCB-879C-D15EADF3144C}"/>
              </a:ext>
            </a:extLst>
          </p:cNvPr>
          <p:cNvSpPr txBox="1">
            <a:spLocks/>
          </p:cNvSpPr>
          <p:nvPr/>
        </p:nvSpPr>
        <p:spPr>
          <a:xfrm>
            <a:off x="461818" y="457200"/>
            <a:ext cx="11144965" cy="4924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n-GB" sz="3200" b="0" i="0" u="none" strike="noStrike" kern="1200" cap="none" spc="-50" normalizeH="0" baseline="0" noProof="0">
                <a:ln w="3175">
                  <a:noFill/>
                </a:ln>
                <a:solidFill>
                  <a:srgbClr val="0F6FC6"/>
                </a:solidFill>
                <a:effectLst/>
                <a:uLnTx/>
                <a:uFillTx/>
                <a:latin typeface="Segoe Semibold"/>
                <a:ea typeface="+mj-ea"/>
                <a:cs typeface="Segoe UI" pitchFamily="34" charset="0"/>
              </a:rPr>
              <a:t>Maximize potential and take control of AI APIs</a:t>
            </a:r>
            <a:br>
              <a:rPr kumimoji="0" lang="en-GB" sz="3200" b="0" i="0" u="none" strike="noStrike" kern="1200" cap="none" spc="-50" normalizeH="0" baseline="0" noProof="0">
                <a:ln w="3175">
                  <a:noFill/>
                </a:ln>
                <a:solidFill>
                  <a:srgbClr val="0F6FC6"/>
                </a:solidFill>
                <a:effectLst/>
                <a:uLnTx/>
                <a:uFillTx/>
                <a:latin typeface="Segoe Semibold"/>
                <a:ea typeface="+mj-ea"/>
                <a:cs typeface="Segoe UI" pitchFamily="34" charset="0"/>
              </a:rPr>
            </a:br>
            <a:r>
              <a:rPr kumimoji="0" lang="en-GB" sz="3200" b="0" i="0" u="none" strike="noStrike" kern="1200" cap="none" spc="-50" normalizeH="0" baseline="0" noProof="0">
                <a:ln w="3175">
                  <a:noFill/>
                </a:ln>
                <a:solidFill>
                  <a:srgbClr val="0F6FC6"/>
                </a:solidFill>
                <a:effectLst/>
                <a:uLnTx/>
                <a:uFillTx/>
                <a:latin typeface="Segoe Semibold"/>
                <a:ea typeface="+mj-ea"/>
                <a:cs typeface="Segoe UI" pitchFamily="34" charset="0"/>
              </a:rPr>
              <a:t>with Azure API Management</a:t>
            </a:r>
            <a:endParaRPr kumimoji="0" lang="en-GB" sz="3200" b="0" i="0" u="none" strike="noStrike" kern="1200" cap="none" spc="0" normalizeH="0" baseline="0" noProof="0">
              <a:ln>
                <a:noFill/>
              </a:ln>
              <a:solidFill>
                <a:srgbClr val="0F6FC6"/>
              </a:solidFill>
              <a:effectLst/>
              <a:uLnTx/>
              <a:uFillTx/>
              <a:latin typeface="Segoe Semibold"/>
              <a:ea typeface="+mj-ea"/>
              <a:cs typeface="+mj-cs"/>
            </a:endParaRPr>
          </a:p>
        </p:txBody>
      </p:sp>
      <p:grpSp>
        <p:nvGrpSpPr>
          <p:cNvPr id="54" name="Group 53">
            <a:extLst>
              <a:ext uri="{FF2B5EF4-FFF2-40B4-BE49-F238E27FC236}">
                <a16:creationId xmlns:a16="http://schemas.microsoft.com/office/drawing/2014/main" id="{356D3ED8-6B10-9569-C190-B3CF864A6F8F}"/>
              </a:ext>
            </a:extLst>
          </p:cNvPr>
          <p:cNvGrpSpPr/>
          <p:nvPr/>
        </p:nvGrpSpPr>
        <p:grpSpPr>
          <a:xfrm>
            <a:off x="584201" y="2120898"/>
            <a:ext cx="2107053" cy="4460902"/>
            <a:chOff x="584201" y="2324100"/>
            <a:chExt cx="2107053" cy="3877133"/>
          </a:xfrm>
        </p:grpSpPr>
        <p:sp>
          <p:nvSpPr>
            <p:cNvPr id="55" name="Freeform: Shape 54">
              <a:extLst>
                <a:ext uri="{FF2B5EF4-FFF2-40B4-BE49-F238E27FC236}">
                  <a16:creationId xmlns:a16="http://schemas.microsoft.com/office/drawing/2014/main" id="{6CAAC962-83BB-E500-DCC3-C2E90FA8CEED}"/>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56" name="Freeform: Shape 55">
              <a:extLst>
                <a:ext uri="{FF2B5EF4-FFF2-40B4-BE49-F238E27FC236}">
                  <a16:creationId xmlns:a16="http://schemas.microsoft.com/office/drawing/2014/main" id="{DD0CC489-64DF-F6BE-9492-E2405DC0CF68}"/>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sp>
        <p:nvSpPr>
          <p:cNvPr id="57" name="Oval 34_1">
            <a:extLst>
              <a:ext uri="{FF2B5EF4-FFF2-40B4-BE49-F238E27FC236}">
                <a16:creationId xmlns:a16="http://schemas.microsoft.com/office/drawing/2014/main" id="{26E8436D-028F-13F4-8001-7C0CCEEE7256}"/>
              </a:ext>
            </a:extLst>
          </p:cNvPr>
          <p:cNvSpPr/>
          <p:nvPr/>
        </p:nvSpPr>
        <p:spPr bwMode="auto">
          <a:xfrm>
            <a:off x="1138238" y="1635191"/>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58" name="Oval 57">
            <a:extLst>
              <a:ext uri="{FF2B5EF4-FFF2-40B4-BE49-F238E27FC236}">
                <a16:creationId xmlns:a16="http://schemas.microsoft.com/office/drawing/2014/main" id="{809A574F-526C-58AB-FEA3-D2981254AC7E}"/>
              </a:ext>
            </a:extLst>
          </p:cNvPr>
          <p:cNvSpPr/>
          <p:nvPr/>
        </p:nvSpPr>
        <p:spPr bwMode="auto">
          <a:xfrm>
            <a:off x="1226831" y="1723782"/>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grpSp>
        <p:nvGrpSpPr>
          <p:cNvPr id="59" name="Group 58">
            <a:extLst>
              <a:ext uri="{FF2B5EF4-FFF2-40B4-BE49-F238E27FC236}">
                <a16:creationId xmlns:a16="http://schemas.microsoft.com/office/drawing/2014/main" id="{0E937EE3-F3FD-5A00-DAB1-F20AE9840F22}"/>
              </a:ext>
            </a:extLst>
          </p:cNvPr>
          <p:cNvGrpSpPr/>
          <p:nvPr/>
        </p:nvGrpSpPr>
        <p:grpSpPr>
          <a:xfrm>
            <a:off x="2805913" y="2120898"/>
            <a:ext cx="2107053" cy="4460902"/>
            <a:chOff x="584201" y="2324100"/>
            <a:chExt cx="2107053" cy="3877133"/>
          </a:xfrm>
        </p:grpSpPr>
        <p:sp>
          <p:nvSpPr>
            <p:cNvPr id="60" name="Freeform: Shape 59">
              <a:extLst>
                <a:ext uri="{FF2B5EF4-FFF2-40B4-BE49-F238E27FC236}">
                  <a16:creationId xmlns:a16="http://schemas.microsoft.com/office/drawing/2014/main" id="{1CC8DAFF-6085-6FF2-6C3D-D34D88D06922}"/>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61" name="Freeform: Shape 60">
              <a:extLst>
                <a:ext uri="{FF2B5EF4-FFF2-40B4-BE49-F238E27FC236}">
                  <a16:creationId xmlns:a16="http://schemas.microsoft.com/office/drawing/2014/main" id="{297341F6-B4F5-0792-E145-D817FE94821B}"/>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grpSp>
        <p:nvGrpSpPr>
          <p:cNvPr id="62" name="Group 61">
            <a:extLst>
              <a:ext uri="{FF2B5EF4-FFF2-40B4-BE49-F238E27FC236}">
                <a16:creationId xmlns:a16="http://schemas.microsoft.com/office/drawing/2014/main" id="{A7200BF0-CD0E-02D9-C54C-61DE0498B98A}"/>
              </a:ext>
            </a:extLst>
          </p:cNvPr>
          <p:cNvGrpSpPr/>
          <p:nvPr/>
        </p:nvGrpSpPr>
        <p:grpSpPr>
          <a:xfrm>
            <a:off x="5038053" y="2120898"/>
            <a:ext cx="2107053" cy="4460902"/>
            <a:chOff x="584201" y="2324100"/>
            <a:chExt cx="2107053" cy="3877133"/>
          </a:xfrm>
        </p:grpSpPr>
        <p:sp>
          <p:nvSpPr>
            <p:cNvPr id="63" name="Freeform: Shape 62">
              <a:extLst>
                <a:ext uri="{FF2B5EF4-FFF2-40B4-BE49-F238E27FC236}">
                  <a16:creationId xmlns:a16="http://schemas.microsoft.com/office/drawing/2014/main" id="{489570C0-2CBF-5987-9F27-CC6CE227007A}"/>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64" name="Freeform: Shape 63">
              <a:extLst>
                <a:ext uri="{FF2B5EF4-FFF2-40B4-BE49-F238E27FC236}">
                  <a16:creationId xmlns:a16="http://schemas.microsoft.com/office/drawing/2014/main" id="{7AFC0F1C-0F01-3FC8-E43C-6B652BDE482A}"/>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grpSp>
        <p:nvGrpSpPr>
          <p:cNvPr id="65" name="Group 64">
            <a:extLst>
              <a:ext uri="{FF2B5EF4-FFF2-40B4-BE49-F238E27FC236}">
                <a16:creationId xmlns:a16="http://schemas.microsoft.com/office/drawing/2014/main" id="{6ABFBC19-CED1-527A-E4A6-DEA7BCA6F0CC}"/>
              </a:ext>
            </a:extLst>
          </p:cNvPr>
          <p:cNvGrpSpPr/>
          <p:nvPr/>
        </p:nvGrpSpPr>
        <p:grpSpPr>
          <a:xfrm>
            <a:off x="7270194" y="2120898"/>
            <a:ext cx="2107053" cy="4460902"/>
            <a:chOff x="584201" y="2324100"/>
            <a:chExt cx="2107053" cy="3877133"/>
          </a:xfrm>
        </p:grpSpPr>
        <p:sp>
          <p:nvSpPr>
            <p:cNvPr id="66" name="Freeform: Shape 65">
              <a:extLst>
                <a:ext uri="{FF2B5EF4-FFF2-40B4-BE49-F238E27FC236}">
                  <a16:creationId xmlns:a16="http://schemas.microsoft.com/office/drawing/2014/main" id="{883D49ED-8472-BA3F-325F-F0FE82B7F366}"/>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67" name="Freeform: Shape 66">
              <a:extLst>
                <a:ext uri="{FF2B5EF4-FFF2-40B4-BE49-F238E27FC236}">
                  <a16:creationId xmlns:a16="http://schemas.microsoft.com/office/drawing/2014/main" id="{238E5EEF-76AC-3E58-5F48-5DE7938622AA}"/>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grpSp>
        <p:nvGrpSpPr>
          <p:cNvPr id="68" name="Group 67">
            <a:extLst>
              <a:ext uri="{FF2B5EF4-FFF2-40B4-BE49-F238E27FC236}">
                <a16:creationId xmlns:a16="http://schemas.microsoft.com/office/drawing/2014/main" id="{51C9511E-D88B-CE2A-5208-018771A98DF1}"/>
              </a:ext>
            </a:extLst>
          </p:cNvPr>
          <p:cNvGrpSpPr/>
          <p:nvPr/>
        </p:nvGrpSpPr>
        <p:grpSpPr>
          <a:xfrm>
            <a:off x="9502335" y="2120898"/>
            <a:ext cx="2107053" cy="4460902"/>
            <a:chOff x="584201" y="2324100"/>
            <a:chExt cx="2107053" cy="3877133"/>
          </a:xfrm>
        </p:grpSpPr>
        <p:sp>
          <p:nvSpPr>
            <p:cNvPr id="69" name="Freeform: Shape 68">
              <a:extLst>
                <a:ext uri="{FF2B5EF4-FFF2-40B4-BE49-F238E27FC236}">
                  <a16:creationId xmlns:a16="http://schemas.microsoft.com/office/drawing/2014/main" id="{CC2331B2-54B6-3DBD-9083-C2FCAE8B633D}"/>
                </a:ext>
              </a:extLst>
            </p:cNvPr>
            <p:cNvSpPr/>
            <p:nvPr/>
          </p:nvSpPr>
          <p:spPr bwMode="auto">
            <a:xfrm>
              <a:off x="584201" y="2324100"/>
              <a:ext cx="2107053" cy="3877133"/>
            </a:xfrm>
            <a:custGeom>
              <a:avLst/>
              <a:gdLst>
                <a:gd name="connsiteX0" fmla="*/ 136411 w 2107053"/>
                <a:gd name="connsiteY0" fmla="*/ 0 h 3877133"/>
                <a:gd name="connsiteX1" fmla="*/ 498717 w 2107053"/>
                <a:gd name="connsiteY1" fmla="*/ 0 h 3877133"/>
                <a:gd name="connsiteX2" fmla="*/ 497328 w 2107053"/>
                <a:gd name="connsiteY2" fmla="*/ 13777 h 3877133"/>
                <a:gd name="connsiteX3" fmla="*/ 1053526 w 2107053"/>
                <a:gd name="connsiteY3" fmla="*/ 569969 h 3877133"/>
                <a:gd name="connsiteX4" fmla="*/ 1609724 w 2107053"/>
                <a:gd name="connsiteY4" fmla="*/ 13777 h 3877133"/>
                <a:gd name="connsiteX5" fmla="*/ 1608335 w 2107053"/>
                <a:gd name="connsiteY5" fmla="*/ 0 h 3877133"/>
                <a:gd name="connsiteX6" fmla="*/ 1970642 w 2107053"/>
                <a:gd name="connsiteY6" fmla="*/ 0 h 3877133"/>
                <a:gd name="connsiteX7" fmla="*/ 2107053 w 2107053"/>
                <a:gd name="connsiteY7" fmla="*/ 136411 h 3877133"/>
                <a:gd name="connsiteX8" fmla="*/ 2107053 w 2107053"/>
                <a:gd name="connsiteY8" fmla="*/ 3740722 h 3877133"/>
                <a:gd name="connsiteX9" fmla="*/ 1970642 w 2107053"/>
                <a:gd name="connsiteY9" fmla="*/ 3877133 h 3877133"/>
                <a:gd name="connsiteX10" fmla="*/ 136411 w 2107053"/>
                <a:gd name="connsiteY10" fmla="*/ 3877133 h 3877133"/>
                <a:gd name="connsiteX11" fmla="*/ 0 w 2107053"/>
                <a:gd name="connsiteY11" fmla="*/ 3740722 h 3877133"/>
                <a:gd name="connsiteX12" fmla="*/ 0 w 2107053"/>
                <a:gd name="connsiteY12" fmla="*/ 136411 h 3877133"/>
                <a:gd name="connsiteX13" fmla="*/ 136411 w 2107053"/>
                <a:gd name="connsiteY13" fmla="*/ 0 h 387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07053" h="3877133">
                  <a:moveTo>
                    <a:pt x="136411" y="0"/>
                  </a:moveTo>
                  <a:lnTo>
                    <a:pt x="498717" y="0"/>
                  </a:lnTo>
                  <a:lnTo>
                    <a:pt x="497328" y="13777"/>
                  </a:lnTo>
                  <a:cubicBezTo>
                    <a:pt x="497328" y="320953"/>
                    <a:pt x="746346" y="569969"/>
                    <a:pt x="1053526" y="569969"/>
                  </a:cubicBezTo>
                  <a:cubicBezTo>
                    <a:pt x="1360706" y="569969"/>
                    <a:pt x="1609724" y="320953"/>
                    <a:pt x="1609724" y="13777"/>
                  </a:cubicBezTo>
                  <a:lnTo>
                    <a:pt x="1608335" y="0"/>
                  </a:lnTo>
                  <a:lnTo>
                    <a:pt x="1970642" y="0"/>
                  </a:lnTo>
                  <a:cubicBezTo>
                    <a:pt x="2045980" y="0"/>
                    <a:pt x="2107053" y="61073"/>
                    <a:pt x="2107053" y="136411"/>
                  </a:cubicBezTo>
                  <a:lnTo>
                    <a:pt x="2107053" y="3740722"/>
                  </a:lnTo>
                  <a:cubicBezTo>
                    <a:pt x="2107053" y="3816060"/>
                    <a:pt x="2045980" y="3877133"/>
                    <a:pt x="1970642" y="3877133"/>
                  </a:cubicBezTo>
                  <a:lnTo>
                    <a:pt x="136411" y="3877133"/>
                  </a:lnTo>
                  <a:cubicBezTo>
                    <a:pt x="61073" y="3877133"/>
                    <a:pt x="0" y="3816060"/>
                    <a:pt x="0" y="3740722"/>
                  </a:cubicBezTo>
                  <a:lnTo>
                    <a:pt x="0" y="136411"/>
                  </a:lnTo>
                  <a:cubicBezTo>
                    <a:pt x="0" y="61073"/>
                    <a:pt x="61073" y="0"/>
                    <a:pt x="136411"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sp>
          <p:nvSpPr>
            <p:cNvPr id="70" name="Freeform: Shape 69">
              <a:extLst>
                <a:ext uri="{FF2B5EF4-FFF2-40B4-BE49-F238E27FC236}">
                  <a16:creationId xmlns:a16="http://schemas.microsoft.com/office/drawing/2014/main" id="{85BF1ACE-DB58-E3F9-8EEC-B796DD5A329D}"/>
                </a:ext>
              </a:extLst>
            </p:cNvPr>
            <p:cNvSpPr/>
            <p:nvPr/>
          </p:nvSpPr>
          <p:spPr bwMode="auto">
            <a:xfrm>
              <a:off x="665605" y="2406650"/>
              <a:ext cx="1944244" cy="3712032"/>
            </a:xfrm>
            <a:custGeom>
              <a:avLst/>
              <a:gdLst>
                <a:gd name="connsiteX0" fmla="*/ 116344 w 1944244"/>
                <a:gd name="connsiteY0" fmla="*/ 0 h 3712032"/>
                <a:gd name="connsiteX1" fmla="*/ 422857 w 1944244"/>
                <a:gd name="connsiteY1" fmla="*/ 0 h 3712032"/>
                <a:gd name="connsiteX2" fmla="*/ 427224 w 1944244"/>
                <a:gd name="connsiteY2" fmla="*/ 43319 h 3712032"/>
                <a:gd name="connsiteX3" fmla="*/ 972122 w 1944244"/>
                <a:gd name="connsiteY3" fmla="*/ 487419 h 3712032"/>
                <a:gd name="connsiteX4" fmla="*/ 1517020 w 1944244"/>
                <a:gd name="connsiteY4" fmla="*/ 43319 h 3712032"/>
                <a:gd name="connsiteX5" fmla="*/ 1521387 w 1944244"/>
                <a:gd name="connsiteY5" fmla="*/ 0 h 3712032"/>
                <a:gd name="connsiteX6" fmla="*/ 1827900 w 1944244"/>
                <a:gd name="connsiteY6" fmla="*/ 0 h 3712032"/>
                <a:gd name="connsiteX7" fmla="*/ 1944244 w 1944244"/>
                <a:gd name="connsiteY7" fmla="*/ 116344 h 3712032"/>
                <a:gd name="connsiteX8" fmla="*/ 1944244 w 1944244"/>
                <a:gd name="connsiteY8" fmla="*/ 3595688 h 3712032"/>
                <a:gd name="connsiteX9" fmla="*/ 1827900 w 1944244"/>
                <a:gd name="connsiteY9" fmla="*/ 3712032 h 3712032"/>
                <a:gd name="connsiteX10" fmla="*/ 116344 w 1944244"/>
                <a:gd name="connsiteY10" fmla="*/ 3712032 h 3712032"/>
                <a:gd name="connsiteX11" fmla="*/ 0 w 1944244"/>
                <a:gd name="connsiteY11" fmla="*/ 3595688 h 3712032"/>
                <a:gd name="connsiteX12" fmla="*/ 0 w 1944244"/>
                <a:gd name="connsiteY12" fmla="*/ 116344 h 3712032"/>
                <a:gd name="connsiteX13" fmla="*/ 116344 w 1944244"/>
                <a:gd name="connsiteY13" fmla="*/ 0 h 3712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4244" h="3712032">
                  <a:moveTo>
                    <a:pt x="116344" y="0"/>
                  </a:moveTo>
                  <a:lnTo>
                    <a:pt x="422857" y="0"/>
                  </a:lnTo>
                  <a:lnTo>
                    <a:pt x="427224" y="43319"/>
                  </a:lnTo>
                  <a:cubicBezTo>
                    <a:pt x="479087" y="296766"/>
                    <a:pt x="703340" y="487419"/>
                    <a:pt x="972122" y="487419"/>
                  </a:cubicBezTo>
                  <a:cubicBezTo>
                    <a:pt x="1240905" y="487419"/>
                    <a:pt x="1465157" y="296766"/>
                    <a:pt x="1517020" y="43319"/>
                  </a:cubicBezTo>
                  <a:lnTo>
                    <a:pt x="1521387" y="0"/>
                  </a:lnTo>
                  <a:lnTo>
                    <a:pt x="1827900" y="0"/>
                  </a:lnTo>
                  <a:cubicBezTo>
                    <a:pt x="1892155" y="0"/>
                    <a:pt x="1944244" y="52089"/>
                    <a:pt x="1944244" y="116344"/>
                  </a:cubicBezTo>
                  <a:lnTo>
                    <a:pt x="1944244" y="3595688"/>
                  </a:lnTo>
                  <a:cubicBezTo>
                    <a:pt x="1944244" y="3659943"/>
                    <a:pt x="1892155" y="3712032"/>
                    <a:pt x="1827900" y="3712032"/>
                  </a:cubicBezTo>
                  <a:lnTo>
                    <a:pt x="116344" y="3712032"/>
                  </a:lnTo>
                  <a:cubicBezTo>
                    <a:pt x="52089" y="3712032"/>
                    <a:pt x="0" y="3659943"/>
                    <a:pt x="0" y="3595688"/>
                  </a:cubicBezTo>
                  <a:lnTo>
                    <a:pt x="0" y="116344"/>
                  </a:lnTo>
                  <a:cubicBezTo>
                    <a:pt x="0" y="52089"/>
                    <a:pt x="52089" y="0"/>
                    <a:pt x="116344" y="0"/>
                  </a:cubicBezTo>
                  <a:close/>
                </a:path>
              </a:pathLst>
            </a:custGeom>
            <a:solidFill>
              <a:srgbClr val="FFFFFF">
                <a:alpha val="66000"/>
              </a:srgbClr>
            </a:solidFill>
            <a:ln w="3175" cap="flat" cmpd="sng" algn="ctr">
              <a:solidFill>
                <a:schemeClr val="accent1"/>
              </a:solidFill>
              <a:prstDash val="solid"/>
              <a:headEnd type="none" w="med" len="med"/>
              <a:tailEnd type="none" w="med" len="med"/>
            </a:ln>
            <a:effectLst>
              <a:outerShdw blurRad="177800" algn="ctr" rotWithShape="0">
                <a:prstClr val="black">
                  <a:alpha val="6000"/>
                </a:prstClr>
              </a:outerShdw>
            </a:effectLst>
          </p:spPr>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ctr" defTabSz="932555" eaLnBrk="1" fontAlgn="auto" latinLnBrk="0" hangingPunct="1">
                <a:lnSpc>
                  <a:spcPct val="100000"/>
                </a:lnSpc>
                <a:spcBef>
                  <a:spcPts val="0"/>
                </a:spcBef>
                <a:spcAft>
                  <a:spcPts val="1200"/>
                </a:spcAft>
                <a:buClrTx/>
                <a:buSzPct val="90000"/>
                <a:buFontTx/>
                <a:buNone/>
                <a:tabLst/>
                <a:defRPr/>
              </a:pPr>
              <a:endParaRPr kumimoji="0" lang="en-GB" sz="1400" b="0" i="0" u="none" strike="noStrike" kern="0" cap="none" spc="0" normalizeH="0" baseline="0" noProof="0">
                <a:ln>
                  <a:noFill/>
                </a:ln>
                <a:solidFill>
                  <a:srgbClr val="000000"/>
                </a:solidFill>
                <a:effectLst/>
                <a:uLnTx/>
                <a:uFillTx/>
                <a:latin typeface="Segoe UI Semibold"/>
                <a:ea typeface="+mn-ea"/>
                <a:cs typeface="Segoe UI Semilight" panose="020B0402040204020203" pitchFamily="34" charset="0"/>
              </a:endParaRPr>
            </a:p>
          </p:txBody>
        </p:sp>
      </p:grpSp>
      <p:sp>
        <p:nvSpPr>
          <p:cNvPr id="71" name="Oval 34_1">
            <a:extLst>
              <a:ext uri="{FF2B5EF4-FFF2-40B4-BE49-F238E27FC236}">
                <a16:creationId xmlns:a16="http://schemas.microsoft.com/office/drawing/2014/main" id="{BD521611-B7A7-0BA3-E011-C75BDEF51157}"/>
              </a:ext>
            </a:extLst>
          </p:cNvPr>
          <p:cNvSpPr/>
          <p:nvPr/>
        </p:nvSpPr>
        <p:spPr bwMode="auto">
          <a:xfrm>
            <a:off x="3359950" y="1635191"/>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2" name="Oval 71">
            <a:extLst>
              <a:ext uri="{FF2B5EF4-FFF2-40B4-BE49-F238E27FC236}">
                <a16:creationId xmlns:a16="http://schemas.microsoft.com/office/drawing/2014/main" id="{8CEF1A03-8578-D190-31CD-F80E0C73E9F4}"/>
              </a:ext>
            </a:extLst>
          </p:cNvPr>
          <p:cNvSpPr/>
          <p:nvPr/>
        </p:nvSpPr>
        <p:spPr bwMode="auto">
          <a:xfrm>
            <a:off x="3448543" y="1723782"/>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3" name="Oval 34_1">
            <a:extLst>
              <a:ext uri="{FF2B5EF4-FFF2-40B4-BE49-F238E27FC236}">
                <a16:creationId xmlns:a16="http://schemas.microsoft.com/office/drawing/2014/main" id="{AE7AE49D-93AD-D990-6715-7235BDCDB126}"/>
              </a:ext>
            </a:extLst>
          </p:cNvPr>
          <p:cNvSpPr/>
          <p:nvPr/>
        </p:nvSpPr>
        <p:spPr bwMode="auto">
          <a:xfrm>
            <a:off x="5592090" y="1635191"/>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4" name="Oval 73">
            <a:extLst>
              <a:ext uri="{FF2B5EF4-FFF2-40B4-BE49-F238E27FC236}">
                <a16:creationId xmlns:a16="http://schemas.microsoft.com/office/drawing/2014/main" id="{C2AFAB53-DFCE-FA81-A2B7-DA44518C1640}"/>
              </a:ext>
            </a:extLst>
          </p:cNvPr>
          <p:cNvSpPr/>
          <p:nvPr/>
        </p:nvSpPr>
        <p:spPr bwMode="auto">
          <a:xfrm>
            <a:off x="5680683" y="1723782"/>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5" name="Oval 34_1">
            <a:extLst>
              <a:ext uri="{FF2B5EF4-FFF2-40B4-BE49-F238E27FC236}">
                <a16:creationId xmlns:a16="http://schemas.microsoft.com/office/drawing/2014/main" id="{0B102BC0-6B33-B35F-FA99-EFD464EA0664}"/>
              </a:ext>
            </a:extLst>
          </p:cNvPr>
          <p:cNvSpPr/>
          <p:nvPr/>
        </p:nvSpPr>
        <p:spPr bwMode="auto">
          <a:xfrm>
            <a:off x="7824231" y="1635191"/>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6" name="Oval 75">
            <a:extLst>
              <a:ext uri="{FF2B5EF4-FFF2-40B4-BE49-F238E27FC236}">
                <a16:creationId xmlns:a16="http://schemas.microsoft.com/office/drawing/2014/main" id="{C265AE7E-9167-A579-5207-04FD06BDE53F}"/>
              </a:ext>
            </a:extLst>
          </p:cNvPr>
          <p:cNvSpPr/>
          <p:nvPr/>
        </p:nvSpPr>
        <p:spPr bwMode="auto">
          <a:xfrm>
            <a:off x="7912824" y="1723782"/>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7" name="Oval 34_1">
            <a:extLst>
              <a:ext uri="{FF2B5EF4-FFF2-40B4-BE49-F238E27FC236}">
                <a16:creationId xmlns:a16="http://schemas.microsoft.com/office/drawing/2014/main" id="{A56E514B-1B42-0CB3-DAE4-A0F4D5BF7EA7}"/>
              </a:ext>
            </a:extLst>
          </p:cNvPr>
          <p:cNvSpPr/>
          <p:nvPr/>
        </p:nvSpPr>
        <p:spPr bwMode="auto">
          <a:xfrm>
            <a:off x="10056372" y="1635191"/>
            <a:ext cx="998978" cy="998968"/>
          </a:xfrm>
          <a:prstGeom prst="ellipse">
            <a:avLst/>
          </a:prstGeom>
          <a:solidFill>
            <a:srgbClr val="FFFFFF">
              <a:alpha val="30000"/>
            </a:srgbClr>
          </a:solidFill>
          <a:ln w="9525" cap="flat" cmpd="sng" algn="ctr">
            <a:no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8" name="Oval 77">
            <a:extLst>
              <a:ext uri="{FF2B5EF4-FFF2-40B4-BE49-F238E27FC236}">
                <a16:creationId xmlns:a16="http://schemas.microsoft.com/office/drawing/2014/main" id="{979169CA-7F65-5C44-3BA6-8AFC663EFB21}"/>
              </a:ext>
            </a:extLst>
          </p:cNvPr>
          <p:cNvSpPr/>
          <p:nvPr/>
        </p:nvSpPr>
        <p:spPr bwMode="auto">
          <a:xfrm>
            <a:off x="10144965" y="1723782"/>
            <a:ext cx="821792" cy="821786"/>
          </a:xfrm>
          <a:prstGeom prst="ellipse">
            <a:avLst/>
          </a:prstGeom>
          <a:solidFill>
            <a:srgbClr val="FFFFFF"/>
          </a:solidFill>
          <a:ln w="22225" cap="flat" cmpd="sng" algn="ctr">
            <a:gradFill>
              <a:gsLst>
                <a:gs pos="0">
                  <a:srgbClr val="B85CBC"/>
                </a:gs>
                <a:gs pos="100000">
                  <a:srgbClr val="0078D4"/>
                </a:gs>
              </a:gsLst>
              <a:lin ang="5400000" scaled="1"/>
            </a:gradFill>
            <a:prstDash val="solid"/>
            <a:headEnd type="none" w="med" len="med"/>
            <a:tailEnd type="none" w="med" len="med"/>
          </a:ln>
          <a:effectLst>
            <a:outerShdw blurRad="215900" algn="ctr" rotWithShape="0">
              <a:prstClr val="black">
                <a:alpha val="13000"/>
              </a:prst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GB" sz="2000" b="0" i="0" u="none" strike="noStrike" kern="0" cap="none" spc="0" normalizeH="0" baseline="0" noProof="0">
              <a:ln>
                <a:noFill/>
              </a:ln>
              <a:solidFill>
                <a:srgbClr val="000000"/>
              </a:solidFill>
              <a:effectLst/>
              <a:uLnTx/>
              <a:uFillTx/>
              <a:latin typeface="Segoe UI"/>
              <a:ea typeface="+mn-ea"/>
              <a:cs typeface="Segoe UI" pitchFamily="34" charset="0"/>
            </a:endParaRPr>
          </a:p>
        </p:txBody>
      </p:sp>
      <p:sp>
        <p:nvSpPr>
          <p:cNvPr id="79" name="TextBox 78">
            <a:extLst>
              <a:ext uri="{FF2B5EF4-FFF2-40B4-BE49-F238E27FC236}">
                <a16:creationId xmlns:a16="http://schemas.microsoft.com/office/drawing/2014/main" id="{7C0E93FF-3B8F-3492-6CFD-C0A61C23D6FD}"/>
              </a:ext>
            </a:extLst>
          </p:cNvPr>
          <p:cNvSpPr txBox="1"/>
          <p:nvPr/>
        </p:nvSpPr>
        <p:spPr>
          <a:xfrm>
            <a:off x="2896158" y="2992038"/>
            <a:ext cx="1935403" cy="615553"/>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High</a:t>
            </a:r>
            <a:br>
              <a:rPr lang="en-GB" sz="2000" noProof="0">
                <a:solidFill>
                  <a:srgbClr val="0078D4"/>
                </a:solidFill>
                <a:latin typeface="Segoe UI Semibold"/>
              </a:rPr>
            </a:br>
            <a:r>
              <a:rPr lang="en-GB" sz="2000" noProof="0">
                <a:solidFill>
                  <a:srgbClr val="0078D4"/>
                </a:solidFill>
                <a:latin typeface="Segoe UI Semibold"/>
              </a:rPr>
              <a:t>Reliability</a:t>
            </a:r>
          </a:p>
        </p:txBody>
      </p:sp>
      <p:sp>
        <p:nvSpPr>
          <p:cNvPr id="80" name="TextBox 79">
            <a:extLst>
              <a:ext uri="{FF2B5EF4-FFF2-40B4-BE49-F238E27FC236}">
                <a16:creationId xmlns:a16="http://schemas.microsoft.com/office/drawing/2014/main" id="{682CCDF7-3954-F2BA-DC80-E8766F717D7A}"/>
              </a:ext>
            </a:extLst>
          </p:cNvPr>
          <p:cNvSpPr txBox="1"/>
          <p:nvPr/>
        </p:nvSpPr>
        <p:spPr>
          <a:xfrm>
            <a:off x="5114960" y="2992038"/>
            <a:ext cx="1944244" cy="615553"/>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Robust</a:t>
            </a:r>
            <a:br>
              <a:rPr lang="en-GB" sz="2000" noProof="0">
                <a:solidFill>
                  <a:srgbClr val="0078D4"/>
                </a:solidFill>
                <a:latin typeface="Segoe UI Semibold"/>
              </a:rPr>
            </a:br>
            <a:r>
              <a:rPr lang="en-GB" sz="2000" noProof="0">
                <a:solidFill>
                  <a:srgbClr val="0078D4"/>
                </a:solidFill>
                <a:latin typeface="Segoe UI Semibold"/>
              </a:rPr>
              <a:t>Security</a:t>
            </a:r>
          </a:p>
        </p:txBody>
      </p:sp>
      <p:sp>
        <p:nvSpPr>
          <p:cNvPr id="81" name="TextBox 80">
            <a:extLst>
              <a:ext uri="{FF2B5EF4-FFF2-40B4-BE49-F238E27FC236}">
                <a16:creationId xmlns:a16="http://schemas.microsoft.com/office/drawing/2014/main" id="{69F64DE8-5456-5DC2-7AE7-180B834FC126}"/>
              </a:ext>
            </a:extLst>
          </p:cNvPr>
          <p:cNvSpPr txBox="1"/>
          <p:nvPr/>
        </p:nvSpPr>
        <p:spPr>
          <a:xfrm>
            <a:off x="659675" y="2992038"/>
            <a:ext cx="1944244" cy="615553"/>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Cost </a:t>
            </a:r>
            <a:br>
              <a:rPr lang="en-GB" sz="2000" noProof="0">
                <a:solidFill>
                  <a:srgbClr val="0078D4"/>
                </a:solidFill>
                <a:latin typeface="Segoe UI Semibold"/>
              </a:rPr>
            </a:br>
            <a:r>
              <a:rPr lang="en-GB" sz="2000" noProof="0">
                <a:solidFill>
                  <a:srgbClr val="0078D4"/>
                </a:solidFill>
                <a:latin typeface="Segoe UI Semibold"/>
              </a:rPr>
              <a:t>Efficiency</a:t>
            </a:r>
          </a:p>
        </p:txBody>
      </p:sp>
      <p:sp>
        <p:nvSpPr>
          <p:cNvPr id="82" name="TextBox 81">
            <a:extLst>
              <a:ext uri="{FF2B5EF4-FFF2-40B4-BE49-F238E27FC236}">
                <a16:creationId xmlns:a16="http://schemas.microsoft.com/office/drawing/2014/main" id="{A59F4609-4FFC-EC0F-C95B-A7FA711DA5BE}"/>
              </a:ext>
            </a:extLst>
          </p:cNvPr>
          <p:cNvSpPr txBox="1"/>
          <p:nvPr/>
        </p:nvSpPr>
        <p:spPr>
          <a:xfrm>
            <a:off x="7351599" y="2992038"/>
            <a:ext cx="1944244" cy="615553"/>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Developer Enablement</a:t>
            </a:r>
          </a:p>
        </p:txBody>
      </p:sp>
      <p:sp>
        <p:nvSpPr>
          <p:cNvPr id="83" name="TextBox 82">
            <a:extLst>
              <a:ext uri="{FF2B5EF4-FFF2-40B4-BE49-F238E27FC236}">
                <a16:creationId xmlns:a16="http://schemas.microsoft.com/office/drawing/2014/main" id="{AD6A7DAF-4D23-16BC-3AAD-2F27B5A6272A}"/>
              </a:ext>
            </a:extLst>
          </p:cNvPr>
          <p:cNvSpPr txBox="1"/>
          <p:nvPr/>
        </p:nvSpPr>
        <p:spPr>
          <a:xfrm>
            <a:off x="9583740" y="2992038"/>
            <a:ext cx="1942656" cy="615553"/>
          </a:xfrm>
          <a:prstGeom prst="rect">
            <a:avLst/>
          </a:prstGeom>
          <a:noFill/>
        </p:spPr>
        <p:txBody>
          <a:bodyPr wrap="square" lIns="0" tIns="0" rIns="0" bIns="0" rtlCol="0">
            <a:spAutoFit/>
          </a:bodyPr>
          <a:lstStyle/>
          <a:p>
            <a:pPr algn="ctr">
              <a:defRPr/>
            </a:pPr>
            <a:r>
              <a:rPr lang="en-GB" sz="2000" noProof="0">
                <a:solidFill>
                  <a:srgbClr val="0078D4"/>
                </a:solidFill>
                <a:latin typeface="Segoe UI Semibold"/>
              </a:rPr>
              <a:t>Enhanced Governance</a:t>
            </a:r>
          </a:p>
        </p:txBody>
      </p:sp>
      <p:sp>
        <p:nvSpPr>
          <p:cNvPr id="84" name="Graphic 147">
            <a:extLst>
              <a:ext uri="{FF2B5EF4-FFF2-40B4-BE49-F238E27FC236}">
                <a16:creationId xmlns:a16="http://schemas.microsoft.com/office/drawing/2014/main" id="{1BFB5E2A-A218-6D65-9CB9-00383E3B3D39}"/>
              </a:ext>
            </a:extLst>
          </p:cNvPr>
          <p:cNvSpPr/>
          <p:nvPr/>
        </p:nvSpPr>
        <p:spPr>
          <a:xfrm>
            <a:off x="8080788" y="1891744"/>
            <a:ext cx="485864" cy="485862"/>
          </a:xfrm>
          <a:custGeom>
            <a:avLst/>
            <a:gdLst>
              <a:gd name="connsiteX0" fmla="*/ 4768530 w 4876800"/>
              <a:gd name="connsiteY0" fmla="*/ 2014099 h 4876800"/>
              <a:gd name="connsiteX1" fmla="*/ 4209136 w 4876800"/>
              <a:gd name="connsiteY1" fmla="*/ 1876530 h 4876800"/>
              <a:gd name="connsiteX2" fmla="*/ 4080072 w 4876800"/>
              <a:gd name="connsiteY2" fmla="*/ 1569291 h 4876800"/>
              <a:gd name="connsiteX3" fmla="*/ 4340571 w 4876800"/>
              <a:gd name="connsiteY3" fmla="*/ 1135228 h 4876800"/>
              <a:gd name="connsiteX4" fmla="*/ 4319083 w 4876800"/>
              <a:gd name="connsiteY4" fmla="*/ 960682 h 4876800"/>
              <a:gd name="connsiteX5" fmla="*/ 3915013 w 4876800"/>
              <a:gd name="connsiteY5" fmla="*/ 556612 h 4876800"/>
              <a:gd name="connsiteX6" fmla="*/ 3740468 w 4876800"/>
              <a:gd name="connsiteY6" fmla="*/ 535124 h 4876800"/>
              <a:gd name="connsiteX7" fmla="*/ 3305699 w 4876800"/>
              <a:gd name="connsiteY7" fmla="*/ 795623 h 4876800"/>
              <a:gd name="connsiteX8" fmla="*/ 3000280 w 4876800"/>
              <a:gd name="connsiteY8" fmla="*/ 667674 h 4876800"/>
              <a:gd name="connsiteX9" fmla="*/ 2862710 w 4876800"/>
              <a:gd name="connsiteY9" fmla="*/ 108280 h 4876800"/>
              <a:gd name="connsiteX10" fmla="*/ 2724150 w 4876800"/>
              <a:gd name="connsiteY10" fmla="*/ 0 h 4876800"/>
              <a:gd name="connsiteX11" fmla="*/ 2152650 w 4876800"/>
              <a:gd name="connsiteY11" fmla="*/ 0 h 4876800"/>
              <a:gd name="connsiteX12" fmla="*/ 2014099 w 4876800"/>
              <a:gd name="connsiteY12" fmla="*/ 108271 h 4876800"/>
              <a:gd name="connsiteX13" fmla="*/ 1876663 w 4876800"/>
              <a:gd name="connsiteY13" fmla="*/ 667531 h 4876800"/>
              <a:gd name="connsiteX14" fmla="*/ 1552404 w 4876800"/>
              <a:gd name="connsiteY14" fmla="*/ 805663 h 4876800"/>
              <a:gd name="connsiteX15" fmla="*/ 1101595 w 4876800"/>
              <a:gd name="connsiteY15" fmla="*/ 535124 h 4876800"/>
              <a:gd name="connsiteX16" fmla="*/ 927049 w 4876800"/>
              <a:gd name="connsiteY16" fmla="*/ 556612 h 4876800"/>
              <a:gd name="connsiteX17" fmla="*/ 522980 w 4876800"/>
              <a:gd name="connsiteY17" fmla="*/ 960682 h 4876800"/>
              <a:gd name="connsiteX18" fmla="*/ 501491 w 4876800"/>
              <a:gd name="connsiteY18" fmla="*/ 1135228 h 4876800"/>
              <a:gd name="connsiteX19" fmla="*/ 780269 w 4876800"/>
              <a:gd name="connsiteY19" fmla="*/ 1600829 h 4876800"/>
              <a:gd name="connsiteX20" fmla="*/ 667674 w 4876800"/>
              <a:gd name="connsiteY20" fmla="*/ 1876111 h 4876800"/>
              <a:gd name="connsiteX21" fmla="*/ 108280 w 4876800"/>
              <a:gd name="connsiteY21" fmla="*/ 2014099 h 4876800"/>
              <a:gd name="connsiteX22" fmla="*/ 0 w 4876800"/>
              <a:gd name="connsiteY22" fmla="*/ 2152650 h 4876800"/>
              <a:gd name="connsiteX23" fmla="*/ 0 w 4876800"/>
              <a:gd name="connsiteY23" fmla="*/ 2724150 h 4876800"/>
              <a:gd name="connsiteX24" fmla="*/ 108271 w 4876800"/>
              <a:gd name="connsiteY24" fmla="*/ 2862701 h 4876800"/>
              <a:gd name="connsiteX25" fmla="*/ 667807 w 4876800"/>
              <a:gd name="connsiteY25" fmla="*/ 3000270 h 4876800"/>
              <a:gd name="connsiteX26" fmla="*/ 799243 w 4876800"/>
              <a:gd name="connsiteY26" fmla="*/ 3312671 h 4876800"/>
              <a:gd name="connsiteX27" fmla="*/ 549774 w 4876800"/>
              <a:gd name="connsiteY27" fmla="*/ 3728457 h 4876800"/>
              <a:gd name="connsiteX28" fmla="*/ 571262 w 4876800"/>
              <a:gd name="connsiteY28" fmla="*/ 3903002 h 4876800"/>
              <a:gd name="connsiteX29" fmla="*/ 975331 w 4876800"/>
              <a:gd name="connsiteY29" fmla="*/ 4307072 h 4876800"/>
              <a:gd name="connsiteX30" fmla="*/ 1149877 w 4876800"/>
              <a:gd name="connsiteY30" fmla="*/ 4328560 h 4876800"/>
              <a:gd name="connsiteX31" fmla="*/ 1566644 w 4876800"/>
              <a:gd name="connsiteY31" fmla="*/ 4078805 h 4876800"/>
              <a:gd name="connsiteX32" fmla="*/ 1876673 w 4876800"/>
              <a:gd name="connsiteY32" fmla="*/ 4209260 h 4876800"/>
              <a:gd name="connsiteX33" fmla="*/ 2014109 w 4876800"/>
              <a:gd name="connsiteY33" fmla="*/ 4768520 h 4876800"/>
              <a:gd name="connsiteX34" fmla="*/ 2152650 w 4876800"/>
              <a:gd name="connsiteY34" fmla="*/ 4876800 h 4876800"/>
              <a:gd name="connsiteX35" fmla="*/ 2724150 w 4876800"/>
              <a:gd name="connsiteY35" fmla="*/ 4876800 h 4876800"/>
              <a:gd name="connsiteX36" fmla="*/ 2862701 w 4876800"/>
              <a:gd name="connsiteY36" fmla="*/ 4768530 h 4876800"/>
              <a:gd name="connsiteX37" fmla="*/ 3000137 w 4876800"/>
              <a:gd name="connsiteY37" fmla="*/ 4209269 h 4876800"/>
              <a:gd name="connsiteX38" fmla="*/ 3317139 w 4876800"/>
              <a:gd name="connsiteY38" fmla="*/ 4074624 h 4876800"/>
              <a:gd name="connsiteX39" fmla="*/ 3740458 w 4876800"/>
              <a:gd name="connsiteY39" fmla="*/ 4328560 h 4876800"/>
              <a:gd name="connsiteX40" fmla="*/ 3915004 w 4876800"/>
              <a:gd name="connsiteY40" fmla="*/ 4307072 h 4876800"/>
              <a:gd name="connsiteX41" fmla="*/ 4319074 w 4876800"/>
              <a:gd name="connsiteY41" fmla="*/ 3903002 h 4876800"/>
              <a:gd name="connsiteX42" fmla="*/ 4340562 w 4876800"/>
              <a:gd name="connsiteY42" fmla="*/ 3728457 h 4876800"/>
              <a:gd name="connsiteX43" fmla="*/ 4083692 w 4876800"/>
              <a:gd name="connsiteY43" fmla="*/ 3300527 h 4876800"/>
              <a:gd name="connsiteX44" fmla="*/ 4209126 w 4876800"/>
              <a:gd name="connsiteY44" fmla="*/ 3000270 h 4876800"/>
              <a:gd name="connsiteX45" fmla="*/ 4768520 w 4876800"/>
              <a:gd name="connsiteY45" fmla="*/ 2862701 h 4876800"/>
              <a:gd name="connsiteX46" fmla="*/ 4876800 w 4876800"/>
              <a:gd name="connsiteY46" fmla="*/ 2724150 h 4876800"/>
              <a:gd name="connsiteX47" fmla="*/ 4876800 w 4876800"/>
              <a:gd name="connsiteY47" fmla="*/ 2152650 h 4876800"/>
              <a:gd name="connsiteX48" fmla="*/ 4768530 w 4876800"/>
              <a:gd name="connsiteY48" fmla="*/ 2014099 h 4876800"/>
              <a:gd name="connsiteX49" fmla="*/ 2438400 w 4876800"/>
              <a:gd name="connsiteY49" fmla="*/ 3438525 h 4876800"/>
              <a:gd name="connsiteX50" fmla="*/ 1438275 w 4876800"/>
              <a:gd name="connsiteY50" fmla="*/ 2438400 h 4876800"/>
              <a:gd name="connsiteX51" fmla="*/ 2438400 w 4876800"/>
              <a:gd name="connsiteY51" fmla="*/ 1438275 h 4876800"/>
              <a:gd name="connsiteX52" fmla="*/ 3438525 w 4876800"/>
              <a:gd name="connsiteY52" fmla="*/ 2438400 h 4876800"/>
              <a:gd name="connsiteX53" fmla="*/ 2438400 w 4876800"/>
              <a:gd name="connsiteY53" fmla="*/ 3438525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876800" h="4876800">
                <a:moveTo>
                  <a:pt x="4768530" y="2014099"/>
                </a:moveTo>
                <a:lnTo>
                  <a:pt x="4209136" y="1876530"/>
                </a:lnTo>
                <a:cubicBezTo>
                  <a:pt x="4175512" y="1770488"/>
                  <a:pt x="4132260" y="1667656"/>
                  <a:pt x="4080072" y="1569291"/>
                </a:cubicBezTo>
                <a:cubicBezTo>
                  <a:pt x="4164063" y="1429483"/>
                  <a:pt x="4340571" y="1135228"/>
                  <a:pt x="4340571" y="1135228"/>
                </a:cubicBezTo>
                <a:cubicBezTo>
                  <a:pt x="4374337" y="1079002"/>
                  <a:pt x="4365403" y="1007002"/>
                  <a:pt x="4319083" y="960682"/>
                </a:cubicBezTo>
                <a:lnTo>
                  <a:pt x="3915013" y="556612"/>
                </a:lnTo>
                <a:cubicBezTo>
                  <a:pt x="3868693" y="510149"/>
                  <a:pt x="3796837" y="501225"/>
                  <a:pt x="3740468" y="535124"/>
                </a:cubicBezTo>
                <a:lnTo>
                  <a:pt x="3305699" y="795623"/>
                </a:lnTo>
                <a:cubicBezTo>
                  <a:pt x="3207887" y="743855"/>
                  <a:pt x="3105617" y="701021"/>
                  <a:pt x="3000280" y="667674"/>
                </a:cubicBezTo>
                <a:lnTo>
                  <a:pt x="2862710" y="108280"/>
                </a:lnTo>
                <a:cubicBezTo>
                  <a:pt x="2846794" y="44653"/>
                  <a:pt x="2789730" y="0"/>
                  <a:pt x="2724150" y="0"/>
                </a:cubicBezTo>
                <a:lnTo>
                  <a:pt x="2152650" y="0"/>
                </a:lnTo>
                <a:cubicBezTo>
                  <a:pt x="2087070" y="0"/>
                  <a:pt x="2029863" y="44653"/>
                  <a:pt x="2014099" y="108271"/>
                </a:cubicBezTo>
                <a:cubicBezTo>
                  <a:pt x="2014099" y="108271"/>
                  <a:pt x="1918802" y="498700"/>
                  <a:pt x="1876663" y="667531"/>
                </a:cubicBezTo>
                <a:cubicBezTo>
                  <a:pt x="1764344" y="703107"/>
                  <a:pt x="1655798" y="749294"/>
                  <a:pt x="1552404" y="805663"/>
                </a:cubicBezTo>
                <a:lnTo>
                  <a:pt x="1101595" y="535124"/>
                </a:lnTo>
                <a:cubicBezTo>
                  <a:pt x="1045226" y="501634"/>
                  <a:pt x="973512" y="510292"/>
                  <a:pt x="927049" y="556612"/>
                </a:cubicBezTo>
                <a:lnTo>
                  <a:pt x="522980" y="960682"/>
                </a:lnTo>
                <a:cubicBezTo>
                  <a:pt x="476660" y="1007002"/>
                  <a:pt x="467725" y="1079002"/>
                  <a:pt x="501491" y="1135228"/>
                </a:cubicBezTo>
                <a:lnTo>
                  <a:pt x="780269" y="1600829"/>
                </a:lnTo>
                <a:cubicBezTo>
                  <a:pt x="735340" y="1689430"/>
                  <a:pt x="697668" y="1781651"/>
                  <a:pt x="667674" y="1876111"/>
                </a:cubicBezTo>
                <a:lnTo>
                  <a:pt x="108280" y="2014099"/>
                </a:lnTo>
                <a:cubicBezTo>
                  <a:pt x="44653" y="2030006"/>
                  <a:pt x="0" y="2087070"/>
                  <a:pt x="0" y="2152650"/>
                </a:cubicBezTo>
                <a:lnTo>
                  <a:pt x="0" y="2724150"/>
                </a:lnTo>
                <a:cubicBezTo>
                  <a:pt x="0" y="2789730"/>
                  <a:pt x="44653" y="2846937"/>
                  <a:pt x="108271" y="2862701"/>
                </a:cubicBezTo>
                <a:lnTo>
                  <a:pt x="667807" y="3000270"/>
                </a:lnTo>
                <a:cubicBezTo>
                  <a:pt x="701716" y="3107846"/>
                  <a:pt x="745798" y="3212354"/>
                  <a:pt x="799243" y="3312671"/>
                </a:cubicBezTo>
                <a:lnTo>
                  <a:pt x="549774" y="3728457"/>
                </a:lnTo>
                <a:cubicBezTo>
                  <a:pt x="516007" y="3784683"/>
                  <a:pt x="524942" y="3856682"/>
                  <a:pt x="571262" y="3903002"/>
                </a:cubicBezTo>
                <a:lnTo>
                  <a:pt x="975331" y="4307072"/>
                </a:lnTo>
                <a:cubicBezTo>
                  <a:pt x="1021518" y="4353259"/>
                  <a:pt x="1093508" y="4362041"/>
                  <a:pt x="1149877" y="4328560"/>
                </a:cubicBezTo>
                <a:cubicBezTo>
                  <a:pt x="1149877" y="4328560"/>
                  <a:pt x="1429626" y="4160853"/>
                  <a:pt x="1566644" y="4078805"/>
                </a:cubicBezTo>
                <a:cubicBezTo>
                  <a:pt x="1665846" y="4131688"/>
                  <a:pt x="1769650" y="4175360"/>
                  <a:pt x="1876673" y="4209260"/>
                </a:cubicBezTo>
                <a:lnTo>
                  <a:pt x="2014109" y="4768520"/>
                </a:lnTo>
                <a:cubicBezTo>
                  <a:pt x="2029863" y="4832156"/>
                  <a:pt x="2087070" y="4876800"/>
                  <a:pt x="2152650" y="4876800"/>
                </a:cubicBezTo>
                <a:lnTo>
                  <a:pt x="2724150" y="4876800"/>
                </a:lnTo>
                <a:cubicBezTo>
                  <a:pt x="2789730" y="4876800"/>
                  <a:pt x="2846794" y="4832147"/>
                  <a:pt x="2862701" y="4768530"/>
                </a:cubicBezTo>
                <a:lnTo>
                  <a:pt x="3000137" y="4209269"/>
                </a:lnTo>
                <a:cubicBezTo>
                  <a:pt x="3110227" y="4174389"/>
                  <a:pt x="3216259" y="4129316"/>
                  <a:pt x="3317139" y="4074624"/>
                </a:cubicBezTo>
                <a:cubicBezTo>
                  <a:pt x="3457918" y="4159034"/>
                  <a:pt x="3740458" y="4328560"/>
                  <a:pt x="3740458" y="4328560"/>
                </a:cubicBezTo>
                <a:cubicBezTo>
                  <a:pt x="3796684" y="4362183"/>
                  <a:pt x="3868684" y="4353535"/>
                  <a:pt x="3915004" y="4307072"/>
                </a:cubicBezTo>
                <a:lnTo>
                  <a:pt x="4319074" y="3903002"/>
                </a:lnTo>
                <a:cubicBezTo>
                  <a:pt x="4365393" y="3856682"/>
                  <a:pt x="4374328" y="3784683"/>
                  <a:pt x="4340562" y="3728457"/>
                </a:cubicBezTo>
                <a:lnTo>
                  <a:pt x="4083692" y="3300527"/>
                </a:lnTo>
                <a:cubicBezTo>
                  <a:pt x="4134336" y="3204391"/>
                  <a:pt x="4176341" y="3103798"/>
                  <a:pt x="4209126" y="3000270"/>
                </a:cubicBezTo>
                <a:lnTo>
                  <a:pt x="4768520" y="2862701"/>
                </a:lnTo>
                <a:cubicBezTo>
                  <a:pt x="4832156" y="2846794"/>
                  <a:pt x="4876800" y="2789730"/>
                  <a:pt x="4876800" y="2724150"/>
                </a:cubicBezTo>
                <a:lnTo>
                  <a:pt x="4876800" y="2152650"/>
                </a:lnTo>
                <a:cubicBezTo>
                  <a:pt x="4876800" y="2087070"/>
                  <a:pt x="4832156" y="2030006"/>
                  <a:pt x="4768530" y="2014099"/>
                </a:cubicBezTo>
                <a:close/>
                <a:moveTo>
                  <a:pt x="2438400" y="3438525"/>
                </a:moveTo>
                <a:cubicBezTo>
                  <a:pt x="1886988" y="3438525"/>
                  <a:pt x="1438275" y="2989812"/>
                  <a:pt x="1438275" y="2438400"/>
                </a:cubicBezTo>
                <a:cubicBezTo>
                  <a:pt x="1438275" y="1886988"/>
                  <a:pt x="1886988" y="1438275"/>
                  <a:pt x="2438400" y="1438275"/>
                </a:cubicBezTo>
                <a:cubicBezTo>
                  <a:pt x="2989812" y="1438275"/>
                  <a:pt x="3438525" y="1886988"/>
                  <a:pt x="3438525" y="2438400"/>
                </a:cubicBezTo>
                <a:cubicBezTo>
                  <a:pt x="3438525" y="2989812"/>
                  <a:pt x="2989812" y="3438525"/>
                  <a:pt x="2438400" y="3438525"/>
                </a:cubicBezTo>
                <a:close/>
              </a:path>
            </a:pathLst>
          </a:custGeom>
          <a:solidFill>
            <a:srgbClr val="0078D4"/>
          </a:solidFill>
          <a:ln w="9525" cap="flat">
            <a:noFill/>
            <a:prstDash val="solid"/>
            <a:miter/>
          </a:ln>
        </p:spPr>
        <p:txBody>
          <a:bodyPr rtlCol="0" anchor="ctr"/>
          <a:lstStyle/>
          <a:p>
            <a:pPr>
              <a:defRPr/>
            </a:pPr>
            <a:endParaRPr lang="en-GB" noProof="0">
              <a:solidFill>
                <a:srgbClr val="FFFFFF"/>
              </a:solidFill>
              <a:latin typeface="Segoe UI"/>
            </a:endParaRPr>
          </a:p>
        </p:txBody>
      </p:sp>
      <p:grpSp>
        <p:nvGrpSpPr>
          <p:cNvPr id="85" name="Group 84">
            <a:extLst>
              <a:ext uri="{FF2B5EF4-FFF2-40B4-BE49-F238E27FC236}">
                <a16:creationId xmlns:a16="http://schemas.microsoft.com/office/drawing/2014/main" id="{21E68D21-B37F-5ED7-493E-EE27AA3F9AAC}"/>
              </a:ext>
            </a:extLst>
          </p:cNvPr>
          <p:cNvGrpSpPr/>
          <p:nvPr/>
        </p:nvGrpSpPr>
        <p:grpSpPr>
          <a:xfrm>
            <a:off x="10342122" y="1902162"/>
            <a:ext cx="427478" cy="439626"/>
            <a:chOff x="-746509" y="4152186"/>
            <a:chExt cx="327795" cy="337113"/>
          </a:xfrm>
        </p:grpSpPr>
        <p:sp>
          <p:nvSpPr>
            <p:cNvPr id="86" name="Freeform: Shape 85">
              <a:extLst>
                <a:ext uri="{FF2B5EF4-FFF2-40B4-BE49-F238E27FC236}">
                  <a16:creationId xmlns:a16="http://schemas.microsoft.com/office/drawing/2014/main" id="{AF5FB21D-2DFE-4E7E-7FD6-B578DDF8F725}"/>
                </a:ext>
              </a:extLst>
            </p:cNvPr>
            <p:cNvSpPr/>
            <p:nvPr/>
          </p:nvSpPr>
          <p:spPr>
            <a:xfrm>
              <a:off x="-745955" y="4152186"/>
              <a:ext cx="326676" cy="145918"/>
            </a:xfrm>
            <a:custGeom>
              <a:avLst/>
              <a:gdLst>
                <a:gd name="connsiteX0" fmla="*/ 163344 w 326676"/>
                <a:gd name="connsiteY0" fmla="*/ 0 h 145918"/>
                <a:gd name="connsiteX1" fmla="*/ 182137 w 326676"/>
                <a:gd name="connsiteY1" fmla="*/ 6131 h 145918"/>
                <a:gd name="connsiteX2" fmla="*/ 317280 w 326676"/>
                <a:gd name="connsiteY2" fmla="*/ 104761 h 145918"/>
                <a:gd name="connsiteX3" fmla="*/ 303913 w 326676"/>
                <a:gd name="connsiteY3" fmla="*/ 145918 h 145918"/>
                <a:gd name="connsiteX4" fmla="*/ 22756 w 326676"/>
                <a:gd name="connsiteY4" fmla="*/ 145918 h 145918"/>
                <a:gd name="connsiteX5" fmla="*/ 9389 w 326676"/>
                <a:gd name="connsiteY5" fmla="*/ 104761 h 145918"/>
                <a:gd name="connsiteX6" fmla="*/ 144532 w 326676"/>
                <a:gd name="connsiteY6" fmla="*/ 6131 h 145918"/>
                <a:gd name="connsiteX7" fmla="*/ 144550 w 326676"/>
                <a:gd name="connsiteY7" fmla="*/ 6131 h 145918"/>
                <a:gd name="connsiteX8" fmla="*/ 163344 w 326676"/>
                <a:gd name="connsiteY8" fmla="*/ 0 h 145918"/>
                <a:gd name="connsiteX9" fmla="*/ 163344 w 326676"/>
                <a:gd name="connsiteY9" fmla="*/ 59398 h 145918"/>
                <a:gd name="connsiteX10" fmla="*/ 145133 w 326676"/>
                <a:gd name="connsiteY10" fmla="*/ 77609 h 145918"/>
                <a:gd name="connsiteX11" fmla="*/ 163344 w 326676"/>
                <a:gd name="connsiteY11" fmla="*/ 95820 h 145918"/>
                <a:gd name="connsiteX12" fmla="*/ 181554 w 326676"/>
                <a:gd name="connsiteY12" fmla="*/ 77609 h 145918"/>
                <a:gd name="connsiteX13" fmla="*/ 163344 w 326676"/>
                <a:gd name="connsiteY13" fmla="*/ 59398 h 14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6676" h="145918">
                  <a:moveTo>
                    <a:pt x="163344" y="0"/>
                  </a:moveTo>
                  <a:cubicBezTo>
                    <a:pt x="169941" y="0"/>
                    <a:pt x="176539" y="2043"/>
                    <a:pt x="182137" y="6131"/>
                  </a:cubicBezTo>
                  <a:lnTo>
                    <a:pt x="317280" y="104761"/>
                  </a:lnTo>
                  <a:cubicBezTo>
                    <a:pt x="335072" y="117727"/>
                    <a:pt x="325912" y="145863"/>
                    <a:pt x="303913" y="145918"/>
                  </a:cubicBezTo>
                  <a:lnTo>
                    <a:pt x="22756" y="145918"/>
                  </a:lnTo>
                  <a:cubicBezTo>
                    <a:pt x="757" y="145863"/>
                    <a:pt x="-8385" y="117727"/>
                    <a:pt x="9389" y="104761"/>
                  </a:cubicBezTo>
                  <a:lnTo>
                    <a:pt x="144532" y="6131"/>
                  </a:lnTo>
                  <a:lnTo>
                    <a:pt x="144550" y="6131"/>
                  </a:lnTo>
                  <a:cubicBezTo>
                    <a:pt x="150148" y="2043"/>
                    <a:pt x="156746" y="0"/>
                    <a:pt x="163344" y="0"/>
                  </a:cubicBezTo>
                  <a:close/>
                  <a:moveTo>
                    <a:pt x="163344" y="59398"/>
                  </a:moveTo>
                  <a:cubicBezTo>
                    <a:pt x="153286" y="59398"/>
                    <a:pt x="145133" y="67551"/>
                    <a:pt x="145133" y="77609"/>
                  </a:cubicBezTo>
                  <a:cubicBezTo>
                    <a:pt x="145133" y="87666"/>
                    <a:pt x="153286" y="95820"/>
                    <a:pt x="163344" y="95820"/>
                  </a:cubicBezTo>
                  <a:cubicBezTo>
                    <a:pt x="173401" y="95820"/>
                    <a:pt x="181554" y="87666"/>
                    <a:pt x="181554" y="77609"/>
                  </a:cubicBezTo>
                  <a:cubicBezTo>
                    <a:pt x="181554" y="67551"/>
                    <a:pt x="173401" y="59398"/>
                    <a:pt x="163344" y="59398"/>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87" name="Freeform: Shape 86">
              <a:extLst>
                <a:ext uri="{FF2B5EF4-FFF2-40B4-BE49-F238E27FC236}">
                  <a16:creationId xmlns:a16="http://schemas.microsoft.com/office/drawing/2014/main" id="{A10FA705-51A2-E70A-CE7E-F4A4BF83903E}"/>
                </a:ext>
              </a:extLst>
            </p:cNvPr>
            <p:cNvSpPr/>
            <p:nvPr/>
          </p:nvSpPr>
          <p:spPr>
            <a:xfrm>
              <a:off x="-700982" y="4316296"/>
              <a:ext cx="40974" cy="91054"/>
            </a:xfrm>
            <a:custGeom>
              <a:avLst/>
              <a:gdLst>
                <a:gd name="connsiteX0" fmla="*/ 0 w 40974"/>
                <a:gd name="connsiteY0" fmla="*/ 0 h 91054"/>
                <a:gd name="connsiteX1" fmla="*/ 40974 w 40974"/>
                <a:gd name="connsiteY1" fmla="*/ 0 h 91054"/>
                <a:gd name="connsiteX2" fmla="*/ 40974 w 40974"/>
                <a:gd name="connsiteY2" fmla="*/ 91054 h 91054"/>
                <a:gd name="connsiteX3" fmla="*/ 0 w 40974"/>
                <a:gd name="connsiteY3" fmla="*/ 91054 h 91054"/>
                <a:gd name="connsiteX4" fmla="*/ 0 w 40974"/>
                <a:gd name="connsiteY4" fmla="*/ 0 h 91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74" h="91054">
                  <a:moveTo>
                    <a:pt x="0" y="0"/>
                  </a:moveTo>
                  <a:lnTo>
                    <a:pt x="40974" y="0"/>
                  </a:lnTo>
                  <a:lnTo>
                    <a:pt x="40974" y="91054"/>
                  </a:lnTo>
                  <a:lnTo>
                    <a:pt x="0" y="91054"/>
                  </a:lnTo>
                  <a:lnTo>
                    <a:pt x="0" y="0"/>
                  </a:ln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88" name="Freeform: Shape 87">
              <a:extLst>
                <a:ext uri="{FF2B5EF4-FFF2-40B4-BE49-F238E27FC236}">
                  <a16:creationId xmlns:a16="http://schemas.microsoft.com/office/drawing/2014/main" id="{D2414945-73AD-9374-8255-68DF7C45EDCD}"/>
                </a:ext>
              </a:extLst>
            </p:cNvPr>
            <p:cNvSpPr/>
            <p:nvPr/>
          </p:nvSpPr>
          <p:spPr>
            <a:xfrm>
              <a:off x="-632691" y="4316296"/>
              <a:ext cx="36421" cy="91054"/>
            </a:xfrm>
            <a:custGeom>
              <a:avLst/>
              <a:gdLst>
                <a:gd name="connsiteX0" fmla="*/ 0 w 36421"/>
                <a:gd name="connsiteY0" fmla="*/ 0 h 91054"/>
                <a:gd name="connsiteX1" fmla="*/ 36421 w 36421"/>
                <a:gd name="connsiteY1" fmla="*/ 0 h 91054"/>
                <a:gd name="connsiteX2" fmla="*/ 36421 w 36421"/>
                <a:gd name="connsiteY2" fmla="*/ 91054 h 91054"/>
                <a:gd name="connsiteX3" fmla="*/ 0 w 36421"/>
                <a:gd name="connsiteY3" fmla="*/ 91054 h 91054"/>
                <a:gd name="connsiteX4" fmla="*/ 0 w 36421"/>
                <a:gd name="connsiteY4" fmla="*/ 0 h 91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91054">
                  <a:moveTo>
                    <a:pt x="0" y="0"/>
                  </a:moveTo>
                  <a:lnTo>
                    <a:pt x="36421" y="0"/>
                  </a:lnTo>
                  <a:lnTo>
                    <a:pt x="36421" y="91054"/>
                  </a:lnTo>
                  <a:lnTo>
                    <a:pt x="0" y="91054"/>
                  </a:lnTo>
                  <a:lnTo>
                    <a:pt x="0" y="0"/>
                  </a:ln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89" name="Freeform: Shape 88">
              <a:extLst>
                <a:ext uri="{FF2B5EF4-FFF2-40B4-BE49-F238E27FC236}">
                  <a16:creationId xmlns:a16="http://schemas.microsoft.com/office/drawing/2014/main" id="{6782D6A1-D973-CBE0-4265-FDEB35BC0924}"/>
                </a:ext>
              </a:extLst>
            </p:cNvPr>
            <p:cNvSpPr/>
            <p:nvPr/>
          </p:nvSpPr>
          <p:spPr>
            <a:xfrm>
              <a:off x="-568953" y="4316296"/>
              <a:ext cx="36421" cy="91054"/>
            </a:xfrm>
            <a:custGeom>
              <a:avLst/>
              <a:gdLst>
                <a:gd name="connsiteX0" fmla="*/ 0 w 36421"/>
                <a:gd name="connsiteY0" fmla="*/ 0 h 91054"/>
                <a:gd name="connsiteX1" fmla="*/ 36421 w 36421"/>
                <a:gd name="connsiteY1" fmla="*/ 0 h 91054"/>
                <a:gd name="connsiteX2" fmla="*/ 36421 w 36421"/>
                <a:gd name="connsiteY2" fmla="*/ 91054 h 91054"/>
                <a:gd name="connsiteX3" fmla="*/ 0 w 36421"/>
                <a:gd name="connsiteY3" fmla="*/ 91054 h 91054"/>
                <a:gd name="connsiteX4" fmla="*/ 0 w 36421"/>
                <a:gd name="connsiteY4" fmla="*/ 0 h 91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1" h="91054">
                  <a:moveTo>
                    <a:pt x="0" y="0"/>
                  </a:moveTo>
                  <a:lnTo>
                    <a:pt x="36421" y="0"/>
                  </a:lnTo>
                  <a:lnTo>
                    <a:pt x="36421" y="91054"/>
                  </a:lnTo>
                  <a:lnTo>
                    <a:pt x="0" y="91054"/>
                  </a:lnTo>
                  <a:lnTo>
                    <a:pt x="0" y="0"/>
                  </a:ln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90" name="Freeform: Shape 89">
              <a:extLst>
                <a:ext uri="{FF2B5EF4-FFF2-40B4-BE49-F238E27FC236}">
                  <a16:creationId xmlns:a16="http://schemas.microsoft.com/office/drawing/2014/main" id="{ECE65552-DB9E-AC19-6953-BDE79F6F67FA}"/>
                </a:ext>
              </a:extLst>
            </p:cNvPr>
            <p:cNvSpPr/>
            <p:nvPr/>
          </p:nvSpPr>
          <p:spPr>
            <a:xfrm>
              <a:off x="-505215" y="4316296"/>
              <a:ext cx="40974" cy="91054"/>
            </a:xfrm>
            <a:custGeom>
              <a:avLst/>
              <a:gdLst>
                <a:gd name="connsiteX0" fmla="*/ 0 w 40974"/>
                <a:gd name="connsiteY0" fmla="*/ 0 h 91054"/>
                <a:gd name="connsiteX1" fmla="*/ 40974 w 40974"/>
                <a:gd name="connsiteY1" fmla="*/ 0 h 91054"/>
                <a:gd name="connsiteX2" fmla="*/ 40974 w 40974"/>
                <a:gd name="connsiteY2" fmla="*/ 91054 h 91054"/>
                <a:gd name="connsiteX3" fmla="*/ 0 w 40974"/>
                <a:gd name="connsiteY3" fmla="*/ 91054 h 91054"/>
                <a:gd name="connsiteX4" fmla="*/ 0 w 40974"/>
                <a:gd name="connsiteY4" fmla="*/ 0 h 91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74" h="91054">
                  <a:moveTo>
                    <a:pt x="0" y="0"/>
                  </a:moveTo>
                  <a:lnTo>
                    <a:pt x="40974" y="0"/>
                  </a:lnTo>
                  <a:lnTo>
                    <a:pt x="40974" y="91054"/>
                  </a:lnTo>
                  <a:lnTo>
                    <a:pt x="0" y="91054"/>
                  </a:lnTo>
                  <a:lnTo>
                    <a:pt x="0" y="0"/>
                  </a:ln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91" name="Freeform: Shape 90">
              <a:extLst>
                <a:ext uri="{FF2B5EF4-FFF2-40B4-BE49-F238E27FC236}">
                  <a16:creationId xmlns:a16="http://schemas.microsoft.com/office/drawing/2014/main" id="{8401E319-1DCB-8458-042C-20175CD9F13A}"/>
                </a:ext>
              </a:extLst>
            </p:cNvPr>
            <p:cNvSpPr/>
            <p:nvPr/>
          </p:nvSpPr>
          <p:spPr>
            <a:xfrm>
              <a:off x="-746509" y="4425561"/>
              <a:ext cx="327795" cy="63738"/>
            </a:xfrm>
            <a:custGeom>
              <a:avLst/>
              <a:gdLst>
                <a:gd name="connsiteX0" fmla="*/ 40974 w 327795"/>
                <a:gd name="connsiteY0" fmla="*/ 0 h 63738"/>
                <a:gd name="connsiteX1" fmla="*/ 286821 w 327795"/>
                <a:gd name="connsiteY1" fmla="*/ 0 h 63738"/>
                <a:gd name="connsiteX2" fmla="*/ 327795 w 327795"/>
                <a:gd name="connsiteY2" fmla="*/ 40975 h 63738"/>
                <a:gd name="connsiteX3" fmla="*/ 327795 w 327795"/>
                <a:gd name="connsiteY3" fmla="*/ 50080 h 63738"/>
                <a:gd name="connsiteX4" fmla="*/ 314137 w 327795"/>
                <a:gd name="connsiteY4" fmla="*/ 63738 h 63738"/>
                <a:gd name="connsiteX5" fmla="*/ 13658 w 327795"/>
                <a:gd name="connsiteY5" fmla="*/ 63738 h 63738"/>
                <a:gd name="connsiteX6" fmla="*/ 0 w 327795"/>
                <a:gd name="connsiteY6" fmla="*/ 50080 h 63738"/>
                <a:gd name="connsiteX7" fmla="*/ 0 w 327795"/>
                <a:gd name="connsiteY7" fmla="*/ 40975 h 63738"/>
                <a:gd name="connsiteX8" fmla="*/ 40974 w 327795"/>
                <a:gd name="connsiteY8" fmla="*/ 0 h 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795" h="63738">
                  <a:moveTo>
                    <a:pt x="40974" y="0"/>
                  </a:moveTo>
                  <a:lnTo>
                    <a:pt x="286821" y="0"/>
                  </a:lnTo>
                  <a:cubicBezTo>
                    <a:pt x="309449" y="0"/>
                    <a:pt x="327795" y="18346"/>
                    <a:pt x="327795" y="40975"/>
                  </a:cubicBezTo>
                  <a:lnTo>
                    <a:pt x="327795" y="50080"/>
                  </a:lnTo>
                  <a:cubicBezTo>
                    <a:pt x="327795" y="57623"/>
                    <a:pt x="321680" y="63738"/>
                    <a:pt x="314137" y="63738"/>
                  </a:cubicBezTo>
                  <a:lnTo>
                    <a:pt x="13658" y="63738"/>
                  </a:lnTo>
                  <a:cubicBezTo>
                    <a:pt x="6119" y="63738"/>
                    <a:pt x="0" y="57638"/>
                    <a:pt x="0" y="50080"/>
                  </a:cubicBezTo>
                  <a:lnTo>
                    <a:pt x="0" y="40975"/>
                  </a:lnTo>
                  <a:cubicBezTo>
                    <a:pt x="0" y="18346"/>
                    <a:pt x="18345" y="0"/>
                    <a:pt x="40974" y="0"/>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sp>
        <p:nvSpPr>
          <p:cNvPr id="92" name="Graphic 34" descr="Icon of a shield with a checkmark">
            <a:extLst>
              <a:ext uri="{FF2B5EF4-FFF2-40B4-BE49-F238E27FC236}">
                <a16:creationId xmlns:a16="http://schemas.microsoft.com/office/drawing/2014/main" id="{1BEDF234-EF5B-8702-DB03-6B1441186DC3}"/>
              </a:ext>
            </a:extLst>
          </p:cNvPr>
          <p:cNvSpPr>
            <a:spLocks/>
          </p:cNvSpPr>
          <p:nvPr/>
        </p:nvSpPr>
        <p:spPr>
          <a:xfrm>
            <a:off x="3658168" y="1911042"/>
            <a:ext cx="402542" cy="447266"/>
          </a:xfrm>
          <a:custGeom>
            <a:avLst/>
            <a:gdLst>
              <a:gd name="connsiteX0" fmla="*/ 164306 w 171450"/>
              <a:gd name="connsiteY0" fmla="*/ 28575 h 190501"/>
              <a:gd name="connsiteX1" fmla="*/ 90011 w 171450"/>
              <a:gd name="connsiteY1" fmla="*/ 1429 h 190501"/>
              <a:gd name="connsiteX2" fmla="*/ 81439 w 171450"/>
              <a:gd name="connsiteY2" fmla="*/ 1429 h 190501"/>
              <a:gd name="connsiteX3" fmla="*/ 7144 w 171450"/>
              <a:gd name="connsiteY3" fmla="*/ 28575 h 190501"/>
              <a:gd name="connsiteX4" fmla="*/ 0 w 171450"/>
              <a:gd name="connsiteY4" fmla="*/ 35719 h 190501"/>
              <a:gd name="connsiteX5" fmla="*/ 0 w 171450"/>
              <a:gd name="connsiteY5" fmla="*/ 85725 h 190501"/>
              <a:gd name="connsiteX6" fmla="*/ 83106 w 171450"/>
              <a:gd name="connsiteY6" fmla="*/ 190005 h 190501"/>
              <a:gd name="connsiteX7" fmla="*/ 88344 w 171450"/>
              <a:gd name="connsiteY7" fmla="*/ 190005 h 190501"/>
              <a:gd name="connsiteX8" fmla="*/ 171450 w 171450"/>
              <a:gd name="connsiteY8" fmla="*/ 85725 h 190501"/>
              <a:gd name="connsiteX9" fmla="*/ 171450 w 171450"/>
              <a:gd name="connsiteY9" fmla="*/ 35719 h 190501"/>
              <a:gd name="connsiteX10" fmla="*/ 164306 w 171450"/>
              <a:gd name="connsiteY10" fmla="*/ 28575 h 190501"/>
              <a:gd name="connsiteX11" fmla="*/ 131035 w 171450"/>
              <a:gd name="connsiteY11" fmla="*/ 69561 h 190501"/>
              <a:gd name="connsiteX12" fmla="*/ 73885 w 171450"/>
              <a:gd name="connsiteY12" fmla="*/ 121949 h 190501"/>
              <a:gd name="connsiteX13" fmla="*/ 64008 w 171450"/>
              <a:gd name="connsiteY13" fmla="*/ 121730 h 190501"/>
              <a:gd name="connsiteX14" fmla="*/ 40195 w 171450"/>
              <a:gd name="connsiteY14" fmla="*/ 97917 h 190501"/>
              <a:gd name="connsiteX15" fmla="*/ 39839 w 171450"/>
              <a:gd name="connsiteY15" fmla="*/ 87821 h 190501"/>
              <a:gd name="connsiteX16" fmla="*/ 49936 w 171450"/>
              <a:gd name="connsiteY16" fmla="*/ 87464 h 190501"/>
              <a:gd name="connsiteX17" fmla="*/ 50292 w 171450"/>
              <a:gd name="connsiteY17" fmla="*/ 87821 h 190501"/>
              <a:gd name="connsiteX18" fmla="*/ 69275 w 171450"/>
              <a:gd name="connsiteY18" fmla="*/ 106794 h 190501"/>
              <a:gd name="connsiteX19" fmla="*/ 121377 w 171450"/>
              <a:gd name="connsiteY19" fmla="*/ 59026 h 190501"/>
              <a:gd name="connsiteX20" fmla="*/ 131474 w 171450"/>
              <a:gd name="connsiteY20" fmla="*/ 59465 h 190501"/>
              <a:gd name="connsiteX21" fmla="*/ 131035 w 171450"/>
              <a:gd name="connsiteY21" fmla="*/ 69561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1450" h="190501">
                <a:moveTo>
                  <a:pt x="164306" y="28575"/>
                </a:moveTo>
                <a:cubicBezTo>
                  <a:pt x="138941" y="28575"/>
                  <a:pt x="114224" y="19593"/>
                  <a:pt x="90011" y="1429"/>
                </a:cubicBezTo>
                <a:cubicBezTo>
                  <a:pt x="87471" y="-476"/>
                  <a:pt x="83979" y="-476"/>
                  <a:pt x="81439" y="1429"/>
                </a:cubicBezTo>
                <a:cubicBezTo>
                  <a:pt x="57226" y="19593"/>
                  <a:pt x="32509" y="28575"/>
                  <a:pt x="7144" y="28575"/>
                </a:cubicBezTo>
                <a:cubicBezTo>
                  <a:pt x="3198" y="28575"/>
                  <a:pt x="0" y="31773"/>
                  <a:pt x="0" y="35719"/>
                </a:cubicBezTo>
                <a:lnTo>
                  <a:pt x="0" y="85725"/>
                </a:lnTo>
                <a:cubicBezTo>
                  <a:pt x="0" y="133360"/>
                  <a:pt x="28175" y="168364"/>
                  <a:pt x="83106" y="190005"/>
                </a:cubicBezTo>
                <a:cubicBezTo>
                  <a:pt x="84789" y="190668"/>
                  <a:pt x="86661" y="190668"/>
                  <a:pt x="88344" y="190005"/>
                </a:cubicBezTo>
                <a:cubicBezTo>
                  <a:pt x="143275" y="168364"/>
                  <a:pt x="171450" y="133350"/>
                  <a:pt x="171450" y="85725"/>
                </a:cubicBezTo>
                <a:lnTo>
                  <a:pt x="171450" y="35719"/>
                </a:lnTo>
                <a:cubicBezTo>
                  <a:pt x="171450" y="31773"/>
                  <a:pt x="168252" y="28575"/>
                  <a:pt x="164306" y="28575"/>
                </a:cubicBezTo>
                <a:close/>
                <a:moveTo>
                  <a:pt x="131035" y="69561"/>
                </a:moveTo>
                <a:lnTo>
                  <a:pt x="73885" y="121949"/>
                </a:lnTo>
                <a:cubicBezTo>
                  <a:pt x="71065" y="124531"/>
                  <a:pt x="66711" y="124435"/>
                  <a:pt x="64008" y="121730"/>
                </a:cubicBezTo>
                <a:lnTo>
                  <a:pt x="40195" y="97917"/>
                </a:lnTo>
                <a:cubicBezTo>
                  <a:pt x="37309" y="95227"/>
                  <a:pt x="37149" y="90707"/>
                  <a:pt x="39839" y="87821"/>
                </a:cubicBezTo>
                <a:cubicBezTo>
                  <a:pt x="42529" y="84934"/>
                  <a:pt x="47049" y="84774"/>
                  <a:pt x="49936" y="87464"/>
                </a:cubicBezTo>
                <a:cubicBezTo>
                  <a:pt x="50059" y="87579"/>
                  <a:pt x="50177" y="87698"/>
                  <a:pt x="50292" y="87821"/>
                </a:cubicBezTo>
                <a:lnTo>
                  <a:pt x="69275" y="106794"/>
                </a:lnTo>
                <a:lnTo>
                  <a:pt x="121377" y="59026"/>
                </a:lnTo>
                <a:cubicBezTo>
                  <a:pt x="124286" y="56359"/>
                  <a:pt x="128807" y="56556"/>
                  <a:pt x="131474" y="59465"/>
                </a:cubicBezTo>
                <a:cubicBezTo>
                  <a:pt x="134141" y="62374"/>
                  <a:pt x="133944" y="66894"/>
                  <a:pt x="131035" y="69561"/>
                </a:cubicBez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nvGrpSpPr>
          <p:cNvPr id="93" name="Group 92">
            <a:extLst>
              <a:ext uri="{FF2B5EF4-FFF2-40B4-BE49-F238E27FC236}">
                <a16:creationId xmlns:a16="http://schemas.microsoft.com/office/drawing/2014/main" id="{F6ACA91D-D156-8935-805E-59345AD5922B}"/>
              </a:ext>
            </a:extLst>
          </p:cNvPr>
          <p:cNvGrpSpPr/>
          <p:nvPr/>
        </p:nvGrpSpPr>
        <p:grpSpPr>
          <a:xfrm>
            <a:off x="5881314" y="1928916"/>
            <a:ext cx="411536" cy="411518"/>
            <a:chOff x="6425987" y="3731587"/>
            <a:chExt cx="303644" cy="303630"/>
          </a:xfrm>
        </p:grpSpPr>
        <p:sp>
          <p:nvSpPr>
            <p:cNvPr id="94" name="Freeform: Shape 93" descr="Icon of a bulleted list with a warning sign">
              <a:extLst>
                <a:ext uri="{FF2B5EF4-FFF2-40B4-BE49-F238E27FC236}">
                  <a16:creationId xmlns:a16="http://schemas.microsoft.com/office/drawing/2014/main" id="{06EE1CA8-EC23-CF54-60D0-FCA11A694E4A}"/>
                </a:ext>
              </a:extLst>
            </p:cNvPr>
            <p:cNvSpPr/>
            <p:nvPr/>
          </p:nvSpPr>
          <p:spPr>
            <a:xfrm>
              <a:off x="6425987" y="3731587"/>
              <a:ext cx="273281" cy="273281"/>
            </a:xfrm>
            <a:custGeom>
              <a:avLst/>
              <a:gdLst>
                <a:gd name="connsiteX0" fmla="*/ 34160 w 273281"/>
                <a:gd name="connsiteY0" fmla="*/ 0 h 273281"/>
                <a:gd name="connsiteX1" fmla="*/ 239122 w 273281"/>
                <a:gd name="connsiteY1" fmla="*/ 0 h 273281"/>
                <a:gd name="connsiteX2" fmla="*/ 273281 w 273281"/>
                <a:gd name="connsiteY2" fmla="*/ 34160 h 273281"/>
                <a:gd name="connsiteX3" fmla="*/ 273281 w 273281"/>
                <a:gd name="connsiteY3" fmla="*/ 191129 h 273281"/>
                <a:gd name="connsiteX4" fmla="*/ 253043 w 273281"/>
                <a:gd name="connsiteY4" fmla="*/ 155739 h 273281"/>
                <a:gd name="connsiteX5" fmla="*/ 220144 w 273281"/>
                <a:gd name="connsiteY5" fmla="*/ 136641 h 273281"/>
                <a:gd name="connsiteX6" fmla="*/ 208757 w 273281"/>
                <a:gd name="connsiteY6" fmla="*/ 125254 h 273281"/>
                <a:gd name="connsiteX7" fmla="*/ 125254 w 273281"/>
                <a:gd name="connsiteY7" fmla="*/ 125254 h 273281"/>
                <a:gd name="connsiteX8" fmla="*/ 113868 w 273281"/>
                <a:gd name="connsiteY8" fmla="*/ 136641 h 273281"/>
                <a:gd name="connsiteX9" fmla="*/ 125254 w 273281"/>
                <a:gd name="connsiteY9" fmla="*/ 148028 h 273281"/>
                <a:gd name="connsiteX10" fmla="*/ 193058 w 273281"/>
                <a:gd name="connsiteY10" fmla="*/ 148028 h 273281"/>
                <a:gd name="connsiteX11" fmla="*/ 187244 w 273281"/>
                <a:gd name="connsiteY11" fmla="*/ 155739 h 273281"/>
                <a:gd name="connsiteX12" fmla="*/ 172122 w 273281"/>
                <a:gd name="connsiteY12" fmla="*/ 182187 h 273281"/>
                <a:gd name="connsiteX13" fmla="*/ 125254 w 273281"/>
                <a:gd name="connsiteY13" fmla="*/ 182187 h 273281"/>
                <a:gd name="connsiteX14" fmla="*/ 113868 w 273281"/>
                <a:gd name="connsiteY14" fmla="*/ 193575 h 273281"/>
                <a:gd name="connsiteX15" fmla="*/ 125254 w 273281"/>
                <a:gd name="connsiteY15" fmla="*/ 204962 h 273281"/>
                <a:gd name="connsiteX16" fmla="*/ 159111 w 273281"/>
                <a:gd name="connsiteY16" fmla="*/ 204962 h 273281"/>
                <a:gd name="connsiteX17" fmla="*/ 126468 w 273281"/>
                <a:gd name="connsiteY17" fmla="*/ 261985 h 273281"/>
                <a:gd name="connsiteX18" fmla="*/ 122217 w 273281"/>
                <a:gd name="connsiteY18" fmla="*/ 273281 h 273281"/>
                <a:gd name="connsiteX19" fmla="*/ 34160 w 273281"/>
                <a:gd name="connsiteY19" fmla="*/ 273281 h 273281"/>
                <a:gd name="connsiteX20" fmla="*/ 0 w 273281"/>
                <a:gd name="connsiteY20" fmla="*/ 239121 h 273281"/>
                <a:gd name="connsiteX21" fmla="*/ 0 w 273281"/>
                <a:gd name="connsiteY21" fmla="*/ 34160 h 273281"/>
                <a:gd name="connsiteX22" fmla="*/ 34160 w 273281"/>
                <a:gd name="connsiteY22" fmla="*/ 0 h 273281"/>
                <a:gd name="connsiteX23" fmla="*/ 72116 w 273281"/>
                <a:gd name="connsiteY23" fmla="*/ 64524 h 273281"/>
                <a:gd name="connsiteX24" fmla="*/ 56934 w 273281"/>
                <a:gd name="connsiteY24" fmla="*/ 79707 h 273281"/>
                <a:gd name="connsiteX25" fmla="*/ 72116 w 273281"/>
                <a:gd name="connsiteY25" fmla="*/ 94889 h 273281"/>
                <a:gd name="connsiteX26" fmla="*/ 87299 w 273281"/>
                <a:gd name="connsiteY26" fmla="*/ 79707 h 273281"/>
                <a:gd name="connsiteX27" fmla="*/ 72116 w 273281"/>
                <a:gd name="connsiteY27" fmla="*/ 64524 h 273281"/>
                <a:gd name="connsiteX28" fmla="*/ 125254 w 273281"/>
                <a:gd name="connsiteY28" fmla="*/ 68321 h 273281"/>
                <a:gd name="connsiteX29" fmla="*/ 113868 w 273281"/>
                <a:gd name="connsiteY29" fmla="*/ 79707 h 273281"/>
                <a:gd name="connsiteX30" fmla="*/ 125254 w 273281"/>
                <a:gd name="connsiteY30" fmla="*/ 91094 h 273281"/>
                <a:gd name="connsiteX31" fmla="*/ 208757 w 273281"/>
                <a:gd name="connsiteY31" fmla="*/ 91094 h 273281"/>
                <a:gd name="connsiteX32" fmla="*/ 220144 w 273281"/>
                <a:gd name="connsiteY32" fmla="*/ 79707 h 273281"/>
                <a:gd name="connsiteX33" fmla="*/ 208757 w 273281"/>
                <a:gd name="connsiteY33" fmla="*/ 68321 h 273281"/>
                <a:gd name="connsiteX34" fmla="*/ 125254 w 273281"/>
                <a:gd name="connsiteY34" fmla="*/ 68321 h 273281"/>
                <a:gd name="connsiteX35" fmla="*/ 72116 w 273281"/>
                <a:gd name="connsiteY35" fmla="*/ 121458 h 273281"/>
                <a:gd name="connsiteX36" fmla="*/ 56934 w 273281"/>
                <a:gd name="connsiteY36" fmla="*/ 136641 h 273281"/>
                <a:gd name="connsiteX37" fmla="*/ 72116 w 273281"/>
                <a:gd name="connsiteY37" fmla="*/ 151823 h 273281"/>
                <a:gd name="connsiteX38" fmla="*/ 87299 w 273281"/>
                <a:gd name="connsiteY38" fmla="*/ 136641 h 273281"/>
                <a:gd name="connsiteX39" fmla="*/ 72116 w 273281"/>
                <a:gd name="connsiteY39" fmla="*/ 121458 h 273281"/>
                <a:gd name="connsiteX40" fmla="*/ 72116 w 273281"/>
                <a:gd name="connsiteY40" fmla="*/ 178392 h 273281"/>
                <a:gd name="connsiteX41" fmla="*/ 56934 w 273281"/>
                <a:gd name="connsiteY41" fmla="*/ 193575 h 273281"/>
                <a:gd name="connsiteX42" fmla="*/ 72116 w 273281"/>
                <a:gd name="connsiteY42" fmla="*/ 208757 h 273281"/>
                <a:gd name="connsiteX43" fmla="*/ 87299 w 273281"/>
                <a:gd name="connsiteY43" fmla="*/ 193575 h 273281"/>
                <a:gd name="connsiteX44" fmla="*/ 72116 w 273281"/>
                <a:gd name="connsiteY44" fmla="*/ 178392 h 273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73281" h="273281">
                  <a:moveTo>
                    <a:pt x="34160" y="0"/>
                  </a:moveTo>
                  <a:lnTo>
                    <a:pt x="239122" y="0"/>
                  </a:lnTo>
                  <a:cubicBezTo>
                    <a:pt x="257987" y="0"/>
                    <a:pt x="273281" y="15294"/>
                    <a:pt x="273281" y="34160"/>
                  </a:cubicBezTo>
                  <a:lnTo>
                    <a:pt x="273281" y="191129"/>
                  </a:lnTo>
                  <a:lnTo>
                    <a:pt x="253043" y="155739"/>
                  </a:lnTo>
                  <a:cubicBezTo>
                    <a:pt x="246296" y="143935"/>
                    <a:pt x="233742" y="136645"/>
                    <a:pt x="220144" y="136641"/>
                  </a:cubicBezTo>
                  <a:cubicBezTo>
                    <a:pt x="220144" y="130353"/>
                    <a:pt x="215045" y="125254"/>
                    <a:pt x="208757" y="125254"/>
                  </a:cubicBezTo>
                  <a:lnTo>
                    <a:pt x="125254" y="125254"/>
                  </a:lnTo>
                  <a:cubicBezTo>
                    <a:pt x="118966" y="125254"/>
                    <a:pt x="113868" y="130353"/>
                    <a:pt x="113868" y="136641"/>
                  </a:cubicBezTo>
                  <a:cubicBezTo>
                    <a:pt x="113868" y="142929"/>
                    <a:pt x="118966" y="148028"/>
                    <a:pt x="125254" y="148028"/>
                  </a:cubicBezTo>
                  <a:lnTo>
                    <a:pt x="193058" y="148028"/>
                  </a:lnTo>
                  <a:cubicBezTo>
                    <a:pt x="190857" y="150290"/>
                    <a:pt x="188884" y="152856"/>
                    <a:pt x="187244" y="155739"/>
                  </a:cubicBezTo>
                  <a:lnTo>
                    <a:pt x="172122" y="182187"/>
                  </a:lnTo>
                  <a:lnTo>
                    <a:pt x="125254" y="182187"/>
                  </a:lnTo>
                  <a:cubicBezTo>
                    <a:pt x="118966" y="182187"/>
                    <a:pt x="113868" y="187286"/>
                    <a:pt x="113868" y="193575"/>
                  </a:cubicBezTo>
                  <a:cubicBezTo>
                    <a:pt x="113868" y="199863"/>
                    <a:pt x="118966" y="204962"/>
                    <a:pt x="125254" y="204962"/>
                  </a:cubicBezTo>
                  <a:lnTo>
                    <a:pt x="159111" y="204962"/>
                  </a:lnTo>
                  <a:lnTo>
                    <a:pt x="126468" y="261985"/>
                  </a:lnTo>
                  <a:cubicBezTo>
                    <a:pt x="124449" y="265523"/>
                    <a:pt x="123022" y="269335"/>
                    <a:pt x="122217" y="273281"/>
                  </a:cubicBezTo>
                  <a:lnTo>
                    <a:pt x="34160" y="273281"/>
                  </a:lnTo>
                  <a:cubicBezTo>
                    <a:pt x="15294" y="273281"/>
                    <a:pt x="0" y="257987"/>
                    <a:pt x="0" y="239121"/>
                  </a:cubicBezTo>
                  <a:lnTo>
                    <a:pt x="0" y="34160"/>
                  </a:lnTo>
                  <a:cubicBezTo>
                    <a:pt x="0" y="15294"/>
                    <a:pt x="15294" y="0"/>
                    <a:pt x="34160" y="0"/>
                  </a:cubicBezTo>
                  <a:close/>
                  <a:moveTo>
                    <a:pt x="72116" y="64524"/>
                  </a:moveTo>
                  <a:cubicBezTo>
                    <a:pt x="63731" y="64524"/>
                    <a:pt x="56934" y="71323"/>
                    <a:pt x="56934" y="79707"/>
                  </a:cubicBezTo>
                  <a:cubicBezTo>
                    <a:pt x="56934" y="88092"/>
                    <a:pt x="63731" y="94889"/>
                    <a:pt x="72116" y="94889"/>
                  </a:cubicBezTo>
                  <a:cubicBezTo>
                    <a:pt x="80501" y="94889"/>
                    <a:pt x="87299" y="88092"/>
                    <a:pt x="87299" y="79707"/>
                  </a:cubicBezTo>
                  <a:cubicBezTo>
                    <a:pt x="87299" y="71323"/>
                    <a:pt x="80501" y="64524"/>
                    <a:pt x="72116" y="64524"/>
                  </a:cubicBezTo>
                  <a:close/>
                  <a:moveTo>
                    <a:pt x="125254" y="68321"/>
                  </a:moveTo>
                  <a:cubicBezTo>
                    <a:pt x="118966" y="68321"/>
                    <a:pt x="113868" y="73419"/>
                    <a:pt x="113868" y="79707"/>
                  </a:cubicBezTo>
                  <a:cubicBezTo>
                    <a:pt x="113868" y="85996"/>
                    <a:pt x="118966" y="91094"/>
                    <a:pt x="125254" y="91094"/>
                  </a:cubicBezTo>
                  <a:lnTo>
                    <a:pt x="208757" y="91094"/>
                  </a:lnTo>
                  <a:cubicBezTo>
                    <a:pt x="215045" y="91094"/>
                    <a:pt x="220144" y="85996"/>
                    <a:pt x="220144" y="79707"/>
                  </a:cubicBezTo>
                  <a:cubicBezTo>
                    <a:pt x="220144" y="73419"/>
                    <a:pt x="215045" y="68321"/>
                    <a:pt x="208757" y="68321"/>
                  </a:cubicBezTo>
                  <a:lnTo>
                    <a:pt x="125254" y="68321"/>
                  </a:lnTo>
                  <a:close/>
                  <a:moveTo>
                    <a:pt x="72116" y="121458"/>
                  </a:moveTo>
                  <a:cubicBezTo>
                    <a:pt x="63731" y="121458"/>
                    <a:pt x="56934" y="128255"/>
                    <a:pt x="56934" y="136641"/>
                  </a:cubicBezTo>
                  <a:cubicBezTo>
                    <a:pt x="56934" y="145026"/>
                    <a:pt x="63731" y="151823"/>
                    <a:pt x="72116" y="151823"/>
                  </a:cubicBezTo>
                  <a:cubicBezTo>
                    <a:pt x="80501" y="151823"/>
                    <a:pt x="87299" y="145026"/>
                    <a:pt x="87299" y="136641"/>
                  </a:cubicBezTo>
                  <a:cubicBezTo>
                    <a:pt x="87299" y="128255"/>
                    <a:pt x="80501" y="121458"/>
                    <a:pt x="72116" y="121458"/>
                  </a:cubicBezTo>
                  <a:close/>
                  <a:moveTo>
                    <a:pt x="72116" y="178392"/>
                  </a:moveTo>
                  <a:cubicBezTo>
                    <a:pt x="63731" y="178392"/>
                    <a:pt x="56934" y="185189"/>
                    <a:pt x="56934" y="193575"/>
                  </a:cubicBezTo>
                  <a:cubicBezTo>
                    <a:pt x="56934" y="201959"/>
                    <a:pt x="63731" y="208757"/>
                    <a:pt x="72116" y="208757"/>
                  </a:cubicBezTo>
                  <a:cubicBezTo>
                    <a:pt x="80501" y="208757"/>
                    <a:pt x="87299" y="201959"/>
                    <a:pt x="87299" y="193575"/>
                  </a:cubicBezTo>
                  <a:cubicBezTo>
                    <a:pt x="87299" y="185189"/>
                    <a:pt x="80501" y="178392"/>
                    <a:pt x="72116" y="178392"/>
                  </a:cubicBez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95" name="Freeform: Shape 94" descr="Icon of a bulleted list with a warning sign">
              <a:extLst>
                <a:ext uri="{FF2B5EF4-FFF2-40B4-BE49-F238E27FC236}">
                  <a16:creationId xmlns:a16="http://schemas.microsoft.com/office/drawing/2014/main" id="{CE8A97B8-0268-51DD-B15A-5E04353824AA}"/>
                </a:ext>
              </a:extLst>
            </p:cNvPr>
            <p:cNvSpPr/>
            <p:nvPr/>
          </p:nvSpPr>
          <p:spPr>
            <a:xfrm>
              <a:off x="6562612" y="3883428"/>
              <a:ext cx="167019" cy="151789"/>
            </a:xfrm>
            <a:custGeom>
              <a:avLst/>
              <a:gdLst>
                <a:gd name="connsiteX0" fmla="*/ 77567 w 167019"/>
                <a:gd name="connsiteY0" fmla="*/ 788 h 151789"/>
                <a:gd name="connsiteX1" fmla="*/ 103225 w 167019"/>
                <a:gd name="connsiteY1" fmla="*/ 11445 h 151789"/>
                <a:gd name="connsiteX2" fmla="*/ 164015 w 167019"/>
                <a:gd name="connsiteY2" fmla="*/ 117690 h 151789"/>
                <a:gd name="connsiteX3" fmla="*/ 166216 w 167019"/>
                <a:gd name="connsiteY3" fmla="*/ 134983 h 151789"/>
                <a:gd name="connsiteX4" fmla="*/ 144293 w 167019"/>
                <a:gd name="connsiteY4" fmla="*/ 151789 h 151789"/>
                <a:gd name="connsiteX5" fmla="*/ 22744 w 167019"/>
                <a:gd name="connsiteY5" fmla="*/ 151789 h 151789"/>
                <a:gd name="connsiteX6" fmla="*/ 6680 w 167019"/>
                <a:gd name="connsiteY6" fmla="*/ 145109 h 151789"/>
                <a:gd name="connsiteX7" fmla="*/ 3036 w 167019"/>
                <a:gd name="connsiteY7" fmla="*/ 117690 h 151789"/>
                <a:gd name="connsiteX8" fmla="*/ 63796 w 167019"/>
                <a:gd name="connsiteY8" fmla="*/ 11430 h 151789"/>
                <a:gd name="connsiteX9" fmla="*/ 77567 w 167019"/>
                <a:gd name="connsiteY9" fmla="*/ 788 h 151789"/>
                <a:gd name="connsiteX10" fmla="*/ 83457 w 167019"/>
                <a:gd name="connsiteY10" fmla="*/ 30347 h 151789"/>
                <a:gd name="connsiteX11" fmla="*/ 75866 w 167019"/>
                <a:gd name="connsiteY11" fmla="*/ 37937 h 151789"/>
                <a:gd name="connsiteX12" fmla="*/ 75866 w 167019"/>
                <a:gd name="connsiteY12" fmla="*/ 83484 h 151789"/>
                <a:gd name="connsiteX13" fmla="*/ 83457 w 167019"/>
                <a:gd name="connsiteY13" fmla="*/ 91076 h 151789"/>
                <a:gd name="connsiteX14" fmla="*/ 91049 w 167019"/>
                <a:gd name="connsiteY14" fmla="*/ 83484 h 151789"/>
                <a:gd name="connsiteX15" fmla="*/ 91049 w 167019"/>
                <a:gd name="connsiteY15" fmla="*/ 37937 h 151789"/>
                <a:gd name="connsiteX16" fmla="*/ 83457 w 167019"/>
                <a:gd name="connsiteY16" fmla="*/ 30347 h 151789"/>
                <a:gd name="connsiteX17" fmla="*/ 83517 w 167019"/>
                <a:gd name="connsiteY17" fmla="*/ 106258 h 151789"/>
                <a:gd name="connsiteX18" fmla="*/ 72132 w 167019"/>
                <a:gd name="connsiteY18" fmla="*/ 117644 h 151789"/>
                <a:gd name="connsiteX19" fmla="*/ 83517 w 167019"/>
                <a:gd name="connsiteY19" fmla="*/ 129031 h 151789"/>
                <a:gd name="connsiteX20" fmla="*/ 94905 w 167019"/>
                <a:gd name="connsiteY20" fmla="*/ 117644 h 151789"/>
                <a:gd name="connsiteX21" fmla="*/ 83517 w 167019"/>
                <a:gd name="connsiteY21" fmla="*/ 106258 h 151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7019" h="151789">
                  <a:moveTo>
                    <a:pt x="77567" y="788"/>
                  </a:moveTo>
                  <a:cubicBezTo>
                    <a:pt x="87547" y="-1905"/>
                    <a:pt x="98088" y="2474"/>
                    <a:pt x="103225" y="11445"/>
                  </a:cubicBezTo>
                  <a:lnTo>
                    <a:pt x="164015" y="117690"/>
                  </a:lnTo>
                  <a:cubicBezTo>
                    <a:pt x="167128" y="123156"/>
                    <a:pt x="167749" y="129350"/>
                    <a:pt x="166216" y="134983"/>
                  </a:cubicBezTo>
                  <a:cubicBezTo>
                    <a:pt x="163560" y="144907"/>
                    <a:pt x="154566" y="151802"/>
                    <a:pt x="144293" y="151789"/>
                  </a:cubicBezTo>
                  <a:lnTo>
                    <a:pt x="22744" y="151789"/>
                  </a:lnTo>
                  <a:cubicBezTo>
                    <a:pt x="16473" y="151789"/>
                    <a:pt x="10795" y="149253"/>
                    <a:pt x="6680" y="145109"/>
                  </a:cubicBezTo>
                  <a:cubicBezTo>
                    <a:pt x="-606" y="137850"/>
                    <a:pt x="-2101" y="126599"/>
                    <a:pt x="3036" y="117690"/>
                  </a:cubicBezTo>
                  <a:lnTo>
                    <a:pt x="63796" y="11430"/>
                  </a:lnTo>
                  <a:cubicBezTo>
                    <a:pt x="66784" y="6188"/>
                    <a:pt x="71741" y="2356"/>
                    <a:pt x="77567" y="788"/>
                  </a:cubicBezTo>
                  <a:close/>
                  <a:moveTo>
                    <a:pt x="83457" y="30347"/>
                  </a:moveTo>
                  <a:cubicBezTo>
                    <a:pt x="79265" y="30347"/>
                    <a:pt x="75866" y="33745"/>
                    <a:pt x="75866" y="37937"/>
                  </a:cubicBezTo>
                  <a:lnTo>
                    <a:pt x="75866" y="83484"/>
                  </a:lnTo>
                  <a:cubicBezTo>
                    <a:pt x="75866" y="87676"/>
                    <a:pt x="79265" y="91076"/>
                    <a:pt x="83457" y="91076"/>
                  </a:cubicBezTo>
                  <a:cubicBezTo>
                    <a:pt x="87649" y="91076"/>
                    <a:pt x="91049" y="87676"/>
                    <a:pt x="91049" y="83484"/>
                  </a:cubicBezTo>
                  <a:lnTo>
                    <a:pt x="91049" y="37937"/>
                  </a:lnTo>
                  <a:cubicBezTo>
                    <a:pt x="91049" y="33745"/>
                    <a:pt x="87649" y="30347"/>
                    <a:pt x="83457" y="30347"/>
                  </a:cubicBezTo>
                  <a:close/>
                  <a:moveTo>
                    <a:pt x="83517" y="106258"/>
                  </a:moveTo>
                  <a:cubicBezTo>
                    <a:pt x="77229" y="106258"/>
                    <a:pt x="72132" y="111356"/>
                    <a:pt x="72132" y="117644"/>
                  </a:cubicBezTo>
                  <a:cubicBezTo>
                    <a:pt x="72132" y="123933"/>
                    <a:pt x="77229" y="129031"/>
                    <a:pt x="83517" y="129031"/>
                  </a:cubicBezTo>
                  <a:cubicBezTo>
                    <a:pt x="89807" y="129031"/>
                    <a:pt x="94905" y="123933"/>
                    <a:pt x="94905" y="117644"/>
                  </a:cubicBezTo>
                  <a:cubicBezTo>
                    <a:pt x="94905" y="111356"/>
                    <a:pt x="89807" y="106258"/>
                    <a:pt x="83517" y="106258"/>
                  </a:cubicBez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grpSp>
        <p:nvGrpSpPr>
          <p:cNvPr id="96" name="Group 95">
            <a:extLst>
              <a:ext uri="{FF2B5EF4-FFF2-40B4-BE49-F238E27FC236}">
                <a16:creationId xmlns:a16="http://schemas.microsoft.com/office/drawing/2014/main" id="{4A45FC8F-6716-EA9B-E4ED-CFFFE2CF4B15}"/>
              </a:ext>
            </a:extLst>
          </p:cNvPr>
          <p:cNvGrpSpPr/>
          <p:nvPr/>
        </p:nvGrpSpPr>
        <p:grpSpPr>
          <a:xfrm>
            <a:off x="1401023" y="1911348"/>
            <a:ext cx="477312" cy="419098"/>
            <a:chOff x="-2061385" y="3347724"/>
            <a:chExt cx="296509" cy="260348"/>
          </a:xfrm>
        </p:grpSpPr>
        <p:sp>
          <p:nvSpPr>
            <p:cNvPr id="97" name="Freeform: Shape 96" descr="Icon of a document with rolled bottom and money">
              <a:extLst>
                <a:ext uri="{FF2B5EF4-FFF2-40B4-BE49-F238E27FC236}">
                  <a16:creationId xmlns:a16="http://schemas.microsoft.com/office/drawing/2014/main" id="{A84DC941-23B4-FAB0-20AF-D0FFD607D5D7}"/>
                </a:ext>
              </a:extLst>
            </p:cNvPr>
            <p:cNvSpPr>
              <a:spLocks/>
            </p:cNvSpPr>
            <p:nvPr/>
          </p:nvSpPr>
          <p:spPr>
            <a:xfrm>
              <a:off x="-2003529" y="3347724"/>
              <a:ext cx="238653" cy="238652"/>
            </a:xfrm>
            <a:custGeom>
              <a:avLst/>
              <a:gdLst>
                <a:gd name="connsiteX0" fmla="*/ 32544 w 238653"/>
                <a:gd name="connsiteY0" fmla="*/ 0 h 238652"/>
                <a:gd name="connsiteX1" fmla="*/ 155486 w 238653"/>
                <a:gd name="connsiteY1" fmla="*/ 0 h 238652"/>
                <a:gd name="connsiteX2" fmla="*/ 188030 w 238653"/>
                <a:gd name="connsiteY2" fmla="*/ 32544 h 238652"/>
                <a:gd name="connsiteX3" fmla="*/ 188030 w 238653"/>
                <a:gd name="connsiteY3" fmla="*/ 144638 h 238652"/>
                <a:gd name="connsiteX4" fmla="*/ 238653 w 238653"/>
                <a:gd name="connsiteY4" fmla="*/ 144638 h 238652"/>
                <a:gd name="connsiteX5" fmla="*/ 238653 w 238653"/>
                <a:gd name="connsiteY5" fmla="*/ 191645 h 238652"/>
                <a:gd name="connsiteX6" fmla="*/ 191646 w 238653"/>
                <a:gd name="connsiteY6" fmla="*/ 238652 h 238652"/>
                <a:gd name="connsiteX7" fmla="*/ 115711 w 238653"/>
                <a:gd name="connsiteY7" fmla="*/ 238652 h 238652"/>
                <a:gd name="connsiteX8" fmla="*/ 115711 w 238653"/>
                <a:gd name="connsiteY8" fmla="*/ 180797 h 238652"/>
                <a:gd name="connsiteX9" fmla="*/ 133790 w 238653"/>
                <a:gd name="connsiteY9" fmla="*/ 180797 h 238652"/>
                <a:gd name="connsiteX10" fmla="*/ 144638 w 238653"/>
                <a:gd name="connsiteY10" fmla="*/ 169950 h 238652"/>
                <a:gd name="connsiteX11" fmla="*/ 133790 w 238653"/>
                <a:gd name="connsiteY11" fmla="*/ 159102 h 238652"/>
                <a:gd name="connsiteX12" fmla="*/ 108479 w 238653"/>
                <a:gd name="connsiteY12" fmla="*/ 159102 h 238652"/>
                <a:gd name="connsiteX13" fmla="*/ 79551 w 238653"/>
                <a:gd name="connsiteY13" fmla="*/ 144638 h 238652"/>
                <a:gd name="connsiteX14" fmla="*/ 0 w 238653"/>
                <a:gd name="connsiteY14" fmla="*/ 144638 h 238652"/>
                <a:gd name="connsiteX15" fmla="*/ 0 w 238653"/>
                <a:gd name="connsiteY15" fmla="*/ 32544 h 238652"/>
                <a:gd name="connsiteX16" fmla="*/ 32544 w 238653"/>
                <a:gd name="connsiteY16" fmla="*/ 0 h 238652"/>
                <a:gd name="connsiteX17" fmla="*/ 54239 w 238653"/>
                <a:gd name="connsiteY17" fmla="*/ 57855 h 238652"/>
                <a:gd name="connsiteX18" fmla="*/ 43392 w 238653"/>
                <a:gd name="connsiteY18" fmla="*/ 68703 h 238652"/>
                <a:gd name="connsiteX19" fmla="*/ 54239 w 238653"/>
                <a:gd name="connsiteY19" fmla="*/ 79551 h 238652"/>
                <a:gd name="connsiteX20" fmla="*/ 133790 w 238653"/>
                <a:gd name="connsiteY20" fmla="*/ 79551 h 238652"/>
                <a:gd name="connsiteX21" fmla="*/ 144638 w 238653"/>
                <a:gd name="connsiteY21" fmla="*/ 68703 h 238652"/>
                <a:gd name="connsiteX22" fmla="*/ 133790 w 238653"/>
                <a:gd name="connsiteY22" fmla="*/ 57855 h 238652"/>
                <a:gd name="connsiteX23" fmla="*/ 54239 w 238653"/>
                <a:gd name="connsiteY23" fmla="*/ 57855 h 238652"/>
                <a:gd name="connsiteX24" fmla="*/ 54239 w 238653"/>
                <a:gd name="connsiteY24" fmla="*/ 108478 h 238652"/>
                <a:gd name="connsiteX25" fmla="*/ 43392 w 238653"/>
                <a:gd name="connsiteY25" fmla="*/ 119326 h 238652"/>
                <a:gd name="connsiteX26" fmla="*/ 54239 w 238653"/>
                <a:gd name="connsiteY26" fmla="*/ 130174 h 238652"/>
                <a:gd name="connsiteX27" fmla="*/ 133790 w 238653"/>
                <a:gd name="connsiteY27" fmla="*/ 130174 h 238652"/>
                <a:gd name="connsiteX28" fmla="*/ 144638 w 238653"/>
                <a:gd name="connsiteY28" fmla="*/ 119326 h 238652"/>
                <a:gd name="connsiteX29" fmla="*/ 133790 w 238653"/>
                <a:gd name="connsiteY29" fmla="*/ 108478 h 238652"/>
                <a:gd name="connsiteX30" fmla="*/ 54239 w 238653"/>
                <a:gd name="connsiteY30" fmla="*/ 108478 h 238652"/>
                <a:gd name="connsiteX31" fmla="*/ 188030 w 238653"/>
                <a:gd name="connsiteY31" fmla="*/ 166334 h 238652"/>
                <a:gd name="connsiteX32" fmla="*/ 188030 w 238653"/>
                <a:gd name="connsiteY32" fmla="*/ 216957 h 238652"/>
                <a:gd name="connsiteX33" fmla="*/ 191646 w 238653"/>
                <a:gd name="connsiteY33" fmla="*/ 216957 h 238652"/>
                <a:gd name="connsiteX34" fmla="*/ 216957 w 238653"/>
                <a:gd name="connsiteY34" fmla="*/ 191645 h 238652"/>
                <a:gd name="connsiteX35" fmla="*/ 216957 w 238653"/>
                <a:gd name="connsiteY35" fmla="*/ 166334 h 238652"/>
                <a:gd name="connsiteX36" fmla="*/ 188030 w 238653"/>
                <a:gd name="connsiteY36" fmla="*/ 166334 h 238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38653" h="238652">
                  <a:moveTo>
                    <a:pt x="32544" y="0"/>
                  </a:moveTo>
                  <a:lnTo>
                    <a:pt x="155486" y="0"/>
                  </a:lnTo>
                  <a:cubicBezTo>
                    <a:pt x="173459" y="0"/>
                    <a:pt x="188030" y="14570"/>
                    <a:pt x="188030" y="32544"/>
                  </a:cubicBezTo>
                  <a:lnTo>
                    <a:pt x="188030" y="144638"/>
                  </a:lnTo>
                  <a:lnTo>
                    <a:pt x="238653" y="144638"/>
                  </a:lnTo>
                  <a:lnTo>
                    <a:pt x="238653" y="191645"/>
                  </a:lnTo>
                  <a:cubicBezTo>
                    <a:pt x="238653" y="217606"/>
                    <a:pt x="217607" y="238652"/>
                    <a:pt x="191646" y="238652"/>
                  </a:cubicBezTo>
                  <a:lnTo>
                    <a:pt x="115711" y="238652"/>
                  </a:lnTo>
                  <a:lnTo>
                    <a:pt x="115711" y="180797"/>
                  </a:lnTo>
                  <a:lnTo>
                    <a:pt x="133790" y="180797"/>
                  </a:lnTo>
                  <a:cubicBezTo>
                    <a:pt x="139781" y="180797"/>
                    <a:pt x="144638" y="175940"/>
                    <a:pt x="144638" y="169950"/>
                  </a:cubicBezTo>
                  <a:cubicBezTo>
                    <a:pt x="144638" y="163959"/>
                    <a:pt x="139781" y="159102"/>
                    <a:pt x="133790" y="159102"/>
                  </a:cubicBezTo>
                  <a:lnTo>
                    <a:pt x="108479" y="159102"/>
                  </a:lnTo>
                  <a:cubicBezTo>
                    <a:pt x="101656" y="149989"/>
                    <a:pt x="90934" y="144629"/>
                    <a:pt x="79551" y="144638"/>
                  </a:cubicBezTo>
                  <a:lnTo>
                    <a:pt x="0" y="144638"/>
                  </a:lnTo>
                  <a:lnTo>
                    <a:pt x="0" y="32544"/>
                  </a:lnTo>
                  <a:cubicBezTo>
                    <a:pt x="0" y="14570"/>
                    <a:pt x="14570" y="0"/>
                    <a:pt x="32544" y="0"/>
                  </a:cubicBezTo>
                  <a:close/>
                  <a:moveTo>
                    <a:pt x="54239" y="57855"/>
                  </a:moveTo>
                  <a:cubicBezTo>
                    <a:pt x="48248" y="57855"/>
                    <a:pt x="43392" y="62712"/>
                    <a:pt x="43392" y="68703"/>
                  </a:cubicBezTo>
                  <a:cubicBezTo>
                    <a:pt x="43392" y="74694"/>
                    <a:pt x="48248" y="79551"/>
                    <a:pt x="54239" y="79551"/>
                  </a:cubicBezTo>
                  <a:lnTo>
                    <a:pt x="133790" y="79551"/>
                  </a:lnTo>
                  <a:cubicBezTo>
                    <a:pt x="139781" y="79551"/>
                    <a:pt x="144638" y="74694"/>
                    <a:pt x="144638" y="68703"/>
                  </a:cubicBezTo>
                  <a:cubicBezTo>
                    <a:pt x="144638" y="62712"/>
                    <a:pt x="139781" y="57855"/>
                    <a:pt x="133790" y="57855"/>
                  </a:cubicBezTo>
                  <a:lnTo>
                    <a:pt x="54239" y="57855"/>
                  </a:lnTo>
                  <a:close/>
                  <a:moveTo>
                    <a:pt x="54239" y="108478"/>
                  </a:moveTo>
                  <a:cubicBezTo>
                    <a:pt x="48248" y="108478"/>
                    <a:pt x="43392" y="113335"/>
                    <a:pt x="43392" y="119326"/>
                  </a:cubicBezTo>
                  <a:cubicBezTo>
                    <a:pt x="43392" y="125317"/>
                    <a:pt x="48248" y="130174"/>
                    <a:pt x="54239" y="130174"/>
                  </a:cubicBezTo>
                  <a:lnTo>
                    <a:pt x="133790" y="130174"/>
                  </a:lnTo>
                  <a:cubicBezTo>
                    <a:pt x="139781" y="130174"/>
                    <a:pt x="144638" y="125317"/>
                    <a:pt x="144638" y="119326"/>
                  </a:cubicBezTo>
                  <a:cubicBezTo>
                    <a:pt x="144638" y="113335"/>
                    <a:pt x="139781" y="108478"/>
                    <a:pt x="133790" y="108478"/>
                  </a:cubicBezTo>
                  <a:lnTo>
                    <a:pt x="54239" y="108478"/>
                  </a:lnTo>
                  <a:close/>
                  <a:moveTo>
                    <a:pt x="188030" y="166334"/>
                  </a:moveTo>
                  <a:lnTo>
                    <a:pt x="188030" y="216957"/>
                  </a:lnTo>
                  <a:lnTo>
                    <a:pt x="191646" y="216957"/>
                  </a:lnTo>
                  <a:cubicBezTo>
                    <a:pt x="205625" y="216957"/>
                    <a:pt x="216957" y="205624"/>
                    <a:pt x="216957" y="191645"/>
                  </a:cubicBezTo>
                  <a:lnTo>
                    <a:pt x="216957" y="166334"/>
                  </a:lnTo>
                  <a:lnTo>
                    <a:pt x="188030" y="166334"/>
                  </a:lnTo>
                  <a:close/>
                </a:path>
              </a:pathLst>
            </a:custGeom>
            <a:solidFill>
              <a:srgbClr val="0078D4"/>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sp>
          <p:nvSpPr>
            <p:cNvPr id="98" name="Freeform: Shape 97" descr="Icon of a document with rolled bottom and money">
              <a:extLst>
                <a:ext uri="{FF2B5EF4-FFF2-40B4-BE49-F238E27FC236}">
                  <a16:creationId xmlns:a16="http://schemas.microsoft.com/office/drawing/2014/main" id="{CE1BBAA4-EB33-25B5-AA38-E388FCA25D60}"/>
                </a:ext>
              </a:extLst>
            </p:cNvPr>
            <p:cNvSpPr>
              <a:spLocks/>
            </p:cNvSpPr>
            <p:nvPr/>
          </p:nvSpPr>
          <p:spPr>
            <a:xfrm>
              <a:off x="-2061385" y="3506826"/>
              <a:ext cx="159102" cy="101246"/>
            </a:xfrm>
            <a:custGeom>
              <a:avLst/>
              <a:gdLst>
                <a:gd name="connsiteX0" fmla="*/ 21696 w 159102"/>
                <a:gd name="connsiteY0" fmla="*/ 0 h 101246"/>
                <a:gd name="connsiteX1" fmla="*/ 137406 w 159102"/>
                <a:gd name="connsiteY1" fmla="*/ 0 h 101246"/>
                <a:gd name="connsiteX2" fmla="*/ 159102 w 159102"/>
                <a:gd name="connsiteY2" fmla="*/ 21695 h 101246"/>
                <a:gd name="connsiteX3" fmla="*/ 159102 w 159102"/>
                <a:gd name="connsiteY3" fmla="*/ 79550 h 101246"/>
                <a:gd name="connsiteX4" fmla="*/ 137406 w 159102"/>
                <a:gd name="connsiteY4" fmla="*/ 101246 h 101246"/>
                <a:gd name="connsiteX5" fmla="*/ 21696 w 159102"/>
                <a:gd name="connsiteY5" fmla="*/ 101246 h 101246"/>
                <a:gd name="connsiteX6" fmla="*/ 0 w 159102"/>
                <a:gd name="connsiteY6" fmla="*/ 79550 h 101246"/>
                <a:gd name="connsiteX7" fmla="*/ 0 w 159102"/>
                <a:gd name="connsiteY7" fmla="*/ 21695 h 101246"/>
                <a:gd name="connsiteX8" fmla="*/ 21696 w 159102"/>
                <a:gd name="connsiteY8" fmla="*/ 0 h 101246"/>
                <a:gd name="connsiteX9" fmla="*/ 28928 w 159102"/>
                <a:gd name="connsiteY9" fmla="*/ 14463 h 101246"/>
                <a:gd name="connsiteX10" fmla="*/ 14464 w 159102"/>
                <a:gd name="connsiteY10" fmla="*/ 28927 h 101246"/>
                <a:gd name="connsiteX11" fmla="*/ 14464 w 159102"/>
                <a:gd name="connsiteY11" fmla="*/ 43391 h 101246"/>
                <a:gd name="connsiteX12" fmla="*/ 43391 w 159102"/>
                <a:gd name="connsiteY12" fmla="*/ 14463 h 101246"/>
                <a:gd name="connsiteX13" fmla="*/ 28928 w 159102"/>
                <a:gd name="connsiteY13" fmla="*/ 14463 h 101246"/>
                <a:gd name="connsiteX14" fmla="*/ 115710 w 159102"/>
                <a:gd name="connsiteY14" fmla="*/ 14463 h 101246"/>
                <a:gd name="connsiteX15" fmla="*/ 144638 w 159102"/>
                <a:gd name="connsiteY15" fmla="*/ 43391 h 101246"/>
                <a:gd name="connsiteX16" fmla="*/ 144638 w 159102"/>
                <a:gd name="connsiteY16" fmla="*/ 28927 h 101246"/>
                <a:gd name="connsiteX17" fmla="*/ 130174 w 159102"/>
                <a:gd name="connsiteY17" fmla="*/ 14463 h 101246"/>
                <a:gd name="connsiteX18" fmla="*/ 115710 w 159102"/>
                <a:gd name="connsiteY18" fmla="*/ 14463 h 101246"/>
                <a:gd name="connsiteX19" fmla="*/ 79551 w 159102"/>
                <a:gd name="connsiteY19" fmla="*/ 25311 h 101246"/>
                <a:gd name="connsiteX20" fmla="*/ 54239 w 159102"/>
                <a:gd name="connsiteY20" fmla="*/ 50623 h 101246"/>
                <a:gd name="connsiteX21" fmla="*/ 79551 w 159102"/>
                <a:gd name="connsiteY21" fmla="*/ 75935 h 101246"/>
                <a:gd name="connsiteX22" fmla="*/ 104863 w 159102"/>
                <a:gd name="connsiteY22" fmla="*/ 50623 h 101246"/>
                <a:gd name="connsiteX23" fmla="*/ 79551 w 159102"/>
                <a:gd name="connsiteY23" fmla="*/ 25311 h 101246"/>
                <a:gd name="connsiteX24" fmla="*/ 144638 w 159102"/>
                <a:gd name="connsiteY24" fmla="*/ 57855 h 101246"/>
                <a:gd name="connsiteX25" fmla="*/ 115710 w 159102"/>
                <a:gd name="connsiteY25" fmla="*/ 86782 h 101246"/>
                <a:gd name="connsiteX26" fmla="*/ 130174 w 159102"/>
                <a:gd name="connsiteY26" fmla="*/ 86782 h 101246"/>
                <a:gd name="connsiteX27" fmla="*/ 144638 w 159102"/>
                <a:gd name="connsiteY27" fmla="*/ 72319 h 101246"/>
                <a:gd name="connsiteX28" fmla="*/ 144638 w 159102"/>
                <a:gd name="connsiteY28" fmla="*/ 57855 h 101246"/>
                <a:gd name="connsiteX29" fmla="*/ 14464 w 159102"/>
                <a:gd name="connsiteY29" fmla="*/ 57855 h 101246"/>
                <a:gd name="connsiteX30" fmla="*/ 14464 w 159102"/>
                <a:gd name="connsiteY30" fmla="*/ 72319 h 101246"/>
                <a:gd name="connsiteX31" fmla="*/ 28928 w 159102"/>
                <a:gd name="connsiteY31" fmla="*/ 86782 h 101246"/>
                <a:gd name="connsiteX32" fmla="*/ 43391 w 159102"/>
                <a:gd name="connsiteY32" fmla="*/ 86782 h 101246"/>
                <a:gd name="connsiteX33" fmla="*/ 14464 w 159102"/>
                <a:gd name="connsiteY33" fmla="*/ 57855 h 10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9102" h="101246">
                  <a:moveTo>
                    <a:pt x="21696" y="0"/>
                  </a:moveTo>
                  <a:lnTo>
                    <a:pt x="137406" y="0"/>
                  </a:lnTo>
                  <a:cubicBezTo>
                    <a:pt x="149388" y="0"/>
                    <a:pt x="159102" y="9713"/>
                    <a:pt x="159102" y="21695"/>
                  </a:cubicBezTo>
                  <a:lnTo>
                    <a:pt x="159102" y="79550"/>
                  </a:lnTo>
                  <a:cubicBezTo>
                    <a:pt x="159102" y="91532"/>
                    <a:pt x="149388" y="101246"/>
                    <a:pt x="137406" y="101246"/>
                  </a:cubicBezTo>
                  <a:lnTo>
                    <a:pt x="21696" y="101246"/>
                  </a:lnTo>
                  <a:cubicBezTo>
                    <a:pt x="9713" y="101246"/>
                    <a:pt x="0" y="91532"/>
                    <a:pt x="0" y="79550"/>
                  </a:cubicBezTo>
                  <a:lnTo>
                    <a:pt x="0" y="21695"/>
                  </a:lnTo>
                  <a:cubicBezTo>
                    <a:pt x="0" y="9713"/>
                    <a:pt x="9713" y="0"/>
                    <a:pt x="21696" y="0"/>
                  </a:cubicBezTo>
                  <a:close/>
                  <a:moveTo>
                    <a:pt x="28928" y="14463"/>
                  </a:moveTo>
                  <a:cubicBezTo>
                    <a:pt x="28928" y="22452"/>
                    <a:pt x="22452" y="28927"/>
                    <a:pt x="14464" y="28927"/>
                  </a:cubicBezTo>
                  <a:lnTo>
                    <a:pt x="14464" y="43391"/>
                  </a:lnTo>
                  <a:cubicBezTo>
                    <a:pt x="30440" y="43391"/>
                    <a:pt x="43391" y="30440"/>
                    <a:pt x="43391" y="14463"/>
                  </a:cubicBezTo>
                  <a:lnTo>
                    <a:pt x="28928" y="14463"/>
                  </a:lnTo>
                  <a:close/>
                  <a:moveTo>
                    <a:pt x="115710" y="14463"/>
                  </a:moveTo>
                  <a:cubicBezTo>
                    <a:pt x="115710" y="30440"/>
                    <a:pt x="128662" y="43391"/>
                    <a:pt x="144638" y="43391"/>
                  </a:cubicBezTo>
                  <a:lnTo>
                    <a:pt x="144638" y="28927"/>
                  </a:lnTo>
                  <a:cubicBezTo>
                    <a:pt x="136650" y="28927"/>
                    <a:pt x="130174" y="22452"/>
                    <a:pt x="130174" y="14463"/>
                  </a:cubicBezTo>
                  <a:lnTo>
                    <a:pt x="115710" y="14463"/>
                  </a:lnTo>
                  <a:close/>
                  <a:moveTo>
                    <a:pt x="79551" y="25311"/>
                  </a:moveTo>
                  <a:cubicBezTo>
                    <a:pt x="65572" y="25311"/>
                    <a:pt x="54239" y="36644"/>
                    <a:pt x="54239" y="50623"/>
                  </a:cubicBezTo>
                  <a:cubicBezTo>
                    <a:pt x="54239" y="64602"/>
                    <a:pt x="65572" y="75935"/>
                    <a:pt x="79551" y="75935"/>
                  </a:cubicBezTo>
                  <a:cubicBezTo>
                    <a:pt x="93530" y="75935"/>
                    <a:pt x="104863" y="64602"/>
                    <a:pt x="104863" y="50623"/>
                  </a:cubicBezTo>
                  <a:cubicBezTo>
                    <a:pt x="104863" y="36644"/>
                    <a:pt x="93530" y="25311"/>
                    <a:pt x="79551" y="25311"/>
                  </a:cubicBezTo>
                  <a:close/>
                  <a:moveTo>
                    <a:pt x="144638" y="57855"/>
                  </a:moveTo>
                  <a:cubicBezTo>
                    <a:pt x="128662" y="57855"/>
                    <a:pt x="115710" y="70806"/>
                    <a:pt x="115710" y="86782"/>
                  </a:cubicBezTo>
                  <a:lnTo>
                    <a:pt x="130174" y="86782"/>
                  </a:lnTo>
                  <a:cubicBezTo>
                    <a:pt x="130174" y="78794"/>
                    <a:pt x="136650" y="72319"/>
                    <a:pt x="144638" y="72319"/>
                  </a:cubicBezTo>
                  <a:lnTo>
                    <a:pt x="144638" y="57855"/>
                  </a:lnTo>
                  <a:close/>
                  <a:moveTo>
                    <a:pt x="14464" y="57855"/>
                  </a:moveTo>
                  <a:lnTo>
                    <a:pt x="14464" y="72319"/>
                  </a:lnTo>
                  <a:cubicBezTo>
                    <a:pt x="22452" y="72319"/>
                    <a:pt x="28928" y="78794"/>
                    <a:pt x="28928" y="86782"/>
                  </a:cubicBezTo>
                  <a:lnTo>
                    <a:pt x="43391" y="86782"/>
                  </a:lnTo>
                  <a:cubicBezTo>
                    <a:pt x="43391" y="70806"/>
                    <a:pt x="30440" y="57855"/>
                    <a:pt x="14464" y="57855"/>
                  </a:cubicBezTo>
                  <a:close/>
                </a:path>
              </a:pathLst>
            </a:custGeom>
            <a:solidFill>
              <a:srgbClr val="D59ED7">
                <a:lumMod val="75000"/>
              </a:srgbClr>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egoe UI"/>
              </a:endParaRPr>
            </a:p>
          </p:txBody>
        </p:sp>
      </p:grpSp>
      <p:sp>
        <p:nvSpPr>
          <p:cNvPr id="99" name="TextBox 98">
            <a:extLst>
              <a:ext uri="{FF2B5EF4-FFF2-40B4-BE49-F238E27FC236}">
                <a16:creationId xmlns:a16="http://schemas.microsoft.com/office/drawing/2014/main" id="{1FB6EC7B-0A3A-691E-B8E1-D2E463D4D93D}"/>
              </a:ext>
            </a:extLst>
          </p:cNvPr>
          <p:cNvSpPr txBox="1"/>
          <p:nvPr/>
        </p:nvSpPr>
        <p:spPr>
          <a:xfrm>
            <a:off x="659675" y="3882945"/>
            <a:ext cx="1964002" cy="2308324"/>
          </a:xfrm>
          <a:prstGeom prst="rect">
            <a:avLst/>
          </a:prstGeom>
          <a:noFill/>
        </p:spPr>
        <p:txBody>
          <a:bodyPr wrap="square">
            <a:spAutoFit/>
          </a:bodyPr>
          <a:lstStyle/>
          <a:p>
            <a:pPr algn="ctr">
              <a:defRPr/>
            </a:pPr>
            <a:r>
              <a:rPr lang="en-GB" sz="1600" noProof="0">
                <a:solidFill>
                  <a:srgbClr val="000000"/>
                </a:solidFill>
                <a:latin typeface="Segoe UI"/>
              </a:rPr>
              <a:t>Control and attribute costs with token monitoring, limits, and quotas</a:t>
            </a:r>
          </a:p>
          <a:p>
            <a:pPr algn="ctr">
              <a:defRPr/>
            </a:pPr>
            <a:endParaRPr lang="en-GB" sz="1600" noProof="0">
              <a:solidFill>
                <a:srgbClr val="000000"/>
              </a:solidFill>
              <a:latin typeface="Segoe UI"/>
            </a:endParaRPr>
          </a:p>
          <a:p>
            <a:pPr algn="ctr">
              <a:defRPr/>
            </a:pPr>
            <a:r>
              <a:rPr lang="en-GB" sz="1600" noProof="0">
                <a:solidFill>
                  <a:srgbClr val="000000"/>
                </a:solidFill>
                <a:latin typeface="Segoe UI"/>
              </a:rPr>
              <a:t>Return cached responses for semantically similar prompts </a:t>
            </a:r>
          </a:p>
        </p:txBody>
      </p:sp>
      <p:sp>
        <p:nvSpPr>
          <p:cNvPr id="100" name="TextBox 99">
            <a:extLst>
              <a:ext uri="{FF2B5EF4-FFF2-40B4-BE49-F238E27FC236}">
                <a16:creationId xmlns:a16="http://schemas.microsoft.com/office/drawing/2014/main" id="{3C35FAAB-1FD2-30E1-A2F5-3D872023ACBD}"/>
              </a:ext>
            </a:extLst>
          </p:cNvPr>
          <p:cNvSpPr txBox="1"/>
          <p:nvPr/>
        </p:nvSpPr>
        <p:spPr>
          <a:xfrm>
            <a:off x="2896158" y="3882945"/>
            <a:ext cx="1944244" cy="1323439"/>
          </a:xfrm>
          <a:prstGeom prst="rect">
            <a:avLst/>
          </a:prstGeom>
          <a:noFill/>
        </p:spPr>
        <p:txBody>
          <a:bodyPr wrap="square">
            <a:spAutoFit/>
          </a:bodyPr>
          <a:lstStyle/>
          <a:p>
            <a:pPr algn="ctr">
              <a:defRPr/>
            </a:pPr>
            <a:r>
              <a:rPr lang="en-GB" sz="1600" noProof="0">
                <a:solidFill>
                  <a:srgbClr val="000000"/>
                </a:solidFill>
                <a:latin typeface="Segoe UI"/>
              </a:rPr>
              <a:t>Enable geo-redundancy and automatic failovers with load balancing and circuit breakers</a:t>
            </a:r>
          </a:p>
        </p:txBody>
      </p:sp>
      <p:sp>
        <p:nvSpPr>
          <p:cNvPr id="101" name="TextBox 100">
            <a:extLst>
              <a:ext uri="{FF2B5EF4-FFF2-40B4-BE49-F238E27FC236}">
                <a16:creationId xmlns:a16="http://schemas.microsoft.com/office/drawing/2014/main" id="{4B155355-CD8D-5228-863F-9E7DBDB9763D}"/>
              </a:ext>
            </a:extLst>
          </p:cNvPr>
          <p:cNvSpPr txBox="1"/>
          <p:nvPr/>
        </p:nvSpPr>
        <p:spPr>
          <a:xfrm>
            <a:off x="5114960" y="3882945"/>
            <a:ext cx="1953238" cy="1815882"/>
          </a:xfrm>
          <a:prstGeom prst="rect">
            <a:avLst/>
          </a:prstGeom>
          <a:noFill/>
        </p:spPr>
        <p:txBody>
          <a:bodyPr wrap="square">
            <a:spAutoFit/>
          </a:bodyPr>
          <a:lstStyle/>
          <a:p>
            <a:pPr algn="ctr">
              <a:defRPr/>
            </a:pPr>
            <a:r>
              <a:rPr lang="en-GB" sz="1600" noProof="0">
                <a:solidFill>
                  <a:srgbClr val="000000"/>
                </a:solidFill>
                <a:latin typeface="Segoe UI"/>
              </a:rPr>
              <a:t>Isolate and manage user credentials</a:t>
            </a:r>
          </a:p>
          <a:p>
            <a:pPr algn="ctr">
              <a:defRPr/>
            </a:pPr>
            <a:endParaRPr lang="en-GB" sz="1600" noProof="0">
              <a:solidFill>
                <a:srgbClr val="000000"/>
              </a:solidFill>
              <a:latin typeface="Segoe UI"/>
            </a:endParaRPr>
          </a:p>
          <a:p>
            <a:pPr algn="ctr">
              <a:defRPr/>
            </a:pPr>
            <a:r>
              <a:rPr lang="en-GB" sz="1600" noProof="0">
                <a:solidFill>
                  <a:srgbClr val="000000"/>
                </a:solidFill>
                <a:latin typeface="Segoe UI"/>
              </a:rPr>
              <a:t>Secure APIs with built-in controls and Microsoft Defender for Cloud</a:t>
            </a:r>
          </a:p>
        </p:txBody>
      </p:sp>
      <p:sp>
        <p:nvSpPr>
          <p:cNvPr id="102" name="TextBox 101">
            <a:extLst>
              <a:ext uri="{FF2B5EF4-FFF2-40B4-BE49-F238E27FC236}">
                <a16:creationId xmlns:a16="http://schemas.microsoft.com/office/drawing/2014/main" id="{6E6DBC92-6C79-35FD-06E0-0BEA9B680CE0}"/>
              </a:ext>
            </a:extLst>
          </p:cNvPr>
          <p:cNvSpPr txBox="1"/>
          <p:nvPr/>
        </p:nvSpPr>
        <p:spPr>
          <a:xfrm>
            <a:off x="7351599" y="3882945"/>
            <a:ext cx="1944243" cy="2554545"/>
          </a:xfrm>
          <a:prstGeom prst="rect">
            <a:avLst/>
          </a:prstGeom>
          <a:noFill/>
        </p:spPr>
        <p:txBody>
          <a:bodyPr wrap="square">
            <a:spAutoFit/>
          </a:bodyPr>
          <a:lstStyle/>
          <a:p>
            <a:pPr algn="ctr">
              <a:defRPr/>
            </a:pPr>
            <a:r>
              <a:rPr lang="en-GB" sz="1600" noProof="0">
                <a:solidFill>
                  <a:srgbClr val="000000"/>
                </a:solidFill>
                <a:latin typeface="Segoe UI"/>
              </a:rPr>
              <a:t>Replace custom backend code with built-in policies</a:t>
            </a:r>
          </a:p>
          <a:p>
            <a:pPr algn="ctr">
              <a:defRPr/>
            </a:pPr>
            <a:endParaRPr lang="en-GB" sz="1600" noProof="0">
              <a:solidFill>
                <a:srgbClr val="000000"/>
              </a:solidFill>
              <a:latin typeface="Segoe UI"/>
            </a:endParaRPr>
          </a:p>
          <a:p>
            <a:pPr algn="ctr">
              <a:defRPr/>
            </a:pPr>
            <a:r>
              <a:rPr lang="en-GB" sz="1600" noProof="0">
                <a:solidFill>
                  <a:srgbClr val="000000"/>
                </a:solidFill>
                <a:latin typeface="Segoe UI"/>
              </a:rPr>
              <a:t>Publish AI APIs for consumption</a:t>
            </a:r>
          </a:p>
          <a:p>
            <a:pPr algn="ctr">
              <a:defRPr/>
            </a:pPr>
            <a:endParaRPr lang="en-GB" sz="1600" noProof="0">
              <a:solidFill>
                <a:srgbClr val="000000"/>
              </a:solidFill>
              <a:latin typeface="Segoe UI"/>
            </a:endParaRPr>
          </a:p>
          <a:p>
            <a:pPr algn="ctr">
              <a:defRPr/>
            </a:pPr>
            <a:r>
              <a:rPr lang="en-GB" sz="1600" noProof="0">
                <a:solidFill>
                  <a:srgbClr val="000000"/>
                </a:solidFill>
                <a:latin typeface="Segoe UI"/>
              </a:rPr>
              <a:t>Gain insights with comprehensive logs</a:t>
            </a:r>
          </a:p>
        </p:txBody>
      </p:sp>
      <p:sp>
        <p:nvSpPr>
          <p:cNvPr id="103" name="TextBox 102">
            <a:extLst>
              <a:ext uri="{FF2B5EF4-FFF2-40B4-BE49-F238E27FC236}">
                <a16:creationId xmlns:a16="http://schemas.microsoft.com/office/drawing/2014/main" id="{2B1394B2-EDD0-262E-0722-2D4AD3DADA02}"/>
              </a:ext>
            </a:extLst>
          </p:cNvPr>
          <p:cNvSpPr txBox="1"/>
          <p:nvPr/>
        </p:nvSpPr>
        <p:spPr>
          <a:xfrm>
            <a:off x="9583740" y="3882945"/>
            <a:ext cx="1942655" cy="1569660"/>
          </a:xfrm>
          <a:prstGeom prst="rect">
            <a:avLst/>
          </a:prstGeom>
          <a:noFill/>
        </p:spPr>
        <p:txBody>
          <a:bodyPr wrap="square">
            <a:spAutoFit/>
          </a:bodyPr>
          <a:lstStyle/>
          <a:p>
            <a:pPr algn="ctr">
              <a:defRPr/>
            </a:pPr>
            <a:r>
              <a:rPr lang="en-GB" sz="1600" noProof="0">
                <a:solidFill>
                  <a:srgbClr val="000000"/>
                </a:solidFill>
                <a:latin typeface="Segoe UI"/>
              </a:rPr>
              <a:t>Enforce runtime policies</a:t>
            </a:r>
          </a:p>
          <a:p>
            <a:pPr algn="ctr">
              <a:defRPr/>
            </a:pPr>
            <a:endParaRPr lang="en-GB" sz="1600" noProof="0">
              <a:solidFill>
                <a:srgbClr val="000000"/>
              </a:solidFill>
              <a:latin typeface="Segoe UI"/>
            </a:endParaRPr>
          </a:p>
          <a:p>
            <a:pPr algn="ctr">
              <a:defRPr/>
            </a:pPr>
            <a:r>
              <a:rPr lang="en-GB" sz="1600" noProof="0">
                <a:solidFill>
                  <a:srgbClr val="000000"/>
                </a:solidFill>
                <a:latin typeface="Segoe UI"/>
              </a:rPr>
              <a:t>Centralize monitoring and audit logs</a:t>
            </a:r>
          </a:p>
        </p:txBody>
      </p:sp>
    </p:spTree>
    <p:extLst>
      <p:ext uri="{BB962C8B-B14F-4D97-AF65-F5344CB8AC3E}">
        <p14:creationId xmlns:p14="http://schemas.microsoft.com/office/powerpoint/2010/main" val="3755073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5B43B-47DB-5E94-C493-E340F7EE9293}"/>
            </a:ext>
          </a:extLst>
        </p:cNvPr>
        <p:cNvGrpSpPr/>
        <p:nvPr/>
      </p:nvGrpSpPr>
      <p:grpSpPr>
        <a:xfrm>
          <a:off x="0" y="0"/>
          <a:ext cx="0" cy="0"/>
          <a:chOff x="0" y="0"/>
          <a:chExt cx="0" cy="0"/>
        </a:xfrm>
      </p:grpSpPr>
      <p:sp>
        <p:nvSpPr>
          <p:cNvPr id="45" name="Rectangle: Rounded Corners 44">
            <a:extLst>
              <a:ext uri="{FF2B5EF4-FFF2-40B4-BE49-F238E27FC236}">
                <a16:creationId xmlns:a16="http://schemas.microsoft.com/office/drawing/2014/main" id="{7A1D555F-81C4-E712-27C9-4CB5156FD874}"/>
              </a:ext>
            </a:extLst>
          </p:cNvPr>
          <p:cNvSpPr/>
          <p:nvPr/>
        </p:nvSpPr>
        <p:spPr bwMode="auto">
          <a:xfrm>
            <a:off x="7246912" y="4492817"/>
            <a:ext cx="2139374" cy="2202180"/>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46" name="Rectangle: Rounded Corners 45">
            <a:extLst>
              <a:ext uri="{FF2B5EF4-FFF2-40B4-BE49-F238E27FC236}">
                <a16:creationId xmlns:a16="http://schemas.microsoft.com/office/drawing/2014/main" id="{EEFC6ECF-4B46-5500-9E07-5209CA62E1F9}"/>
              </a:ext>
            </a:extLst>
          </p:cNvPr>
          <p:cNvSpPr/>
          <p:nvPr/>
        </p:nvSpPr>
        <p:spPr bwMode="auto">
          <a:xfrm>
            <a:off x="5024993" y="4492817"/>
            <a:ext cx="2139374" cy="2202180"/>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47" name="Rectangle: Rounded Corners 46">
            <a:extLst>
              <a:ext uri="{FF2B5EF4-FFF2-40B4-BE49-F238E27FC236}">
                <a16:creationId xmlns:a16="http://schemas.microsoft.com/office/drawing/2014/main" id="{9EAA1D99-F8EC-BBFD-9DD3-4D6A83DCA988}"/>
              </a:ext>
            </a:extLst>
          </p:cNvPr>
          <p:cNvSpPr/>
          <p:nvPr/>
        </p:nvSpPr>
        <p:spPr bwMode="auto">
          <a:xfrm>
            <a:off x="2803073" y="4489736"/>
            <a:ext cx="2139374" cy="2202180"/>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48" name="Rectangle: Rounded Corners 47">
            <a:extLst>
              <a:ext uri="{FF2B5EF4-FFF2-40B4-BE49-F238E27FC236}">
                <a16:creationId xmlns:a16="http://schemas.microsoft.com/office/drawing/2014/main" id="{C36F4DC5-CFDC-BEC7-4655-8FD82269A06A}"/>
              </a:ext>
            </a:extLst>
          </p:cNvPr>
          <p:cNvSpPr/>
          <p:nvPr/>
        </p:nvSpPr>
        <p:spPr bwMode="auto">
          <a:xfrm>
            <a:off x="583203" y="4489736"/>
            <a:ext cx="2139374" cy="2202180"/>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49" name="Rectangle: Rounded Corners 48">
            <a:extLst>
              <a:ext uri="{FF2B5EF4-FFF2-40B4-BE49-F238E27FC236}">
                <a16:creationId xmlns:a16="http://schemas.microsoft.com/office/drawing/2014/main" id="{A91BF198-4EB5-DAD0-A534-EE936E471761}"/>
              </a:ext>
            </a:extLst>
          </p:cNvPr>
          <p:cNvSpPr/>
          <p:nvPr/>
        </p:nvSpPr>
        <p:spPr bwMode="auto">
          <a:xfrm>
            <a:off x="9469423" y="4489736"/>
            <a:ext cx="2139374" cy="2202180"/>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21" name="Rectangle: Rounded Corners 20">
            <a:extLst>
              <a:ext uri="{FF2B5EF4-FFF2-40B4-BE49-F238E27FC236}">
                <a16:creationId xmlns:a16="http://schemas.microsoft.com/office/drawing/2014/main" id="{EDA7D863-5908-03B4-5B99-904B591E1FA6}"/>
              </a:ext>
            </a:extLst>
          </p:cNvPr>
          <p:cNvSpPr/>
          <p:nvPr/>
        </p:nvSpPr>
        <p:spPr bwMode="auto">
          <a:xfrm>
            <a:off x="7246912" y="2244916"/>
            <a:ext cx="2139374" cy="2121441"/>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22" name="Rectangle: Rounded Corners 21">
            <a:extLst>
              <a:ext uri="{FF2B5EF4-FFF2-40B4-BE49-F238E27FC236}">
                <a16:creationId xmlns:a16="http://schemas.microsoft.com/office/drawing/2014/main" id="{DFB970E1-1588-B702-7A97-9513C3A11091}"/>
              </a:ext>
            </a:extLst>
          </p:cNvPr>
          <p:cNvSpPr/>
          <p:nvPr/>
        </p:nvSpPr>
        <p:spPr bwMode="auto">
          <a:xfrm>
            <a:off x="7246913" y="1547960"/>
            <a:ext cx="2139373" cy="577467"/>
          </a:xfrm>
          <a:prstGeom prst="roundRect">
            <a:avLst>
              <a:gd name="adj" fmla="val 13763"/>
            </a:avLst>
          </a:prstGeom>
          <a:gradFill flip="none" rotWithShape="1">
            <a:gsLst>
              <a:gs pos="0">
                <a:srgbClr val="5E5BB0"/>
              </a:gs>
              <a:gs pos="100000">
                <a:srgbClr val="A35694"/>
              </a:gs>
            </a:gsLst>
            <a:lin ang="0" scaled="0"/>
            <a:tileRect/>
          </a:gradFill>
          <a:ln w="63897" cap="flat">
            <a:noFill/>
            <a:prstDash val="solid"/>
            <a:miter/>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ts val="20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pitchFamily="2" charset="0"/>
                <a:ea typeface="+mn-ea"/>
                <a:cs typeface="+mn-cs"/>
              </a:rPr>
              <a:t>Scalability</a:t>
            </a:r>
          </a:p>
        </p:txBody>
      </p:sp>
      <p:sp>
        <p:nvSpPr>
          <p:cNvPr id="23" name="Rectangle: Rounded Corners 22">
            <a:extLst>
              <a:ext uri="{FF2B5EF4-FFF2-40B4-BE49-F238E27FC236}">
                <a16:creationId xmlns:a16="http://schemas.microsoft.com/office/drawing/2014/main" id="{DBC3BA75-82B3-BAFD-10EA-367AA7EC21F5}"/>
              </a:ext>
            </a:extLst>
          </p:cNvPr>
          <p:cNvSpPr/>
          <p:nvPr/>
        </p:nvSpPr>
        <p:spPr bwMode="auto">
          <a:xfrm>
            <a:off x="5024993" y="2244916"/>
            <a:ext cx="2139374" cy="2121441"/>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24" name="Rectangle: Rounded Corners 23">
            <a:extLst>
              <a:ext uri="{FF2B5EF4-FFF2-40B4-BE49-F238E27FC236}">
                <a16:creationId xmlns:a16="http://schemas.microsoft.com/office/drawing/2014/main" id="{14DC6A44-0885-67EB-89EB-E7822C20DBF2}"/>
              </a:ext>
            </a:extLst>
          </p:cNvPr>
          <p:cNvSpPr/>
          <p:nvPr/>
        </p:nvSpPr>
        <p:spPr bwMode="auto">
          <a:xfrm>
            <a:off x="5024993" y="1547960"/>
            <a:ext cx="2139374" cy="577467"/>
          </a:xfrm>
          <a:prstGeom prst="roundRect">
            <a:avLst>
              <a:gd name="adj" fmla="val 13763"/>
            </a:avLst>
          </a:prstGeom>
          <a:gradFill flip="none" rotWithShape="1">
            <a:gsLst>
              <a:gs pos="0">
                <a:srgbClr val="2366B7"/>
              </a:gs>
              <a:gs pos="100000">
                <a:srgbClr val="5D5BB0"/>
              </a:gs>
            </a:gsLst>
            <a:lin ang="0" scaled="0"/>
            <a:tileRect/>
          </a:gradFill>
          <a:ln w="63897" cap="flat">
            <a:noFill/>
            <a:prstDash val="solid"/>
            <a:miter/>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ts val="20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pitchFamily="2" charset="0"/>
                <a:ea typeface="+mn-ea"/>
                <a:cs typeface="+mn-cs"/>
              </a:rPr>
              <a:t>Observability</a:t>
            </a:r>
          </a:p>
        </p:txBody>
      </p:sp>
      <p:sp>
        <p:nvSpPr>
          <p:cNvPr id="25" name="Rectangle: Rounded Corners 24">
            <a:extLst>
              <a:ext uri="{FF2B5EF4-FFF2-40B4-BE49-F238E27FC236}">
                <a16:creationId xmlns:a16="http://schemas.microsoft.com/office/drawing/2014/main" id="{B7A2AFDB-1E37-4E0E-52A6-E04049AA024F}"/>
              </a:ext>
            </a:extLst>
          </p:cNvPr>
          <p:cNvSpPr/>
          <p:nvPr/>
        </p:nvSpPr>
        <p:spPr bwMode="auto">
          <a:xfrm>
            <a:off x="2803073" y="2241835"/>
            <a:ext cx="2139374" cy="2121441"/>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26" name="Rectangle: Rounded Corners 25">
            <a:extLst>
              <a:ext uri="{FF2B5EF4-FFF2-40B4-BE49-F238E27FC236}">
                <a16:creationId xmlns:a16="http://schemas.microsoft.com/office/drawing/2014/main" id="{BE22F6BC-36BE-9351-30F9-8612ECE55F57}"/>
              </a:ext>
            </a:extLst>
          </p:cNvPr>
          <p:cNvSpPr/>
          <p:nvPr/>
        </p:nvSpPr>
        <p:spPr bwMode="auto">
          <a:xfrm>
            <a:off x="2810183" y="1544879"/>
            <a:ext cx="2132264" cy="577467"/>
          </a:xfrm>
          <a:prstGeom prst="roundRect">
            <a:avLst>
              <a:gd name="adj" fmla="val 13763"/>
            </a:avLst>
          </a:prstGeom>
          <a:gradFill flip="none" rotWithShape="1">
            <a:gsLst>
              <a:gs pos="0">
                <a:srgbClr val="1874A5"/>
              </a:gs>
              <a:gs pos="100000">
                <a:srgbClr val="2166B7"/>
              </a:gs>
            </a:gsLst>
            <a:lin ang="0" scaled="0"/>
            <a:tileRect/>
          </a:gradFill>
          <a:ln w="63897" cap="flat">
            <a:noFill/>
            <a:prstDash val="solid"/>
            <a:miter/>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ts val="20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pitchFamily="2" charset="0"/>
                <a:ea typeface="+mn-ea"/>
                <a:cs typeface="+mn-cs"/>
              </a:rPr>
              <a:t>Security &amp; safety</a:t>
            </a:r>
          </a:p>
        </p:txBody>
      </p:sp>
      <p:sp>
        <p:nvSpPr>
          <p:cNvPr id="27" name="Rectangle: Rounded Corners 26">
            <a:extLst>
              <a:ext uri="{FF2B5EF4-FFF2-40B4-BE49-F238E27FC236}">
                <a16:creationId xmlns:a16="http://schemas.microsoft.com/office/drawing/2014/main" id="{5CCCB382-7A32-1EA4-78D8-0FD3EF0895A3}"/>
              </a:ext>
            </a:extLst>
          </p:cNvPr>
          <p:cNvSpPr/>
          <p:nvPr/>
        </p:nvSpPr>
        <p:spPr bwMode="auto">
          <a:xfrm>
            <a:off x="588263" y="2244916"/>
            <a:ext cx="2139374" cy="2121441"/>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28" name="Rectangle: Rounded Corners 27">
            <a:extLst>
              <a:ext uri="{FF2B5EF4-FFF2-40B4-BE49-F238E27FC236}">
                <a16:creationId xmlns:a16="http://schemas.microsoft.com/office/drawing/2014/main" id="{4ECC9FF5-EB7C-5423-67EA-CE86B8AA2C86}"/>
              </a:ext>
            </a:extLst>
          </p:cNvPr>
          <p:cNvSpPr/>
          <p:nvPr/>
        </p:nvSpPr>
        <p:spPr bwMode="auto">
          <a:xfrm>
            <a:off x="588263" y="1547960"/>
            <a:ext cx="2139374" cy="577467"/>
          </a:xfrm>
          <a:prstGeom prst="roundRect">
            <a:avLst>
              <a:gd name="adj" fmla="val 13763"/>
            </a:avLst>
          </a:prstGeom>
          <a:gradFill flip="none" rotWithShape="1">
            <a:gsLst>
              <a:gs pos="0">
                <a:srgbClr val="318582"/>
              </a:gs>
              <a:gs pos="100000">
                <a:srgbClr val="1A76A3"/>
              </a:gs>
            </a:gsLst>
            <a:lin ang="0" scaled="0"/>
            <a:tileRect/>
          </a:gradFill>
          <a:ln w="63897" cap="flat">
            <a:noFill/>
            <a:prstDash val="solid"/>
            <a:miter/>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ts val="20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pitchFamily="2" charset="0"/>
                <a:ea typeface="+mn-ea"/>
                <a:cs typeface="+mn-cs"/>
              </a:rPr>
              <a:t>Governance</a:t>
            </a:r>
          </a:p>
        </p:txBody>
      </p:sp>
      <p:sp>
        <p:nvSpPr>
          <p:cNvPr id="29" name="Rectangle: Rounded Corners 28">
            <a:extLst>
              <a:ext uri="{FF2B5EF4-FFF2-40B4-BE49-F238E27FC236}">
                <a16:creationId xmlns:a16="http://schemas.microsoft.com/office/drawing/2014/main" id="{8C296FC5-C9FE-83BF-829F-D43D32E09C37}"/>
              </a:ext>
            </a:extLst>
          </p:cNvPr>
          <p:cNvSpPr/>
          <p:nvPr/>
        </p:nvSpPr>
        <p:spPr bwMode="auto">
          <a:xfrm>
            <a:off x="9469423" y="2241835"/>
            <a:ext cx="2139374" cy="2121441"/>
          </a:xfrm>
          <a:prstGeom prst="roundRect">
            <a:avLst>
              <a:gd name="adj" fmla="val 9736"/>
            </a:avLst>
          </a:prstGeom>
          <a:solidFill>
            <a:srgbClr val="FFFFFF"/>
          </a:solidFill>
          <a:ln w="12700" cap="rnd">
            <a:solidFill>
              <a:srgbClr val="D4D4D4"/>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horz" wrap="square" lIns="0" tIns="42634" rIns="0" bIns="0" numCol="1" spcCol="0" rtlCol="0" fromWordArt="0" anchor="ctr" anchorCtr="0" forceAA="0" compatLnSpc="1">
            <a:prstTxWarp prst="textNoShape">
              <a:avLst/>
            </a:prstTxWarp>
            <a:noAutofit/>
          </a:bodyPr>
          <a:lstStyle/>
          <a:p>
            <a:pPr marL="0" marR="0" lvl="0" indent="0" algn="ctr" defTabSz="811702" rtl="1" eaLnBrk="1" fontAlgn="auto" latinLnBrk="0" hangingPunct="1">
              <a:lnSpc>
                <a:spcPct val="100000"/>
              </a:lnSpc>
              <a:spcBef>
                <a:spcPts val="174"/>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Segoe UI Variable Display Semib" pitchFamily="2" charset="0"/>
              <a:ea typeface="+mn-ea"/>
              <a:cs typeface="+mn-cs"/>
            </a:endParaRPr>
          </a:p>
        </p:txBody>
      </p:sp>
      <p:sp>
        <p:nvSpPr>
          <p:cNvPr id="30" name="Rectangle: Rounded Corners 29">
            <a:extLst>
              <a:ext uri="{FF2B5EF4-FFF2-40B4-BE49-F238E27FC236}">
                <a16:creationId xmlns:a16="http://schemas.microsoft.com/office/drawing/2014/main" id="{BF0D5631-8925-24EC-4464-EDF4E95FE7F4}"/>
              </a:ext>
            </a:extLst>
          </p:cNvPr>
          <p:cNvSpPr/>
          <p:nvPr/>
        </p:nvSpPr>
        <p:spPr bwMode="auto">
          <a:xfrm>
            <a:off x="9468830" y="1537259"/>
            <a:ext cx="2140559" cy="577467"/>
          </a:xfrm>
          <a:prstGeom prst="roundRect">
            <a:avLst>
              <a:gd name="adj" fmla="val 13763"/>
            </a:avLst>
          </a:prstGeom>
          <a:gradFill flip="none" rotWithShape="1">
            <a:gsLst>
              <a:gs pos="0">
                <a:srgbClr val="A85692"/>
              </a:gs>
              <a:gs pos="100000">
                <a:srgbClr val="E35571"/>
              </a:gs>
            </a:gsLst>
            <a:lin ang="0" scaled="0"/>
            <a:tileRect/>
          </a:gradFill>
          <a:ln w="63897" cap="flat">
            <a:noFill/>
            <a:prstDash val="solid"/>
            <a:miter/>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32449" rtl="0" eaLnBrk="1" fontAlgn="base" latinLnBrk="0" hangingPunct="1">
              <a:lnSpc>
                <a:spcPct val="100000"/>
              </a:lnSpc>
              <a:spcBef>
                <a:spcPts val="200"/>
              </a:spcBef>
              <a:spcAft>
                <a:spcPct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pitchFamily="2" charset="0"/>
                <a:ea typeface="+mn-ea"/>
                <a:cs typeface="+mn-cs"/>
              </a:rPr>
              <a:t>Velocity</a:t>
            </a:r>
          </a:p>
        </p:txBody>
      </p:sp>
      <p:sp>
        <p:nvSpPr>
          <p:cNvPr id="2" name="Title 2">
            <a:extLst>
              <a:ext uri="{FF2B5EF4-FFF2-40B4-BE49-F238E27FC236}">
                <a16:creationId xmlns:a16="http://schemas.microsoft.com/office/drawing/2014/main" id="{51B597C4-1F05-A5CA-1F40-504A29A25E13}"/>
              </a:ext>
            </a:extLst>
          </p:cNvPr>
          <p:cNvSpPr>
            <a:spLocks noGrp="1"/>
          </p:cNvSpPr>
          <p:nvPr>
            <p:ph type="title"/>
          </p:nvPr>
        </p:nvSpPr>
        <p:spPr>
          <a:xfrm>
            <a:off x="588263" y="294197"/>
            <a:ext cx="11018520" cy="553998"/>
          </a:xfrm>
        </p:spPr>
        <p:txBody>
          <a:bodyPr>
            <a:normAutofit fontScale="90000"/>
          </a:bodyPr>
          <a:lstStyle/>
          <a:p>
            <a:pPr>
              <a:tabLst>
                <a:tab pos="2603500" algn="l"/>
              </a:tabLst>
            </a:pPr>
            <a:r>
              <a:rPr lang="en-GB" spc="0">
                <a:solidFill>
                  <a:srgbClr val="0F6FC6"/>
                </a:solidFill>
                <a:latin typeface="Segoe Semibold"/>
              </a:rPr>
              <a:t>Combine traditional and AI gateway capabilities to manage your entire API estate</a:t>
            </a:r>
            <a:endParaRPr lang="en-IE" spc="0">
              <a:solidFill>
                <a:srgbClr val="0F6FC6"/>
              </a:solidFill>
            </a:endParaRPr>
          </a:p>
        </p:txBody>
      </p:sp>
      <p:sp>
        <p:nvSpPr>
          <p:cNvPr id="15" name="Text Placeholder 4">
            <a:extLst>
              <a:ext uri="{FF2B5EF4-FFF2-40B4-BE49-F238E27FC236}">
                <a16:creationId xmlns:a16="http://schemas.microsoft.com/office/drawing/2014/main" id="{C204424C-9E90-14A9-C8D4-DB0CF0E939FC}"/>
              </a:ext>
            </a:extLst>
          </p:cNvPr>
          <p:cNvSpPr txBox="1">
            <a:spLocks/>
          </p:cNvSpPr>
          <p:nvPr/>
        </p:nvSpPr>
        <p:spPr>
          <a:xfrm>
            <a:off x="756617" y="2332212"/>
            <a:ext cx="1880743" cy="1523494"/>
          </a:xfrm>
          <a:prstGeom prst="rect">
            <a:avLst/>
          </a:prstGeom>
        </p:spPr>
        <p:txBody>
          <a:bodyPr vert="horz" wrap="square" lIns="0" tIns="0" rIns="0" bIns="0" rtlCol="0">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Policies, like throttling, IP filtering, and more</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Federated API management with workspaces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Enterprise-wide catalog and compliance scorecard</a:t>
            </a:r>
          </a:p>
        </p:txBody>
      </p:sp>
      <p:sp>
        <p:nvSpPr>
          <p:cNvPr id="16" name="Text Placeholder 5">
            <a:extLst>
              <a:ext uri="{FF2B5EF4-FFF2-40B4-BE49-F238E27FC236}">
                <a16:creationId xmlns:a16="http://schemas.microsoft.com/office/drawing/2014/main" id="{84E0CB88-D35E-00AF-A8DC-68E22157F5FF}"/>
              </a:ext>
            </a:extLst>
          </p:cNvPr>
          <p:cNvSpPr txBox="1">
            <a:spLocks/>
          </p:cNvSpPr>
          <p:nvPr/>
        </p:nvSpPr>
        <p:spPr>
          <a:xfrm>
            <a:off x="2971427" y="2325572"/>
            <a:ext cx="1965960" cy="1754326"/>
          </a:xfrm>
          <a:prstGeom prst="rect">
            <a:avLst/>
          </a:prstGeom>
        </p:spPr>
        <p:txBody>
          <a:bodyPr vert="horz" wrap="square" lIns="0" tIns="0" rIns="0" bIns="0" rtlCol="0">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OWASP API Top 10 protections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Client authN/authZ</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Keyless managed identities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Credential manager</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Advanced security with Defender for Cloud</a:t>
            </a:r>
          </a:p>
        </p:txBody>
      </p:sp>
      <p:sp>
        <p:nvSpPr>
          <p:cNvPr id="17" name="Text Placeholder 9">
            <a:extLst>
              <a:ext uri="{FF2B5EF4-FFF2-40B4-BE49-F238E27FC236}">
                <a16:creationId xmlns:a16="http://schemas.microsoft.com/office/drawing/2014/main" id="{5596254F-B934-CA48-15A3-ED209F4AA921}"/>
              </a:ext>
            </a:extLst>
          </p:cNvPr>
          <p:cNvSpPr txBox="1">
            <a:spLocks/>
          </p:cNvSpPr>
          <p:nvPr/>
        </p:nvSpPr>
        <p:spPr>
          <a:xfrm>
            <a:off x="5193347" y="2332212"/>
            <a:ext cx="1965960" cy="1084912"/>
          </a:xfrm>
          <a:prstGeom prst="rect">
            <a:avLst/>
          </a:prstGeom>
        </p:spPr>
        <p:txBody>
          <a:bodyPr vert="horz" wrap="square" lIns="0" tIns="0" rIns="0" bIns="0" rtlCol="0">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Logs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Metrics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Tracing</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Dashboards and reports</a:t>
            </a:r>
          </a:p>
        </p:txBody>
      </p:sp>
      <p:sp>
        <p:nvSpPr>
          <p:cNvPr id="18" name="Text Placeholder 11">
            <a:extLst>
              <a:ext uri="{FF2B5EF4-FFF2-40B4-BE49-F238E27FC236}">
                <a16:creationId xmlns:a16="http://schemas.microsoft.com/office/drawing/2014/main" id="{198736CD-86D9-CB0D-CAC3-3B285F0AA568}"/>
              </a:ext>
            </a:extLst>
          </p:cNvPr>
          <p:cNvSpPr txBox="1">
            <a:spLocks/>
          </p:cNvSpPr>
          <p:nvPr/>
        </p:nvSpPr>
        <p:spPr>
          <a:xfrm>
            <a:off x="7415266" y="2325572"/>
            <a:ext cx="1805307" cy="1938992"/>
          </a:xfrm>
          <a:prstGeom prst="rect">
            <a:avLst/>
          </a:prstGeom>
        </p:spPr>
        <p:txBody>
          <a:bodyPr vert="horz" wrap="square" lIns="0" tIns="0" rIns="0" bIns="0" rtlCol="0">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Scale up/out</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err="1">
                <a:ln>
                  <a:noFill/>
                </a:ln>
                <a:solidFill>
                  <a:srgbClr val="000000"/>
                </a:solidFill>
                <a:effectLst/>
                <a:uLnTx/>
                <a:uFillTx/>
                <a:latin typeface="Segoe UI" pitchFamily="2" charset="0"/>
                <a:ea typeface="+mn-ea"/>
                <a:cs typeface="Segoe UI" panose="020B0502040204020203" pitchFamily="34" charset="0"/>
              </a:rPr>
              <a:t>Autoscale</a:t>
            </a:r>
            <a:endPar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endParaRP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Multi-regional deployments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Self-hosted gateway for on-prem or multi-cloud</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Backend pools with circuit breaker</a:t>
            </a:r>
          </a:p>
        </p:txBody>
      </p:sp>
      <p:sp>
        <p:nvSpPr>
          <p:cNvPr id="20" name="Text Placeholder 13">
            <a:extLst>
              <a:ext uri="{FF2B5EF4-FFF2-40B4-BE49-F238E27FC236}">
                <a16:creationId xmlns:a16="http://schemas.microsoft.com/office/drawing/2014/main" id="{2D36F742-2448-BBF9-02D8-B0A7AFA15187}"/>
              </a:ext>
            </a:extLst>
          </p:cNvPr>
          <p:cNvSpPr txBox="1">
            <a:spLocks/>
          </p:cNvSpPr>
          <p:nvPr/>
        </p:nvSpPr>
        <p:spPr>
          <a:xfrm>
            <a:off x="9637777" y="2325572"/>
            <a:ext cx="1797606" cy="1869743"/>
          </a:xfrm>
          <a:prstGeom prst="rect">
            <a:avLst/>
          </a:prstGeom>
        </p:spPr>
        <p:txBody>
          <a:bodyPr vert="horz" wrap="square" lIns="0" tIns="0" rIns="0" bIns="0" rtlCol="0">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API import wizards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Developer portal for self-serve API onboarding</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VS Code extension</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Copilot for policies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Linting</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Test console</a:t>
            </a:r>
          </a:p>
        </p:txBody>
      </p:sp>
      <p:sp>
        <p:nvSpPr>
          <p:cNvPr id="37" name="Text Placeholder 6">
            <a:extLst>
              <a:ext uri="{FF2B5EF4-FFF2-40B4-BE49-F238E27FC236}">
                <a16:creationId xmlns:a16="http://schemas.microsoft.com/office/drawing/2014/main" id="{A2AD56D6-18DE-3965-9E79-9AB535D23D60}"/>
              </a:ext>
            </a:extLst>
          </p:cNvPr>
          <p:cNvSpPr txBox="1">
            <a:spLocks/>
          </p:cNvSpPr>
          <p:nvPr/>
        </p:nvSpPr>
        <p:spPr>
          <a:xfrm rot="16200000">
            <a:off x="-644073" y="3179595"/>
            <a:ext cx="2090965"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6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449" rtl="0" eaLnBrk="1" fontAlgn="base" latinLnBrk="0" hangingPunct="1">
              <a:lnSpc>
                <a:spcPct val="100000"/>
              </a:lnSpc>
              <a:spcBef>
                <a:spcPts val="200"/>
              </a:spcBef>
              <a:spcAft>
                <a:spcPct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pitchFamily="2" charset="0"/>
                <a:ea typeface="+mn-ea"/>
                <a:cs typeface="Segoe UI" panose="020B0502040204020203" pitchFamily="34" charset="0"/>
              </a:rPr>
              <a:t>API Gateway</a:t>
            </a:r>
          </a:p>
        </p:txBody>
      </p:sp>
      <p:sp>
        <p:nvSpPr>
          <p:cNvPr id="38" name="Text Placeholder 6">
            <a:extLst>
              <a:ext uri="{FF2B5EF4-FFF2-40B4-BE49-F238E27FC236}">
                <a16:creationId xmlns:a16="http://schemas.microsoft.com/office/drawing/2014/main" id="{DF4955C3-F442-325D-5B1B-F141E3F6106E}"/>
              </a:ext>
            </a:extLst>
          </p:cNvPr>
          <p:cNvSpPr txBox="1">
            <a:spLocks/>
          </p:cNvSpPr>
          <p:nvPr/>
        </p:nvSpPr>
        <p:spPr>
          <a:xfrm rot="16200000">
            <a:off x="-401593" y="5185017"/>
            <a:ext cx="1606006" cy="215444"/>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6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449" rtl="0" eaLnBrk="1" fontAlgn="base" latinLnBrk="0" hangingPunct="1">
              <a:lnSpc>
                <a:spcPct val="100000"/>
              </a:lnSpc>
              <a:spcBef>
                <a:spcPts val="200"/>
              </a:spcBef>
              <a:spcAft>
                <a:spcPct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pitchFamily="2" charset="0"/>
                <a:ea typeface="+mn-ea"/>
                <a:cs typeface="Segoe UI" panose="020B0502040204020203" pitchFamily="34" charset="0"/>
              </a:rPr>
              <a:t>AI Gateway</a:t>
            </a:r>
          </a:p>
        </p:txBody>
      </p:sp>
      <p:sp>
        <p:nvSpPr>
          <p:cNvPr id="40" name="Text Placeholder 4">
            <a:extLst>
              <a:ext uri="{FF2B5EF4-FFF2-40B4-BE49-F238E27FC236}">
                <a16:creationId xmlns:a16="http://schemas.microsoft.com/office/drawing/2014/main" id="{4A11F4AA-E36E-8C4F-DC87-E44E6DE7149F}"/>
              </a:ext>
            </a:extLst>
          </p:cNvPr>
          <p:cNvSpPr txBox="1">
            <a:spLocks/>
          </p:cNvSpPr>
          <p:nvPr/>
        </p:nvSpPr>
        <p:spPr>
          <a:xfrm>
            <a:off x="756617" y="4655561"/>
            <a:ext cx="1880743" cy="1523494"/>
          </a:xfrm>
          <a:prstGeom prst="rect">
            <a:avLst/>
          </a:prstGeom>
        </p:spPr>
        <p:txBody>
          <a:bodyPr vert="horz" wrap="square" lIns="0" tIns="0" rIns="0" bIns="0" rtlCol="0" anchor="t">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7950" indent="-107950" defTabSz="914400">
              <a:spcBef>
                <a:spcPts val="0"/>
              </a:spcBef>
              <a:spcAft>
                <a:spcPts val="900"/>
              </a:spcAft>
              <a:buClr>
                <a:srgbClr val="FFFFFF"/>
              </a:buClr>
              <a:buSzPct val="100000"/>
              <a:buFont typeface="Arial" panose="020B0604020202020204" pitchFamily="34" charset="0"/>
              <a:buChar char="•"/>
              <a:defRPr/>
            </a:pPr>
            <a:r>
              <a:rPr lang="en-GB" sz="1200">
                <a:solidFill>
                  <a:srgbClr val="000000"/>
                </a:solidFill>
                <a:latin typeface="Segoe UI"/>
                <a:cs typeface="Segoe UI"/>
              </a:rPr>
              <a:t>Publish approved models, MCP servers, skills, plugins, and A2A agents</a:t>
            </a:r>
          </a:p>
          <a:p>
            <a:pPr marL="107950" indent="-107950" defTabSz="914400">
              <a:spcBef>
                <a:spcPts val="0"/>
              </a:spcBef>
              <a:spcAft>
                <a:spcPts val="900"/>
              </a:spcAft>
              <a:buClr>
                <a:srgbClr val="FFFFFF"/>
              </a:buClr>
              <a:buSzPct val="100000"/>
              <a:buFont typeface="Arial" panose="020B0604020202020204" pitchFamily="34" charset="0"/>
              <a:buChar char="•"/>
              <a:defRPr/>
            </a:pPr>
            <a:r>
              <a:rPr kumimoji="0" lang="en-GB"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Apply granular token rate limits</a:t>
            </a:r>
            <a:r>
              <a:rPr kumimoji="0" lang="en-GB" sz="1200" b="0" i="0" u="none" strike="noStrike" kern="1200" cap="none" spc="0" normalizeH="0" noProof="0">
                <a:ln>
                  <a:noFill/>
                </a:ln>
                <a:solidFill>
                  <a:srgbClr val="000000"/>
                </a:solidFill>
                <a:effectLst/>
                <a:uLnTx/>
                <a:uFillTx/>
                <a:latin typeface="Segoe UI" pitchFamily="2" charset="0"/>
                <a:ea typeface="+mn-ea"/>
                <a:cs typeface="Segoe UI" panose="020B0502040204020203" pitchFamily="34" charset="0"/>
              </a:rPr>
              <a:t> and quotas</a:t>
            </a:r>
            <a:endParaRPr kumimoji="0" lang="en-US" sz="15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Segoe UI"/>
              </a:rPr>
              <a:t>Enforce policies for MCP and A2A endpoints</a:t>
            </a:r>
            <a:endParaRPr kumimoji="0" lang="en-GB"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endParaRPr>
          </a:p>
        </p:txBody>
      </p:sp>
      <p:sp>
        <p:nvSpPr>
          <p:cNvPr id="41" name="Text Placeholder 5">
            <a:extLst>
              <a:ext uri="{FF2B5EF4-FFF2-40B4-BE49-F238E27FC236}">
                <a16:creationId xmlns:a16="http://schemas.microsoft.com/office/drawing/2014/main" id="{1B62FD80-B90F-5EC3-4FCB-2E47108B9924}"/>
              </a:ext>
            </a:extLst>
          </p:cNvPr>
          <p:cNvSpPr txBox="1">
            <a:spLocks/>
          </p:cNvSpPr>
          <p:nvPr/>
        </p:nvSpPr>
        <p:spPr>
          <a:xfrm>
            <a:off x="2971427" y="4648921"/>
            <a:ext cx="1965960" cy="669414"/>
          </a:xfrm>
          <a:prstGeom prst="rect">
            <a:avLst/>
          </a:prstGeom>
        </p:spPr>
        <p:txBody>
          <a:bodyPr vert="horz" wrap="square" lIns="0" tIns="0" rIns="0" bIns="0" rtlCol="0" anchor="t">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Moderate prompt and completions</a:t>
            </a:r>
          </a:p>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lang="en-US" sz="1200">
                <a:solidFill>
                  <a:srgbClr val="000000"/>
                </a:solidFill>
                <a:latin typeface="Segoe UI" pitchFamily="2" charset="0"/>
              </a:rPr>
              <a:t>Prevent PII leakage</a:t>
            </a:r>
            <a:endParaRPr kumimoji="0" lang="en-US" sz="15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2" name="Text Placeholder 9">
            <a:extLst>
              <a:ext uri="{FF2B5EF4-FFF2-40B4-BE49-F238E27FC236}">
                <a16:creationId xmlns:a16="http://schemas.microsoft.com/office/drawing/2014/main" id="{CA963D6E-2DAA-54B1-CAA7-815608F1A7B1}"/>
              </a:ext>
            </a:extLst>
          </p:cNvPr>
          <p:cNvSpPr txBox="1">
            <a:spLocks/>
          </p:cNvSpPr>
          <p:nvPr/>
        </p:nvSpPr>
        <p:spPr>
          <a:xfrm>
            <a:off x="5193346" y="4655561"/>
            <a:ext cx="2053565" cy="1269578"/>
          </a:xfrm>
          <a:prstGeom prst="rect">
            <a:avLst/>
          </a:prstGeom>
        </p:spPr>
        <p:txBody>
          <a:bodyPr vert="horz" wrap="square" lIns="0" tIns="0" rIns="0" bIns="0" rtlCol="0" anchor="t">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Track token consumption</a:t>
            </a:r>
            <a:endParaRPr kumimoji="0" lang="en-US" sz="15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Log prompt and completions</a:t>
            </a:r>
          </a:p>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Segoe UI"/>
              </a:rPr>
              <a:t>Log</a:t>
            </a:r>
            <a:r>
              <a:rPr kumimoji="0" lang="en-GB" sz="1200" b="0" i="0" u="none" strike="noStrike" kern="1200" cap="none" spc="0" normalizeH="0" noProof="0">
                <a:ln>
                  <a:noFill/>
                </a:ln>
                <a:solidFill>
                  <a:srgbClr val="000000"/>
                </a:solidFill>
                <a:effectLst/>
                <a:uLnTx/>
                <a:uFillTx/>
                <a:latin typeface="Segoe UI"/>
                <a:ea typeface="+mn-ea"/>
                <a:cs typeface="Segoe UI"/>
              </a:rPr>
              <a:t> </a:t>
            </a:r>
            <a:r>
              <a:rPr kumimoji="0" lang="en-GB" sz="1200" b="0" i="0" u="none" strike="noStrike" kern="1200" cap="none" spc="0" normalizeH="0" baseline="0" noProof="0">
                <a:ln>
                  <a:noFill/>
                </a:ln>
                <a:solidFill>
                  <a:srgbClr val="000000"/>
                </a:solidFill>
                <a:effectLst/>
                <a:uLnTx/>
                <a:uFillTx/>
                <a:latin typeface="Segoe UI"/>
                <a:ea typeface="+mn-ea"/>
                <a:cs typeface="Segoe UI"/>
              </a:rPr>
              <a:t>MCP tool </a:t>
            </a:r>
            <a:r>
              <a:rPr lang="en-GB" sz="1200">
                <a:solidFill>
                  <a:srgbClr val="000000"/>
                </a:solidFill>
                <a:latin typeface="Segoe UI"/>
                <a:cs typeface="Segoe UI"/>
              </a:rPr>
              <a:t>interactions</a:t>
            </a:r>
          </a:p>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Segoe UI"/>
              </a:rPr>
              <a:t>Tracing agentic</a:t>
            </a:r>
            <a:r>
              <a:rPr kumimoji="0" lang="en-GB" sz="1200" b="0" i="0" u="none" strike="noStrike" kern="1200" cap="none" spc="0" normalizeH="0" noProof="0">
                <a:ln>
                  <a:noFill/>
                </a:ln>
                <a:solidFill>
                  <a:srgbClr val="000000"/>
                </a:solidFill>
                <a:effectLst/>
                <a:uLnTx/>
                <a:uFillTx/>
                <a:latin typeface="Segoe UI"/>
                <a:ea typeface="+mn-ea"/>
                <a:cs typeface="Segoe UI"/>
              </a:rPr>
              <a:t> interactions</a:t>
            </a:r>
            <a:endParaRPr kumimoji="0" lang="en-GB"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endParaRPr>
          </a:p>
        </p:txBody>
      </p:sp>
      <p:sp>
        <p:nvSpPr>
          <p:cNvPr id="43" name="Text Placeholder 11">
            <a:extLst>
              <a:ext uri="{FF2B5EF4-FFF2-40B4-BE49-F238E27FC236}">
                <a16:creationId xmlns:a16="http://schemas.microsoft.com/office/drawing/2014/main" id="{37EA7242-9162-08DE-45DB-10A93B2AF793}"/>
              </a:ext>
            </a:extLst>
          </p:cNvPr>
          <p:cNvSpPr txBox="1">
            <a:spLocks/>
          </p:cNvSpPr>
          <p:nvPr/>
        </p:nvSpPr>
        <p:spPr>
          <a:xfrm>
            <a:off x="7415266" y="4648921"/>
            <a:ext cx="1864031" cy="2008242"/>
          </a:xfrm>
          <a:prstGeom prst="rect">
            <a:avLst/>
          </a:prstGeom>
        </p:spPr>
        <p:txBody>
          <a:bodyPr vert="horz" wrap="square" lIns="0" tIns="0" rIns="0" bIns="0" rtlCol="0">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Save tokens and improve latency with semantic caching</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Prioritize routing to provisioned capacity models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lang="en-GB" sz="1200">
                <a:solidFill>
                  <a:srgbClr val="000000"/>
                </a:solidFill>
                <a:latin typeface="Segoe UI" pitchFamily="2" charset="0"/>
              </a:rPr>
              <a:t>Implement model fallback strategies</a:t>
            </a:r>
          </a:p>
          <a:p>
            <a:pPr marL="108000" marR="0" lvl="0" indent="-10800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SSE and streaming HTTP</a:t>
            </a:r>
          </a:p>
        </p:txBody>
      </p:sp>
      <p:sp>
        <p:nvSpPr>
          <p:cNvPr id="44" name="Text Placeholder 13">
            <a:extLst>
              <a:ext uri="{FF2B5EF4-FFF2-40B4-BE49-F238E27FC236}">
                <a16:creationId xmlns:a16="http://schemas.microsoft.com/office/drawing/2014/main" id="{B28ACB19-A5F4-C5A9-E9CA-4E36E6C92C97}"/>
              </a:ext>
            </a:extLst>
          </p:cNvPr>
          <p:cNvSpPr txBox="1">
            <a:spLocks/>
          </p:cNvSpPr>
          <p:nvPr/>
        </p:nvSpPr>
        <p:spPr>
          <a:xfrm>
            <a:off x="9637777" y="4648921"/>
            <a:ext cx="1797606" cy="1892826"/>
          </a:xfrm>
          <a:prstGeom prst="rect">
            <a:avLst/>
          </a:prstGeom>
        </p:spPr>
        <p:txBody>
          <a:bodyPr vert="horz" wrap="square" lIns="0" tIns="0" rIns="0" bIns="0" rtlCol="0" anchor="t">
            <a:spAutoFit/>
          </a:bodyPr>
          <a:lstStyle>
            <a:lvl1pPr marL="141288" marR="0" indent="-14128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500" kern="1200" spc="0" baseline="0" dirty="0">
                <a:solidFill>
                  <a:schemeClr val="tx1"/>
                </a:solidFill>
                <a:latin typeface="+mn-lt"/>
                <a:ea typeface="+mn-ea"/>
                <a:cs typeface="Segoe UI" panose="020B0502040204020203" pitchFamily="34" charset="0"/>
              </a:defRPr>
            </a:lvl1pPr>
            <a:lvl2pPr marL="285750" marR="0" indent="-125413"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2pPr>
            <a:lvl3pPr marL="438150" marR="0" indent="-13335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400" kern="1200" spc="0" baseline="0" dirty="0">
                <a:solidFill>
                  <a:schemeClr val="tx1"/>
                </a:solidFill>
                <a:latin typeface="+mn-lt"/>
                <a:ea typeface="+mn-ea"/>
                <a:cs typeface="+mn-cs"/>
              </a:defRPr>
            </a:lvl3pPr>
            <a:lvl4pPr marL="566738" marR="0" indent="-1143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4pPr>
            <a:lvl5pPr marL="685800" marR="0" indent="-10953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1200" kern="1200" spc="0" baseline="0" dirty="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a:rPr>
              <a:t>Import AI Foundry models, models from other providers, existing MCP servers, A2A agents</a:t>
            </a:r>
            <a:endParaRPr kumimoji="0" lang="en-US" sz="1500" b="0" i="0" u="none" strike="noStrike" kern="1200" cap="none" spc="0" normalizeH="0" baseline="0" noProof="0">
              <a:ln>
                <a:noFill/>
              </a:ln>
              <a:solidFill>
                <a:srgbClr val="000000"/>
              </a:solidFill>
              <a:effectLst/>
              <a:uLnTx/>
              <a:uFillTx/>
              <a:latin typeface="Segoe UI"/>
              <a:ea typeface="+mn-ea"/>
              <a:cs typeface="Segoe UI"/>
            </a:endParaRPr>
          </a:p>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Convert REST APIs to MCP server</a:t>
            </a:r>
            <a:r>
              <a:rPr kumimoji="0" lang="en-GB" sz="1200" b="0" i="0" u="none" strike="noStrike" kern="1200" cap="none" spc="0" normalizeH="0" baseline="0" noProof="0">
                <a:ln>
                  <a:noFill/>
                </a:ln>
                <a:solidFill>
                  <a:srgbClr val="000000"/>
                </a:solidFill>
                <a:effectLst/>
                <a:uLnTx/>
                <a:uFillTx/>
                <a:latin typeface="Segoe UI" pitchFamily="2" charset="0"/>
                <a:ea typeface="+mn-ea"/>
                <a:cs typeface="Segoe UI" panose="020B0502040204020203" pitchFamily="34" charset="0"/>
              </a:rPr>
              <a:t>s</a:t>
            </a:r>
          </a:p>
          <a:p>
            <a:pPr marL="107950" marR="0" lvl="0" indent="-107950" algn="l" defTabSz="914400" rtl="0" eaLnBrk="1" fontAlgn="auto" latinLnBrk="0" hangingPunct="1">
              <a:lnSpc>
                <a:spcPct val="100000"/>
              </a:lnSpc>
              <a:spcBef>
                <a:spcPts val="0"/>
              </a:spcBef>
              <a:spcAft>
                <a:spcPts val="900"/>
              </a:spcAft>
              <a:buClr>
                <a:srgbClr val="FFFFFF"/>
              </a:buClr>
              <a:buSzPct val="100000"/>
              <a:buFont typeface="Arial" panose="020B0604020202020204" pitchFamily="34" charset="0"/>
              <a:buChar char="•"/>
              <a:tabLst/>
              <a:defRPr/>
            </a:pPr>
            <a:r>
              <a:rPr lang="en-GB" sz="1200">
                <a:solidFill>
                  <a:srgbClr val="000000"/>
                </a:solidFill>
                <a:latin typeface="Segoe UI" pitchFamily="2" charset="0"/>
              </a:rPr>
              <a:t>Discover and consume AI assets from agents via MCP server or API</a:t>
            </a:r>
            <a:endParaRPr kumimoji="0" lang="en-US" sz="12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50" name="Plus Sign 49">
            <a:extLst>
              <a:ext uri="{FF2B5EF4-FFF2-40B4-BE49-F238E27FC236}">
                <a16:creationId xmlns:a16="http://schemas.microsoft.com/office/drawing/2014/main" id="{DF1DA350-A35C-DABA-81E5-9A0CF62B5CD9}"/>
              </a:ext>
            </a:extLst>
          </p:cNvPr>
          <p:cNvSpPr/>
          <p:nvPr/>
        </p:nvSpPr>
        <p:spPr bwMode="auto">
          <a:xfrm>
            <a:off x="313100" y="4320137"/>
            <a:ext cx="218900" cy="218900"/>
          </a:xfrm>
          <a:prstGeom prst="mathPlus">
            <a:avLst>
              <a:gd name="adj1" fmla="val 12641"/>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E"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63725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42" presetClass="path" presetSubtype="0" decel="100000" fill="hold" grpId="1" nodeType="withEffect">
                                  <p:stCondLst>
                                    <p:cond delay="200"/>
                                  </p:stCondLst>
                                  <p:childTnLst>
                                    <p:animMotion origin="layout" path="M 2.77778E-7 2.96296E-6 L 2.77778E-7 0.03796 " pathEditMode="relative" rAng="0" ptsTypes="AA">
                                      <p:cBhvr>
                                        <p:cTn id="12" dur="750" spd="-100000" fill="hold"/>
                                        <p:tgtEl>
                                          <p:spTgt spid="22"/>
                                        </p:tgtEl>
                                        <p:attrNameLst>
                                          <p:attrName>ppt_x</p:attrName>
                                          <p:attrName>ppt_y</p:attrName>
                                        </p:attrNameLst>
                                      </p:cBhvr>
                                      <p:rCtr x="0" y="1883"/>
                                    </p:animMotion>
                                  </p:childTnLst>
                                </p:cTn>
                              </p:par>
                              <p:par>
                                <p:cTn id="13" presetID="10" presetClass="entr" presetSubtype="0" fill="hold" grpId="0" nodeType="withEffect">
                                  <p:stCondLst>
                                    <p:cond delay="20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par>
                                <p:cTn id="16" presetID="42" presetClass="path" presetSubtype="0" decel="100000" fill="hold" grpId="1" nodeType="withEffect">
                                  <p:stCondLst>
                                    <p:cond delay="200"/>
                                  </p:stCondLst>
                                  <p:childTnLst>
                                    <p:animMotion origin="layout" path="M 2.77778E-7 2.96296E-6 L 2.77778E-7 0.03796 " pathEditMode="relative" rAng="0" ptsTypes="AA">
                                      <p:cBhvr>
                                        <p:cTn id="17" dur="750" spd="-100000" fill="hold"/>
                                        <p:tgtEl>
                                          <p:spTgt spid="24"/>
                                        </p:tgtEl>
                                        <p:attrNameLst>
                                          <p:attrName>ppt_x</p:attrName>
                                          <p:attrName>ppt_y</p:attrName>
                                        </p:attrNameLst>
                                      </p:cBhvr>
                                      <p:rCtr x="0" y="1883"/>
                                    </p:animMotion>
                                  </p:childTnLst>
                                </p:cTn>
                              </p:par>
                              <p:par>
                                <p:cTn id="18" presetID="10" presetClass="entr" presetSubtype="0" fill="hold" grpId="0" nodeType="withEffect">
                                  <p:stCondLst>
                                    <p:cond delay="20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par>
                                <p:cTn id="21" presetID="42" presetClass="path" presetSubtype="0" decel="100000" fill="hold" grpId="1" nodeType="withEffect">
                                  <p:stCondLst>
                                    <p:cond delay="200"/>
                                  </p:stCondLst>
                                  <p:childTnLst>
                                    <p:animMotion origin="layout" path="M 2.77778E-7 2.96296E-6 L 2.77778E-7 0.03796 " pathEditMode="relative" rAng="0" ptsTypes="AA">
                                      <p:cBhvr>
                                        <p:cTn id="22" dur="750" spd="-100000" fill="hold"/>
                                        <p:tgtEl>
                                          <p:spTgt spid="26"/>
                                        </p:tgtEl>
                                        <p:attrNameLst>
                                          <p:attrName>ppt_x</p:attrName>
                                          <p:attrName>ppt_y</p:attrName>
                                        </p:attrNameLst>
                                      </p:cBhvr>
                                      <p:rCtr x="0" y="1883"/>
                                    </p:animMotion>
                                  </p:childTnLst>
                                </p:cTn>
                              </p:par>
                              <p:par>
                                <p:cTn id="23" presetID="10" presetClass="entr" presetSubtype="0" fill="hold" grpId="0" nodeType="withEffect">
                                  <p:stCondLst>
                                    <p:cond delay="20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42" presetClass="path" presetSubtype="0" decel="100000" fill="hold" grpId="1" nodeType="withEffect">
                                  <p:stCondLst>
                                    <p:cond delay="200"/>
                                  </p:stCondLst>
                                  <p:childTnLst>
                                    <p:animMotion origin="layout" path="M 2.77778E-7 2.96296E-6 L 2.77778E-7 0.03796 " pathEditMode="relative" rAng="0" ptsTypes="AA">
                                      <p:cBhvr>
                                        <p:cTn id="27" dur="750" spd="-100000" fill="hold"/>
                                        <p:tgtEl>
                                          <p:spTgt spid="28"/>
                                        </p:tgtEl>
                                        <p:attrNameLst>
                                          <p:attrName>ppt_x</p:attrName>
                                          <p:attrName>ppt_y</p:attrName>
                                        </p:attrNameLst>
                                      </p:cBhvr>
                                      <p:rCtr x="0" y="1883"/>
                                    </p:animMotion>
                                  </p:childTnLst>
                                </p:cTn>
                              </p:par>
                              <p:par>
                                <p:cTn id="28" presetID="10" presetClass="entr" presetSubtype="0" fill="hold" grpId="0" nodeType="withEffect">
                                  <p:stCondLst>
                                    <p:cond delay="20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par>
                                <p:cTn id="31" presetID="42" presetClass="path" presetSubtype="0" decel="100000" fill="hold" grpId="1" nodeType="withEffect">
                                  <p:stCondLst>
                                    <p:cond delay="200"/>
                                  </p:stCondLst>
                                  <p:childTnLst>
                                    <p:animMotion origin="layout" path="M 2.77778E-7 2.96296E-6 L 2.77778E-7 0.03796 " pathEditMode="relative" rAng="0" ptsTypes="AA">
                                      <p:cBhvr>
                                        <p:cTn id="32" dur="750" spd="-100000" fill="hold"/>
                                        <p:tgtEl>
                                          <p:spTgt spid="30"/>
                                        </p:tgtEl>
                                        <p:attrNameLst>
                                          <p:attrName>ppt_x</p:attrName>
                                          <p:attrName>ppt_y</p:attrName>
                                        </p:attrNameLst>
                                      </p:cBhvr>
                                      <p:rCtr x="0" y="1883"/>
                                    </p:animMotion>
                                  </p:childTnLst>
                                </p:cTn>
                              </p:par>
                              <p:par>
                                <p:cTn id="33" presetID="10" presetClass="entr" presetSubtype="0" fill="hold" grpId="0" nodeType="withEffect">
                                  <p:stCondLst>
                                    <p:cond delay="4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42" presetClass="path" presetSubtype="0" decel="100000" fill="hold" grpId="1" nodeType="withEffect">
                                  <p:stCondLst>
                                    <p:cond delay="400"/>
                                  </p:stCondLst>
                                  <p:childTnLst>
                                    <p:animMotion origin="layout" path="M 2.77778E-7 2.96296E-6 L 2.77778E-7 0.03796 " pathEditMode="relative" rAng="0" ptsTypes="AA">
                                      <p:cBhvr>
                                        <p:cTn id="37" dur="750" spd="-100000" fill="hold"/>
                                        <p:tgtEl>
                                          <p:spTgt spid="21"/>
                                        </p:tgtEl>
                                        <p:attrNameLst>
                                          <p:attrName>ppt_x</p:attrName>
                                          <p:attrName>ppt_y</p:attrName>
                                        </p:attrNameLst>
                                      </p:cBhvr>
                                      <p:rCtr x="0" y="1883"/>
                                    </p:animMotion>
                                  </p:childTnLst>
                                </p:cTn>
                              </p:par>
                              <p:par>
                                <p:cTn id="38" presetID="10" presetClass="entr" presetSubtype="0" fill="hold" grpId="0" nodeType="withEffect">
                                  <p:stCondLst>
                                    <p:cond delay="40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42" presetClass="path" presetSubtype="0" decel="100000" fill="hold" grpId="1" nodeType="withEffect">
                                  <p:stCondLst>
                                    <p:cond delay="400"/>
                                  </p:stCondLst>
                                  <p:childTnLst>
                                    <p:animMotion origin="layout" path="M 2.77778E-7 2.96296E-6 L 2.77778E-7 0.03796 " pathEditMode="relative" rAng="0" ptsTypes="AA">
                                      <p:cBhvr>
                                        <p:cTn id="42" dur="750" spd="-100000" fill="hold"/>
                                        <p:tgtEl>
                                          <p:spTgt spid="23"/>
                                        </p:tgtEl>
                                        <p:attrNameLst>
                                          <p:attrName>ppt_x</p:attrName>
                                          <p:attrName>ppt_y</p:attrName>
                                        </p:attrNameLst>
                                      </p:cBhvr>
                                      <p:rCtr x="0" y="1883"/>
                                    </p:animMotion>
                                  </p:childTnLst>
                                </p:cTn>
                              </p:par>
                              <p:par>
                                <p:cTn id="43" presetID="10" presetClass="entr" presetSubtype="0" fill="hold" grpId="0" nodeType="withEffect">
                                  <p:stCondLst>
                                    <p:cond delay="40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42" presetClass="path" presetSubtype="0" decel="100000" fill="hold" grpId="1" nodeType="withEffect">
                                  <p:stCondLst>
                                    <p:cond delay="400"/>
                                  </p:stCondLst>
                                  <p:childTnLst>
                                    <p:animMotion origin="layout" path="M 2.77778E-7 2.96296E-6 L 2.77778E-7 0.03796 " pathEditMode="relative" rAng="0" ptsTypes="AA">
                                      <p:cBhvr>
                                        <p:cTn id="47" dur="750" spd="-100000" fill="hold"/>
                                        <p:tgtEl>
                                          <p:spTgt spid="25"/>
                                        </p:tgtEl>
                                        <p:attrNameLst>
                                          <p:attrName>ppt_x</p:attrName>
                                          <p:attrName>ppt_y</p:attrName>
                                        </p:attrNameLst>
                                      </p:cBhvr>
                                      <p:rCtr x="0" y="1883"/>
                                    </p:animMotion>
                                  </p:childTnLst>
                                </p:cTn>
                              </p:par>
                              <p:par>
                                <p:cTn id="48" presetID="10" presetClass="entr" presetSubtype="0" fill="hold" grpId="0" nodeType="withEffect">
                                  <p:stCondLst>
                                    <p:cond delay="40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par>
                                <p:cTn id="51" presetID="42" presetClass="path" presetSubtype="0" decel="100000" fill="hold" grpId="1" nodeType="withEffect">
                                  <p:stCondLst>
                                    <p:cond delay="400"/>
                                  </p:stCondLst>
                                  <p:childTnLst>
                                    <p:animMotion origin="layout" path="M 2.77778E-7 2.96296E-6 L 2.77778E-7 0.03796 " pathEditMode="relative" rAng="0" ptsTypes="AA">
                                      <p:cBhvr>
                                        <p:cTn id="52" dur="750" spd="-100000" fill="hold"/>
                                        <p:tgtEl>
                                          <p:spTgt spid="27"/>
                                        </p:tgtEl>
                                        <p:attrNameLst>
                                          <p:attrName>ppt_x</p:attrName>
                                          <p:attrName>ppt_y</p:attrName>
                                        </p:attrNameLst>
                                      </p:cBhvr>
                                      <p:rCtr x="0" y="1883"/>
                                    </p:animMotion>
                                  </p:childTnLst>
                                </p:cTn>
                              </p:par>
                              <p:par>
                                <p:cTn id="53" presetID="10" presetClass="entr" presetSubtype="0" fill="hold" grpId="0" nodeType="withEffect">
                                  <p:stCondLst>
                                    <p:cond delay="40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500"/>
                                        <p:tgtEl>
                                          <p:spTgt spid="29"/>
                                        </p:tgtEl>
                                      </p:cBhvr>
                                    </p:animEffect>
                                  </p:childTnLst>
                                </p:cTn>
                              </p:par>
                              <p:par>
                                <p:cTn id="56" presetID="42" presetClass="path" presetSubtype="0" decel="100000" fill="hold" grpId="1" nodeType="withEffect">
                                  <p:stCondLst>
                                    <p:cond delay="400"/>
                                  </p:stCondLst>
                                  <p:childTnLst>
                                    <p:animMotion origin="layout" path="M 2.77778E-7 2.96296E-6 L 2.77778E-7 0.03796 " pathEditMode="relative" rAng="0" ptsTypes="AA">
                                      <p:cBhvr>
                                        <p:cTn id="57" dur="750" spd="-100000" fill="hold"/>
                                        <p:tgtEl>
                                          <p:spTgt spid="29"/>
                                        </p:tgtEl>
                                        <p:attrNameLst>
                                          <p:attrName>ppt_x</p:attrName>
                                          <p:attrName>ppt_y</p:attrName>
                                        </p:attrNameLst>
                                      </p:cBhvr>
                                      <p:rCtr x="0" y="1883"/>
                                    </p:animMotion>
                                  </p:childTnLst>
                                </p:cTn>
                              </p:par>
                              <p:par>
                                <p:cTn id="58" presetID="10" presetClass="entr" presetSubtype="0" fill="hold" grpId="0" nodeType="withEffect">
                                  <p:stCondLst>
                                    <p:cond delay="4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childTnLst>
                                </p:cTn>
                              </p:par>
                              <p:par>
                                <p:cTn id="61" presetID="42" presetClass="path" presetSubtype="0" decel="100000" fill="hold" grpId="1" nodeType="withEffect">
                                  <p:stCondLst>
                                    <p:cond delay="400"/>
                                  </p:stCondLst>
                                  <p:childTnLst>
                                    <p:animMotion origin="layout" path="M 2.77778E-7 2.96296E-6 L 2.77778E-7 0.03796 " pathEditMode="relative" rAng="0" ptsTypes="AA">
                                      <p:cBhvr>
                                        <p:cTn id="62" dur="750" spd="-100000" fill="hold"/>
                                        <p:tgtEl>
                                          <p:spTgt spid="15"/>
                                        </p:tgtEl>
                                        <p:attrNameLst>
                                          <p:attrName>ppt_x</p:attrName>
                                          <p:attrName>ppt_y</p:attrName>
                                        </p:attrNameLst>
                                      </p:cBhvr>
                                      <p:rCtr x="0" y="1883"/>
                                    </p:animMotion>
                                  </p:childTnLst>
                                </p:cTn>
                              </p:par>
                              <p:par>
                                <p:cTn id="63" presetID="10" presetClass="entr" presetSubtype="0" fill="hold" grpId="0" nodeType="withEffect">
                                  <p:stCondLst>
                                    <p:cond delay="400"/>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500"/>
                                        <p:tgtEl>
                                          <p:spTgt spid="16"/>
                                        </p:tgtEl>
                                      </p:cBhvr>
                                    </p:animEffect>
                                  </p:childTnLst>
                                </p:cTn>
                              </p:par>
                              <p:par>
                                <p:cTn id="66" presetID="42" presetClass="path" presetSubtype="0" decel="100000" fill="hold" grpId="1" nodeType="withEffect">
                                  <p:stCondLst>
                                    <p:cond delay="400"/>
                                  </p:stCondLst>
                                  <p:childTnLst>
                                    <p:animMotion origin="layout" path="M 2.77778E-7 2.96296E-6 L 2.77778E-7 0.03796 " pathEditMode="relative" rAng="0" ptsTypes="AA">
                                      <p:cBhvr>
                                        <p:cTn id="67" dur="750" spd="-100000" fill="hold"/>
                                        <p:tgtEl>
                                          <p:spTgt spid="16"/>
                                        </p:tgtEl>
                                        <p:attrNameLst>
                                          <p:attrName>ppt_x</p:attrName>
                                          <p:attrName>ppt_y</p:attrName>
                                        </p:attrNameLst>
                                      </p:cBhvr>
                                      <p:rCtr x="0" y="1883"/>
                                    </p:animMotion>
                                  </p:childTnLst>
                                </p:cTn>
                              </p:par>
                              <p:par>
                                <p:cTn id="68" presetID="10" presetClass="entr" presetSubtype="0" fill="hold" grpId="0" nodeType="withEffect">
                                  <p:stCondLst>
                                    <p:cond delay="40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childTnLst>
                                </p:cTn>
                              </p:par>
                              <p:par>
                                <p:cTn id="71" presetID="42" presetClass="path" presetSubtype="0" decel="100000" fill="hold" grpId="1" nodeType="withEffect">
                                  <p:stCondLst>
                                    <p:cond delay="400"/>
                                  </p:stCondLst>
                                  <p:childTnLst>
                                    <p:animMotion origin="layout" path="M 2.77778E-7 2.96296E-6 L 2.77778E-7 0.03796 " pathEditMode="relative" rAng="0" ptsTypes="AA">
                                      <p:cBhvr>
                                        <p:cTn id="72" dur="750" spd="-100000" fill="hold"/>
                                        <p:tgtEl>
                                          <p:spTgt spid="17"/>
                                        </p:tgtEl>
                                        <p:attrNameLst>
                                          <p:attrName>ppt_x</p:attrName>
                                          <p:attrName>ppt_y</p:attrName>
                                        </p:attrNameLst>
                                      </p:cBhvr>
                                      <p:rCtr x="0" y="1883"/>
                                    </p:animMotion>
                                  </p:childTnLst>
                                </p:cTn>
                              </p:par>
                              <p:par>
                                <p:cTn id="73" presetID="10" presetClass="entr" presetSubtype="0" fill="hold" grpId="0" nodeType="withEffect">
                                  <p:stCondLst>
                                    <p:cond delay="40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par>
                                <p:cTn id="76" presetID="42" presetClass="path" presetSubtype="0" decel="100000" fill="hold" grpId="1" nodeType="withEffect">
                                  <p:stCondLst>
                                    <p:cond delay="400"/>
                                  </p:stCondLst>
                                  <p:childTnLst>
                                    <p:animMotion origin="layout" path="M 2.77778E-7 2.96296E-6 L 2.77778E-7 0.03796 " pathEditMode="relative" rAng="0" ptsTypes="AA">
                                      <p:cBhvr>
                                        <p:cTn id="77" dur="750" spd="-100000" fill="hold"/>
                                        <p:tgtEl>
                                          <p:spTgt spid="18"/>
                                        </p:tgtEl>
                                        <p:attrNameLst>
                                          <p:attrName>ppt_x</p:attrName>
                                          <p:attrName>ppt_y</p:attrName>
                                        </p:attrNameLst>
                                      </p:cBhvr>
                                      <p:rCtr x="0" y="1883"/>
                                    </p:animMotion>
                                  </p:childTnLst>
                                </p:cTn>
                              </p:par>
                              <p:par>
                                <p:cTn id="78" presetID="10" presetClass="entr" presetSubtype="0" fill="hold" grpId="0" nodeType="withEffect">
                                  <p:stCondLst>
                                    <p:cond delay="40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500"/>
                                        <p:tgtEl>
                                          <p:spTgt spid="20"/>
                                        </p:tgtEl>
                                      </p:cBhvr>
                                    </p:animEffect>
                                  </p:childTnLst>
                                </p:cTn>
                              </p:par>
                              <p:par>
                                <p:cTn id="81" presetID="42" presetClass="path" presetSubtype="0" decel="100000" fill="hold" grpId="1" nodeType="withEffect">
                                  <p:stCondLst>
                                    <p:cond delay="400"/>
                                  </p:stCondLst>
                                  <p:childTnLst>
                                    <p:animMotion origin="layout" path="M 2.77778E-7 2.96296E-6 L 2.77778E-7 0.03796 " pathEditMode="relative" rAng="0" ptsTypes="AA">
                                      <p:cBhvr>
                                        <p:cTn id="82" dur="750" spd="-100000" fill="hold"/>
                                        <p:tgtEl>
                                          <p:spTgt spid="20"/>
                                        </p:tgtEl>
                                        <p:attrNameLst>
                                          <p:attrName>ppt_x</p:attrName>
                                          <p:attrName>ppt_y</p:attrName>
                                        </p:attrNameLst>
                                      </p:cBhvr>
                                      <p:rCtr x="0" y="1883"/>
                                    </p:animMotion>
                                  </p:childTnLst>
                                </p:cTn>
                              </p:par>
                              <p:par>
                                <p:cTn id="83" presetID="10" presetClass="entr" presetSubtype="0" fill="hold" grpId="0" nodeType="withEffect">
                                  <p:stCondLst>
                                    <p:cond delay="40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500"/>
                                        <p:tgtEl>
                                          <p:spTgt spid="37"/>
                                        </p:tgtEl>
                                      </p:cBhvr>
                                    </p:animEffect>
                                  </p:childTnLst>
                                </p:cTn>
                              </p:par>
                              <p:par>
                                <p:cTn id="86" presetID="42" presetClass="path" presetSubtype="0" decel="100000" fill="hold" grpId="1" nodeType="withEffect">
                                  <p:stCondLst>
                                    <p:cond delay="400"/>
                                  </p:stCondLst>
                                  <p:childTnLst>
                                    <p:animMotion origin="layout" path="M 2.77778E-7 2.96296E-6 L 2.77778E-7 0.03796 " pathEditMode="relative" rAng="0" ptsTypes="AA">
                                      <p:cBhvr>
                                        <p:cTn id="87" dur="750" spd="-100000" fill="hold"/>
                                        <p:tgtEl>
                                          <p:spTgt spid="37"/>
                                        </p:tgtEl>
                                        <p:attrNameLst>
                                          <p:attrName>ppt_x</p:attrName>
                                          <p:attrName>ppt_y</p:attrName>
                                        </p:attrNameLst>
                                      </p:cBhvr>
                                      <p:rCtr x="0" y="1883"/>
                                    </p:animMotion>
                                  </p:childTnLst>
                                </p:cTn>
                              </p:par>
                              <p:par>
                                <p:cTn id="88" presetID="10" presetClass="entr" presetSubtype="0" fill="hold" grpId="0" nodeType="withEffect">
                                  <p:stCondLst>
                                    <p:cond delay="600"/>
                                  </p:stCondLst>
                                  <p:childTnLst>
                                    <p:set>
                                      <p:cBhvr>
                                        <p:cTn id="89" dur="1" fill="hold">
                                          <p:stCondLst>
                                            <p:cond delay="0"/>
                                          </p:stCondLst>
                                        </p:cTn>
                                        <p:tgtEl>
                                          <p:spTgt spid="45"/>
                                        </p:tgtEl>
                                        <p:attrNameLst>
                                          <p:attrName>style.visibility</p:attrName>
                                        </p:attrNameLst>
                                      </p:cBhvr>
                                      <p:to>
                                        <p:strVal val="visible"/>
                                      </p:to>
                                    </p:set>
                                    <p:animEffect transition="in" filter="fade">
                                      <p:cBhvr>
                                        <p:cTn id="90" dur="500"/>
                                        <p:tgtEl>
                                          <p:spTgt spid="45"/>
                                        </p:tgtEl>
                                      </p:cBhvr>
                                    </p:animEffect>
                                  </p:childTnLst>
                                </p:cTn>
                              </p:par>
                              <p:par>
                                <p:cTn id="91" presetID="42" presetClass="path" presetSubtype="0" decel="100000" fill="hold" grpId="1" nodeType="withEffect">
                                  <p:stCondLst>
                                    <p:cond delay="600"/>
                                  </p:stCondLst>
                                  <p:childTnLst>
                                    <p:animMotion origin="layout" path="M 2.77778E-7 2.96296E-6 L 2.77778E-7 0.03796 " pathEditMode="relative" rAng="0" ptsTypes="AA">
                                      <p:cBhvr>
                                        <p:cTn id="92" dur="750" spd="-100000" fill="hold"/>
                                        <p:tgtEl>
                                          <p:spTgt spid="45"/>
                                        </p:tgtEl>
                                        <p:attrNameLst>
                                          <p:attrName>ppt_x</p:attrName>
                                          <p:attrName>ppt_y</p:attrName>
                                        </p:attrNameLst>
                                      </p:cBhvr>
                                      <p:rCtr x="0" y="1883"/>
                                    </p:animMotion>
                                  </p:childTnLst>
                                </p:cTn>
                              </p:par>
                              <p:par>
                                <p:cTn id="93" presetID="10" presetClass="entr" presetSubtype="0" fill="hold" grpId="0" nodeType="withEffect">
                                  <p:stCondLst>
                                    <p:cond delay="600"/>
                                  </p:stCondLst>
                                  <p:childTnLst>
                                    <p:set>
                                      <p:cBhvr>
                                        <p:cTn id="94" dur="1" fill="hold">
                                          <p:stCondLst>
                                            <p:cond delay="0"/>
                                          </p:stCondLst>
                                        </p:cTn>
                                        <p:tgtEl>
                                          <p:spTgt spid="46"/>
                                        </p:tgtEl>
                                        <p:attrNameLst>
                                          <p:attrName>style.visibility</p:attrName>
                                        </p:attrNameLst>
                                      </p:cBhvr>
                                      <p:to>
                                        <p:strVal val="visible"/>
                                      </p:to>
                                    </p:set>
                                    <p:animEffect transition="in" filter="fade">
                                      <p:cBhvr>
                                        <p:cTn id="95" dur="500"/>
                                        <p:tgtEl>
                                          <p:spTgt spid="46"/>
                                        </p:tgtEl>
                                      </p:cBhvr>
                                    </p:animEffect>
                                  </p:childTnLst>
                                </p:cTn>
                              </p:par>
                              <p:par>
                                <p:cTn id="96" presetID="42" presetClass="path" presetSubtype="0" decel="100000" fill="hold" grpId="1" nodeType="withEffect">
                                  <p:stCondLst>
                                    <p:cond delay="600"/>
                                  </p:stCondLst>
                                  <p:childTnLst>
                                    <p:animMotion origin="layout" path="M 2.77778E-7 2.96296E-6 L 2.77778E-7 0.03796 " pathEditMode="relative" rAng="0" ptsTypes="AA">
                                      <p:cBhvr>
                                        <p:cTn id="97" dur="750" spd="-100000" fill="hold"/>
                                        <p:tgtEl>
                                          <p:spTgt spid="46"/>
                                        </p:tgtEl>
                                        <p:attrNameLst>
                                          <p:attrName>ppt_x</p:attrName>
                                          <p:attrName>ppt_y</p:attrName>
                                        </p:attrNameLst>
                                      </p:cBhvr>
                                      <p:rCtr x="0" y="1883"/>
                                    </p:animMotion>
                                  </p:childTnLst>
                                </p:cTn>
                              </p:par>
                              <p:par>
                                <p:cTn id="98" presetID="10" presetClass="entr" presetSubtype="0" fill="hold" grpId="0" nodeType="withEffect">
                                  <p:stCondLst>
                                    <p:cond delay="600"/>
                                  </p:stCondLst>
                                  <p:childTnLst>
                                    <p:set>
                                      <p:cBhvr>
                                        <p:cTn id="99" dur="1" fill="hold">
                                          <p:stCondLst>
                                            <p:cond delay="0"/>
                                          </p:stCondLst>
                                        </p:cTn>
                                        <p:tgtEl>
                                          <p:spTgt spid="47"/>
                                        </p:tgtEl>
                                        <p:attrNameLst>
                                          <p:attrName>style.visibility</p:attrName>
                                        </p:attrNameLst>
                                      </p:cBhvr>
                                      <p:to>
                                        <p:strVal val="visible"/>
                                      </p:to>
                                    </p:set>
                                    <p:animEffect transition="in" filter="fade">
                                      <p:cBhvr>
                                        <p:cTn id="100" dur="500"/>
                                        <p:tgtEl>
                                          <p:spTgt spid="47"/>
                                        </p:tgtEl>
                                      </p:cBhvr>
                                    </p:animEffect>
                                  </p:childTnLst>
                                </p:cTn>
                              </p:par>
                              <p:par>
                                <p:cTn id="101" presetID="42" presetClass="path" presetSubtype="0" decel="100000" fill="hold" grpId="1" nodeType="withEffect">
                                  <p:stCondLst>
                                    <p:cond delay="600"/>
                                  </p:stCondLst>
                                  <p:childTnLst>
                                    <p:animMotion origin="layout" path="M 2.77778E-7 2.96296E-6 L 2.77778E-7 0.03796 " pathEditMode="relative" rAng="0" ptsTypes="AA">
                                      <p:cBhvr>
                                        <p:cTn id="102" dur="750" spd="-100000" fill="hold"/>
                                        <p:tgtEl>
                                          <p:spTgt spid="47"/>
                                        </p:tgtEl>
                                        <p:attrNameLst>
                                          <p:attrName>ppt_x</p:attrName>
                                          <p:attrName>ppt_y</p:attrName>
                                        </p:attrNameLst>
                                      </p:cBhvr>
                                      <p:rCtr x="0" y="1883"/>
                                    </p:animMotion>
                                  </p:childTnLst>
                                </p:cTn>
                              </p:par>
                              <p:par>
                                <p:cTn id="103" presetID="10" presetClass="entr" presetSubtype="0" fill="hold" grpId="0" nodeType="withEffect">
                                  <p:stCondLst>
                                    <p:cond delay="600"/>
                                  </p:stCondLst>
                                  <p:childTnLst>
                                    <p:set>
                                      <p:cBhvr>
                                        <p:cTn id="104" dur="1" fill="hold">
                                          <p:stCondLst>
                                            <p:cond delay="0"/>
                                          </p:stCondLst>
                                        </p:cTn>
                                        <p:tgtEl>
                                          <p:spTgt spid="48"/>
                                        </p:tgtEl>
                                        <p:attrNameLst>
                                          <p:attrName>style.visibility</p:attrName>
                                        </p:attrNameLst>
                                      </p:cBhvr>
                                      <p:to>
                                        <p:strVal val="visible"/>
                                      </p:to>
                                    </p:set>
                                    <p:animEffect transition="in" filter="fade">
                                      <p:cBhvr>
                                        <p:cTn id="105" dur="500"/>
                                        <p:tgtEl>
                                          <p:spTgt spid="48"/>
                                        </p:tgtEl>
                                      </p:cBhvr>
                                    </p:animEffect>
                                  </p:childTnLst>
                                </p:cTn>
                              </p:par>
                              <p:par>
                                <p:cTn id="106" presetID="42" presetClass="path" presetSubtype="0" decel="100000" fill="hold" grpId="1" nodeType="withEffect">
                                  <p:stCondLst>
                                    <p:cond delay="600"/>
                                  </p:stCondLst>
                                  <p:childTnLst>
                                    <p:animMotion origin="layout" path="M 2.77778E-7 2.96296E-6 L 2.77778E-7 0.03796 " pathEditMode="relative" rAng="0" ptsTypes="AA">
                                      <p:cBhvr>
                                        <p:cTn id="107" dur="750" spd="-100000" fill="hold"/>
                                        <p:tgtEl>
                                          <p:spTgt spid="48"/>
                                        </p:tgtEl>
                                        <p:attrNameLst>
                                          <p:attrName>ppt_x</p:attrName>
                                          <p:attrName>ppt_y</p:attrName>
                                        </p:attrNameLst>
                                      </p:cBhvr>
                                      <p:rCtr x="0" y="1883"/>
                                    </p:animMotion>
                                  </p:childTnLst>
                                </p:cTn>
                              </p:par>
                              <p:par>
                                <p:cTn id="108" presetID="10" presetClass="entr" presetSubtype="0" fill="hold" grpId="0" nodeType="withEffect">
                                  <p:stCondLst>
                                    <p:cond delay="60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500"/>
                                        <p:tgtEl>
                                          <p:spTgt spid="49"/>
                                        </p:tgtEl>
                                      </p:cBhvr>
                                    </p:animEffect>
                                  </p:childTnLst>
                                </p:cTn>
                              </p:par>
                              <p:par>
                                <p:cTn id="111" presetID="42" presetClass="path" presetSubtype="0" decel="100000" fill="hold" grpId="1" nodeType="withEffect">
                                  <p:stCondLst>
                                    <p:cond delay="600"/>
                                  </p:stCondLst>
                                  <p:childTnLst>
                                    <p:animMotion origin="layout" path="M 2.77778E-7 2.96296E-6 L 2.77778E-7 0.03796 " pathEditMode="relative" rAng="0" ptsTypes="AA">
                                      <p:cBhvr>
                                        <p:cTn id="112" dur="750" spd="-100000" fill="hold"/>
                                        <p:tgtEl>
                                          <p:spTgt spid="49"/>
                                        </p:tgtEl>
                                        <p:attrNameLst>
                                          <p:attrName>ppt_x</p:attrName>
                                          <p:attrName>ppt_y</p:attrName>
                                        </p:attrNameLst>
                                      </p:cBhvr>
                                      <p:rCtr x="0" y="1883"/>
                                    </p:animMotion>
                                  </p:childTnLst>
                                </p:cTn>
                              </p:par>
                              <p:par>
                                <p:cTn id="113" presetID="10" presetClass="entr" presetSubtype="0" fill="hold" grpId="0" nodeType="withEffect">
                                  <p:stCondLst>
                                    <p:cond delay="60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500"/>
                                        <p:tgtEl>
                                          <p:spTgt spid="38"/>
                                        </p:tgtEl>
                                      </p:cBhvr>
                                    </p:animEffect>
                                  </p:childTnLst>
                                </p:cTn>
                              </p:par>
                              <p:par>
                                <p:cTn id="116" presetID="42" presetClass="path" presetSubtype="0" decel="100000" fill="hold" grpId="1" nodeType="withEffect">
                                  <p:stCondLst>
                                    <p:cond delay="600"/>
                                  </p:stCondLst>
                                  <p:childTnLst>
                                    <p:animMotion origin="layout" path="M 2.77778E-7 2.96296E-6 L 2.77778E-7 0.03796 " pathEditMode="relative" rAng="0" ptsTypes="AA">
                                      <p:cBhvr>
                                        <p:cTn id="117" dur="750" spd="-100000" fill="hold"/>
                                        <p:tgtEl>
                                          <p:spTgt spid="38"/>
                                        </p:tgtEl>
                                        <p:attrNameLst>
                                          <p:attrName>ppt_x</p:attrName>
                                          <p:attrName>ppt_y</p:attrName>
                                        </p:attrNameLst>
                                      </p:cBhvr>
                                      <p:rCtr x="0" y="1883"/>
                                    </p:animMotion>
                                  </p:childTnLst>
                                </p:cTn>
                              </p:par>
                              <p:par>
                                <p:cTn id="118" presetID="10" presetClass="entr" presetSubtype="0" fill="hold" grpId="0" nodeType="withEffect">
                                  <p:stCondLst>
                                    <p:cond delay="60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500"/>
                                        <p:tgtEl>
                                          <p:spTgt spid="40"/>
                                        </p:tgtEl>
                                      </p:cBhvr>
                                    </p:animEffect>
                                  </p:childTnLst>
                                </p:cTn>
                              </p:par>
                              <p:par>
                                <p:cTn id="121" presetID="42" presetClass="path" presetSubtype="0" decel="100000" fill="hold" grpId="1" nodeType="withEffect">
                                  <p:stCondLst>
                                    <p:cond delay="600"/>
                                  </p:stCondLst>
                                  <p:childTnLst>
                                    <p:animMotion origin="layout" path="M 2.77778E-7 2.96296E-6 L 2.77778E-7 0.03796 " pathEditMode="relative" rAng="0" ptsTypes="AA">
                                      <p:cBhvr>
                                        <p:cTn id="122" dur="750" spd="-100000" fill="hold"/>
                                        <p:tgtEl>
                                          <p:spTgt spid="40"/>
                                        </p:tgtEl>
                                        <p:attrNameLst>
                                          <p:attrName>ppt_x</p:attrName>
                                          <p:attrName>ppt_y</p:attrName>
                                        </p:attrNameLst>
                                      </p:cBhvr>
                                      <p:rCtr x="0" y="1883"/>
                                    </p:animMotion>
                                  </p:childTnLst>
                                </p:cTn>
                              </p:par>
                              <p:par>
                                <p:cTn id="123" presetID="10" presetClass="entr" presetSubtype="0" fill="hold" grpId="0" nodeType="withEffect">
                                  <p:stCondLst>
                                    <p:cond delay="600"/>
                                  </p:stCondLst>
                                  <p:childTnLst>
                                    <p:set>
                                      <p:cBhvr>
                                        <p:cTn id="124" dur="1" fill="hold">
                                          <p:stCondLst>
                                            <p:cond delay="0"/>
                                          </p:stCondLst>
                                        </p:cTn>
                                        <p:tgtEl>
                                          <p:spTgt spid="41"/>
                                        </p:tgtEl>
                                        <p:attrNameLst>
                                          <p:attrName>style.visibility</p:attrName>
                                        </p:attrNameLst>
                                      </p:cBhvr>
                                      <p:to>
                                        <p:strVal val="visible"/>
                                      </p:to>
                                    </p:set>
                                    <p:animEffect transition="in" filter="fade">
                                      <p:cBhvr>
                                        <p:cTn id="125" dur="500"/>
                                        <p:tgtEl>
                                          <p:spTgt spid="41"/>
                                        </p:tgtEl>
                                      </p:cBhvr>
                                    </p:animEffect>
                                  </p:childTnLst>
                                </p:cTn>
                              </p:par>
                              <p:par>
                                <p:cTn id="126" presetID="42" presetClass="path" presetSubtype="0" decel="100000" fill="hold" grpId="1" nodeType="withEffect">
                                  <p:stCondLst>
                                    <p:cond delay="600"/>
                                  </p:stCondLst>
                                  <p:childTnLst>
                                    <p:animMotion origin="layout" path="M 1.04167E-6 -2.96296E-6 L 1.04167E-6 0.03797 " pathEditMode="relative" rAng="0" ptsTypes="AA">
                                      <p:cBhvr>
                                        <p:cTn id="127" dur="750" spd="-100000" fill="hold"/>
                                        <p:tgtEl>
                                          <p:spTgt spid="41"/>
                                        </p:tgtEl>
                                        <p:attrNameLst>
                                          <p:attrName>ppt_x</p:attrName>
                                          <p:attrName>ppt_y</p:attrName>
                                        </p:attrNameLst>
                                      </p:cBhvr>
                                      <p:rCtr x="0" y="1898"/>
                                    </p:animMotion>
                                  </p:childTnLst>
                                </p:cTn>
                              </p:par>
                              <p:par>
                                <p:cTn id="128" presetID="10" presetClass="entr" presetSubtype="0" fill="hold" grpId="0" nodeType="withEffect">
                                  <p:stCondLst>
                                    <p:cond delay="600"/>
                                  </p:stCondLst>
                                  <p:childTnLst>
                                    <p:set>
                                      <p:cBhvr>
                                        <p:cTn id="129" dur="1" fill="hold">
                                          <p:stCondLst>
                                            <p:cond delay="0"/>
                                          </p:stCondLst>
                                        </p:cTn>
                                        <p:tgtEl>
                                          <p:spTgt spid="42"/>
                                        </p:tgtEl>
                                        <p:attrNameLst>
                                          <p:attrName>style.visibility</p:attrName>
                                        </p:attrNameLst>
                                      </p:cBhvr>
                                      <p:to>
                                        <p:strVal val="visible"/>
                                      </p:to>
                                    </p:set>
                                    <p:animEffect transition="in" filter="fade">
                                      <p:cBhvr>
                                        <p:cTn id="130" dur="500"/>
                                        <p:tgtEl>
                                          <p:spTgt spid="42"/>
                                        </p:tgtEl>
                                      </p:cBhvr>
                                    </p:animEffect>
                                  </p:childTnLst>
                                </p:cTn>
                              </p:par>
                              <p:par>
                                <p:cTn id="131" presetID="42" presetClass="path" presetSubtype="0" decel="100000" fill="hold" grpId="1" nodeType="withEffect">
                                  <p:stCondLst>
                                    <p:cond delay="600"/>
                                  </p:stCondLst>
                                  <p:childTnLst>
                                    <p:animMotion origin="layout" path="M 3.75E-6 -2.96296E-6 L 3.75E-6 0.03797 " pathEditMode="relative" rAng="0" ptsTypes="AA">
                                      <p:cBhvr>
                                        <p:cTn id="132" dur="750" spd="-100000" fill="hold"/>
                                        <p:tgtEl>
                                          <p:spTgt spid="42"/>
                                        </p:tgtEl>
                                        <p:attrNameLst>
                                          <p:attrName>ppt_x</p:attrName>
                                          <p:attrName>ppt_y</p:attrName>
                                        </p:attrNameLst>
                                      </p:cBhvr>
                                      <p:rCtr x="0" y="1898"/>
                                    </p:animMotion>
                                  </p:childTnLst>
                                </p:cTn>
                              </p:par>
                              <p:par>
                                <p:cTn id="133" presetID="10" presetClass="entr" presetSubtype="0" fill="hold" grpId="0" nodeType="withEffect">
                                  <p:stCondLst>
                                    <p:cond delay="600"/>
                                  </p:stCondLst>
                                  <p:childTnLst>
                                    <p:set>
                                      <p:cBhvr>
                                        <p:cTn id="134" dur="1" fill="hold">
                                          <p:stCondLst>
                                            <p:cond delay="0"/>
                                          </p:stCondLst>
                                        </p:cTn>
                                        <p:tgtEl>
                                          <p:spTgt spid="43"/>
                                        </p:tgtEl>
                                        <p:attrNameLst>
                                          <p:attrName>style.visibility</p:attrName>
                                        </p:attrNameLst>
                                      </p:cBhvr>
                                      <p:to>
                                        <p:strVal val="visible"/>
                                      </p:to>
                                    </p:set>
                                    <p:animEffect transition="in" filter="fade">
                                      <p:cBhvr>
                                        <p:cTn id="135" dur="500"/>
                                        <p:tgtEl>
                                          <p:spTgt spid="43"/>
                                        </p:tgtEl>
                                      </p:cBhvr>
                                    </p:animEffect>
                                  </p:childTnLst>
                                </p:cTn>
                              </p:par>
                              <p:par>
                                <p:cTn id="136" presetID="42" presetClass="path" presetSubtype="0" decel="100000" fill="hold" grpId="1" nodeType="withEffect">
                                  <p:stCondLst>
                                    <p:cond delay="600"/>
                                  </p:stCondLst>
                                  <p:childTnLst>
                                    <p:animMotion origin="layout" path="M 4.58333E-6 3.33333E-6 L 4.58333E-6 0.03796 " pathEditMode="relative" rAng="0" ptsTypes="AA">
                                      <p:cBhvr>
                                        <p:cTn id="137" dur="750" spd="-100000" fill="hold"/>
                                        <p:tgtEl>
                                          <p:spTgt spid="43"/>
                                        </p:tgtEl>
                                        <p:attrNameLst>
                                          <p:attrName>ppt_x</p:attrName>
                                          <p:attrName>ppt_y</p:attrName>
                                        </p:attrNameLst>
                                      </p:cBhvr>
                                      <p:rCtr x="0" y="1898"/>
                                    </p:animMotion>
                                  </p:childTnLst>
                                </p:cTn>
                              </p:par>
                              <p:par>
                                <p:cTn id="138" presetID="10" presetClass="entr" presetSubtype="0" fill="hold" grpId="0" nodeType="withEffect">
                                  <p:stCondLst>
                                    <p:cond delay="600"/>
                                  </p:stCondLst>
                                  <p:childTnLst>
                                    <p:set>
                                      <p:cBhvr>
                                        <p:cTn id="139" dur="1" fill="hold">
                                          <p:stCondLst>
                                            <p:cond delay="0"/>
                                          </p:stCondLst>
                                        </p:cTn>
                                        <p:tgtEl>
                                          <p:spTgt spid="44"/>
                                        </p:tgtEl>
                                        <p:attrNameLst>
                                          <p:attrName>style.visibility</p:attrName>
                                        </p:attrNameLst>
                                      </p:cBhvr>
                                      <p:to>
                                        <p:strVal val="visible"/>
                                      </p:to>
                                    </p:set>
                                    <p:animEffect transition="in" filter="fade">
                                      <p:cBhvr>
                                        <p:cTn id="140" dur="500"/>
                                        <p:tgtEl>
                                          <p:spTgt spid="44"/>
                                        </p:tgtEl>
                                      </p:cBhvr>
                                    </p:animEffect>
                                  </p:childTnLst>
                                </p:cTn>
                              </p:par>
                              <p:par>
                                <p:cTn id="141" presetID="42" presetClass="path" presetSubtype="0" decel="100000" fill="hold" grpId="1" nodeType="withEffect">
                                  <p:stCondLst>
                                    <p:cond delay="600"/>
                                  </p:stCondLst>
                                  <p:childTnLst>
                                    <p:animMotion origin="layout" path="M -2.70833E-6 2.96296E-6 L -2.70833E-6 0.03796 " pathEditMode="relative" rAng="0" ptsTypes="AA">
                                      <p:cBhvr>
                                        <p:cTn id="142" dur="750" spd="-100000" fill="hold"/>
                                        <p:tgtEl>
                                          <p:spTgt spid="44"/>
                                        </p:tgtEl>
                                        <p:attrNameLst>
                                          <p:attrName>ppt_x</p:attrName>
                                          <p:attrName>ppt_y</p:attrName>
                                        </p:attrNameLst>
                                      </p:cBhvr>
                                      <p:rCtr x="0" y="1898"/>
                                    </p:animMotion>
                                  </p:childTnLst>
                                </p:cTn>
                              </p:par>
                              <p:par>
                                <p:cTn id="143" presetID="10" presetClass="entr" presetSubtype="0" fill="hold" grpId="0" nodeType="withEffect">
                                  <p:stCondLst>
                                    <p:cond delay="60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500"/>
                                        <p:tgtEl>
                                          <p:spTgt spid="50"/>
                                        </p:tgtEl>
                                      </p:cBhvr>
                                    </p:animEffect>
                                  </p:childTnLst>
                                </p:cTn>
                              </p:par>
                              <p:par>
                                <p:cTn id="146" presetID="42" presetClass="path" presetSubtype="0" decel="100000" fill="hold" grpId="1" nodeType="withEffect">
                                  <p:stCondLst>
                                    <p:cond delay="600"/>
                                  </p:stCondLst>
                                  <p:childTnLst>
                                    <p:animMotion origin="layout" path="M 2.77778E-7 2.96296E-6 L 2.77778E-7 0.03796 " pathEditMode="relative" rAng="0" ptsTypes="AA">
                                      <p:cBhvr>
                                        <p:cTn id="147" dur="750" spd="-100000" fill="hold"/>
                                        <p:tgtEl>
                                          <p:spTgt spid="50"/>
                                        </p:tgtEl>
                                        <p:attrNameLst>
                                          <p:attrName>ppt_x</p:attrName>
                                          <p:attrName>ppt_y</p:attrName>
                                        </p:attrNameLst>
                                      </p:cBhvr>
                                      <p:rCtr x="0" y="188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2" grpId="0"/>
      <p:bldP spid="15" grpId="0"/>
      <p:bldP spid="15" grpId="1"/>
      <p:bldP spid="16" grpId="0"/>
      <p:bldP spid="16" grpId="1"/>
      <p:bldP spid="17" grpId="0"/>
      <p:bldP spid="17" grpId="1"/>
      <p:bldP spid="18" grpId="0"/>
      <p:bldP spid="18" grpId="1"/>
      <p:bldP spid="20" grpId="0"/>
      <p:bldP spid="20" grpId="1"/>
      <p:bldP spid="37" grpId="0"/>
      <p:bldP spid="37" grpId="1"/>
      <p:bldP spid="38" grpId="0"/>
      <p:bldP spid="38" grpId="1"/>
      <p:bldP spid="40" grpId="0"/>
      <p:bldP spid="40" grpId="1"/>
      <p:bldP spid="41" grpId="0"/>
      <p:bldP spid="41" grpId="1"/>
      <p:bldP spid="42" grpId="0"/>
      <p:bldP spid="42" grpId="1"/>
      <p:bldP spid="43" grpId="0"/>
      <p:bldP spid="43" grpId="1"/>
      <p:bldP spid="44" grpId="0"/>
      <p:bldP spid="44" grpId="1"/>
      <p:bldP spid="50" grpId="0" animBg="1"/>
      <p:bldP spid="50"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9DC0D-3FEF-5587-1661-984FBE5A0957}"/>
              </a:ext>
            </a:extLst>
          </p:cNvPr>
          <p:cNvSpPr>
            <a:spLocks noGrp="1"/>
          </p:cNvSpPr>
          <p:nvPr>
            <p:ph type="title"/>
          </p:nvPr>
        </p:nvSpPr>
        <p:spPr/>
        <p:txBody>
          <a:bodyPr/>
          <a:lstStyle/>
          <a:p>
            <a:r>
              <a:rPr lang="en-US"/>
              <a:t>Demo</a:t>
            </a:r>
          </a:p>
        </p:txBody>
      </p:sp>
    </p:spTree>
    <p:extLst>
      <p:ext uri="{BB962C8B-B14F-4D97-AF65-F5344CB8AC3E}">
        <p14:creationId xmlns:p14="http://schemas.microsoft.com/office/powerpoint/2010/main" val="3645148511"/>
      </p:ext>
    </p:extLst>
  </p:cSld>
  <p:clrMapOvr>
    <a:masterClrMapping/>
  </p:clrMapOvr>
</p:sld>
</file>

<file path=ppt/theme/theme1.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Template Starter Blue - February 2020_v6" id="{071E01FD-2079-42F8-8403-F72D98F421C4}" vid="{4AE5ECA4-1508-4F7F-B9BC-6CD0E5E51A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29421e1-74d8-4915-bb0d-c72892872ba0">
      <Terms xmlns="http://schemas.microsoft.com/office/infopath/2007/PartnerControls"/>
    </lcf76f155ced4ddcb4097134ff3c332f>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E08647-16C5-4D63-827E-EB5E5ECADCA4}">
  <ds:schemaRefs>
    <ds:schemaRef ds:uri="http://schemas.microsoft.com/sharepoint/v3/contenttype/forms"/>
  </ds:schemaRefs>
</ds:datastoreItem>
</file>

<file path=customXml/itemProps2.xml><?xml version="1.0" encoding="utf-8"?>
<ds:datastoreItem xmlns:ds="http://schemas.openxmlformats.org/officeDocument/2006/customXml" ds:itemID="{3DFF34EF-50E3-4BDA-9451-D59344AADE60}">
  <ds:schemaRefs>
    <ds:schemaRef ds:uri="http://purl.org/dc/terms/"/>
    <ds:schemaRef ds:uri="http://purl.org/dc/dcmitype/"/>
    <ds:schemaRef ds:uri="http://schemas.openxmlformats.org/package/2006/metadata/core-properties"/>
    <ds:schemaRef ds:uri="http://schemas.microsoft.com/office/infopath/2007/PartnerControls"/>
    <ds:schemaRef ds:uri="http://schemas.microsoft.com/office/2006/documentManagement/types"/>
    <ds:schemaRef ds:uri="http://schemas.microsoft.com/office/2006/metadata/properties"/>
    <ds:schemaRef ds:uri="230e9df3-be65-4c73-a93b-d1236ebd677e"/>
    <ds:schemaRef ds:uri="a29421e1-74d8-4915-bb0d-c72892872ba0"/>
    <ds:schemaRef ds:uri="http://schemas.microsoft.com/sharepoint/v3"/>
    <ds:schemaRef ds:uri="http://www.w3.org/XML/1998/namespace"/>
    <ds:schemaRef ds:uri="http://purl.org/dc/elements/1.1/"/>
  </ds:schemaRefs>
</ds:datastoreItem>
</file>

<file path=customXml/itemProps3.xml><?xml version="1.0" encoding="utf-8"?>
<ds:datastoreItem xmlns:ds="http://schemas.openxmlformats.org/officeDocument/2006/customXml" ds:itemID="{650CB884-14A2-405D-A2D4-F980FADDFCBC}">
  <ds:schemaRefs>
    <ds:schemaRef ds:uri="230e9df3-be65-4c73-a93b-d1236ebd677e"/>
    <ds:schemaRef ds:uri="a29421e1-74d8-4915-bb0d-c72892872b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80</TotalTime>
  <Words>1651</Words>
  <Application>Microsoft Macintosh PowerPoint</Application>
  <PresentationFormat>Widescreen</PresentationFormat>
  <Paragraphs>442</Paragraphs>
  <Slides>28</Slides>
  <Notes>25</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28</vt:i4>
      </vt:variant>
    </vt:vector>
  </HeadingPairs>
  <TitlesOfParts>
    <vt:vector size="43" baseType="lpstr">
      <vt:lpstr>Aptos</vt:lpstr>
      <vt:lpstr>Aptos Display</vt:lpstr>
      <vt:lpstr>Arial</vt:lpstr>
      <vt:lpstr>Calibri</vt:lpstr>
      <vt:lpstr>Consolas</vt:lpstr>
      <vt:lpstr>Segoe Semibold</vt:lpstr>
      <vt:lpstr>Segoe UI</vt:lpstr>
      <vt:lpstr>Segoe UI Light</vt:lpstr>
      <vt:lpstr>Segoe UI Semibold</vt:lpstr>
      <vt:lpstr>Segoe UI Semilight</vt:lpstr>
      <vt:lpstr>Segoe UI Variable Display</vt:lpstr>
      <vt:lpstr>Segoe UI Variable Display Semib</vt:lpstr>
      <vt:lpstr>Wingdings</vt:lpstr>
      <vt:lpstr>1_Office Theme</vt:lpstr>
      <vt:lpstr>White Template</vt:lpstr>
      <vt:lpstr>APIM AI Gateway Level Up</vt:lpstr>
      <vt:lpstr>PowerPoint Presentation</vt:lpstr>
      <vt:lpstr>Agenda  Session 1   </vt:lpstr>
      <vt:lpstr>Azure API Management</vt:lpstr>
      <vt:lpstr>Fully-managed serverless, classic, and v2 tiers</vt:lpstr>
      <vt:lpstr>Full API lifecycle</vt:lpstr>
      <vt:lpstr>Code- and design-first approaches to building APIs</vt:lpstr>
      <vt:lpstr>Create an API</vt:lpstr>
      <vt:lpstr>PowerPoint Presentation</vt:lpstr>
      <vt:lpstr>There’s a policy for that</vt:lpstr>
      <vt:lpstr>Policy scopes</vt:lpstr>
      <vt:lpstr>PowerPoint Presentation</vt:lpstr>
      <vt:lpstr>75 policies out of the box</vt:lpstr>
      <vt:lpstr>Private networking and upstream security</vt:lpstr>
      <vt:lpstr>External configuration</vt:lpstr>
      <vt:lpstr>PowerPoint Presentation</vt:lpstr>
      <vt:lpstr>PowerPoint Presentation</vt:lpstr>
      <vt:lpstr>V2 SKUs VNET integration</vt:lpstr>
      <vt:lpstr>Why an AI Gateway?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Combine traditional and AI gateway capabilities to manage your entire API estate</vt:lpstr>
      <vt:lpstr>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Damien Aicheh</dc:creator>
  <cp:lastModifiedBy>Andrew Redman</cp:lastModifiedBy>
  <cp:revision>4</cp:revision>
  <dcterms:created xsi:type="dcterms:W3CDTF">2025-11-07T14:12:49Z</dcterms:created>
  <dcterms:modified xsi:type="dcterms:W3CDTF">2026-06-11T19:13:18Z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0x0101001BD4B4487B57D443AED9979943B92646</vt:lpwstr>
  </property>
  <property fmtid="{D5CDD505-2E9C-101B-9397-08002B2CF9AE}" pid="3" name="Order">
    <vt:r8>26085100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ies>
</file>